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5715000" type="screen16x1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2"/>
  </p:normalViewPr>
  <p:slideViewPr>
    <p:cSldViewPr snapToGrid="0">
      <p:cViewPr varScale="1">
        <p:scale>
          <a:sx n="135" d="100"/>
          <a:sy n="135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扩展阅读来源：Tim A. Wagner and Susan L. Graham, Efficient and Flexible Incremental Parsing, ACM Transactions on Programming Languages and Systems, 20(5), 1998. https://doi.org/10.1145/293677.293678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89CF9-F8D8-4CCC-A257-6DE6A370C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buNone/>
              <a:defRPr sz="4400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89163-420C-40B9-A6B0-7D024352F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04E3C-C592-4BBA-AA67-012927511F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BB9DF-2129-4B30-A0CB-00B5CCA4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buNone/>
              <a:defRPr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FB2FD2-58C9-4D2B-B2D7-B77DBB83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400" b="1" i="0">
                <a:latin typeface="+mn-lt"/>
                <a:ea typeface="+mn-lt"/>
                <a:cs typeface="+mn-lt"/>
              </a:defRPr>
            </a:lvl1pPr>
            <a:lvl2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2pPr>
            <a:lvl3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3pPr>
            <a:lvl4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4pPr>
            <a:lvl5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18343-6F26-4180-9F15-3490C5654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789912-585E-44ED-9A35-D3CD6481964A}"/>
              </a:ext>
            </a:extLst>
          </p:cNvPr>
          <p:cNvSpPr>
            <a:spLocks noGrp="1"/>
          </p:cNvSpPr>
          <p:nvPr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>
            <a:spLocks noGrp="1"/>
          </p:cNvSpPr>
          <p:nvPr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737EC-50D8-4066-9A5B-B2F2B326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buNone/>
              <a:defRPr sz="4000" b="1" cap="all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D66DC-4DFE-41C3-A681-70661511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54206-11C3-46BD-9C89-5FEA6F6F7C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C5D61-0DF4-429D-A479-13E085A0A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>
            <a:spLocks noGrp="1"/>
          </p:cNvSpPr>
          <p:nvPr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E3681A-3E02-46ED-85DF-1DEF2F99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6D934-6CA7-459A-B5C1-5CA900321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A96C8E-B259-4316-A5FF-F1EDB1F7850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98837-A74E-40F6-88FA-DB372DDABD2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20000"/>
        </a:lnSpc>
        <a:spcBef>
          <a:spcPts val="1200"/>
        </a:spcBef>
        <a:buFont typeface="Arial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20000"/>
        </a:lnSpc>
        <a:spcBef>
          <a:spcPct val="20000"/>
        </a:spcBef>
        <a:buFont typeface="Arial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ct val="20000"/>
        </a:spcBef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ct val="20000"/>
        </a:spcBef>
        <a:buFont typeface="Arial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ct val="20000"/>
        </a:spcBef>
        <a:buFont typeface="Arial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43050"/>
            <a:ext cx="7772400" cy="781050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buNone/>
              <a:defRPr sz="3750" b="1">
                <a:solidFill>
                  <a:srgbClr val="C4384D"/>
                </a:solidFill>
              </a:defRPr>
            </a:pPr>
            <a:r>
              <a:rPr sz="3750" b="1">
                <a:solidFill>
                  <a:srgbClr val="C4384D"/>
                </a:solidFill>
              </a:rPr>
              <a:t>语法分析（四）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吴明瑜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https://ipads.se.sjtu.edu.cn/courses/compilers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>
            <a:spLocks noGrp="1"/>
          </p:cNvSpPr>
          <p:nvPr/>
        </p:nvSpPr>
        <p:spPr>
          <a:xfrm>
            <a:off x="467544" y="252559"/>
            <a:ext cx="3600400" cy="50405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>
              <a:lnSpc>
                <a:spcPct val="120000"/>
              </a:lnSpc>
              <a:spcBef>
                <a:spcPts val="1200"/>
              </a:spcBef>
              <a:buFont typeface="Arial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2pPr>
            <a:lvl3pPr marL="9144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3pPr>
            <a:lvl4pPr marL="13716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4pPr>
            <a:lvl5pPr marL="18288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5pPr>
            <a:lvl6pPr marL="22860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40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  <a:cs typeface="Arial"/>
              </a:rPr>
              <a:t>SE3355 · 编译原理（2026秋）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/>
              <a:t>1</a:t>
            </a:fld>
            <a:endParaRPr/>
          </a:p>
        </p:txBody>
      </p:sp>
      <p:sp>
        <p:nvSpPr>
          <p:cNvPr id="9" name="cover-subtitle">
            <a:extLst>
              <a:ext uri="{FF2B5EF4-FFF2-40B4-BE49-F238E27FC236}">
                <a16:creationId xmlns:a16="http://schemas.microsoft.com/office/drawing/2014/main" id="{5CC2D31B-6D08-4A98-96CF-01F254FA198E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7772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625" b="1">
                <a:solidFill>
                  <a:srgbClr val="C4384D"/>
                </a:solidFill>
              </a:defRPr>
            </a:pPr>
            <a:r>
              <a:rPr sz="2625" b="1">
                <a:solidFill>
                  <a:srgbClr val="C4384D"/>
                </a:solidFill>
              </a:rPr>
              <a:t>从 LR(0) 冲突到 Parser 工程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上一讲：LR(0) 把文法编译成自动机和分析表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2598689-54C9-18A7-3A19-ED76AA08988F}" type="slidenum">
              <a:t>2</a:t>
            </a:fld>
            <a:endParaRPr/>
          </a:p>
        </p:txBody>
      </p:sp>
      <p:sp>
        <p:nvSpPr>
          <p:cNvPr id="5" name="subtitle-2">
            <a:extLst>
              <a:ext uri="{FF2B5EF4-FFF2-40B4-BE49-F238E27FC236}">
                <a16:creationId xmlns:a16="http://schemas.microsoft.com/office/drawing/2014/main" id="{A93129A1-6E17-46B0-A553-3A79AA14A4C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item 记录识别进度，状态是 item 集合；运行时只维护状态栈并查 ACTION / GOTO。</a:t>
            </a:r>
          </a:p>
        </p:txBody>
      </p:sp>
      <p:sp>
        <p:nvSpPr>
          <p:cNvPr id="6" name="recap-grammar">
            <a:extLst>
              <a:ext uri="{FF2B5EF4-FFF2-40B4-BE49-F238E27FC236}">
                <a16:creationId xmlns:a16="http://schemas.microsoft.com/office/drawing/2014/main" id="{BCD78284-5EB5-4C1D-98D3-621705E58004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C4384D"/>
                </a:solidFill>
              </a:defRPr>
            </a:pPr>
            <a:r>
              <a:rPr sz="1575" b="1">
                <a:solidFill>
                  <a:srgbClr val="C4384D"/>
                </a:solidFill>
              </a:rPr>
              <a:t>Grammar</a:t>
            </a:r>
          </a:p>
        </p:txBody>
      </p:sp>
      <p:sp>
        <p:nvSpPr>
          <p:cNvPr id="7" name="recap-a">
            <a:extLst>
              <a:ext uri="{FF2B5EF4-FFF2-40B4-BE49-F238E27FC236}">
                <a16:creationId xmlns:a16="http://schemas.microsoft.com/office/drawing/2014/main" id="{32A3FCDF-96FD-49C9-8B22-9A29525113C4}"/>
              </a:ext>
            </a:extLst>
          </p:cNvPr>
          <p:cNvSpPr>
            <a:spLocks noGrp="1"/>
          </p:cNvSpPr>
          <p:nvPr/>
        </p:nvSpPr>
        <p:spPr>
          <a:xfrm>
            <a:off x="2333625" y="2571750"/>
            <a:ext cx="12382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8" name="recap-auto">
            <a:extLst>
              <a:ext uri="{FF2B5EF4-FFF2-40B4-BE49-F238E27FC236}">
                <a16:creationId xmlns:a16="http://schemas.microsoft.com/office/drawing/2014/main" id="{C85341F4-D440-499B-9811-4DA059303929}"/>
              </a:ext>
            </a:extLst>
          </p:cNvPr>
          <p:cNvSpPr>
            <a:spLocks noGrp="1"/>
          </p:cNvSpPr>
          <p:nvPr/>
        </p:nvSpPr>
        <p:spPr>
          <a:xfrm>
            <a:off x="3571875" y="2238375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54545"/>
                </a:solidFill>
              </a:defRPr>
            </a:pPr>
            <a:r>
              <a:rPr sz="1500" b="1">
                <a:solidFill>
                  <a:srgbClr val="454545"/>
                </a:solidFill>
              </a:rPr>
              <a:t>LR(0) 自动机</a:t>
            </a:r>
          </a:p>
        </p:txBody>
      </p:sp>
      <p:sp>
        <p:nvSpPr>
          <p:cNvPr id="9" name="recap-b">
            <a:extLst>
              <a:ext uri="{FF2B5EF4-FFF2-40B4-BE49-F238E27FC236}">
                <a16:creationId xmlns:a16="http://schemas.microsoft.com/office/drawing/2014/main" id="{85A157F7-6593-42F7-9929-6A4CADFA1CC9}"/>
              </a:ext>
            </a:extLst>
          </p:cNvPr>
          <p:cNvSpPr>
            <a:spLocks noGrp="1"/>
          </p:cNvSpPr>
          <p:nvPr/>
        </p:nvSpPr>
        <p:spPr>
          <a:xfrm>
            <a:off x="5381625" y="2571750"/>
            <a:ext cx="12382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0" name="recap-table">
            <a:extLst>
              <a:ext uri="{FF2B5EF4-FFF2-40B4-BE49-F238E27FC236}">
                <a16:creationId xmlns:a16="http://schemas.microsoft.com/office/drawing/2014/main" id="{D844DA9C-2D9D-4956-8C5A-CB80638B5985}"/>
              </a:ext>
            </a:extLst>
          </p:cNvPr>
          <p:cNvSpPr>
            <a:spLocks noGrp="1"/>
          </p:cNvSpPr>
          <p:nvPr/>
        </p:nvSpPr>
        <p:spPr>
          <a:xfrm>
            <a:off x="6619875" y="2238375"/>
            <a:ext cx="1809750" cy="666750"/>
          </a:xfrm>
          <a:prstGeom prst="roundRect">
            <a:avLst>
              <a:gd name="adj" fmla="val 11429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ACTION / GOTO</a:t>
            </a:r>
          </a:p>
        </p:txBody>
      </p:sp>
      <p:sp>
        <p:nvSpPr>
          <p:cNvPr id="11" name="recap-runtime">
            <a:extLst>
              <a:ext uri="{FF2B5EF4-FFF2-40B4-BE49-F238E27FC236}">
                <a16:creationId xmlns:a16="http://schemas.microsoft.com/office/drawing/2014/main" id="{2E4B208E-2A40-4D5E-B8E2-AD73B51C34F2}"/>
              </a:ext>
            </a:extLst>
          </p:cNvPr>
          <p:cNvSpPr>
            <a:spLocks noGrp="1"/>
          </p:cNvSpPr>
          <p:nvPr/>
        </p:nvSpPr>
        <p:spPr>
          <a:xfrm>
            <a:off x="2381250" y="3619500"/>
            <a:ext cx="4381500" cy="59055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运行时：当前状态 + current Token → 一个动作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上一讲留下的问题：I₃ 为什么不能无条件 reduce？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  <p:sp>
        <p:nvSpPr>
          <p:cNvPr id="5" name="subtitle-3">
            <a:extLst>
              <a:ext uri="{FF2B5EF4-FFF2-40B4-BE49-F238E27FC236}">
                <a16:creationId xmlns:a16="http://schemas.microsoft.com/office/drawing/2014/main" id="{BB461010-A5C9-407C-9BA5-35682C6AB39A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给原文法只增加一条产生式，读完 INT 后，同一状态同时出现移进项与完成项。</a:t>
            </a:r>
          </a:p>
        </p:txBody>
      </p:sp>
      <p:sp>
        <p:nvSpPr>
          <p:cNvPr id="6" name="last-grammar">
            <a:extLst>
              <a:ext uri="{FF2B5EF4-FFF2-40B4-BE49-F238E27FC236}">
                <a16:creationId xmlns:a16="http://schemas.microsoft.com/office/drawing/2014/main" id="{700F9311-ECC9-4AC7-AF77-0563C0FA86FE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3143250" cy="13144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term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INT LPAREN RPAREN</a:t>
            </a:r>
          </a:p>
        </p:txBody>
      </p:sp>
      <p:sp>
        <p:nvSpPr>
          <p:cNvPr id="7" name="last-i3-box">
            <a:extLst>
              <a:ext uri="{FF2B5EF4-FFF2-40B4-BE49-F238E27FC236}">
                <a16:creationId xmlns:a16="http://schemas.microsoft.com/office/drawing/2014/main" id="{81FEE5FA-117B-4689-9571-A3D21117B851}"/>
              </a:ext>
            </a:extLst>
          </p:cNvPr>
          <p:cNvSpPr>
            <a:spLocks noGrp="1"/>
          </p:cNvSpPr>
          <p:nvPr/>
        </p:nvSpPr>
        <p:spPr>
          <a:xfrm>
            <a:off x="4714875" y="1857375"/>
            <a:ext cx="3714750" cy="876300"/>
          </a:xfrm>
          <a:prstGeom prst="roundRect">
            <a:avLst>
              <a:gd name="adj" fmla="val 869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" name="last-i3-title">
            <a:extLst>
              <a:ext uri="{FF2B5EF4-FFF2-40B4-BE49-F238E27FC236}">
                <a16:creationId xmlns:a16="http://schemas.microsoft.com/office/drawing/2014/main" id="{80948E03-0237-4636-970B-1E744EC51CF2}"/>
              </a:ext>
            </a:extLst>
          </p:cNvPr>
          <p:cNvSpPr>
            <a:spLocks noGrp="1"/>
          </p:cNvSpPr>
          <p:nvPr/>
        </p:nvSpPr>
        <p:spPr>
          <a:xfrm>
            <a:off x="4829175" y="1933575"/>
            <a:ext cx="3486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读完 INT</a:t>
            </a:r>
          </a:p>
        </p:txBody>
      </p:sp>
      <p:sp>
        <p:nvSpPr>
          <p:cNvPr id="9" name="last-i3-items">
            <a:extLst>
              <a:ext uri="{FF2B5EF4-FFF2-40B4-BE49-F238E27FC236}">
                <a16:creationId xmlns:a16="http://schemas.microsoft.com/office/drawing/2014/main" id="{9FC383C1-5793-408D-851C-BED4716D15CD}"/>
              </a:ext>
            </a:extLst>
          </p:cNvPr>
          <p:cNvSpPr>
            <a:spLocks noGrp="1"/>
          </p:cNvSpPr>
          <p:nvPr/>
        </p:nvSpPr>
        <p:spPr>
          <a:xfrm>
            <a:off x="4848225" y="2219325"/>
            <a:ext cx="3448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  <a:p>
            <a:pPr algn="l">
              <a:buNone/>
              <a:defRPr sz="12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 LPAREN RPAREN</a:t>
            </a:r>
          </a:p>
        </p:txBody>
      </p:sp>
      <p:sp>
        <p:nvSpPr>
          <p:cNvPr id="10" name="last-conflict">
            <a:extLst>
              <a:ext uri="{FF2B5EF4-FFF2-40B4-BE49-F238E27FC236}">
                <a16:creationId xmlns:a16="http://schemas.microsoft.com/office/drawing/2014/main" id="{C3C1985B-75D2-44D7-AE05-EA29041119E2}"/>
              </a:ext>
            </a:extLst>
          </p:cNvPr>
          <p:cNvSpPr>
            <a:spLocks noGrp="1"/>
          </p:cNvSpPr>
          <p:nvPr/>
        </p:nvSpPr>
        <p:spPr>
          <a:xfrm>
            <a:off x="4714875" y="3429000"/>
            <a:ext cx="3714750" cy="8191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current = LPAREN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reduce term → INT？  还是 shift LPAREN？</a:t>
            </a:r>
          </a:p>
        </p:txBody>
      </p:sp>
      <p:sp>
        <p:nvSpPr>
          <p:cNvPr id="11" name="takeaway-9">
            <a:extLst>
              <a:ext uri="{FF2B5EF4-FFF2-40B4-BE49-F238E27FC236}">
                <a16:creationId xmlns:a16="http://schemas.microsoft.com/office/drawing/2014/main" id="{CE667FA6-F550-4584-B883-8AB24C78590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此时似乎有两种选择，应该如何处理？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问题不在自动机不会识别，而在 reduce 太激进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FD6AB9A-5F9E-5F59-51AB-3C8734130965}" type="slidenum">
              <a:t>4</a:t>
            </a:fld>
            <a:endParaRPr/>
          </a:p>
        </p:txBody>
      </p:sp>
      <p:sp>
        <p:nvSpPr>
          <p:cNvPr id="5" name="subtitle-4">
            <a:extLst>
              <a:ext uri="{FF2B5EF4-FFF2-40B4-BE49-F238E27FC236}">
                <a16:creationId xmlns:a16="http://schemas.microsoft.com/office/drawing/2014/main" id="{EFEC8E3C-B31B-4077-85B0-10EF2A11A329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shift 的条件来自明确的自动机边；LR(0) 却把完成项的 reduce 填到所有终结符列。</a:t>
            </a:r>
          </a:p>
        </p:txBody>
      </p:sp>
      <p:sp>
        <p:nvSpPr>
          <p:cNvPr id="6" name="aggressive-0-0">
            <a:extLst>
              <a:ext uri="{FF2B5EF4-FFF2-40B4-BE49-F238E27FC236}">
                <a16:creationId xmlns:a16="http://schemas.microsoft.com/office/drawing/2014/main" id="{569D30F5-35FF-4A17-87F5-2C5E544F7AAA}"/>
              </a:ext>
            </a:extLst>
          </p:cNvPr>
          <p:cNvSpPr>
            <a:spLocks noGrp="1"/>
          </p:cNvSpPr>
          <p:nvPr/>
        </p:nvSpPr>
        <p:spPr>
          <a:xfrm>
            <a:off x="1000125" y="1857375"/>
            <a:ext cx="1428750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state</a:t>
            </a:r>
          </a:p>
        </p:txBody>
      </p:sp>
      <p:sp>
        <p:nvSpPr>
          <p:cNvPr id="7" name="aggressive-0-1">
            <a:extLst>
              <a:ext uri="{FF2B5EF4-FFF2-40B4-BE49-F238E27FC236}">
                <a16:creationId xmlns:a16="http://schemas.microsoft.com/office/drawing/2014/main" id="{2F9D2DC7-C087-46C1-8846-AFDB8F40C18A}"/>
              </a:ext>
            </a:extLst>
          </p:cNvPr>
          <p:cNvSpPr>
            <a:spLocks noGrp="1"/>
          </p:cNvSpPr>
          <p:nvPr/>
        </p:nvSpPr>
        <p:spPr>
          <a:xfrm>
            <a:off x="2428875" y="1857375"/>
            <a:ext cx="1952625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8" name="aggressive-0-2">
            <a:extLst>
              <a:ext uri="{FF2B5EF4-FFF2-40B4-BE49-F238E27FC236}">
                <a16:creationId xmlns:a16="http://schemas.microsoft.com/office/drawing/2014/main" id="{A5BD800F-6888-41FB-AC20-A662AE9409D9}"/>
              </a:ext>
            </a:extLst>
          </p:cNvPr>
          <p:cNvSpPr>
            <a:spLocks noGrp="1"/>
          </p:cNvSpPr>
          <p:nvPr/>
        </p:nvSpPr>
        <p:spPr>
          <a:xfrm>
            <a:off x="4381500" y="1857375"/>
            <a:ext cx="1952625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9" name="aggressive-0-3">
            <a:extLst>
              <a:ext uri="{FF2B5EF4-FFF2-40B4-BE49-F238E27FC236}">
                <a16:creationId xmlns:a16="http://schemas.microsoft.com/office/drawing/2014/main" id="{71AD280B-5E6E-4F84-BE18-FD58A13850FC}"/>
              </a:ext>
            </a:extLst>
          </p:cNvPr>
          <p:cNvSpPr>
            <a:spLocks noGrp="1"/>
          </p:cNvSpPr>
          <p:nvPr/>
        </p:nvSpPr>
        <p:spPr>
          <a:xfrm>
            <a:off x="6334125" y="1857375"/>
            <a:ext cx="1952625" cy="5238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10" name="aggressive-1-0">
            <a:extLst>
              <a:ext uri="{FF2B5EF4-FFF2-40B4-BE49-F238E27FC236}">
                <a16:creationId xmlns:a16="http://schemas.microsoft.com/office/drawing/2014/main" id="{C5B11256-41F2-4CC7-9273-F0A58F9248E9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1428750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I₃</a:t>
            </a:r>
          </a:p>
        </p:txBody>
      </p:sp>
      <p:sp>
        <p:nvSpPr>
          <p:cNvPr id="11" name="aggressive-1-1">
            <a:extLst>
              <a:ext uri="{FF2B5EF4-FFF2-40B4-BE49-F238E27FC236}">
                <a16:creationId xmlns:a16="http://schemas.microsoft.com/office/drawing/2014/main" id="{5D6ED271-0E04-4B0E-A066-F65227B60EBF}"/>
              </a:ext>
            </a:extLst>
          </p:cNvPr>
          <p:cNvSpPr>
            <a:spLocks noGrp="1"/>
          </p:cNvSpPr>
          <p:nvPr/>
        </p:nvSpPr>
        <p:spPr>
          <a:xfrm>
            <a:off x="2428875" y="2381250"/>
            <a:ext cx="1952625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shift / r3</a:t>
            </a:r>
          </a:p>
        </p:txBody>
      </p:sp>
      <p:sp>
        <p:nvSpPr>
          <p:cNvPr id="12" name="aggressive-1-2">
            <a:extLst>
              <a:ext uri="{FF2B5EF4-FFF2-40B4-BE49-F238E27FC236}">
                <a16:creationId xmlns:a16="http://schemas.microsoft.com/office/drawing/2014/main" id="{9D8A7C53-3A2E-45DB-B589-E13C41A2B076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1952625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13" name="aggressive-1-3">
            <a:extLst>
              <a:ext uri="{FF2B5EF4-FFF2-40B4-BE49-F238E27FC236}">
                <a16:creationId xmlns:a16="http://schemas.microsoft.com/office/drawing/2014/main" id="{963D9EAD-94FF-46EC-BD37-BB3410FC5A7F}"/>
              </a:ext>
            </a:extLst>
          </p:cNvPr>
          <p:cNvSpPr>
            <a:spLocks noGrp="1"/>
          </p:cNvSpPr>
          <p:nvPr/>
        </p:nvSpPr>
        <p:spPr>
          <a:xfrm>
            <a:off x="6334125" y="2381250"/>
            <a:ext cx="1952625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14" name="aggressive-left">
            <a:extLst>
              <a:ext uri="{FF2B5EF4-FFF2-40B4-BE49-F238E27FC236}">
                <a16:creationId xmlns:a16="http://schemas.microsoft.com/office/drawing/2014/main" id="{FA120392-1A13-403F-B39D-9061392CC07B}"/>
              </a:ext>
            </a:extLst>
          </p:cNvPr>
          <p:cNvSpPr>
            <a:spLocks noGrp="1"/>
          </p:cNvSpPr>
          <p:nvPr/>
        </p:nvSpPr>
        <p:spPr>
          <a:xfrm>
            <a:off x="1285875" y="31432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shift LPAREN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来自移进项：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term → INT · LPAREN RPAREN</a:t>
            </a:r>
          </a:p>
        </p:txBody>
      </p:sp>
      <p:sp>
        <p:nvSpPr>
          <p:cNvPr id="15" name="aggressive-right">
            <a:extLst>
              <a:ext uri="{FF2B5EF4-FFF2-40B4-BE49-F238E27FC236}">
                <a16:creationId xmlns:a16="http://schemas.microsoft.com/office/drawing/2014/main" id="{703BE425-D575-4F2E-B01B-8F9EC10D0EAD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reduce r3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来自 LR(0) 的粗略规则：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完成项 → 所有终结符都 reduce</a:t>
            </a:r>
          </a:p>
        </p:txBody>
      </p:sp>
      <p:sp>
        <p:nvSpPr>
          <p:cNvPr id="16" name="takeaway-10">
            <a:extLst>
              <a:ext uri="{FF2B5EF4-FFF2-40B4-BE49-F238E27FC236}">
                <a16:creationId xmlns:a16="http://schemas.microsoft.com/office/drawing/2014/main" id="{9C843C77-5BB2-4AF8-BD8B-11A36942418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需要补充的信息是：完成项究竟允许在哪些 Token前reduce？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B45CA-E2CD-0647-25F4-E78A9D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F9EC3A-DA66-C8D7-8A46-31BB9E56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t>自底向上语法分析</a:t>
            </a:r>
          </a:p>
          <a:p>
            <a:pPr>
              <a:buFont typeface="Arial"/>
              <a:buChar char="•"/>
            </a:pPr>
            <a:r>
              <a:rPr sz="2000" b="0">
                <a:solidFill>
                  <a:schemeClr val="tx1"/>
                </a:solidFill>
              </a:rPr>
              <a:t>基本操作：shift/reduce</a:t>
            </a:r>
          </a:p>
          <a:p>
            <a:pPr>
              <a:buFont typeface="Arial"/>
              <a:buChar char="•"/>
            </a:pPr>
            <a:r>
              <a:rPr sz="2000" b="0"/>
              <a:t>基本单元：LR item</a:t>
            </a:r>
          </a:p>
          <a:p>
            <a:pPr>
              <a:buFont typeface="Arial"/>
              <a:buChar char="•"/>
            </a:pPr>
            <a:r>
              <a:rPr sz="2000" b="0"/>
              <a:t>LR(0) 文法：基于LR item构建自动机，再翻译为表驱动的parser</a:t>
            </a:r>
          </a:p>
          <a:p>
            <a:pPr>
              <a:buFont typeface="Arial"/>
              <a:buChar char="•"/>
            </a:pPr>
            <a:endParaRPr b="0"/>
          </a:p>
          <a:p>
            <a:pPr>
              <a:buFont typeface="Arial"/>
              <a:buChar char="•"/>
            </a:pPr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197D49-1352-5B56-5DEA-A7226E4582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15020-66A7-620A-7B7A-C05C4312DEAE}" type="slidenum">
              <a:t>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E45E52-C0D4-749E-E3F0-28ACFDD25811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2243741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本讲主线：逐步增加上下文，但控制状态规模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E5B3003-2C54-13C6-9832-7637201064DE}" type="slidenum">
              <a:t>6</a:t>
            </a:fld>
            <a:endParaRPr/>
          </a:p>
        </p:txBody>
      </p:sp>
      <p:sp>
        <p:nvSpPr>
          <p:cNvPr id="5" name="roadmap-0-0">
            <a:extLst>
              <a:ext uri="{FF2B5EF4-FFF2-40B4-BE49-F238E27FC236}">
                <a16:creationId xmlns:a16="http://schemas.microsoft.com/office/drawing/2014/main" id="{E313BF53-A4A1-4FB0-BD06-19451124D85B}"/>
              </a:ext>
            </a:extLst>
          </p:cNvPr>
          <p:cNvSpPr>
            <a:spLocks noGrp="1"/>
          </p:cNvSpPr>
          <p:nvPr/>
        </p:nvSpPr>
        <p:spPr>
          <a:xfrm>
            <a:off x="714375" y="1619250"/>
            <a:ext cx="1333500" cy="6000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方法</a:t>
            </a:r>
          </a:p>
        </p:txBody>
      </p:sp>
      <p:sp>
        <p:nvSpPr>
          <p:cNvPr id="6" name="roadmap-0-1">
            <a:extLst>
              <a:ext uri="{FF2B5EF4-FFF2-40B4-BE49-F238E27FC236}">
                <a16:creationId xmlns:a16="http://schemas.microsoft.com/office/drawing/2014/main" id="{7F676E4D-22FE-4B72-B0A4-2EF7779CA10E}"/>
              </a:ext>
            </a:extLst>
          </p:cNvPr>
          <p:cNvSpPr>
            <a:spLocks noGrp="1"/>
          </p:cNvSpPr>
          <p:nvPr/>
        </p:nvSpPr>
        <p:spPr>
          <a:xfrm>
            <a:off x="2047875" y="1619250"/>
            <a:ext cx="2381250" cy="6000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增加的信息</a:t>
            </a:r>
          </a:p>
        </p:txBody>
      </p:sp>
      <p:sp>
        <p:nvSpPr>
          <p:cNvPr id="7" name="roadmap-0-2">
            <a:extLst>
              <a:ext uri="{FF2B5EF4-FFF2-40B4-BE49-F238E27FC236}">
                <a16:creationId xmlns:a16="http://schemas.microsoft.com/office/drawing/2014/main" id="{7AEB1960-4733-40AB-B94D-B5F8120002DC}"/>
              </a:ext>
            </a:extLst>
          </p:cNvPr>
          <p:cNvSpPr>
            <a:spLocks noGrp="1"/>
          </p:cNvSpPr>
          <p:nvPr/>
        </p:nvSpPr>
        <p:spPr>
          <a:xfrm>
            <a:off x="4429125" y="1619250"/>
            <a:ext cx="4286250" cy="600075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163" b="1">
                <a:solidFill>
                  <a:srgbClr val="454545"/>
                </a:solidFill>
              </a:rPr>
              <a:t>核心做法</a:t>
            </a:r>
          </a:p>
        </p:txBody>
      </p:sp>
      <p:sp>
        <p:nvSpPr>
          <p:cNvPr id="8" name="roadmap-1-0">
            <a:extLst>
              <a:ext uri="{FF2B5EF4-FFF2-40B4-BE49-F238E27FC236}">
                <a16:creationId xmlns:a16="http://schemas.microsoft.com/office/drawing/2014/main" id="{9F7FCAAA-76DD-46EE-A811-66B4DDEFA07B}"/>
              </a:ext>
            </a:extLst>
          </p:cNvPr>
          <p:cNvSpPr>
            <a:spLocks noGrp="1"/>
          </p:cNvSpPr>
          <p:nvPr/>
        </p:nvSpPr>
        <p:spPr>
          <a:xfrm>
            <a:off x="714375" y="2219325"/>
            <a:ext cx="133350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LR(0)</a:t>
            </a:r>
          </a:p>
        </p:txBody>
      </p:sp>
      <p:sp>
        <p:nvSpPr>
          <p:cNvPr id="9" name="roadmap-1-1">
            <a:extLst>
              <a:ext uri="{FF2B5EF4-FFF2-40B4-BE49-F238E27FC236}">
                <a16:creationId xmlns:a16="http://schemas.microsoft.com/office/drawing/2014/main" id="{D9E61975-125B-462B-9DDB-B7F461C40470}"/>
              </a:ext>
            </a:extLst>
          </p:cNvPr>
          <p:cNvSpPr>
            <a:spLocks noGrp="1"/>
          </p:cNvSpPr>
          <p:nvPr/>
        </p:nvSpPr>
        <p:spPr>
          <a:xfrm>
            <a:off x="2047875" y="2219325"/>
            <a:ext cx="238125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不看后续 Token</a:t>
            </a:r>
          </a:p>
        </p:txBody>
      </p:sp>
      <p:sp>
        <p:nvSpPr>
          <p:cNvPr id="10" name="roadmap-1-2">
            <a:extLst>
              <a:ext uri="{FF2B5EF4-FFF2-40B4-BE49-F238E27FC236}">
                <a16:creationId xmlns:a16="http://schemas.microsoft.com/office/drawing/2014/main" id="{72C60B97-4DE7-40EB-9C86-927E0EA3EE14}"/>
              </a:ext>
            </a:extLst>
          </p:cNvPr>
          <p:cNvSpPr>
            <a:spLocks noGrp="1"/>
          </p:cNvSpPr>
          <p:nvPr/>
        </p:nvSpPr>
        <p:spPr>
          <a:xfrm>
            <a:off x="4429125" y="2219325"/>
            <a:ext cx="428625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完成项在所有终结符上 reduce</a:t>
            </a:r>
          </a:p>
        </p:txBody>
      </p:sp>
      <p:sp>
        <p:nvSpPr>
          <p:cNvPr id="11" name="roadmap-2-0">
            <a:extLst>
              <a:ext uri="{FF2B5EF4-FFF2-40B4-BE49-F238E27FC236}">
                <a16:creationId xmlns:a16="http://schemas.microsoft.com/office/drawing/2014/main" id="{4885996A-F1EB-4182-A881-5D6B9AFB65A6}"/>
              </a:ext>
            </a:extLst>
          </p:cNvPr>
          <p:cNvSpPr>
            <a:spLocks noGrp="1"/>
          </p:cNvSpPr>
          <p:nvPr/>
        </p:nvSpPr>
        <p:spPr>
          <a:xfrm>
            <a:off x="714375" y="2819400"/>
            <a:ext cx="133350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SLR(1)</a:t>
            </a:r>
          </a:p>
        </p:txBody>
      </p:sp>
      <p:sp>
        <p:nvSpPr>
          <p:cNvPr id="12" name="roadmap-2-1">
            <a:extLst>
              <a:ext uri="{FF2B5EF4-FFF2-40B4-BE49-F238E27FC236}">
                <a16:creationId xmlns:a16="http://schemas.microsoft.com/office/drawing/2014/main" id="{D987E63F-1CCF-485D-9CEA-96BEA48B1886}"/>
              </a:ext>
            </a:extLst>
          </p:cNvPr>
          <p:cNvSpPr>
            <a:spLocks noGrp="1"/>
          </p:cNvSpPr>
          <p:nvPr/>
        </p:nvSpPr>
        <p:spPr>
          <a:xfrm>
            <a:off x="2047875" y="2819400"/>
            <a:ext cx="238125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使用 FOLLOW(A)</a:t>
            </a:r>
          </a:p>
        </p:txBody>
      </p:sp>
      <p:sp>
        <p:nvSpPr>
          <p:cNvPr id="13" name="roadmap-2-2">
            <a:extLst>
              <a:ext uri="{FF2B5EF4-FFF2-40B4-BE49-F238E27FC236}">
                <a16:creationId xmlns:a16="http://schemas.microsoft.com/office/drawing/2014/main" id="{CE828ED1-87EB-49F4-9355-7D99E70EBAF2}"/>
              </a:ext>
            </a:extLst>
          </p:cNvPr>
          <p:cNvSpPr>
            <a:spLocks noGrp="1"/>
          </p:cNvSpPr>
          <p:nvPr/>
        </p:nvSpPr>
        <p:spPr>
          <a:xfrm>
            <a:off x="4429125" y="2819400"/>
            <a:ext cx="428625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用非终结符的全局后继限制 reduce</a:t>
            </a:r>
          </a:p>
        </p:txBody>
      </p:sp>
      <p:sp>
        <p:nvSpPr>
          <p:cNvPr id="14" name="roadmap-3-0">
            <a:extLst>
              <a:ext uri="{FF2B5EF4-FFF2-40B4-BE49-F238E27FC236}">
                <a16:creationId xmlns:a16="http://schemas.microsoft.com/office/drawing/2014/main" id="{FA092F94-23F7-4668-9772-50A36035B1E7}"/>
              </a:ext>
            </a:extLst>
          </p:cNvPr>
          <p:cNvSpPr>
            <a:spLocks noGrp="1"/>
          </p:cNvSpPr>
          <p:nvPr/>
        </p:nvSpPr>
        <p:spPr>
          <a:xfrm>
            <a:off x="714375" y="3419475"/>
            <a:ext cx="133350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LR(1)</a:t>
            </a:r>
          </a:p>
        </p:txBody>
      </p:sp>
      <p:sp>
        <p:nvSpPr>
          <p:cNvPr id="15" name="roadmap-3-1">
            <a:extLst>
              <a:ext uri="{FF2B5EF4-FFF2-40B4-BE49-F238E27FC236}">
                <a16:creationId xmlns:a16="http://schemas.microsoft.com/office/drawing/2014/main" id="{F026622E-5BFC-478F-972C-5185075A6847}"/>
              </a:ext>
            </a:extLst>
          </p:cNvPr>
          <p:cNvSpPr>
            <a:spLocks noGrp="1"/>
          </p:cNvSpPr>
          <p:nvPr/>
        </p:nvSpPr>
        <p:spPr>
          <a:xfrm>
            <a:off x="2047875" y="3419475"/>
            <a:ext cx="238125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item 自带 lookahead</a:t>
            </a:r>
          </a:p>
        </p:txBody>
      </p:sp>
      <p:sp>
        <p:nvSpPr>
          <p:cNvPr id="16" name="roadmap-3-2">
            <a:extLst>
              <a:ext uri="{FF2B5EF4-FFF2-40B4-BE49-F238E27FC236}">
                <a16:creationId xmlns:a16="http://schemas.microsoft.com/office/drawing/2014/main" id="{9337ED2F-1AEC-459A-88CC-75A9B4DAFBD9}"/>
              </a:ext>
            </a:extLst>
          </p:cNvPr>
          <p:cNvSpPr>
            <a:spLocks noGrp="1"/>
          </p:cNvSpPr>
          <p:nvPr/>
        </p:nvSpPr>
        <p:spPr>
          <a:xfrm>
            <a:off x="4429125" y="3419475"/>
            <a:ext cx="428625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区分同一 item 出现的不同上下文</a:t>
            </a:r>
          </a:p>
        </p:txBody>
      </p:sp>
      <p:sp>
        <p:nvSpPr>
          <p:cNvPr id="17" name="roadmap-4-0">
            <a:extLst>
              <a:ext uri="{FF2B5EF4-FFF2-40B4-BE49-F238E27FC236}">
                <a16:creationId xmlns:a16="http://schemas.microsoft.com/office/drawing/2014/main" id="{A194E38D-E4A4-4FAD-9FAD-9808D9260EE4}"/>
              </a:ext>
            </a:extLst>
          </p:cNvPr>
          <p:cNvSpPr>
            <a:spLocks noGrp="1"/>
          </p:cNvSpPr>
          <p:nvPr/>
        </p:nvSpPr>
        <p:spPr>
          <a:xfrm>
            <a:off x="714375" y="4019550"/>
            <a:ext cx="133350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LALR(1)</a:t>
            </a:r>
          </a:p>
        </p:txBody>
      </p:sp>
      <p:sp>
        <p:nvSpPr>
          <p:cNvPr id="18" name="roadmap-4-1">
            <a:extLst>
              <a:ext uri="{FF2B5EF4-FFF2-40B4-BE49-F238E27FC236}">
                <a16:creationId xmlns:a16="http://schemas.microsoft.com/office/drawing/2014/main" id="{3025278B-E254-4F5F-9B11-2CA652797B4D}"/>
              </a:ext>
            </a:extLst>
          </p:cNvPr>
          <p:cNvSpPr>
            <a:spLocks noGrp="1"/>
          </p:cNvSpPr>
          <p:nvPr/>
        </p:nvSpPr>
        <p:spPr>
          <a:xfrm>
            <a:off x="2047875" y="4019550"/>
            <a:ext cx="238125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合并相同识别进度</a:t>
            </a:r>
          </a:p>
        </p:txBody>
      </p:sp>
      <p:sp>
        <p:nvSpPr>
          <p:cNvPr id="19" name="roadmap-4-2">
            <a:extLst>
              <a:ext uri="{FF2B5EF4-FFF2-40B4-BE49-F238E27FC236}">
                <a16:creationId xmlns:a16="http://schemas.microsoft.com/office/drawing/2014/main" id="{9CA541B7-DACE-4E11-B28A-E79A5FB1FDC1}"/>
              </a:ext>
            </a:extLst>
          </p:cNvPr>
          <p:cNvSpPr>
            <a:spLocks noGrp="1"/>
          </p:cNvSpPr>
          <p:nvPr/>
        </p:nvSpPr>
        <p:spPr>
          <a:xfrm>
            <a:off x="4429125" y="4019550"/>
            <a:ext cx="4286250" cy="600075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200" b="0">
                <a:solidFill>
                  <a:srgbClr val="454545"/>
                </a:solidFill>
              </a:rPr>
              <a:t>保留多数 LR(1) 能力，减少状态</a:t>
            </a:r>
          </a:p>
        </p:txBody>
      </p:sp>
      <p:sp>
        <p:nvSpPr>
          <p:cNvPr id="20" name="takeaway-11">
            <a:extLst>
              <a:ext uri="{FF2B5EF4-FFF2-40B4-BE49-F238E27FC236}">
                <a16:creationId xmlns:a16="http://schemas.microsoft.com/office/drawing/2014/main" id="{5A1DD3EB-5BD0-4962-A9A9-6F20C1018F6F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这些方法共享同一个表驱动 Parser；变化只发生在表如何生成。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290"/>
          </a:bodyPr>
          <a:lstStyle/>
          <a:p>
            <a:r>
              <a:rPr>
                <a:latin typeface="Arial"/>
                <a:ea typeface="Arial"/>
                <a:cs typeface="Arial"/>
              </a:rPr>
              <a:t>第一步：用 FOLLOW 限制 reduce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SLR(1)：先尝试复用已经学过的全局信息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C630A04-5A25-9E0C-9436-126091DB86B3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先回忆 FOLLOW(A)：A 后面可能紧跟哪些终结符？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3D7D1C8-AE23-AA48-DF65-C742588DBE47}" type="slidenum">
              <a:t>8</a:t>
            </a:fld>
            <a:endParaRPr/>
          </a:p>
        </p:txBody>
      </p:sp>
      <p:sp>
        <p:nvSpPr>
          <p:cNvPr id="5" name="subtitle-7">
            <a:extLst>
              <a:ext uri="{FF2B5EF4-FFF2-40B4-BE49-F238E27FC236}">
                <a16:creationId xmlns:a16="http://schemas.microsoft.com/office/drawing/2014/main" id="{C64C0FAD-05E9-4D72-9426-C4D77093ABE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FOLLOW 是对整个文法的全局分析；在自顶向下分析中，它曾帮助 Parser 判断何时选择 ε 产生式。</a:t>
            </a:r>
          </a:p>
        </p:txBody>
      </p:sp>
      <p:sp>
        <p:nvSpPr>
          <p:cNvPr id="6" name="follow-grammar">
            <a:extLst>
              <a:ext uri="{FF2B5EF4-FFF2-40B4-BE49-F238E27FC236}">
                <a16:creationId xmlns:a16="http://schemas.microsoft.com/office/drawing/2014/main" id="{5F13A3A5-90C7-404D-8A42-5BC6CEDF298E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3476625" cy="2000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term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term</a:t>
            </a:r>
          </a:p>
          <a:p>
            <a:endParaRPr sz="135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INT LPAREN RPAREN</a:t>
            </a:r>
          </a:p>
        </p:txBody>
      </p:sp>
      <p:sp>
        <p:nvSpPr>
          <p:cNvPr id="7" name="follow-result">
            <a:extLst>
              <a:ext uri="{FF2B5EF4-FFF2-40B4-BE49-F238E27FC236}">
                <a16:creationId xmlns:a16="http://schemas.microsoft.com/office/drawing/2014/main" id="{A9AD6119-A26C-4300-B0C6-A905F50AC877}"/>
              </a:ext>
            </a:extLst>
          </p:cNvPr>
          <p:cNvSpPr>
            <a:spLocks noGrp="1"/>
          </p:cNvSpPr>
          <p:nvPr/>
        </p:nvSpPr>
        <p:spPr>
          <a:xfrm>
            <a:off x="5000625" y="2095500"/>
            <a:ext cx="3286125" cy="138112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FOLLOW(term) = { PLUS, $ }</a:t>
            </a:r>
          </a:p>
          <a:p>
            <a:endParaRPr sz="1425" b="1">
              <a:solidFill>
                <a:srgbClr val="2D7C93"/>
              </a:solidFill>
            </a:endParaRP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term 可以结束 expr，</a:t>
            </a: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因此继承 FOLLOW(expr)。</a:t>
            </a:r>
          </a:p>
        </p:txBody>
      </p:sp>
      <p:sp>
        <p:nvSpPr>
          <p:cNvPr id="8" name="takeaway-13">
            <a:extLst>
              <a:ext uri="{FF2B5EF4-FFF2-40B4-BE49-F238E27FC236}">
                <a16:creationId xmlns:a16="http://schemas.microsoft.com/office/drawing/2014/main" id="{039465DA-22E8-4439-ADA8-BAB729C7E647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LPAREN 不可能直接跟在一个已经完成的 term 后面。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SLR 的规则：A → β · 只在 FOLLOW(A) 上 reduce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A58DA2A-B818-18A9-29C1-B697728D5BCE}" type="slidenum">
              <a:t>9</a:t>
            </a:fld>
            <a:endParaRPr/>
          </a:p>
        </p:txBody>
      </p:sp>
      <p:sp>
        <p:nvSpPr>
          <p:cNvPr id="5" name="subtitle-8">
            <a:extLst>
              <a:ext uri="{FF2B5EF4-FFF2-40B4-BE49-F238E27FC236}">
                <a16:creationId xmlns:a16="http://schemas.microsoft.com/office/drawing/2014/main" id="{7E6AB91C-B07A-4996-B694-9E053A000164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自动机仍然是 LR(0) 自动机；只修改完成项写入 ACTION 表的方式。</a:t>
            </a:r>
          </a:p>
        </p:txBody>
      </p:sp>
      <p:sp>
        <p:nvSpPr>
          <p:cNvPr id="6" name="slr-item">
            <a:extLst>
              <a:ext uri="{FF2B5EF4-FFF2-40B4-BE49-F238E27FC236}">
                <a16:creationId xmlns:a16="http://schemas.microsoft.com/office/drawing/2014/main" id="{84FA5AC3-B987-48C1-969F-9B93D5E86FDB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952750" cy="8763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 contains  A → β ·</a:t>
            </a:r>
          </a:p>
        </p:txBody>
      </p:sp>
      <p:sp>
        <p:nvSpPr>
          <p:cNvPr id="7" name="slr-arrow">
            <a:extLst>
              <a:ext uri="{FF2B5EF4-FFF2-40B4-BE49-F238E27FC236}">
                <a16:creationId xmlns:a16="http://schemas.microsoft.com/office/drawing/2014/main" id="{53D2D94B-513E-4C5D-AE19-314CD1C4B36B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777777"/>
                </a:solidFill>
              </a:defRPr>
            </a:pPr>
            <a:r>
              <a:rPr sz="1500" b="1">
                <a:solidFill>
                  <a:srgbClr val="777777"/>
                </a:solidFill>
              </a:rPr>
              <a:t>SLR</a:t>
            </a:r>
          </a:p>
          <a:p>
            <a:pPr algn="ctr">
              <a:buNone/>
              <a:defRPr sz="1500" b="1">
                <a:solidFill>
                  <a:srgbClr val="777777"/>
                </a:solidFill>
              </a:defRPr>
            </a:pPr>
            <a:r>
              <a:rPr sz="1500" b="1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8" name="slr-rule">
            <a:extLst>
              <a:ext uri="{FF2B5EF4-FFF2-40B4-BE49-F238E27FC236}">
                <a16:creationId xmlns:a16="http://schemas.microsoft.com/office/drawing/2014/main" id="{D40B0ED8-3317-45F4-BAE4-D4EA67BB2703}"/>
              </a:ext>
            </a:extLst>
          </p:cNvPr>
          <p:cNvSpPr>
            <a:spLocks noGrp="1"/>
          </p:cNvSpPr>
          <p:nvPr/>
        </p:nvSpPr>
        <p:spPr>
          <a:xfrm>
            <a:off x="5238750" y="1857375"/>
            <a:ext cx="3143250" cy="1162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for each a ∈ FOLLOW(A):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ACTION[I, a] = reduce A → β</a:t>
            </a:r>
          </a:p>
        </p:txBody>
      </p:sp>
      <p:sp>
        <p:nvSpPr>
          <p:cNvPr id="9" name="slr-not">
            <a:extLst>
              <a:ext uri="{FF2B5EF4-FFF2-40B4-BE49-F238E27FC236}">
                <a16:creationId xmlns:a16="http://schemas.microsoft.com/office/drawing/2014/main" id="{1BF69D32-340F-437C-BB79-47862D4A1150}"/>
              </a:ext>
            </a:extLst>
          </p:cNvPr>
          <p:cNvSpPr>
            <a:spLocks noGrp="1"/>
          </p:cNvSpPr>
          <p:nvPr/>
        </p:nvSpPr>
        <p:spPr>
          <a:xfrm>
            <a:off x="1666875" y="3476625"/>
            <a:ext cx="5810250" cy="6096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不是“看到 FOLLOW 才生成状态”，而是生成表时用 FOLLOW 筛选 reduce 列。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5205"/>
          </a:bodyPr>
          <a:lstStyle/>
          <a:p>
            <a:r>
              <a:rPr>
                <a:latin typeface="Arial"/>
                <a:ea typeface="Arial"/>
                <a:cs typeface="Arial"/>
              </a:rPr>
              <a:t>回到 I₃：SLR 把冲突格拆成两个确定动作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88657AE-30A1-5A7A-6A7F-315D84436430}" type="slidenum">
              <a:t>10</a:t>
            </a:fld>
            <a:endParaRPr/>
          </a:p>
        </p:txBody>
      </p:sp>
      <p:sp>
        <p:nvSpPr>
          <p:cNvPr id="5" name="slr-i3-box">
            <a:extLst>
              <a:ext uri="{FF2B5EF4-FFF2-40B4-BE49-F238E27FC236}">
                <a16:creationId xmlns:a16="http://schemas.microsoft.com/office/drawing/2014/main" id="{CF18DE22-44CE-40E8-8CD0-269B64E7E08A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286125" cy="876300"/>
          </a:xfrm>
          <a:prstGeom prst="roundRect">
            <a:avLst>
              <a:gd name="adj" fmla="val 8696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" name="slr-i3-title">
            <a:extLst>
              <a:ext uri="{FF2B5EF4-FFF2-40B4-BE49-F238E27FC236}">
                <a16:creationId xmlns:a16="http://schemas.microsoft.com/office/drawing/2014/main" id="{B0C009D3-5B2A-4DF1-A5BC-D2EE42A1898B}"/>
              </a:ext>
            </a:extLst>
          </p:cNvPr>
          <p:cNvSpPr>
            <a:spLocks noGrp="1"/>
          </p:cNvSpPr>
          <p:nvPr/>
        </p:nvSpPr>
        <p:spPr>
          <a:xfrm>
            <a:off x="781050" y="1838325"/>
            <a:ext cx="30575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I₃</a:t>
            </a:r>
          </a:p>
        </p:txBody>
      </p:sp>
      <p:sp>
        <p:nvSpPr>
          <p:cNvPr id="7" name="slr-i3-items">
            <a:extLst>
              <a:ext uri="{FF2B5EF4-FFF2-40B4-BE49-F238E27FC236}">
                <a16:creationId xmlns:a16="http://schemas.microsoft.com/office/drawing/2014/main" id="{97BB13EC-123F-4C62-8ACC-1D6B7D4CF990}"/>
              </a:ext>
            </a:extLst>
          </p:cNvPr>
          <p:cNvSpPr>
            <a:spLocks noGrp="1"/>
          </p:cNvSpPr>
          <p:nvPr/>
        </p:nvSpPr>
        <p:spPr>
          <a:xfrm>
            <a:off x="800100" y="2124075"/>
            <a:ext cx="3019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</a:t>
            </a:r>
          </a:p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INT · LPAREN RPAREN</a:t>
            </a:r>
          </a:p>
        </p:txBody>
      </p:sp>
      <p:sp>
        <p:nvSpPr>
          <p:cNvPr id="8" name="slr-follow">
            <a:extLst>
              <a:ext uri="{FF2B5EF4-FFF2-40B4-BE49-F238E27FC236}">
                <a16:creationId xmlns:a16="http://schemas.microsoft.com/office/drawing/2014/main" id="{10DE50EE-D3C1-41A7-9BC6-F21934863E7B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3095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FOLLOW(term) = { PLUS, $ }</a:t>
            </a:r>
          </a:p>
        </p:txBody>
      </p:sp>
      <p:sp>
        <p:nvSpPr>
          <p:cNvPr id="9" name="slr-fixed-0-0">
            <a:extLst>
              <a:ext uri="{FF2B5EF4-FFF2-40B4-BE49-F238E27FC236}">
                <a16:creationId xmlns:a16="http://schemas.microsoft.com/office/drawing/2014/main" id="{250DABD6-536B-48CA-BD58-476184EAA01F}"/>
              </a:ext>
            </a:extLst>
          </p:cNvPr>
          <p:cNvSpPr>
            <a:spLocks noGrp="1"/>
          </p:cNvSpPr>
          <p:nvPr/>
        </p:nvSpPr>
        <p:spPr>
          <a:xfrm>
            <a:off x="4572000" y="1857375"/>
            <a:ext cx="1190625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LPAREN</a:t>
            </a:r>
          </a:p>
        </p:txBody>
      </p:sp>
      <p:sp>
        <p:nvSpPr>
          <p:cNvPr id="10" name="slr-fixed-0-1">
            <a:extLst>
              <a:ext uri="{FF2B5EF4-FFF2-40B4-BE49-F238E27FC236}">
                <a16:creationId xmlns:a16="http://schemas.microsoft.com/office/drawing/2014/main" id="{9EC5687E-6114-4171-83CC-6556FD2CBD94}"/>
              </a:ext>
            </a:extLst>
          </p:cNvPr>
          <p:cNvSpPr>
            <a:spLocks noGrp="1"/>
          </p:cNvSpPr>
          <p:nvPr/>
        </p:nvSpPr>
        <p:spPr>
          <a:xfrm>
            <a:off x="5762625" y="1857375"/>
            <a:ext cx="1190625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11" name="slr-fixed-0-2">
            <a:extLst>
              <a:ext uri="{FF2B5EF4-FFF2-40B4-BE49-F238E27FC236}">
                <a16:creationId xmlns:a16="http://schemas.microsoft.com/office/drawing/2014/main" id="{22BEB7A8-74DF-4D40-9C10-AE5A35B26B80}"/>
              </a:ext>
            </a:extLst>
          </p:cNvPr>
          <p:cNvSpPr>
            <a:spLocks noGrp="1"/>
          </p:cNvSpPr>
          <p:nvPr/>
        </p:nvSpPr>
        <p:spPr>
          <a:xfrm>
            <a:off x="6953250" y="1857375"/>
            <a:ext cx="1190625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12" name="slr-fixed-1-0">
            <a:extLst>
              <a:ext uri="{FF2B5EF4-FFF2-40B4-BE49-F238E27FC236}">
                <a16:creationId xmlns:a16="http://schemas.microsoft.com/office/drawing/2014/main" id="{50E90DC9-60AD-4BF4-84E5-E11E1DAE96FC}"/>
              </a:ext>
            </a:extLst>
          </p:cNvPr>
          <p:cNvSpPr>
            <a:spLocks noGrp="1"/>
          </p:cNvSpPr>
          <p:nvPr/>
        </p:nvSpPr>
        <p:spPr>
          <a:xfrm>
            <a:off x="4572000" y="2409825"/>
            <a:ext cx="1190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shift</a:t>
            </a:r>
          </a:p>
        </p:txBody>
      </p:sp>
      <p:sp>
        <p:nvSpPr>
          <p:cNvPr id="13" name="slr-fixed-1-1">
            <a:extLst>
              <a:ext uri="{FF2B5EF4-FFF2-40B4-BE49-F238E27FC236}">
                <a16:creationId xmlns:a16="http://schemas.microsoft.com/office/drawing/2014/main" id="{29DCAE36-2B0B-4029-BA0C-9842E2C46FED}"/>
              </a:ext>
            </a:extLst>
          </p:cNvPr>
          <p:cNvSpPr>
            <a:spLocks noGrp="1"/>
          </p:cNvSpPr>
          <p:nvPr/>
        </p:nvSpPr>
        <p:spPr>
          <a:xfrm>
            <a:off x="5762625" y="2409825"/>
            <a:ext cx="1190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14" name="slr-fixed-1-2">
            <a:extLst>
              <a:ext uri="{FF2B5EF4-FFF2-40B4-BE49-F238E27FC236}">
                <a16:creationId xmlns:a16="http://schemas.microsoft.com/office/drawing/2014/main" id="{36E571F8-8058-4E70-8BB2-D4FA052C9E42}"/>
              </a:ext>
            </a:extLst>
          </p:cNvPr>
          <p:cNvSpPr>
            <a:spLocks noGrp="1"/>
          </p:cNvSpPr>
          <p:nvPr/>
        </p:nvSpPr>
        <p:spPr>
          <a:xfrm>
            <a:off x="6953250" y="2409825"/>
            <a:ext cx="1190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15" name="slr-reason">
            <a:extLst>
              <a:ext uri="{FF2B5EF4-FFF2-40B4-BE49-F238E27FC236}">
                <a16:creationId xmlns:a16="http://schemas.microsoft.com/office/drawing/2014/main" id="{10039F82-E630-4673-860A-B859EB7B2997}"/>
              </a:ext>
            </a:extLst>
          </p:cNvPr>
          <p:cNvSpPr>
            <a:spLocks noGrp="1"/>
          </p:cNvSpPr>
          <p:nvPr/>
        </p:nvSpPr>
        <p:spPr>
          <a:xfrm>
            <a:off x="4572000" y="3286125"/>
            <a:ext cx="3571875" cy="7239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LPAREN ∉ FOLLOW(term)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所以完成项不再要求 r3；只保留 shift。</a:t>
            </a:r>
          </a:p>
        </p:txBody>
      </p:sp>
      <p:sp>
        <p:nvSpPr>
          <p:cNvPr id="16" name="takeaway-15">
            <a:extLst>
              <a:ext uri="{FF2B5EF4-FFF2-40B4-BE49-F238E27FC236}">
                <a16:creationId xmlns:a16="http://schemas.microsoft.com/office/drawing/2014/main" id="{734C285A-43F2-459F-BE26-F08307EC1E32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SLR 用一份全局 FOLLOW 集合，修复了 LR(0) 的无条件reduce。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4368"/>
          </a:bodyPr>
          <a:lstStyle/>
          <a:p>
            <a:r>
              <a:rPr>
                <a:latin typeface="Arial"/>
                <a:ea typeface="Arial"/>
                <a:cs typeface="Arial"/>
              </a:rPr>
              <a:t>构造 SLR 表：只有 reduce 规则发生变化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B7BEEEC-A170-5376-2B6E-CB54687B0CB1}" type="slidenum">
              <a:t>11</a:t>
            </a:fld>
            <a:endParaRPr/>
          </a:p>
        </p:txBody>
      </p:sp>
      <p:sp>
        <p:nvSpPr>
          <p:cNvPr id="5" name="slr-steps-0-0">
            <a:extLst>
              <a:ext uri="{FF2B5EF4-FFF2-40B4-BE49-F238E27FC236}">
                <a16:creationId xmlns:a16="http://schemas.microsoft.com/office/drawing/2014/main" id="{78A628D6-3109-4C18-925D-2F63659A952A}"/>
              </a:ext>
            </a:extLst>
          </p:cNvPr>
          <p:cNvSpPr>
            <a:spLocks noGrp="1"/>
          </p:cNvSpPr>
          <p:nvPr/>
        </p:nvSpPr>
        <p:spPr>
          <a:xfrm>
            <a:off x="1000125" y="1571625"/>
            <a:ext cx="762000" cy="6096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步骤</a:t>
            </a:r>
          </a:p>
        </p:txBody>
      </p:sp>
      <p:sp>
        <p:nvSpPr>
          <p:cNvPr id="6" name="slr-steps-0-1">
            <a:extLst>
              <a:ext uri="{FF2B5EF4-FFF2-40B4-BE49-F238E27FC236}">
                <a16:creationId xmlns:a16="http://schemas.microsoft.com/office/drawing/2014/main" id="{B5277A18-AEB7-4C9B-9511-ED83AA76C10D}"/>
              </a:ext>
            </a:extLst>
          </p:cNvPr>
          <p:cNvSpPr>
            <a:spLocks noGrp="1"/>
          </p:cNvSpPr>
          <p:nvPr/>
        </p:nvSpPr>
        <p:spPr>
          <a:xfrm>
            <a:off x="1762125" y="1571625"/>
            <a:ext cx="2667000" cy="6096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来自哪里</a:t>
            </a:r>
          </a:p>
        </p:txBody>
      </p:sp>
      <p:sp>
        <p:nvSpPr>
          <p:cNvPr id="7" name="slr-steps-0-2">
            <a:extLst>
              <a:ext uri="{FF2B5EF4-FFF2-40B4-BE49-F238E27FC236}">
                <a16:creationId xmlns:a16="http://schemas.microsoft.com/office/drawing/2014/main" id="{1403DE5C-7FDF-452C-ACB9-5A266E5A3B38}"/>
              </a:ext>
            </a:extLst>
          </p:cNvPr>
          <p:cNvSpPr>
            <a:spLocks noGrp="1"/>
          </p:cNvSpPr>
          <p:nvPr/>
        </p:nvSpPr>
        <p:spPr>
          <a:xfrm>
            <a:off x="4429125" y="1571625"/>
            <a:ext cx="4095750" cy="60960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写入表格</a:t>
            </a:r>
          </a:p>
        </p:txBody>
      </p:sp>
      <p:sp>
        <p:nvSpPr>
          <p:cNvPr id="8" name="slr-steps-1-0">
            <a:extLst>
              <a:ext uri="{FF2B5EF4-FFF2-40B4-BE49-F238E27FC236}">
                <a16:creationId xmlns:a16="http://schemas.microsoft.com/office/drawing/2014/main" id="{4E46F845-B76F-4B1C-B0DC-6963C252B5E1}"/>
              </a:ext>
            </a:extLst>
          </p:cNvPr>
          <p:cNvSpPr>
            <a:spLocks noGrp="1"/>
          </p:cNvSpPr>
          <p:nvPr/>
        </p:nvSpPr>
        <p:spPr>
          <a:xfrm>
            <a:off x="1000125" y="2181225"/>
            <a:ext cx="76200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9" name="slr-steps-1-1">
            <a:extLst>
              <a:ext uri="{FF2B5EF4-FFF2-40B4-BE49-F238E27FC236}">
                <a16:creationId xmlns:a16="http://schemas.microsoft.com/office/drawing/2014/main" id="{287ACF1F-6027-403F-BA69-F66D0CECF88A}"/>
              </a:ext>
            </a:extLst>
          </p:cNvPr>
          <p:cNvSpPr>
            <a:spLocks noGrp="1"/>
          </p:cNvSpPr>
          <p:nvPr/>
        </p:nvSpPr>
        <p:spPr>
          <a:xfrm>
            <a:off x="1762125" y="2181225"/>
            <a:ext cx="266700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终结符转换 I --a→ J</a:t>
            </a:r>
          </a:p>
        </p:txBody>
      </p:sp>
      <p:sp>
        <p:nvSpPr>
          <p:cNvPr id="10" name="slr-steps-1-2">
            <a:extLst>
              <a:ext uri="{FF2B5EF4-FFF2-40B4-BE49-F238E27FC236}">
                <a16:creationId xmlns:a16="http://schemas.microsoft.com/office/drawing/2014/main" id="{53B5D340-D809-412F-9831-3FEC01854E43}"/>
              </a:ext>
            </a:extLst>
          </p:cNvPr>
          <p:cNvSpPr>
            <a:spLocks noGrp="1"/>
          </p:cNvSpPr>
          <p:nvPr/>
        </p:nvSpPr>
        <p:spPr>
          <a:xfrm>
            <a:off x="4429125" y="2181225"/>
            <a:ext cx="409575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ACTION[I, a] = shift J</a:t>
            </a:r>
          </a:p>
        </p:txBody>
      </p:sp>
      <p:sp>
        <p:nvSpPr>
          <p:cNvPr id="11" name="slr-steps-2-0">
            <a:extLst>
              <a:ext uri="{FF2B5EF4-FFF2-40B4-BE49-F238E27FC236}">
                <a16:creationId xmlns:a16="http://schemas.microsoft.com/office/drawing/2014/main" id="{9002708E-8372-4381-86EA-78A251A1A72F}"/>
              </a:ext>
            </a:extLst>
          </p:cNvPr>
          <p:cNvSpPr>
            <a:spLocks noGrp="1"/>
          </p:cNvSpPr>
          <p:nvPr/>
        </p:nvSpPr>
        <p:spPr>
          <a:xfrm>
            <a:off x="1000125" y="2790825"/>
            <a:ext cx="76200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2" name="slr-steps-2-1">
            <a:extLst>
              <a:ext uri="{FF2B5EF4-FFF2-40B4-BE49-F238E27FC236}">
                <a16:creationId xmlns:a16="http://schemas.microsoft.com/office/drawing/2014/main" id="{E91B0D81-75CE-4DF7-BF17-B9C0D5A503A7}"/>
              </a:ext>
            </a:extLst>
          </p:cNvPr>
          <p:cNvSpPr>
            <a:spLocks noGrp="1"/>
          </p:cNvSpPr>
          <p:nvPr/>
        </p:nvSpPr>
        <p:spPr>
          <a:xfrm>
            <a:off x="1762125" y="2790825"/>
            <a:ext cx="266700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非终结符转换 I --A→ J</a:t>
            </a:r>
          </a:p>
        </p:txBody>
      </p:sp>
      <p:sp>
        <p:nvSpPr>
          <p:cNvPr id="13" name="slr-steps-2-2">
            <a:extLst>
              <a:ext uri="{FF2B5EF4-FFF2-40B4-BE49-F238E27FC236}">
                <a16:creationId xmlns:a16="http://schemas.microsoft.com/office/drawing/2014/main" id="{AD380CFE-42F9-49C0-AF49-8D7C4F7DAFA8}"/>
              </a:ext>
            </a:extLst>
          </p:cNvPr>
          <p:cNvSpPr>
            <a:spLocks noGrp="1"/>
          </p:cNvSpPr>
          <p:nvPr/>
        </p:nvSpPr>
        <p:spPr>
          <a:xfrm>
            <a:off x="4429125" y="2790825"/>
            <a:ext cx="409575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GOTO[I, A] = J</a:t>
            </a:r>
          </a:p>
        </p:txBody>
      </p:sp>
      <p:sp>
        <p:nvSpPr>
          <p:cNvPr id="14" name="slr-steps-3-0">
            <a:extLst>
              <a:ext uri="{FF2B5EF4-FFF2-40B4-BE49-F238E27FC236}">
                <a16:creationId xmlns:a16="http://schemas.microsoft.com/office/drawing/2014/main" id="{8F28DD14-75DB-4C5D-8918-6E149E7C9631}"/>
              </a:ext>
            </a:extLst>
          </p:cNvPr>
          <p:cNvSpPr>
            <a:spLocks noGrp="1"/>
          </p:cNvSpPr>
          <p:nvPr/>
        </p:nvSpPr>
        <p:spPr>
          <a:xfrm>
            <a:off x="1000125" y="3400425"/>
            <a:ext cx="76200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5" name="slr-steps-3-1">
            <a:extLst>
              <a:ext uri="{FF2B5EF4-FFF2-40B4-BE49-F238E27FC236}">
                <a16:creationId xmlns:a16="http://schemas.microsoft.com/office/drawing/2014/main" id="{6090BF8C-3D20-42DF-8C38-B67B2D1FFD8F}"/>
              </a:ext>
            </a:extLst>
          </p:cNvPr>
          <p:cNvSpPr>
            <a:spLocks noGrp="1"/>
          </p:cNvSpPr>
          <p:nvPr/>
        </p:nvSpPr>
        <p:spPr>
          <a:xfrm>
            <a:off x="1762125" y="3400425"/>
            <a:ext cx="266700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完成项 A → β ·</a:t>
            </a:r>
          </a:p>
        </p:txBody>
      </p:sp>
      <p:sp>
        <p:nvSpPr>
          <p:cNvPr id="16" name="slr-steps-3-2">
            <a:extLst>
              <a:ext uri="{FF2B5EF4-FFF2-40B4-BE49-F238E27FC236}">
                <a16:creationId xmlns:a16="http://schemas.microsoft.com/office/drawing/2014/main" id="{83D135F2-487B-4D36-BBDB-1D603C22D06F}"/>
              </a:ext>
            </a:extLst>
          </p:cNvPr>
          <p:cNvSpPr>
            <a:spLocks noGrp="1"/>
          </p:cNvSpPr>
          <p:nvPr/>
        </p:nvSpPr>
        <p:spPr>
          <a:xfrm>
            <a:off x="4429125" y="3400425"/>
            <a:ext cx="409575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仅对 a ∈ FOLLOW(A) 填 reduce</a:t>
            </a:r>
          </a:p>
        </p:txBody>
      </p:sp>
      <p:sp>
        <p:nvSpPr>
          <p:cNvPr id="17" name="slr-steps-4-0">
            <a:extLst>
              <a:ext uri="{FF2B5EF4-FFF2-40B4-BE49-F238E27FC236}">
                <a16:creationId xmlns:a16="http://schemas.microsoft.com/office/drawing/2014/main" id="{63EF280A-AF3C-48A9-85C1-55150DED78EA}"/>
              </a:ext>
            </a:extLst>
          </p:cNvPr>
          <p:cNvSpPr>
            <a:spLocks noGrp="1"/>
          </p:cNvSpPr>
          <p:nvPr/>
        </p:nvSpPr>
        <p:spPr>
          <a:xfrm>
            <a:off x="1000125" y="4010025"/>
            <a:ext cx="76200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18" name="slr-steps-4-1">
            <a:extLst>
              <a:ext uri="{FF2B5EF4-FFF2-40B4-BE49-F238E27FC236}">
                <a16:creationId xmlns:a16="http://schemas.microsoft.com/office/drawing/2014/main" id="{41C34283-369E-4D96-B2B5-FE541D573774}"/>
              </a:ext>
            </a:extLst>
          </p:cNvPr>
          <p:cNvSpPr>
            <a:spLocks noGrp="1"/>
          </p:cNvSpPr>
          <p:nvPr/>
        </p:nvSpPr>
        <p:spPr>
          <a:xfrm>
            <a:off x="1762125" y="4010025"/>
            <a:ext cx="266700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S ·</a:t>
            </a:r>
          </a:p>
        </p:txBody>
      </p:sp>
      <p:sp>
        <p:nvSpPr>
          <p:cNvPr id="19" name="slr-steps-4-2">
            <a:extLst>
              <a:ext uri="{FF2B5EF4-FFF2-40B4-BE49-F238E27FC236}">
                <a16:creationId xmlns:a16="http://schemas.microsoft.com/office/drawing/2014/main" id="{89B8808F-5E1A-4F07-9441-086B3A76AA5E}"/>
              </a:ext>
            </a:extLst>
          </p:cNvPr>
          <p:cNvSpPr>
            <a:spLocks noGrp="1"/>
          </p:cNvSpPr>
          <p:nvPr/>
        </p:nvSpPr>
        <p:spPr>
          <a:xfrm>
            <a:off x="4429125" y="4010025"/>
            <a:ext cx="4095750" cy="60960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ACTION[I, $] = accept</a:t>
            </a:r>
          </a:p>
        </p:txBody>
      </p:sp>
      <p:sp>
        <p:nvSpPr>
          <p:cNvPr id="20" name="takeaway-16">
            <a:extLst>
              <a:ext uri="{FF2B5EF4-FFF2-40B4-BE49-F238E27FC236}">
                <a16:creationId xmlns:a16="http://schemas.microsoft.com/office/drawing/2014/main" id="{1DB57416-574F-4174-B1D7-0557667452E5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状态数与 LR(0) 完全相同，因此 SLR 的额外成本很小。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5724"/>
          </a:bodyPr>
          <a:lstStyle/>
          <a:p>
            <a:r>
              <a:rPr>
                <a:latin typeface="Arial"/>
                <a:ea typeface="Arial"/>
                <a:cs typeface="Arial"/>
              </a:rPr>
              <a:t>SLR能解决所有冲突问题吗？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0394428-F1DC-E5F6-DB0C-7DE31F3D8A23}" type="slidenum">
              <a:t>12</a:t>
            </a:fld>
            <a:endParaRPr/>
          </a:p>
        </p:txBody>
      </p:sp>
      <p:sp>
        <p:nvSpPr>
          <p:cNvPr id="5" name="subtitle-11">
            <a:extLst>
              <a:ext uri="{FF2B5EF4-FFF2-40B4-BE49-F238E27FC236}">
                <a16:creationId xmlns:a16="http://schemas.microsoft.com/office/drawing/2014/main" id="{6806D95A-78F4-4C50-8D85-41D4FBBFC44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考虑下面的例子：</a:t>
            </a:r>
          </a:p>
        </p:txBody>
      </p:sp>
      <p:sp>
        <p:nvSpPr>
          <p:cNvPr id="6" name="assign-grammar">
            <a:extLst>
              <a:ext uri="{FF2B5EF4-FFF2-40B4-BE49-F238E27FC236}">
                <a16:creationId xmlns:a16="http://schemas.microsoft.com/office/drawing/2014/main" id="{56356F1E-D08D-4393-98C8-F915915F8BD6}"/>
              </a:ext>
            </a:extLst>
          </p:cNvPr>
          <p:cNvSpPr>
            <a:spLocks noGrp="1"/>
          </p:cNvSpPr>
          <p:nvPr/>
        </p:nvSpPr>
        <p:spPr>
          <a:xfrm>
            <a:off x="2095500" y="1762125"/>
            <a:ext cx="4953000" cy="2381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stmt</a:t>
            </a:r>
          </a:p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 → left EQUAL right</a:t>
            </a:r>
          </a:p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| right</a:t>
            </a:r>
          </a:p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 → STAR right</a:t>
            </a:r>
          </a:p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| ID</a:t>
            </a:r>
          </a:p>
          <a:p>
            <a:pPr algn="l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right → left</a:t>
            </a:r>
          </a:p>
        </p:txBody>
      </p:sp>
      <p:sp>
        <p:nvSpPr>
          <p:cNvPr id="7" name="assign-examples">
            <a:extLst>
              <a:ext uri="{FF2B5EF4-FFF2-40B4-BE49-F238E27FC236}">
                <a16:creationId xmlns:a16="http://schemas.microsoft.com/office/drawing/2014/main" id="{21585959-AB06-4C4E-900A-F60E2A02E5BC}"/>
              </a:ext>
            </a:extLst>
          </p:cNvPr>
          <p:cNvSpPr>
            <a:spLocks noGrp="1"/>
          </p:cNvSpPr>
          <p:nvPr/>
        </p:nvSpPr>
        <p:spPr>
          <a:xfrm>
            <a:off x="1619250" y="423862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示例：ID EQUAL ID    或    STAR ID EQUAL ID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LR(0)：I₀ 读到 left，进入 I₁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DB16885-0D3F-A391-B669-3211DB3B26E8}" type="slidenum">
              <a:t>13</a:t>
            </a:fld>
            <a:endParaRPr/>
          </a:p>
        </p:txBody>
      </p:sp>
      <p:sp>
        <p:nvSpPr>
          <p:cNvPr id="5" name="subtitle-12">
            <a:extLst>
              <a:ext uri="{FF2B5EF4-FFF2-40B4-BE49-F238E27FC236}">
                <a16:creationId xmlns:a16="http://schemas.microsoft.com/office/drawing/2014/main" id="{244B9545-9F9D-41B2-8697-0621B44D82D8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I₀ = closure({ start → · stmt })</a:t>
            </a:r>
          </a:p>
        </p:txBody>
      </p:sp>
      <p:sp>
        <p:nvSpPr>
          <p:cNvPr id="6" name="i0-i1-line">
            <a:extLst>
              <a:ext uri="{FF2B5EF4-FFF2-40B4-BE49-F238E27FC236}">
                <a16:creationId xmlns:a16="http://schemas.microsoft.com/office/drawing/2014/main" id="{6245EBBE-406C-4344-995A-8704F17FAC6C}"/>
              </a:ext>
            </a:extLst>
          </p:cNvPr>
          <p:cNvSpPr>
            <a:spLocks noGrp="1"/>
          </p:cNvSpPr>
          <p:nvPr/>
        </p:nvSpPr>
        <p:spPr>
          <a:xfrm>
            <a:off x="4810125" y="2876550"/>
            <a:ext cx="476250" cy="0"/>
          </a:xfrm>
          <a:prstGeom prst="line">
            <a:avLst/>
          </a:prstGeom>
          <a:noFill/>
          <a:ln w="20955">
            <a:solidFill>
              <a:srgbClr val="2D7C93"/>
            </a:solidFill>
            <a:prstDash val="solid"/>
          </a:ln>
        </p:spPr>
      </p:sp>
      <p:sp>
        <p:nvSpPr>
          <p:cNvPr id="7" name="i0-i1-label">
            <a:extLst>
              <a:ext uri="{FF2B5EF4-FFF2-40B4-BE49-F238E27FC236}">
                <a16:creationId xmlns:a16="http://schemas.microsoft.com/office/drawing/2014/main" id="{65F78CB2-99E2-4C6C-840E-1E2424F56297}"/>
              </a:ext>
            </a:extLst>
          </p:cNvPr>
          <p:cNvSpPr>
            <a:spLocks noGrp="1"/>
          </p:cNvSpPr>
          <p:nvPr/>
        </p:nvSpPr>
        <p:spPr>
          <a:xfrm>
            <a:off x="4762500" y="24574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left</a:t>
            </a:r>
          </a:p>
        </p:txBody>
      </p:sp>
      <p:sp>
        <p:nvSpPr>
          <p:cNvPr id="8" name="full-i0-box">
            <a:extLst>
              <a:ext uri="{FF2B5EF4-FFF2-40B4-BE49-F238E27FC236}">
                <a16:creationId xmlns:a16="http://schemas.microsoft.com/office/drawing/2014/main" id="{62544ACD-AC47-41F3-B4E4-969FD82E1AFA}"/>
              </a:ext>
            </a:extLst>
          </p:cNvPr>
          <p:cNvSpPr>
            <a:spLocks noGrp="1"/>
          </p:cNvSpPr>
          <p:nvPr/>
        </p:nvSpPr>
        <p:spPr>
          <a:xfrm>
            <a:off x="523875" y="1666875"/>
            <a:ext cx="4286250" cy="2200275"/>
          </a:xfrm>
          <a:prstGeom prst="roundRect">
            <a:avLst>
              <a:gd name="adj" fmla="val 3463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" name="full-i0-title">
            <a:extLst>
              <a:ext uri="{FF2B5EF4-FFF2-40B4-BE49-F238E27FC236}">
                <a16:creationId xmlns:a16="http://schemas.microsoft.com/office/drawing/2014/main" id="{B43538FC-63C7-4762-9412-5F34F7FD80FF}"/>
              </a:ext>
            </a:extLst>
          </p:cNvPr>
          <p:cNvSpPr>
            <a:spLocks noGrp="1"/>
          </p:cNvSpPr>
          <p:nvPr/>
        </p:nvSpPr>
        <p:spPr>
          <a:xfrm>
            <a:off x="638175" y="1743075"/>
            <a:ext cx="405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10" name="full-i0-items">
            <a:extLst>
              <a:ext uri="{FF2B5EF4-FFF2-40B4-BE49-F238E27FC236}">
                <a16:creationId xmlns:a16="http://schemas.microsoft.com/office/drawing/2014/main" id="{BBED7734-CFDD-4204-A41D-9F5E80D5F419}"/>
              </a:ext>
            </a:extLst>
          </p:cNvPr>
          <p:cNvSpPr>
            <a:spLocks noGrp="1"/>
          </p:cNvSpPr>
          <p:nvPr/>
        </p:nvSpPr>
        <p:spPr>
          <a:xfrm>
            <a:off x="657225" y="2028825"/>
            <a:ext cx="4019550" cy="1800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 → · stmt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  → · left EQUAL right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 | · right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  → · STAR right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 | · ID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right  → · left</a:t>
            </a:r>
          </a:p>
        </p:txBody>
      </p:sp>
      <p:sp>
        <p:nvSpPr>
          <p:cNvPr id="11" name="conflict-i1-box">
            <a:extLst>
              <a:ext uri="{FF2B5EF4-FFF2-40B4-BE49-F238E27FC236}">
                <a16:creationId xmlns:a16="http://schemas.microsoft.com/office/drawing/2014/main" id="{6D559787-7FB8-48D8-81DF-6146507E4CBB}"/>
              </a:ext>
            </a:extLst>
          </p:cNvPr>
          <p:cNvSpPr>
            <a:spLocks noGrp="1"/>
          </p:cNvSpPr>
          <p:nvPr/>
        </p:nvSpPr>
        <p:spPr>
          <a:xfrm>
            <a:off x="5286375" y="2333625"/>
            <a:ext cx="3286125" cy="971550"/>
          </a:xfrm>
          <a:prstGeom prst="roundRect">
            <a:avLst>
              <a:gd name="adj" fmla="val 7843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conflict-i1-title">
            <a:extLst>
              <a:ext uri="{FF2B5EF4-FFF2-40B4-BE49-F238E27FC236}">
                <a16:creationId xmlns:a16="http://schemas.microsoft.com/office/drawing/2014/main" id="{FB17B64F-0683-4225-A757-4FE43C5CE490}"/>
              </a:ext>
            </a:extLst>
          </p:cNvPr>
          <p:cNvSpPr>
            <a:spLocks noGrp="1"/>
          </p:cNvSpPr>
          <p:nvPr/>
        </p:nvSpPr>
        <p:spPr>
          <a:xfrm>
            <a:off x="5400675" y="2409825"/>
            <a:ext cx="30575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I₁</a:t>
            </a:r>
          </a:p>
        </p:txBody>
      </p:sp>
      <p:sp>
        <p:nvSpPr>
          <p:cNvPr id="13" name="conflict-i1-items">
            <a:extLst>
              <a:ext uri="{FF2B5EF4-FFF2-40B4-BE49-F238E27FC236}">
                <a16:creationId xmlns:a16="http://schemas.microsoft.com/office/drawing/2014/main" id="{52DFD2B6-586C-4361-89E3-B84A1CFC5CE6}"/>
              </a:ext>
            </a:extLst>
          </p:cNvPr>
          <p:cNvSpPr>
            <a:spLocks noGrp="1"/>
          </p:cNvSpPr>
          <p:nvPr/>
        </p:nvSpPr>
        <p:spPr>
          <a:xfrm>
            <a:off x="5419725" y="2695575"/>
            <a:ext cx="30194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 → left · EQUAL right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right → left ·</a:t>
            </a:r>
          </a:p>
        </p:txBody>
      </p:sp>
      <p:sp>
        <p:nvSpPr>
          <p:cNvPr id="14" name="takeaway-11">
            <a:extLst>
              <a:ext uri="{FF2B5EF4-FFF2-40B4-BE49-F238E27FC236}">
                <a16:creationId xmlns:a16="http://schemas.microsoft.com/office/drawing/2014/main" id="{CB9E6BC3-B7AE-4404-ABC9-B3B4E6353A4E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I₁ 同时包含两条 item：一条移进项，一条完成项。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LR(0) 到 SLR：冲突格没有被拆开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D23107-4986-8758-3A93-3D74F35908CC}" type="slidenum">
              <a:t>14</a:t>
            </a:fld>
            <a:endParaRPr/>
          </a:p>
        </p:txBody>
      </p:sp>
      <p:sp>
        <p:nvSpPr>
          <p:cNvPr id="5" name="subtitle-13">
            <a:extLst>
              <a:ext uri="{FF2B5EF4-FFF2-40B4-BE49-F238E27FC236}">
                <a16:creationId xmlns:a16="http://schemas.microsoft.com/office/drawing/2014/main" id="{52C14880-34A4-4134-8BAF-6A9B78CD454A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SLR 只删除 current ∉ FOLLOW(right) 时的 reduce；而EQUAL 仍在 FOLLOW(right) 中。</a:t>
            </a:r>
          </a:p>
        </p:txBody>
      </p:sp>
      <p:sp>
        <p:nvSpPr>
          <p:cNvPr id="6" name="lr0-slr-table-0-0">
            <a:extLst>
              <a:ext uri="{FF2B5EF4-FFF2-40B4-BE49-F238E27FC236}">
                <a16:creationId xmlns:a16="http://schemas.microsoft.com/office/drawing/2014/main" id="{53498AD3-7A62-46F7-B06F-24889A387428}"/>
              </a:ext>
            </a:extLst>
          </p:cNvPr>
          <p:cNvSpPr>
            <a:spLocks noGrp="1"/>
          </p:cNvSpPr>
          <p:nvPr/>
        </p:nvSpPr>
        <p:spPr>
          <a:xfrm>
            <a:off x="1095375" y="1714500"/>
            <a:ext cx="1714500" cy="5905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方法</a:t>
            </a:r>
          </a:p>
        </p:txBody>
      </p:sp>
      <p:sp>
        <p:nvSpPr>
          <p:cNvPr id="7" name="lr0-slr-table-0-1">
            <a:extLst>
              <a:ext uri="{FF2B5EF4-FFF2-40B4-BE49-F238E27FC236}">
                <a16:creationId xmlns:a16="http://schemas.microsoft.com/office/drawing/2014/main" id="{9E1DAA03-3B0F-4EE8-8753-4C9D5A15E645}"/>
              </a:ext>
            </a:extLst>
          </p:cNvPr>
          <p:cNvSpPr>
            <a:spLocks noGrp="1"/>
          </p:cNvSpPr>
          <p:nvPr/>
        </p:nvSpPr>
        <p:spPr>
          <a:xfrm>
            <a:off x="2809875" y="1714500"/>
            <a:ext cx="1714500" cy="5905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state</a:t>
            </a:r>
          </a:p>
        </p:txBody>
      </p:sp>
      <p:sp>
        <p:nvSpPr>
          <p:cNvPr id="8" name="lr0-slr-table-0-2">
            <a:extLst>
              <a:ext uri="{FF2B5EF4-FFF2-40B4-BE49-F238E27FC236}">
                <a16:creationId xmlns:a16="http://schemas.microsoft.com/office/drawing/2014/main" id="{770A08C1-CB65-4A4F-9D05-60EC53CB2DAE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524250" cy="5905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EQUAL</a:t>
            </a:r>
          </a:p>
        </p:txBody>
      </p:sp>
      <p:sp>
        <p:nvSpPr>
          <p:cNvPr id="9" name="lr0-slr-table-1-0">
            <a:extLst>
              <a:ext uri="{FF2B5EF4-FFF2-40B4-BE49-F238E27FC236}">
                <a16:creationId xmlns:a16="http://schemas.microsoft.com/office/drawing/2014/main" id="{17A4480E-96C4-4E74-8D91-B613A1B03361}"/>
              </a:ext>
            </a:extLst>
          </p:cNvPr>
          <p:cNvSpPr>
            <a:spLocks noGrp="1"/>
          </p:cNvSpPr>
          <p:nvPr/>
        </p:nvSpPr>
        <p:spPr>
          <a:xfrm>
            <a:off x="1095375" y="2305050"/>
            <a:ext cx="17145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LR(0)</a:t>
            </a:r>
          </a:p>
        </p:txBody>
      </p:sp>
      <p:sp>
        <p:nvSpPr>
          <p:cNvPr id="10" name="lr0-slr-table-1-1">
            <a:extLst>
              <a:ext uri="{FF2B5EF4-FFF2-40B4-BE49-F238E27FC236}">
                <a16:creationId xmlns:a16="http://schemas.microsoft.com/office/drawing/2014/main" id="{1AC87E4B-4520-4FB8-AF25-B161C6BA8979}"/>
              </a:ext>
            </a:extLst>
          </p:cNvPr>
          <p:cNvSpPr>
            <a:spLocks noGrp="1"/>
          </p:cNvSpPr>
          <p:nvPr/>
        </p:nvSpPr>
        <p:spPr>
          <a:xfrm>
            <a:off x="2809875" y="2305050"/>
            <a:ext cx="17145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I₁</a:t>
            </a:r>
          </a:p>
        </p:txBody>
      </p:sp>
      <p:sp>
        <p:nvSpPr>
          <p:cNvPr id="11" name="lr0-slr-table-1-2">
            <a:extLst>
              <a:ext uri="{FF2B5EF4-FFF2-40B4-BE49-F238E27FC236}">
                <a16:creationId xmlns:a16="http://schemas.microsoft.com/office/drawing/2014/main" id="{7F348C72-3D3B-436A-A696-D2BA357FDAED}"/>
              </a:ext>
            </a:extLst>
          </p:cNvPr>
          <p:cNvSpPr>
            <a:spLocks noGrp="1"/>
          </p:cNvSpPr>
          <p:nvPr/>
        </p:nvSpPr>
        <p:spPr>
          <a:xfrm>
            <a:off x="4524375" y="2305050"/>
            <a:ext cx="35242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shift / reduce</a:t>
            </a:r>
          </a:p>
        </p:txBody>
      </p:sp>
      <p:sp>
        <p:nvSpPr>
          <p:cNvPr id="12" name="lr0-slr-table-2-0">
            <a:extLst>
              <a:ext uri="{FF2B5EF4-FFF2-40B4-BE49-F238E27FC236}">
                <a16:creationId xmlns:a16="http://schemas.microsoft.com/office/drawing/2014/main" id="{A5F8A575-4063-4F91-868E-0069EFA8D2EA}"/>
              </a:ext>
            </a:extLst>
          </p:cNvPr>
          <p:cNvSpPr>
            <a:spLocks noGrp="1"/>
          </p:cNvSpPr>
          <p:nvPr/>
        </p:nvSpPr>
        <p:spPr>
          <a:xfrm>
            <a:off x="1095375" y="2895600"/>
            <a:ext cx="17145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SLR</a:t>
            </a:r>
          </a:p>
        </p:txBody>
      </p:sp>
      <p:sp>
        <p:nvSpPr>
          <p:cNvPr id="13" name="lr0-slr-table-2-1">
            <a:extLst>
              <a:ext uri="{FF2B5EF4-FFF2-40B4-BE49-F238E27FC236}">
                <a16:creationId xmlns:a16="http://schemas.microsoft.com/office/drawing/2014/main" id="{E06DFFF0-430F-439A-9652-26AE540FDB78}"/>
              </a:ext>
            </a:extLst>
          </p:cNvPr>
          <p:cNvSpPr>
            <a:spLocks noGrp="1"/>
          </p:cNvSpPr>
          <p:nvPr/>
        </p:nvSpPr>
        <p:spPr>
          <a:xfrm>
            <a:off x="2809875" y="2895600"/>
            <a:ext cx="17145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I₁</a:t>
            </a:r>
          </a:p>
        </p:txBody>
      </p:sp>
      <p:sp>
        <p:nvSpPr>
          <p:cNvPr id="14" name="lr0-slr-table-2-2">
            <a:extLst>
              <a:ext uri="{FF2B5EF4-FFF2-40B4-BE49-F238E27FC236}">
                <a16:creationId xmlns:a16="http://schemas.microsoft.com/office/drawing/2014/main" id="{1B465325-2305-4660-AC07-1F147C819AAB}"/>
              </a:ext>
            </a:extLst>
          </p:cNvPr>
          <p:cNvSpPr>
            <a:spLocks noGrp="1"/>
          </p:cNvSpPr>
          <p:nvPr/>
        </p:nvSpPr>
        <p:spPr>
          <a:xfrm>
            <a:off x="4524375" y="2895600"/>
            <a:ext cx="35242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shift / reduce</a:t>
            </a:r>
          </a:p>
        </p:txBody>
      </p:sp>
      <p:sp>
        <p:nvSpPr>
          <p:cNvPr id="15" name="follow-proof">
            <a:extLst>
              <a:ext uri="{FF2B5EF4-FFF2-40B4-BE49-F238E27FC236}">
                <a16:creationId xmlns:a16="http://schemas.microsoft.com/office/drawing/2014/main" id="{ABC8EB48-6E07-4BCF-BCFC-4976E72C0F91}"/>
              </a:ext>
            </a:extLst>
          </p:cNvPr>
          <p:cNvSpPr>
            <a:spLocks noGrp="1"/>
          </p:cNvSpPr>
          <p:nvPr/>
        </p:nvSpPr>
        <p:spPr>
          <a:xfrm>
            <a:off x="1476375" y="3714750"/>
            <a:ext cx="6191250" cy="6858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stmt → left EQUAL right  ⇒  EQUAL ∈ FOLLOW(left)</a:t>
            </a:r>
          </a:p>
          <a:p>
            <a:pPr algn="ctr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left → STAR right          ⇒  FOLLOW(left) ⊆ FOLLOW(right)</a:t>
            </a:r>
          </a:p>
          <a:p>
            <a:pPr algn="ctr">
              <a:buNone/>
              <a:defRPr sz="123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∴ EQUAL ∈ FOLLOW(right)</a:t>
            </a:r>
          </a:p>
        </p:txBody>
      </p:sp>
      <p:sp>
        <p:nvSpPr>
          <p:cNvPr id="16" name="takeaway-12">
            <a:extLst>
              <a:ext uri="{FF2B5EF4-FFF2-40B4-BE49-F238E27FC236}">
                <a16:creationId xmlns:a16="http://schemas.microsoft.com/office/drawing/2014/main" id="{7AFA22FF-4047-4B8E-9525-B81B291C44F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SLR 仍会在 ACTION[I₁, EQUAL] 中同时填入 shift 与 reduce。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第二步：让 item 携带 lookahead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LR(1)：完整重做一次状态构造与分析表生成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27921A4-25C4-3DB4-06B1-32693CEE2241}" type="slidenum"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LR(1) item = LR(0) item + 一个 lookahead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A83FA91-883A-0168-8075-96CEB9DCA3C2}" type="slidenum">
              <a:t>16</a:t>
            </a:fld>
            <a:endParaRPr/>
          </a:p>
        </p:txBody>
      </p:sp>
      <p:sp>
        <p:nvSpPr>
          <p:cNvPr id="5" name="subtitle-15">
            <a:extLst>
              <a:ext uri="{FF2B5EF4-FFF2-40B4-BE49-F238E27FC236}">
                <a16:creationId xmlns:a16="http://schemas.microsoft.com/office/drawing/2014/main" id="{F68224DC-61EE-4807-98F4-0F8B3ACC58C5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写作 [A → α · β, a]；最后的 a 记录这条 item 所在的具体右侧上下文。</a:t>
            </a:r>
          </a:p>
        </p:txBody>
      </p:sp>
      <p:sp>
        <p:nvSpPr>
          <p:cNvPr id="6" name="lr0-item">
            <a:extLst>
              <a:ext uri="{FF2B5EF4-FFF2-40B4-BE49-F238E27FC236}">
                <a16:creationId xmlns:a16="http://schemas.microsoft.com/office/drawing/2014/main" id="{145C1062-4BE0-4745-82CA-D7875E30CD5C}"/>
              </a:ext>
            </a:extLst>
          </p:cNvPr>
          <p:cNvSpPr>
            <a:spLocks noGrp="1"/>
          </p:cNvSpPr>
          <p:nvPr/>
        </p:nvSpPr>
        <p:spPr>
          <a:xfrm>
            <a:off x="809625" y="2095500"/>
            <a:ext cx="3143250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LR(0):  A → α · β</a:t>
            </a:r>
          </a:p>
        </p:txBody>
      </p:sp>
      <p:sp>
        <p:nvSpPr>
          <p:cNvPr id="7" name="lr1-plus">
            <a:extLst>
              <a:ext uri="{FF2B5EF4-FFF2-40B4-BE49-F238E27FC236}">
                <a16:creationId xmlns:a16="http://schemas.microsoft.com/office/drawing/2014/main" id="{D93E5835-C389-40FE-881A-AE333636982D}"/>
              </a:ext>
            </a:extLst>
          </p:cNvPr>
          <p:cNvSpPr>
            <a:spLocks noGrp="1"/>
          </p:cNvSpPr>
          <p:nvPr/>
        </p:nvSpPr>
        <p:spPr>
          <a:xfrm>
            <a:off x="4095750" y="2238375"/>
            <a:ext cx="904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+ a</a:t>
            </a:r>
          </a:p>
          <a:p>
            <a:pPr algn="ctr">
              <a:buNone/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8" name="lr1-item">
            <a:extLst>
              <a:ext uri="{FF2B5EF4-FFF2-40B4-BE49-F238E27FC236}">
                <a16:creationId xmlns:a16="http://schemas.microsoft.com/office/drawing/2014/main" id="{2DCFE1FB-2B19-4CFB-AE82-E39F324D6B81}"/>
              </a:ext>
            </a:extLst>
          </p:cNvPr>
          <p:cNvSpPr>
            <a:spLocks noGrp="1"/>
          </p:cNvSpPr>
          <p:nvPr/>
        </p:nvSpPr>
        <p:spPr>
          <a:xfrm>
            <a:off x="5191125" y="1952625"/>
            <a:ext cx="3190875" cy="11430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LR(1):  [A → α · β, a]</a:t>
            </a:r>
          </a:p>
        </p:txBody>
      </p:sp>
      <p:sp>
        <p:nvSpPr>
          <p:cNvPr id="9" name="lr1-a">
            <a:extLst>
              <a:ext uri="{FF2B5EF4-FFF2-40B4-BE49-F238E27FC236}">
                <a16:creationId xmlns:a16="http://schemas.microsoft.com/office/drawing/2014/main" id="{74ED7ACD-4373-4DD5-9394-C541DE120BAF}"/>
              </a:ext>
            </a:extLst>
          </p:cNvPr>
          <p:cNvSpPr>
            <a:spLocks noGrp="1"/>
          </p:cNvSpPr>
          <p:nvPr/>
        </p:nvSpPr>
        <p:spPr>
          <a:xfrm>
            <a:off x="1905000" y="3524250"/>
            <a:ext cx="5334000" cy="6667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同一个 LR(0) item 加上不同的 a，会得到不同的 LR(1) item。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LR(1) item 记录两个阶段的信息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C9C7607-4BA3-B4DC-A00F-2E67A9FCFF7E}" type="slidenum">
              <a:t>17</a:t>
            </a:fld>
            <a:endParaRPr/>
          </a:p>
        </p:txBody>
      </p:sp>
      <p:sp>
        <p:nvSpPr>
          <p:cNvPr id="5" name="subtitle-16">
            <a:extLst>
              <a:ext uri="{FF2B5EF4-FFF2-40B4-BE49-F238E27FC236}">
                <a16:creationId xmlns:a16="http://schemas.microsoft.com/office/drawing/2014/main" id="{318F1CE6-D0DF-49FD-B9C0-60D7CC9D599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点后的 β 描述这条产生式还剩什么；逗号后的 a 只在产生式完成、准备 reduce 时生效。</a:t>
            </a:r>
          </a:p>
        </p:txBody>
      </p:sp>
      <p:sp>
        <p:nvSpPr>
          <p:cNvPr id="6" name="look-item">
            <a:extLst>
              <a:ext uri="{FF2B5EF4-FFF2-40B4-BE49-F238E27FC236}">
                <a16:creationId xmlns:a16="http://schemas.microsoft.com/office/drawing/2014/main" id="{7F1907B2-B49D-4ED3-8F60-57661693200D}"/>
              </a:ext>
            </a:extLst>
          </p:cNvPr>
          <p:cNvSpPr>
            <a:spLocks noGrp="1"/>
          </p:cNvSpPr>
          <p:nvPr/>
        </p:nvSpPr>
        <p:spPr>
          <a:xfrm>
            <a:off x="1571625" y="1809750"/>
            <a:ext cx="6000750" cy="7429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· PLUS term, $]</a:t>
            </a:r>
          </a:p>
        </p:txBody>
      </p:sp>
      <p:sp>
        <p:nvSpPr>
          <p:cNvPr id="7" name="look-beta">
            <a:extLst>
              <a:ext uri="{FF2B5EF4-FFF2-40B4-BE49-F238E27FC236}">
                <a16:creationId xmlns:a16="http://schemas.microsoft.com/office/drawing/2014/main" id="{82B2CB89-1FB6-4241-8BA2-A69EEBFF115A}"/>
              </a:ext>
            </a:extLst>
          </p:cNvPr>
          <p:cNvSpPr>
            <a:spLocks noGrp="1"/>
          </p:cNvSpPr>
          <p:nvPr/>
        </p:nvSpPr>
        <p:spPr>
          <a:xfrm>
            <a:off x="1190625" y="2905125"/>
            <a:ext cx="314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点后是 PLUS term</a:t>
            </a:r>
          </a:p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→ 尚未完成，继续读取 PLUS</a:t>
            </a:r>
          </a:p>
        </p:txBody>
      </p:sp>
      <p:sp>
        <p:nvSpPr>
          <p:cNvPr id="8" name="look-a">
            <a:extLst>
              <a:ext uri="{FF2B5EF4-FFF2-40B4-BE49-F238E27FC236}">
                <a16:creationId xmlns:a16="http://schemas.microsoft.com/office/drawing/2014/main" id="{33A4D690-8D7B-40E5-B09A-B796E7442E2C}"/>
              </a:ext>
            </a:extLst>
          </p:cNvPr>
          <p:cNvSpPr>
            <a:spLocks noGrp="1"/>
          </p:cNvSpPr>
          <p:nvPr/>
        </p:nvSpPr>
        <p:spPr>
          <a:xfrm>
            <a:off x="4905375" y="2905125"/>
            <a:ext cx="3143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lookahead 是 $</a:t>
            </a:r>
          </a:p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→ 完成后，仅在 $ 上 reduce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LR(1) 的核心：B 完成后会看到什么？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0F7333B-44AC-F7E9-D49D-FE92F45E0477}" type="slidenum">
              <a:t>18</a:t>
            </a:fld>
            <a:endParaRPr/>
          </a:p>
        </p:txBody>
      </p:sp>
      <p:sp>
        <p:nvSpPr>
          <p:cNvPr id="5" name="core-question-subtitle">
            <a:extLst>
              <a:ext uri="{FF2B5EF4-FFF2-40B4-BE49-F238E27FC236}">
                <a16:creationId xmlns:a16="http://schemas.microsoft.com/office/drawing/2014/main" id="{9A80CF12-1E88-4E3A-8489-EB7302D93ACF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closure 展开 B 时，同时为它记录将来允许 reduce 的终结符。</a:t>
            </a:r>
          </a:p>
        </p:txBody>
      </p:sp>
      <p:sp>
        <p:nvSpPr>
          <p:cNvPr id="6" name="core-source-item">
            <a:extLst>
              <a:ext uri="{FF2B5EF4-FFF2-40B4-BE49-F238E27FC236}">
                <a16:creationId xmlns:a16="http://schemas.microsoft.com/office/drawing/2014/main" id="{62814E2C-5122-457B-923E-A0714DEC62EC}"/>
              </a:ext>
            </a:extLst>
          </p:cNvPr>
          <p:cNvSpPr>
            <a:spLocks noGrp="1"/>
          </p:cNvSpPr>
          <p:nvPr/>
        </p:nvSpPr>
        <p:spPr>
          <a:xfrm>
            <a:off x="1666875" y="1809750"/>
            <a:ext cx="5810250" cy="7239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[A → α · B β, a]</a:t>
            </a:r>
          </a:p>
        </p:txBody>
      </p:sp>
      <p:sp>
        <p:nvSpPr>
          <p:cNvPr id="7" name="core-b">
            <a:extLst>
              <a:ext uri="{FF2B5EF4-FFF2-40B4-BE49-F238E27FC236}">
                <a16:creationId xmlns:a16="http://schemas.microsoft.com/office/drawing/2014/main" id="{5C269655-A93E-415F-AECB-72EE37946024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2D7C93"/>
                </a:solidFill>
              </a:defRPr>
            </a:pPr>
            <a:r>
              <a:rPr sz="1313" b="1">
                <a:solidFill>
                  <a:srgbClr val="2D7C93"/>
                </a:solidFill>
              </a:rPr>
              <a:t>B</a:t>
            </a:r>
          </a:p>
          <a:p>
            <a:pPr algn="ctr">
              <a:buNone/>
              <a:defRPr sz="1313" b="1">
                <a:solidFill>
                  <a:srgbClr val="2D7C93"/>
                </a:solidFill>
              </a:defRPr>
            </a:pPr>
            <a:r>
              <a:rPr sz="1313" b="1">
                <a:solidFill>
                  <a:srgbClr val="2D7C93"/>
                </a:solidFill>
              </a:rPr>
              <a:t>closure 现在要展开的非终结符</a:t>
            </a:r>
          </a:p>
        </p:txBody>
      </p:sp>
      <p:sp>
        <p:nvSpPr>
          <p:cNvPr id="8" name="core-beta">
            <a:extLst>
              <a:ext uri="{FF2B5EF4-FFF2-40B4-BE49-F238E27FC236}">
                <a16:creationId xmlns:a16="http://schemas.microsoft.com/office/drawing/2014/main" id="{21004203-D1B6-4397-9C13-2BBC3E753BEB}"/>
              </a:ext>
            </a:extLst>
          </p:cNvPr>
          <p:cNvSpPr>
            <a:spLocks noGrp="1"/>
          </p:cNvSpPr>
          <p:nvPr/>
        </p:nvSpPr>
        <p:spPr>
          <a:xfrm>
            <a:off x="3381375" y="2857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β</a:t>
            </a:r>
          </a:p>
          <a:p>
            <a:pPr algn="ctr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B 后面尚未识别的部分</a:t>
            </a:r>
          </a:p>
        </p:txBody>
      </p:sp>
      <p:sp>
        <p:nvSpPr>
          <p:cNvPr id="9" name="core-a">
            <a:extLst>
              <a:ext uri="{FF2B5EF4-FFF2-40B4-BE49-F238E27FC236}">
                <a16:creationId xmlns:a16="http://schemas.microsoft.com/office/drawing/2014/main" id="{9FAC03D1-959E-4689-BD84-A59C4185DE47}"/>
              </a:ext>
            </a:extLst>
          </p:cNvPr>
          <p:cNvSpPr>
            <a:spLocks noGrp="1"/>
          </p:cNvSpPr>
          <p:nvPr/>
        </p:nvSpPr>
        <p:spPr>
          <a:xfrm>
            <a:off x="6000750" y="2857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a</a:t>
            </a:r>
          </a:p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整个 A 完成后允许出现的 Token</a:t>
            </a:r>
          </a:p>
        </p:txBody>
      </p:sp>
      <p:sp>
        <p:nvSpPr>
          <p:cNvPr id="10" name="core-question">
            <a:extLst>
              <a:ext uri="{FF2B5EF4-FFF2-40B4-BE49-F238E27FC236}">
                <a16:creationId xmlns:a16="http://schemas.microsoft.com/office/drawing/2014/main" id="{3C89102D-D14C-43C0-A8A1-B2E077A51EAD}"/>
              </a:ext>
            </a:extLst>
          </p:cNvPr>
          <p:cNvSpPr>
            <a:spLocks noGrp="1"/>
          </p:cNvSpPr>
          <p:nvPr/>
        </p:nvSpPr>
        <p:spPr>
          <a:xfrm>
            <a:off x="1571625" y="4287312"/>
            <a:ext cx="6000750" cy="6858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当 B 的右侧全部识别完成时，下一个 Token 可能是什么？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情况一：β 不能推出 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1C6C81E-38B9-7560-621D-5A151A79DF9B}" type="slidenum">
              <a:t>19</a:t>
            </a:fld>
            <a:endParaRPr/>
          </a:p>
        </p:txBody>
      </p:sp>
      <p:sp>
        <p:nvSpPr>
          <p:cNvPr id="5" name="non-nullable-subtitle">
            <a:extLst>
              <a:ext uri="{FF2B5EF4-FFF2-40B4-BE49-F238E27FC236}">
                <a16:creationId xmlns:a16="http://schemas.microsoft.com/office/drawing/2014/main" id="{90386B42-6FE7-4647-804F-FE62C3CDA12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B 完成以后，Parser 必须继续识别 β；下一个允许reduce的Token因而来自 FIRST(β)。</a:t>
            </a:r>
          </a:p>
        </p:txBody>
      </p:sp>
      <p:sp>
        <p:nvSpPr>
          <p:cNvPr id="6" name="non-nullable-arrow-1">
            <a:extLst>
              <a:ext uri="{FF2B5EF4-FFF2-40B4-BE49-F238E27FC236}">
                <a16:creationId xmlns:a16="http://schemas.microsoft.com/office/drawing/2014/main" id="{726CE30B-136A-4D4E-B6AA-7429BA1653AB}"/>
              </a:ext>
            </a:extLst>
          </p:cNvPr>
          <p:cNvSpPr>
            <a:spLocks noGrp="1"/>
          </p:cNvSpPr>
          <p:nvPr/>
        </p:nvSpPr>
        <p:spPr>
          <a:xfrm>
            <a:off x="3333750" y="2238375"/>
            <a:ext cx="12382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7" name="non-nullable-arrow-2">
            <a:extLst>
              <a:ext uri="{FF2B5EF4-FFF2-40B4-BE49-F238E27FC236}">
                <a16:creationId xmlns:a16="http://schemas.microsoft.com/office/drawing/2014/main" id="{0AB2F69D-9A6B-4B73-9CA5-B3F8408059CD}"/>
              </a:ext>
            </a:extLst>
          </p:cNvPr>
          <p:cNvSpPr>
            <a:spLocks noGrp="1"/>
          </p:cNvSpPr>
          <p:nvPr/>
        </p:nvSpPr>
        <p:spPr>
          <a:xfrm>
            <a:off x="5810250" y="2952750"/>
            <a:ext cx="0" cy="523875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8" name="non-nullable-source">
            <a:extLst>
              <a:ext uri="{FF2B5EF4-FFF2-40B4-BE49-F238E27FC236}">
                <a16:creationId xmlns:a16="http://schemas.microsoft.com/office/drawing/2014/main" id="{38377FDC-0E3D-4F1D-BB75-5309CCA903D1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2667000" cy="7620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[A → α · B β, a]</a:t>
            </a:r>
          </a:p>
        </p:txBody>
      </p:sp>
      <p:sp>
        <p:nvSpPr>
          <p:cNvPr id="9" name="non-nullable-label">
            <a:extLst>
              <a:ext uri="{FF2B5EF4-FFF2-40B4-BE49-F238E27FC236}">
                <a16:creationId xmlns:a16="http://schemas.microsoft.com/office/drawing/2014/main" id="{60EE10F7-410F-4098-BD65-008EA94D05F5}"/>
              </a:ext>
            </a:extLst>
          </p:cNvPr>
          <p:cNvSpPr>
            <a:spLocks noGrp="1"/>
          </p:cNvSpPr>
          <p:nvPr/>
        </p:nvSpPr>
        <p:spPr>
          <a:xfrm>
            <a:off x="3571875" y="1809750"/>
            <a:ext cx="95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B 完成</a:t>
            </a:r>
          </a:p>
        </p:txBody>
      </p:sp>
      <p:sp>
        <p:nvSpPr>
          <p:cNvPr id="10" name="non-nullable-progress">
            <a:extLst>
              <a:ext uri="{FF2B5EF4-FFF2-40B4-BE49-F238E27FC236}">
                <a16:creationId xmlns:a16="http://schemas.microsoft.com/office/drawing/2014/main" id="{0A0CE115-0D81-4ED7-9F7E-3D3E0EE73BCE}"/>
              </a:ext>
            </a:extLst>
          </p:cNvPr>
          <p:cNvSpPr>
            <a:spLocks noGrp="1"/>
          </p:cNvSpPr>
          <p:nvPr/>
        </p:nvSpPr>
        <p:spPr>
          <a:xfrm>
            <a:off x="4572000" y="1857375"/>
            <a:ext cx="3714750" cy="762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α B · β, a]</a:t>
            </a:r>
          </a:p>
        </p:txBody>
      </p:sp>
      <p:sp>
        <p:nvSpPr>
          <p:cNvPr id="11" name="non-nullable-next">
            <a:extLst>
              <a:ext uri="{FF2B5EF4-FFF2-40B4-BE49-F238E27FC236}">
                <a16:creationId xmlns:a16="http://schemas.microsoft.com/office/drawing/2014/main" id="{2A975B6E-99F3-4336-93D6-76DBA91D3096}"/>
              </a:ext>
            </a:extLst>
          </p:cNvPr>
          <p:cNvSpPr>
            <a:spLocks noGrp="1"/>
          </p:cNvSpPr>
          <p:nvPr/>
        </p:nvSpPr>
        <p:spPr>
          <a:xfrm>
            <a:off x="4095750" y="2905125"/>
            <a:ext cx="3429000" cy="5905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现在开始识别 β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下一个 Token：b ∈ FIRST(β)</a:t>
            </a:r>
          </a:p>
        </p:txBody>
      </p:sp>
      <p:sp>
        <p:nvSpPr>
          <p:cNvPr id="12" name="non-nullable-result">
            <a:extLst>
              <a:ext uri="{FF2B5EF4-FFF2-40B4-BE49-F238E27FC236}">
                <a16:creationId xmlns:a16="http://schemas.microsoft.com/office/drawing/2014/main" id="{445747B9-C439-482A-ACB5-191A15EF8F84}"/>
              </a:ext>
            </a:extLst>
          </p:cNvPr>
          <p:cNvSpPr>
            <a:spLocks noGrp="1"/>
          </p:cNvSpPr>
          <p:nvPr/>
        </p:nvSpPr>
        <p:spPr>
          <a:xfrm>
            <a:off x="2143125" y="3857625"/>
            <a:ext cx="4857750" cy="7239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Closure中预先加入 [B → · γ, b]</a:t>
            </a:r>
          </a:p>
          <a:p>
            <a:pPr algn="ctr">
              <a:buNone/>
              <a:defRPr sz="1388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88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其中 b ∈ FIRST(β)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情况二：β 能推出 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CF91274-D221-1BB4-3BF9-836E3AD31EBE}" type="slidenum">
              <a:t>20</a:t>
            </a:fld>
            <a:endParaRPr/>
          </a:p>
        </p:txBody>
      </p:sp>
      <p:sp>
        <p:nvSpPr>
          <p:cNvPr id="5" name="nullable-subtitle">
            <a:extLst>
              <a:ext uri="{FF2B5EF4-FFF2-40B4-BE49-F238E27FC236}">
                <a16:creationId xmlns:a16="http://schemas.microsoft.com/office/drawing/2014/main" id="{42923488-BBEE-48F5-962F-8483C54AC4A8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β 可以不读取任何 Token；此时 B 完成也会使整个 A 完成，外层的 a 可能紧随 B。</a:t>
            </a:r>
          </a:p>
        </p:txBody>
      </p:sp>
      <p:sp>
        <p:nvSpPr>
          <p:cNvPr id="6" name="nullable-arrow-1">
            <a:extLst>
              <a:ext uri="{FF2B5EF4-FFF2-40B4-BE49-F238E27FC236}">
                <a16:creationId xmlns:a16="http://schemas.microsoft.com/office/drawing/2014/main" id="{792A1023-1030-4A5B-9561-F9EA4AA97492}"/>
              </a:ext>
            </a:extLst>
          </p:cNvPr>
          <p:cNvSpPr>
            <a:spLocks noGrp="1"/>
          </p:cNvSpPr>
          <p:nvPr/>
        </p:nvSpPr>
        <p:spPr>
          <a:xfrm>
            <a:off x="2571750" y="2333625"/>
            <a:ext cx="80962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7" name="nullable-arrow-2">
            <a:extLst>
              <a:ext uri="{FF2B5EF4-FFF2-40B4-BE49-F238E27FC236}">
                <a16:creationId xmlns:a16="http://schemas.microsoft.com/office/drawing/2014/main" id="{84C4DA9C-B269-41F7-8E7D-2507D6D928FB}"/>
              </a:ext>
            </a:extLst>
          </p:cNvPr>
          <p:cNvSpPr>
            <a:spLocks noGrp="1"/>
          </p:cNvSpPr>
          <p:nvPr/>
        </p:nvSpPr>
        <p:spPr>
          <a:xfrm>
            <a:off x="5191125" y="2333625"/>
            <a:ext cx="80962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8" name="nullable-b-done">
            <a:extLst>
              <a:ext uri="{FF2B5EF4-FFF2-40B4-BE49-F238E27FC236}">
                <a16:creationId xmlns:a16="http://schemas.microsoft.com/office/drawing/2014/main" id="{B5E60FB5-CCEE-4742-B4C8-8E902D114E21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1857375" cy="7620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B 完成</a:t>
            </a:r>
          </a:p>
        </p:txBody>
      </p:sp>
      <p:sp>
        <p:nvSpPr>
          <p:cNvPr id="9" name="nullable-beta-empty">
            <a:extLst>
              <a:ext uri="{FF2B5EF4-FFF2-40B4-BE49-F238E27FC236}">
                <a16:creationId xmlns:a16="http://schemas.microsoft.com/office/drawing/2014/main" id="{46E683C9-E151-4414-AD2C-9E87F0EA9449}"/>
              </a:ext>
            </a:extLst>
          </p:cNvPr>
          <p:cNvSpPr>
            <a:spLocks noGrp="1"/>
          </p:cNvSpPr>
          <p:nvPr/>
        </p:nvSpPr>
        <p:spPr>
          <a:xfrm>
            <a:off x="3381375" y="1952625"/>
            <a:ext cx="1809750" cy="762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β ⇒* ε</a:t>
            </a:r>
          </a:p>
        </p:txBody>
      </p:sp>
      <p:sp>
        <p:nvSpPr>
          <p:cNvPr id="10" name="nullable-a-done">
            <a:extLst>
              <a:ext uri="{FF2B5EF4-FFF2-40B4-BE49-F238E27FC236}">
                <a16:creationId xmlns:a16="http://schemas.microsoft.com/office/drawing/2014/main" id="{5CDF83B1-9578-4933-A7E8-AEFD5C7C4836}"/>
              </a:ext>
            </a:extLst>
          </p:cNvPr>
          <p:cNvSpPr>
            <a:spLocks noGrp="1"/>
          </p:cNvSpPr>
          <p:nvPr/>
        </p:nvSpPr>
        <p:spPr>
          <a:xfrm>
            <a:off x="6000750" y="1952625"/>
            <a:ext cx="2428875" cy="7620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A 完成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下一个 Token = a</a:t>
            </a:r>
          </a:p>
        </p:txBody>
      </p:sp>
      <p:sp>
        <p:nvSpPr>
          <p:cNvPr id="11" name="nullable-two-sources">
            <a:extLst>
              <a:ext uri="{FF2B5EF4-FFF2-40B4-BE49-F238E27FC236}">
                <a16:creationId xmlns:a16="http://schemas.microsoft.com/office/drawing/2014/main" id="{201483D1-2B9B-44A5-AF7B-B9402EF9417F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因此，B 完成后的 Token 既可能来自 β，也可能是外层保存的 a。</a:t>
            </a:r>
          </a:p>
        </p:txBody>
      </p:sp>
      <p:sp>
        <p:nvSpPr>
          <p:cNvPr id="12" name="nullable-combined">
            <a:extLst>
              <a:ext uri="{FF2B5EF4-FFF2-40B4-BE49-F238E27FC236}">
                <a16:creationId xmlns:a16="http://schemas.microsoft.com/office/drawing/2014/main" id="{0A9E8A26-C553-4944-B9E8-A528D18547C4}"/>
              </a:ext>
            </a:extLst>
          </p:cNvPr>
          <p:cNvSpPr>
            <a:spLocks noGrp="1"/>
          </p:cNvSpPr>
          <p:nvPr/>
        </p:nvSpPr>
        <p:spPr>
          <a:xfrm>
            <a:off x="1524000" y="3762375"/>
            <a:ext cx="6096000" cy="8763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Closure对每个 B → γ，加入 [B → · γ, b]</a:t>
            </a:r>
          </a:p>
          <a:p>
            <a:pPr algn="ctr">
              <a:buNone/>
              <a:defRPr sz="14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两种情况简写为：b ∈ FIRST(βa)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案例：仍沿用上一讲的表达式文法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44E025A-983C-6D44-79C6-4612AACD43FC}" type="slidenum">
              <a:t>21</a:t>
            </a:fld>
            <a:endParaRPr/>
          </a:p>
        </p:txBody>
      </p:sp>
      <p:sp>
        <p:nvSpPr>
          <p:cNvPr id="5" name="lr1-case-subtitle">
            <a:extLst>
              <a:ext uri="{FF2B5EF4-FFF2-40B4-BE49-F238E27FC236}">
                <a16:creationId xmlns:a16="http://schemas.microsoft.com/office/drawing/2014/main" id="{05E3E427-326F-41F2-8281-5A0AAC2EB34F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状态编号仍使用 I₀–I₅；这一次从初始 item 开始，完整构造 LR(1) 自动机。</a:t>
            </a:r>
          </a:p>
        </p:txBody>
      </p:sp>
      <p:sp>
        <p:nvSpPr>
          <p:cNvPr id="6" name="lr1-case-grammar">
            <a:extLst>
              <a:ext uri="{FF2B5EF4-FFF2-40B4-BE49-F238E27FC236}">
                <a16:creationId xmlns:a16="http://schemas.microsoft.com/office/drawing/2014/main" id="{CE65F80B-5AE9-4CF8-869C-4EFF3A726F4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3524250" cy="2000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expr</a:t>
            </a: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 → expr PLUS term   (r1)</a:t>
            </a: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 | term             (r2)</a:t>
            </a: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 → INT              (r3)</a:t>
            </a:r>
          </a:p>
        </p:txBody>
      </p:sp>
      <p:sp>
        <p:nvSpPr>
          <p:cNvPr id="7" name="lr1-case-notation">
            <a:extLst>
              <a:ext uri="{FF2B5EF4-FFF2-40B4-BE49-F238E27FC236}">
                <a16:creationId xmlns:a16="http://schemas.microsoft.com/office/drawing/2014/main" id="{25EC729F-74A4-43A7-9E55-2C1EB517AB2D}"/>
              </a:ext>
            </a:extLst>
          </p:cNvPr>
          <p:cNvSpPr>
            <a:spLocks noGrp="1"/>
          </p:cNvSpPr>
          <p:nvPr/>
        </p:nvSpPr>
        <p:spPr>
          <a:xfrm>
            <a:off x="4953000" y="1952625"/>
            <a:ext cx="3333750" cy="157162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紧凑记法：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[A → α · β, {$, PLUS}]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endParaRPr sz="1350" b="1">
              <a:solidFill>
                <a:srgbClr val="2D7C93"/>
              </a:solidFill>
            </a:endParaRP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产生式与点的位置相同，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只有 lookahead 不同。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先回看 LR(0)：I₀ 只记录识别进度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6DF2BE2-2DFA-1C03-677D-BDC2260D6D92}" type="slidenum">
              <a:t>22</a:t>
            </a:fld>
            <a:endParaRPr/>
          </a:p>
        </p:txBody>
      </p:sp>
      <p:sp>
        <p:nvSpPr>
          <p:cNvPr id="5" name="lr0-recap-subtitle">
            <a:extLst>
              <a:ext uri="{FF2B5EF4-FFF2-40B4-BE49-F238E27FC236}">
                <a16:creationId xmlns:a16="http://schemas.microsoft.com/office/drawing/2014/main" id="{F24DBF2E-EF74-4C42-BC67-534F2528259C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上一讲从 start → · expr 出发做 closure；状态中的 item 不记录允许reduce的 Token。</a:t>
            </a:r>
          </a:p>
        </p:txBody>
      </p:sp>
      <p:sp>
        <p:nvSpPr>
          <p:cNvPr id="6" name="lr0-recap-i0-box">
            <a:extLst>
              <a:ext uri="{FF2B5EF4-FFF2-40B4-BE49-F238E27FC236}">
                <a16:creationId xmlns:a16="http://schemas.microsoft.com/office/drawing/2014/main" id="{9D474412-8C81-4350-BB96-581E749677A9}"/>
              </a:ext>
            </a:extLst>
          </p:cNvPr>
          <p:cNvSpPr>
            <a:spLocks noGrp="1"/>
          </p:cNvSpPr>
          <p:nvPr/>
        </p:nvSpPr>
        <p:spPr>
          <a:xfrm>
            <a:off x="2571750" y="1809750"/>
            <a:ext cx="4000500" cy="1581150"/>
          </a:xfrm>
          <a:prstGeom prst="roundRect">
            <a:avLst>
              <a:gd name="adj" fmla="val 4819"/>
            </a:avLst>
          </a:prstGeom>
          <a:solidFill>
            <a:srgbClr val="F4F5F6"/>
          </a:solidFill>
          <a:ln w="12383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lr0-recap-i0-title">
            <a:extLst>
              <a:ext uri="{FF2B5EF4-FFF2-40B4-BE49-F238E27FC236}">
                <a16:creationId xmlns:a16="http://schemas.microsoft.com/office/drawing/2014/main" id="{6F81C302-41C6-46EF-8B32-54FE962202CB}"/>
              </a:ext>
            </a:extLst>
          </p:cNvPr>
          <p:cNvSpPr>
            <a:spLocks noGrp="1"/>
          </p:cNvSpPr>
          <p:nvPr/>
        </p:nvSpPr>
        <p:spPr>
          <a:xfrm>
            <a:off x="2686050" y="1885950"/>
            <a:ext cx="3771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LR(0) 的 I₀</a:t>
            </a:r>
          </a:p>
        </p:txBody>
      </p:sp>
      <p:sp>
        <p:nvSpPr>
          <p:cNvPr id="8" name="lr0-recap-i0-items">
            <a:extLst>
              <a:ext uri="{FF2B5EF4-FFF2-40B4-BE49-F238E27FC236}">
                <a16:creationId xmlns:a16="http://schemas.microsoft.com/office/drawing/2014/main" id="{400ED2A8-FF9B-4054-BAD8-90A17E09D1D0}"/>
              </a:ext>
            </a:extLst>
          </p:cNvPr>
          <p:cNvSpPr>
            <a:spLocks noGrp="1"/>
          </p:cNvSpPr>
          <p:nvPr/>
        </p:nvSpPr>
        <p:spPr>
          <a:xfrm>
            <a:off x="2705100" y="2171700"/>
            <a:ext cx="3733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  <a:p>
            <a:pPr algn="l">
              <a:buNone/>
              <a:defRPr sz="135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expr PLUS term</a:t>
            </a:r>
          </a:p>
          <a:p>
            <a:pPr algn="l">
              <a:buNone/>
              <a:defRPr sz="135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· term</a:t>
            </a:r>
          </a:p>
          <a:p>
            <a:pPr algn="l">
              <a:buNone/>
              <a:defRPr sz="135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 → · INT</a:t>
            </a:r>
          </a:p>
        </p:txBody>
      </p:sp>
      <p:sp>
        <p:nvSpPr>
          <p:cNvPr id="9" name="lr0-recap-out">
            <a:extLst>
              <a:ext uri="{FF2B5EF4-FFF2-40B4-BE49-F238E27FC236}">
                <a16:creationId xmlns:a16="http://schemas.microsoft.com/office/drawing/2014/main" id="{045072D0-BBC6-4F32-A8ED-9E1295F60E39}"/>
              </a:ext>
            </a:extLst>
          </p:cNvPr>
          <p:cNvSpPr>
            <a:spLocks noGrp="1"/>
          </p:cNvSpPr>
          <p:nvPr/>
        </p:nvSpPr>
        <p:spPr>
          <a:xfrm>
            <a:off x="1619250" y="4048125"/>
            <a:ext cx="590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从 I₀ 出发，需要分别计算 goto(I₀, expr)、goto(I₀, term) 和 goto(I₀, INT)。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LR(1) 的起点：给初始 item 加上 $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BB18BA8-60F4-C50D-CD9B-1BB87D3E8506}" type="slidenum">
              <a:t>23</a:t>
            </a:fld>
            <a:endParaRPr/>
          </a:p>
        </p:txBody>
      </p:sp>
      <p:sp>
        <p:nvSpPr>
          <p:cNvPr id="5" name="lr1-seed-subtitle">
            <a:extLst>
              <a:ext uri="{FF2B5EF4-FFF2-40B4-BE49-F238E27FC236}">
                <a16:creationId xmlns:a16="http://schemas.microsoft.com/office/drawing/2014/main" id="{9176C281-509C-4528-96AF-A4F2CD17E985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$ 表示整个 start 完成以后，输入也必须结束。</a:t>
            </a:r>
          </a:p>
        </p:txBody>
      </p:sp>
      <p:sp>
        <p:nvSpPr>
          <p:cNvPr id="6" name="seed-lr0">
            <a:extLst>
              <a:ext uri="{FF2B5EF4-FFF2-40B4-BE49-F238E27FC236}">
                <a16:creationId xmlns:a16="http://schemas.microsoft.com/office/drawing/2014/main" id="{55CF2788-9069-4971-BB73-7021E358ADF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3000375" cy="857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LR(0)</a:t>
            </a:r>
          </a:p>
          <a:p>
            <a:pPr algn="ctr">
              <a:buNone/>
              <a:defRPr sz="15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start → · expr</a:t>
            </a:r>
          </a:p>
        </p:txBody>
      </p:sp>
      <p:sp>
        <p:nvSpPr>
          <p:cNvPr id="7" name="seed-arrow">
            <a:extLst>
              <a:ext uri="{FF2B5EF4-FFF2-40B4-BE49-F238E27FC236}">
                <a16:creationId xmlns:a16="http://schemas.microsoft.com/office/drawing/2014/main" id="{E287DC91-94B2-407C-9E32-070C1A626405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1047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+ $</a:t>
            </a:r>
          </a:p>
          <a:p>
            <a:pPr algn="ctr">
              <a:buNone/>
              <a:defRPr sz="1575" b="1">
                <a:solidFill>
                  <a:srgbClr val="777777"/>
                </a:solidFill>
              </a:defRPr>
            </a:pPr>
            <a:r>
              <a:rPr sz="1575" b="1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8" name="seed-lr1">
            <a:extLst>
              <a:ext uri="{FF2B5EF4-FFF2-40B4-BE49-F238E27FC236}">
                <a16:creationId xmlns:a16="http://schemas.microsoft.com/office/drawing/2014/main" id="{CAB0F1E1-2752-48D8-83BF-31EC6E34833E}"/>
              </a:ext>
            </a:extLst>
          </p:cNvPr>
          <p:cNvSpPr>
            <a:spLocks noGrp="1"/>
          </p:cNvSpPr>
          <p:nvPr/>
        </p:nvSpPr>
        <p:spPr>
          <a:xfrm>
            <a:off x="5286375" y="1952625"/>
            <a:ext cx="3095625" cy="857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LR(1)</a:t>
            </a:r>
          </a:p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· expr, $]</a:t>
            </a:r>
          </a:p>
        </p:txBody>
      </p:sp>
      <p:sp>
        <p:nvSpPr>
          <p:cNvPr id="9" name="seed-closure">
            <a:extLst>
              <a:ext uri="{FF2B5EF4-FFF2-40B4-BE49-F238E27FC236}">
                <a16:creationId xmlns:a16="http://schemas.microsoft.com/office/drawing/2014/main" id="{74CAB3A7-D861-4B80-A8E1-089F5F3E1940}"/>
              </a:ext>
            </a:extLst>
          </p:cNvPr>
          <p:cNvSpPr>
            <a:spLocks noGrp="1"/>
          </p:cNvSpPr>
          <p:nvPr/>
        </p:nvSpPr>
        <p:spPr>
          <a:xfrm>
            <a:off x="1762125" y="4295775"/>
            <a:ext cx="5619750" cy="70485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点后是 expr；下面使用先进先出的工作队列，逐条完成 closure。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closure 第1步：展开初始 item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4E99CEF-AF55-BA3C-ADF8-4E52E186DD8F}" type="slidenum">
              <a:t>24</a:t>
            </a:fld>
            <a:endParaRPr/>
          </a:p>
        </p:txBody>
      </p:sp>
      <p:sp>
        <p:nvSpPr>
          <p:cNvPr id="5" name="closure-dollar-subtitle">
            <a:extLst>
              <a:ext uri="{FF2B5EF4-FFF2-40B4-BE49-F238E27FC236}">
                <a16:creationId xmlns:a16="http://schemas.microsoft.com/office/drawing/2014/main" id="{B772FA1A-2389-4485-9F4D-0BE0F3359A4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在 [start → · expr, $] 中：B = expr，β = ε，a = $。</a:t>
            </a:r>
          </a:p>
        </p:txBody>
      </p:sp>
      <p:sp>
        <p:nvSpPr>
          <p:cNvPr id="6" name="closure-dollar-source">
            <a:extLst>
              <a:ext uri="{FF2B5EF4-FFF2-40B4-BE49-F238E27FC236}">
                <a16:creationId xmlns:a16="http://schemas.microsoft.com/office/drawing/2014/main" id="{7BB95259-1795-4250-980B-6C16642AEA9C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3143250" cy="781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· expr, $]</a:t>
            </a:r>
          </a:p>
        </p:txBody>
      </p:sp>
      <p:sp>
        <p:nvSpPr>
          <p:cNvPr id="7" name="closure-dollar-arrow">
            <a:extLst>
              <a:ext uri="{FF2B5EF4-FFF2-40B4-BE49-F238E27FC236}">
                <a16:creationId xmlns:a16="http://schemas.microsoft.com/office/drawing/2014/main" id="{D727D69D-AFAD-4347-B15D-16B20AAEAA37}"/>
              </a:ext>
            </a:extLst>
          </p:cNvPr>
          <p:cNvSpPr>
            <a:spLocks noGrp="1"/>
          </p:cNvSpPr>
          <p:nvPr/>
        </p:nvSpPr>
        <p:spPr>
          <a:xfrm>
            <a:off x="4048125" y="2000250"/>
            <a:ext cx="857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closure</a:t>
            </a:r>
          </a:p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8" name="closure-dollar-added">
            <a:extLst>
              <a:ext uri="{FF2B5EF4-FFF2-40B4-BE49-F238E27FC236}">
                <a16:creationId xmlns:a16="http://schemas.microsoft.com/office/drawing/2014/main" id="{EB0CF03D-3F14-4A49-A996-8CC9463B8BE4}"/>
              </a:ext>
            </a:extLst>
          </p:cNvPr>
          <p:cNvSpPr>
            <a:spLocks noGrp="1"/>
          </p:cNvSpPr>
          <p:nvPr/>
        </p:nvSpPr>
        <p:spPr>
          <a:xfrm>
            <a:off x="5143500" y="1714500"/>
            <a:ext cx="3333750" cy="10668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$]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$]</a:t>
            </a:r>
          </a:p>
        </p:txBody>
      </p:sp>
      <p:sp>
        <p:nvSpPr>
          <p:cNvPr id="9" name="closure-dollar-first">
            <a:extLst>
              <a:ext uri="{FF2B5EF4-FFF2-40B4-BE49-F238E27FC236}">
                <a16:creationId xmlns:a16="http://schemas.microsoft.com/office/drawing/2014/main" id="{D19A2CC1-FAE1-4E27-889B-FC38750F1444}"/>
              </a:ext>
            </a:extLst>
          </p:cNvPr>
          <p:cNvSpPr>
            <a:spLocks noGrp="1"/>
          </p:cNvSpPr>
          <p:nvPr/>
        </p:nvSpPr>
        <p:spPr>
          <a:xfrm>
            <a:off x="2095500" y="3381375"/>
            <a:ext cx="4953000" cy="7239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β = ε，a = $</a:t>
            </a:r>
          </a:p>
          <a:p>
            <a:pPr algn="ctr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FIRST(βa) = FIRST($) = { $ }</a:t>
            </a:r>
          </a:p>
        </p:txBody>
      </p:sp>
      <p:sp>
        <p:nvSpPr>
          <p:cNvPr id="10" name="step1-queue">
            <a:extLst>
              <a:ext uri="{FF2B5EF4-FFF2-40B4-BE49-F238E27FC236}">
                <a16:creationId xmlns:a16="http://schemas.microsoft.com/office/drawing/2014/main" id="{AD311422-9BA3-440A-861B-871B98E95F30}"/>
              </a:ext>
            </a:extLst>
          </p:cNvPr>
          <p:cNvSpPr>
            <a:spLocks noGrp="1"/>
          </p:cNvSpPr>
          <p:nvPr/>
        </p:nvSpPr>
        <p:spPr>
          <a:xfrm>
            <a:off x="904875" y="4257675"/>
            <a:ext cx="7334250" cy="7239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工作队列 Q（队首在左）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[start→·expr,$]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[expr→·expr PLUS term,$], [expr→·term,$]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closure 第2步：处理第一个 expr item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59AF09-D197-0193-A7DE-FAAF0B691058}" type="slidenum">
              <a:t>25</a:t>
            </a:fld>
            <a:endParaRPr/>
          </a:p>
        </p:txBody>
      </p:sp>
      <p:sp>
        <p:nvSpPr>
          <p:cNvPr id="5" name="closure-plus-subtitle">
            <a:extLst>
              <a:ext uri="{FF2B5EF4-FFF2-40B4-BE49-F238E27FC236}">
                <a16:creationId xmlns:a16="http://schemas.microsoft.com/office/drawing/2014/main" id="{B839BEF1-85F3-4CB5-8C4F-B0093C6520C5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在 [expr → · expr PLUS term, $] 中：B = expr，β = PLUS term；B 完成后先进入 β。</a:t>
            </a:r>
          </a:p>
        </p:txBody>
      </p:sp>
      <p:sp>
        <p:nvSpPr>
          <p:cNvPr id="6" name="closure-plus-source">
            <a:extLst>
              <a:ext uri="{FF2B5EF4-FFF2-40B4-BE49-F238E27FC236}">
                <a16:creationId xmlns:a16="http://schemas.microsoft.com/office/drawing/2014/main" id="{F4FA6107-CF2B-4C00-9BDE-A00C01B40C6F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3429000" cy="8191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$]</a:t>
            </a:r>
          </a:p>
        </p:txBody>
      </p:sp>
      <p:sp>
        <p:nvSpPr>
          <p:cNvPr id="7" name="closure-plus-first">
            <a:extLst>
              <a:ext uri="{FF2B5EF4-FFF2-40B4-BE49-F238E27FC236}">
                <a16:creationId xmlns:a16="http://schemas.microsoft.com/office/drawing/2014/main" id="{FA24E152-17CE-49AB-936D-9F4894345B59}"/>
              </a:ext>
            </a:extLst>
          </p:cNvPr>
          <p:cNvSpPr>
            <a:spLocks noGrp="1"/>
          </p:cNvSpPr>
          <p:nvPr/>
        </p:nvSpPr>
        <p:spPr>
          <a:xfrm>
            <a:off x="5048250" y="1666875"/>
            <a:ext cx="3381375" cy="100012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βa = PLUS term $</a:t>
            </a:r>
          </a:p>
          <a:p>
            <a:pPr algn="ctr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FIRST(βa) = { PLUS }</a:t>
            </a:r>
          </a:p>
        </p:txBody>
      </p:sp>
      <p:sp>
        <p:nvSpPr>
          <p:cNvPr id="8" name="closure-plus-down">
            <a:extLst>
              <a:ext uri="{FF2B5EF4-FFF2-40B4-BE49-F238E27FC236}">
                <a16:creationId xmlns:a16="http://schemas.microsoft.com/office/drawing/2014/main" id="{55F3B6F2-629B-4DD5-8781-218DA1AD6AA4}"/>
              </a:ext>
            </a:extLst>
          </p:cNvPr>
          <p:cNvSpPr>
            <a:spLocks noGrp="1"/>
          </p:cNvSpPr>
          <p:nvPr/>
        </p:nvSpPr>
        <p:spPr>
          <a:xfrm>
            <a:off x="4048125" y="2809875"/>
            <a:ext cx="104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因此加入</a:t>
            </a:r>
          </a:p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↓</a:t>
            </a:r>
          </a:p>
        </p:txBody>
      </p:sp>
      <p:sp>
        <p:nvSpPr>
          <p:cNvPr id="9" name="closure-plus-added">
            <a:extLst>
              <a:ext uri="{FF2B5EF4-FFF2-40B4-BE49-F238E27FC236}">
                <a16:creationId xmlns:a16="http://schemas.microsoft.com/office/drawing/2014/main" id="{80764689-7C06-4664-AF8E-EB9644577EF8}"/>
              </a:ext>
            </a:extLst>
          </p:cNvPr>
          <p:cNvSpPr>
            <a:spLocks noGrp="1"/>
          </p:cNvSpPr>
          <p:nvPr/>
        </p:nvSpPr>
        <p:spPr>
          <a:xfrm>
            <a:off x="2381250" y="3333750"/>
            <a:ext cx="4381500" cy="857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PLUS]</a:t>
            </a:r>
          </a:p>
          <a:p>
            <a:pPr algn="ctr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PLUS]</a:t>
            </a:r>
          </a:p>
        </p:txBody>
      </p:sp>
      <p:sp>
        <p:nvSpPr>
          <p:cNvPr id="10" name="step2-queue">
            <a:extLst>
              <a:ext uri="{FF2B5EF4-FFF2-40B4-BE49-F238E27FC236}">
                <a16:creationId xmlns:a16="http://schemas.microsoft.com/office/drawing/2014/main" id="{3958E663-D1DC-4500-A298-33D9B8A0C904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7810500" cy="7429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工作队列 Q（队首在左）</a:t>
            </a:r>
          </a:p>
          <a:p>
            <a:pPr algn="l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[expr→·expr PLUS term,$], [expr→·term,$]</a:t>
            </a:r>
          </a:p>
          <a:p>
            <a:pPr algn="l">
              <a:buNone/>
              <a:defRPr sz="10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[expr→·term,$], [expr→·expr PLUS term,PLUS], [expr→·term,PLUS]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closure 第3步：展开带 $ 的 term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3AE1AE4-D79E-94D6-E825-3FC6C21A77D2}" type="slidenum">
              <a:t>26</a:t>
            </a:fld>
            <a:endParaRPr/>
          </a:p>
        </p:txBody>
      </p:sp>
      <p:sp>
        <p:nvSpPr>
          <p:cNvPr id="5" name="step3-subtitle">
            <a:extLst>
              <a:ext uri="{FF2B5EF4-FFF2-40B4-BE49-F238E27FC236}">
                <a16:creationId xmlns:a16="http://schemas.microsoft.com/office/drawing/2014/main" id="{F3FB926D-31C9-411B-8301-245ABA3C27DC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处理队首 [expr → · term, $]：B = term，β = ε，a = $。</a:t>
            </a:r>
          </a:p>
        </p:txBody>
      </p:sp>
      <p:sp>
        <p:nvSpPr>
          <p:cNvPr id="6" name="step3-arrow">
            <a:extLst>
              <a:ext uri="{FF2B5EF4-FFF2-40B4-BE49-F238E27FC236}">
                <a16:creationId xmlns:a16="http://schemas.microsoft.com/office/drawing/2014/main" id="{9753487E-D3D8-4A28-AA37-484ACA11E2F0}"/>
              </a:ext>
            </a:extLst>
          </p:cNvPr>
          <p:cNvSpPr>
            <a:spLocks noGrp="1"/>
          </p:cNvSpPr>
          <p:nvPr/>
        </p:nvSpPr>
        <p:spPr>
          <a:xfrm>
            <a:off x="3857625" y="2190750"/>
            <a:ext cx="109537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7" name="step3-current">
            <a:extLst>
              <a:ext uri="{FF2B5EF4-FFF2-40B4-BE49-F238E27FC236}">
                <a16:creationId xmlns:a16="http://schemas.microsoft.com/office/drawing/2014/main" id="{5B319B12-3185-4ECE-8F7F-368EE0F27490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3238500" cy="857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[expr → · term, $]</a:t>
            </a:r>
          </a:p>
        </p:txBody>
      </p:sp>
      <p:sp>
        <p:nvSpPr>
          <p:cNvPr id="8" name="step3-added">
            <a:extLst>
              <a:ext uri="{FF2B5EF4-FFF2-40B4-BE49-F238E27FC236}">
                <a16:creationId xmlns:a16="http://schemas.microsoft.com/office/drawing/2014/main" id="{CD9010B8-5F95-4BE8-962C-D184F837AD1D}"/>
              </a:ext>
            </a:extLst>
          </p:cNvPr>
          <p:cNvSpPr>
            <a:spLocks noGrp="1"/>
          </p:cNvSpPr>
          <p:nvPr/>
        </p:nvSpPr>
        <p:spPr>
          <a:xfrm>
            <a:off x="4953000" y="1762125"/>
            <a:ext cx="3571875" cy="857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新加入</a:t>
            </a:r>
          </a:p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[term → · INT, $]</a:t>
            </a:r>
          </a:p>
        </p:txBody>
      </p:sp>
      <p:sp>
        <p:nvSpPr>
          <p:cNvPr id="9" name="step3-first">
            <a:extLst>
              <a:ext uri="{FF2B5EF4-FFF2-40B4-BE49-F238E27FC236}">
                <a16:creationId xmlns:a16="http://schemas.microsoft.com/office/drawing/2014/main" id="{B60E9733-AE89-46C7-9A15-4E788A99FEBC}"/>
              </a:ext>
            </a:extLst>
          </p:cNvPr>
          <p:cNvSpPr>
            <a:spLocks noGrp="1"/>
          </p:cNvSpPr>
          <p:nvPr/>
        </p:nvSpPr>
        <p:spPr>
          <a:xfrm>
            <a:off x="2143125" y="2905125"/>
            <a:ext cx="4857750" cy="590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FIRST(βa) = FIRST($) = { $ }</a:t>
            </a:r>
          </a:p>
        </p:txBody>
      </p:sp>
      <p:sp>
        <p:nvSpPr>
          <p:cNvPr id="10" name="step3-queue">
            <a:extLst>
              <a:ext uri="{FF2B5EF4-FFF2-40B4-BE49-F238E27FC236}">
                <a16:creationId xmlns:a16="http://schemas.microsoft.com/office/drawing/2014/main" id="{B29260EF-CFB2-43D1-8EB9-617C4399B63B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7715250" cy="8763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工作队列 Q（队首在左）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[expr→·term,$], [expr→·expr PLUS term,PLUS], [expr→·term,PLUS]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[expr→·expr PLUS term,PLUS], [expr→·term,PLUS], [term→·INT,$]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closure 第4步：重复 item 不再入队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AB55966-FA28-BC73-EA9E-53DF014DF033}" type="slidenum">
              <a:t>27</a:t>
            </a:fld>
            <a:endParaRPr/>
          </a:p>
        </p:txBody>
      </p:sp>
      <p:sp>
        <p:nvSpPr>
          <p:cNvPr id="5" name="step4-subtitle">
            <a:extLst>
              <a:ext uri="{FF2B5EF4-FFF2-40B4-BE49-F238E27FC236}">
                <a16:creationId xmlns:a16="http://schemas.microsoft.com/office/drawing/2014/main" id="{958848FC-CF16-4329-8A7F-5D7C0DED2932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处理 [expr → · expr PLUS term, PLUS]；展开结果已经存在于集合 C 中。</a:t>
            </a:r>
          </a:p>
        </p:txBody>
      </p:sp>
      <p:sp>
        <p:nvSpPr>
          <p:cNvPr id="6" name="step4-current">
            <a:extLst>
              <a:ext uri="{FF2B5EF4-FFF2-40B4-BE49-F238E27FC236}">
                <a16:creationId xmlns:a16="http://schemas.microsoft.com/office/drawing/2014/main" id="{049D8B48-C72B-4C17-BCA8-24686A658EA6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3762375" cy="7810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1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[expr → · expr PLUS term, PLUS]</a:t>
            </a:r>
          </a:p>
        </p:txBody>
      </p:sp>
      <p:sp>
        <p:nvSpPr>
          <p:cNvPr id="7" name="step4-first">
            <a:extLst>
              <a:ext uri="{FF2B5EF4-FFF2-40B4-BE49-F238E27FC236}">
                <a16:creationId xmlns:a16="http://schemas.microsoft.com/office/drawing/2014/main" id="{C9BA870E-32CB-4036-A7E6-073289A8B479}"/>
              </a:ext>
            </a:extLst>
          </p:cNvPr>
          <p:cNvSpPr>
            <a:spLocks noGrp="1"/>
          </p:cNvSpPr>
          <p:nvPr/>
        </p:nvSpPr>
        <p:spPr>
          <a:xfrm>
            <a:off x="4810125" y="1666875"/>
            <a:ext cx="3714750" cy="8763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β = PLUS term，a = PLUS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FIRST(βa) = { PLUS }</a:t>
            </a:r>
          </a:p>
        </p:txBody>
      </p:sp>
      <p:sp>
        <p:nvSpPr>
          <p:cNvPr id="8" name="step4-existing">
            <a:extLst>
              <a:ext uri="{FF2B5EF4-FFF2-40B4-BE49-F238E27FC236}">
                <a16:creationId xmlns:a16="http://schemas.microsoft.com/office/drawing/2014/main" id="{3D4404DD-C743-44DE-A15A-C3FF4A2462C5}"/>
              </a:ext>
            </a:extLst>
          </p:cNvPr>
          <p:cNvSpPr>
            <a:spLocks noGrp="1"/>
          </p:cNvSpPr>
          <p:nvPr/>
        </p:nvSpPr>
        <p:spPr>
          <a:xfrm>
            <a:off x="2095500" y="2781300"/>
            <a:ext cx="4953000" cy="9525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[expr → · expr PLUS term, PLUS]</a:t>
            </a:r>
          </a:p>
          <a:p>
            <a:pPr algn="ctr">
              <a:buNone/>
              <a:defRPr sz="123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[expr → · term, PLUS]</a:t>
            </a:r>
          </a:p>
          <a:p>
            <a:pPr algn="ctr">
              <a:buNone/>
              <a:defRPr sz="1238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238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均已存在：不再加入Closure，也不再入队</a:t>
            </a:r>
          </a:p>
        </p:txBody>
      </p:sp>
      <p:sp>
        <p:nvSpPr>
          <p:cNvPr id="9" name="step4-queue">
            <a:extLst>
              <a:ext uri="{FF2B5EF4-FFF2-40B4-BE49-F238E27FC236}">
                <a16:creationId xmlns:a16="http://schemas.microsoft.com/office/drawing/2014/main" id="{9254E752-F878-4FC5-931F-55F0309ABCA7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7715250" cy="8763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工作队列 Q（队首在左）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[expr→·expr PLUS term,PLUS], [expr→·term,PLUS], [term→·INT,$]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[expr→·term,PLUS], [term→·INT,$]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closure 第5步：展开带 PLUS 的 term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2F15020-66A7-620A-7B7A-C05C4312DEAE}" type="slidenum">
              <a:t>28</a:t>
            </a:fld>
            <a:endParaRPr/>
          </a:p>
        </p:txBody>
      </p:sp>
      <p:sp>
        <p:nvSpPr>
          <p:cNvPr id="5" name="step5-subtitle">
            <a:extLst>
              <a:ext uri="{FF2B5EF4-FFF2-40B4-BE49-F238E27FC236}">
                <a16:creationId xmlns:a16="http://schemas.microsoft.com/office/drawing/2014/main" id="{E8D36B34-A3FE-4E90-88D3-6707FB828DAC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处理队首 [expr → · term, PLUS]：B = term，β = ε，a = PLUS。</a:t>
            </a:r>
          </a:p>
        </p:txBody>
      </p:sp>
      <p:sp>
        <p:nvSpPr>
          <p:cNvPr id="6" name="step5-arrow">
            <a:extLst>
              <a:ext uri="{FF2B5EF4-FFF2-40B4-BE49-F238E27FC236}">
                <a16:creationId xmlns:a16="http://schemas.microsoft.com/office/drawing/2014/main" id="{9ED163EA-D01F-47A9-A036-9164B1DB7480}"/>
              </a:ext>
            </a:extLst>
          </p:cNvPr>
          <p:cNvSpPr>
            <a:spLocks noGrp="1"/>
          </p:cNvSpPr>
          <p:nvPr/>
        </p:nvSpPr>
        <p:spPr>
          <a:xfrm>
            <a:off x="3857625" y="2190750"/>
            <a:ext cx="109537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7" name="step5-current">
            <a:extLst>
              <a:ext uri="{FF2B5EF4-FFF2-40B4-BE49-F238E27FC236}">
                <a16:creationId xmlns:a16="http://schemas.microsoft.com/office/drawing/2014/main" id="{09A82BC8-2EC6-49E4-B959-FCE4656DAB89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3238500" cy="8572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[expr → · term, PLUS]</a:t>
            </a:r>
          </a:p>
        </p:txBody>
      </p:sp>
      <p:sp>
        <p:nvSpPr>
          <p:cNvPr id="8" name="step5-added">
            <a:extLst>
              <a:ext uri="{FF2B5EF4-FFF2-40B4-BE49-F238E27FC236}">
                <a16:creationId xmlns:a16="http://schemas.microsoft.com/office/drawing/2014/main" id="{337D261A-67B9-4611-97F5-9E8703E862BF}"/>
              </a:ext>
            </a:extLst>
          </p:cNvPr>
          <p:cNvSpPr>
            <a:spLocks noGrp="1"/>
          </p:cNvSpPr>
          <p:nvPr/>
        </p:nvSpPr>
        <p:spPr>
          <a:xfrm>
            <a:off x="4953000" y="1762125"/>
            <a:ext cx="3571875" cy="857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新加入</a:t>
            </a:r>
          </a:p>
          <a:p>
            <a:pPr algn="ctr">
              <a:buNone/>
              <a:defRPr sz="1350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[term → · INT, PLUS]</a:t>
            </a:r>
          </a:p>
        </p:txBody>
      </p:sp>
      <p:sp>
        <p:nvSpPr>
          <p:cNvPr id="9" name="step5-first">
            <a:extLst>
              <a:ext uri="{FF2B5EF4-FFF2-40B4-BE49-F238E27FC236}">
                <a16:creationId xmlns:a16="http://schemas.microsoft.com/office/drawing/2014/main" id="{62299C64-584A-4B8B-8EA1-FBFE42A49F53}"/>
              </a:ext>
            </a:extLst>
          </p:cNvPr>
          <p:cNvSpPr>
            <a:spLocks noGrp="1"/>
          </p:cNvSpPr>
          <p:nvPr/>
        </p:nvSpPr>
        <p:spPr>
          <a:xfrm>
            <a:off x="2000250" y="2905125"/>
            <a:ext cx="5143500" cy="590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FIRST(βa) = FIRST(PLUS) = { PLUS }</a:t>
            </a:r>
          </a:p>
        </p:txBody>
      </p:sp>
      <p:sp>
        <p:nvSpPr>
          <p:cNvPr id="10" name="step5-queue">
            <a:extLst>
              <a:ext uri="{FF2B5EF4-FFF2-40B4-BE49-F238E27FC236}">
                <a16:creationId xmlns:a16="http://schemas.microsoft.com/office/drawing/2014/main" id="{F13B20C2-A45D-4EF0-992C-70C33E512121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7715250" cy="8763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工作队列 Q（队首在左）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[expr→·term,PLUS], [term→·INT,$]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[term→·INT,$], [term→·INT,PLUS]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closure 第6 - 7步：点后是终结符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8AD4375-9F50-F53A-6F9F-DD8473067C05}" type="slidenum">
              <a:t>29</a:t>
            </a:fld>
            <a:endParaRPr/>
          </a:p>
        </p:txBody>
      </p:sp>
      <p:sp>
        <p:nvSpPr>
          <p:cNvPr id="5" name="step67-subtitle">
            <a:extLst>
              <a:ext uri="{FF2B5EF4-FFF2-40B4-BE49-F238E27FC236}">
                <a16:creationId xmlns:a16="http://schemas.microsoft.com/office/drawing/2014/main" id="{88417F70-AE0A-4438-A3BF-C9BFC8DD1489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closure 只展开点后的非终结符；INT 是终结符，因此最后两个 item 都不会产生新 item。</a:t>
            </a:r>
          </a:p>
        </p:txBody>
      </p:sp>
      <p:sp>
        <p:nvSpPr>
          <p:cNvPr id="6" name="step6-item">
            <a:extLst>
              <a:ext uri="{FF2B5EF4-FFF2-40B4-BE49-F238E27FC236}">
                <a16:creationId xmlns:a16="http://schemas.microsoft.com/office/drawing/2014/main" id="{7B91C324-E4F7-4F80-A37D-79D984B6F6D6}"/>
              </a:ext>
            </a:extLst>
          </p:cNvPr>
          <p:cNvSpPr>
            <a:spLocks noGrp="1"/>
          </p:cNvSpPr>
          <p:nvPr/>
        </p:nvSpPr>
        <p:spPr>
          <a:xfrm>
            <a:off x="809625" y="1952625"/>
            <a:ext cx="3333750" cy="8763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[term → · INT, $]</a:t>
            </a:r>
          </a:p>
        </p:txBody>
      </p:sp>
      <p:sp>
        <p:nvSpPr>
          <p:cNvPr id="7" name="step7-item">
            <a:extLst>
              <a:ext uri="{FF2B5EF4-FFF2-40B4-BE49-F238E27FC236}">
                <a16:creationId xmlns:a16="http://schemas.microsoft.com/office/drawing/2014/main" id="{5D88A562-7FAD-46D0-BE2E-C3852F455B87}"/>
              </a:ext>
            </a:extLst>
          </p:cNvPr>
          <p:cNvSpPr>
            <a:spLocks noGrp="1"/>
          </p:cNvSpPr>
          <p:nvPr/>
        </p:nvSpPr>
        <p:spPr>
          <a:xfrm>
            <a:off x="5000625" y="1952625"/>
            <a:ext cx="3333750" cy="8763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[term → · INT, PLUS]</a:t>
            </a:r>
          </a:p>
        </p:txBody>
      </p:sp>
      <p:sp>
        <p:nvSpPr>
          <p:cNvPr id="8" name="step67-label-left">
            <a:extLst>
              <a:ext uri="{FF2B5EF4-FFF2-40B4-BE49-F238E27FC236}">
                <a16:creationId xmlns:a16="http://schemas.microsoft.com/office/drawing/2014/main" id="{BA79BC32-2F90-41D6-8E5C-F0433FFEB760}"/>
              </a:ext>
            </a:extLst>
          </p:cNvPr>
          <p:cNvSpPr>
            <a:spLocks noGrp="1"/>
          </p:cNvSpPr>
          <p:nvPr/>
        </p:nvSpPr>
        <p:spPr>
          <a:xfrm>
            <a:off x="1238250" y="30003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点后是 INT → 无需 closure</a:t>
            </a:r>
          </a:p>
        </p:txBody>
      </p:sp>
      <p:sp>
        <p:nvSpPr>
          <p:cNvPr id="9" name="step67-label-right">
            <a:extLst>
              <a:ext uri="{FF2B5EF4-FFF2-40B4-BE49-F238E27FC236}">
                <a16:creationId xmlns:a16="http://schemas.microsoft.com/office/drawing/2014/main" id="{0D65D079-BBF4-403D-978E-50C648F5FA10}"/>
              </a:ext>
            </a:extLst>
          </p:cNvPr>
          <p:cNvSpPr>
            <a:spLocks noGrp="1"/>
          </p:cNvSpPr>
          <p:nvPr/>
        </p:nvSpPr>
        <p:spPr>
          <a:xfrm>
            <a:off x="5429250" y="30003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点后是 INT → 无需 closure</a:t>
            </a:r>
          </a:p>
        </p:txBody>
      </p:sp>
      <p:sp>
        <p:nvSpPr>
          <p:cNvPr id="10" name="step67-queue">
            <a:extLst>
              <a:ext uri="{FF2B5EF4-FFF2-40B4-BE49-F238E27FC236}">
                <a16:creationId xmlns:a16="http://schemas.microsoft.com/office/drawing/2014/main" id="{EFAB80B0-E372-4AB8-8AA7-FD58B34B256D}"/>
              </a:ext>
            </a:extLst>
          </p:cNvPr>
          <p:cNvSpPr>
            <a:spLocks noGrp="1"/>
          </p:cNvSpPr>
          <p:nvPr/>
        </p:nvSpPr>
        <p:spPr>
          <a:xfrm>
            <a:off x="714375" y="3857625"/>
            <a:ext cx="7715250" cy="8763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工作队列 Q（队首在左）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[term→·INT,$], [term→·INT,PLUS]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空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工作队列清空：先得到 7 条 LR(1) item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1680313-6E64-04FF-399A-57B7CADE95A9}" type="slidenum">
              <a:t>30</a:t>
            </a:fld>
            <a:endParaRPr/>
          </a:p>
        </p:txBody>
      </p:sp>
      <p:sp>
        <p:nvSpPr>
          <p:cNvPr id="5" name="unmerged-subtitle">
            <a:extLst>
              <a:ext uri="{FF2B5EF4-FFF2-40B4-BE49-F238E27FC236}">
                <a16:creationId xmlns:a16="http://schemas.microsoft.com/office/drawing/2014/main" id="{82736D0C-20A0-4345-938C-DCF20CD44787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集合 C 不再增长，closure 到达不动点；下面仍保留每条 item 各自的 lookahead。</a:t>
            </a:r>
          </a:p>
        </p:txBody>
      </p:sp>
      <p:sp>
        <p:nvSpPr>
          <p:cNvPr id="6" name="unmerged-items">
            <a:extLst>
              <a:ext uri="{FF2B5EF4-FFF2-40B4-BE49-F238E27FC236}">
                <a16:creationId xmlns:a16="http://schemas.microsoft.com/office/drawing/2014/main" id="{0ECBDB90-0524-48E8-A461-E3B643C04C53}"/>
              </a:ext>
            </a:extLst>
          </p:cNvPr>
          <p:cNvSpPr>
            <a:spLocks noGrp="1"/>
          </p:cNvSpPr>
          <p:nvPr/>
        </p:nvSpPr>
        <p:spPr>
          <a:xfrm>
            <a:off x="1571625" y="1762125"/>
            <a:ext cx="6000750" cy="28575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· expr, $]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$]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$]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PLUS]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PLUS]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$]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PLUS]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最后合并：把 lookahead 写成集合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FEBBBCE-9E16-527A-0EE3-E5839422D847}" type="slidenum">
              <a:t>31</a:t>
            </a:fld>
            <a:endParaRPr/>
          </a:p>
        </p:txBody>
      </p:sp>
      <p:sp>
        <p:nvSpPr>
          <p:cNvPr id="5" name="merged-subtitle">
            <a:extLst>
              <a:ext uri="{FF2B5EF4-FFF2-40B4-BE49-F238E27FC236}">
                <a16:creationId xmlns:a16="http://schemas.microsoft.com/office/drawing/2014/main" id="{16259B63-DA79-44CD-987E-C58B228DA05F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7条item最后按产生式与点的位置分成 4 组。</a:t>
            </a:r>
          </a:p>
        </p:txBody>
      </p:sp>
      <p:sp>
        <p:nvSpPr>
          <p:cNvPr id="6" name="merge-arrow">
            <a:extLst>
              <a:ext uri="{FF2B5EF4-FFF2-40B4-BE49-F238E27FC236}">
                <a16:creationId xmlns:a16="http://schemas.microsoft.com/office/drawing/2014/main" id="{2B98FA3B-F26A-4C50-9794-32E7DEC2C011}"/>
              </a:ext>
            </a:extLst>
          </p:cNvPr>
          <p:cNvSpPr>
            <a:spLocks noGrp="1"/>
          </p:cNvSpPr>
          <p:nvPr/>
        </p:nvSpPr>
        <p:spPr>
          <a:xfrm>
            <a:off x="4476750" y="3095625"/>
            <a:ext cx="61912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7" name="merge-left">
            <a:extLst>
              <a:ext uri="{FF2B5EF4-FFF2-40B4-BE49-F238E27FC236}">
                <a16:creationId xmlns:a16="http://schemas.microsoft.com/office/drawing/2014/main" id="{E7276721-B5C9-429D-B27F-8FC5DF38B50A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3952875" cy="28098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· expr, $]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$]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$]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PLUS]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PLUS]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$]</a:t>
            </a:r>
          </a:p>
          <a:p>
            <a:pPr algn="l">
              <a:buNone/>
              <a:defRPr sz="108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PLUS]</a:t>
            </a:r>
          </a:p>
        </p:txBody>
      </p:sp>
      <p:sp>
        <p:nvSpPr>
          <p:cNvPr id="8" name="merge-label">
            <a:extLst>
              <a:ext uri="{FF2B5EF4-FFF2-40B4-BE49-F238E27FC236}">
                <a16:creationId xmlns:a16="http://schemas.microsoft.com/office/drawing/2014/main" id="{D0234364-F323-4E9E-91DD-DFD0EE3A53D5}"/>
              </a:ext>
            </a:extLst>
          </p:cNvPr>
          <p:cNvSpPr>
            <a:spLocks noGrp="1"/>
          </p:cNvSpPr>
          <p:nvPr/>
        </p:nvSpPr>
        <p:spPr>
          <a:xfrm>
            <a:off x="4448175" y="2667000"/>
            <a:ext cx="685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合并</a:t>
            </a:r>
          </a:p>
        </p:txBody>
      </p:sp>
      <p:sp>
        <p:nvSpPr>
          <p:cNvPr id="9" name="merge-right">
            <a:extLst>
              <a:ext uri="{FF2B5EF4-FFF2-40B4-BE49-F238E27FC236}">
                <a16:creationId xmlns:a16="http://schemas.microsoft.com/office/drawing/2014/main" id="{54CD8F2D-771E-43E2-93E5-4D750724BCDF}"/>
              </a:ext>
            </a:extLst>
          </p:cNvPr>
          <p:cNvSpPr>
            <a:spLocks noGrp="1"/>
          </p:cNvSpPr>
          <p:nvPr/>
        </p:nvSpPr>
        <p:spPr>
          <a:xfrm>
            <a:off x="5095875" y="2000250"/>
            <a:ext cx="3524250" cy="22383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[start → · expr, $]</a:t>
            </a:r>
          </a:p>
          <a:p>
            <a:pPr algn="l">
              <a:buNone/>
              <a:defRPr sz="116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[expr → · expr PLUS term, {$, PLUS}]</a:t>
            </a:r>
          </a:p>
          <a:p>
            <a:pPr algn="l">
              <a:buNone/>
              <a:defRPr sz="116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[expr → · term, {$, PLUS}]</a:t>
            </a:r>
          </a:p>
          <a:p>
            <a:pPr algn="l">
              <a:buNone/>
              <a:defRPr sz="116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[term → · INT, {$, PLUS}]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I₀ 读到 INT：goto 得到完成项 I₃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172A7C5-A0CC-7B36-F236-345181E6AD72}" type="slidenum">
              <a:t>32</a:t>
            </a:fld>
            <a:endParaRPr/>
          </a:p>
        </p:txBody>
      </p:sp>
      <p:sp>
        <p:nvSpPr>
          <p:cNvPr id="5" name="goto-int-subtitle">
            <a:extLst>
              <a:ext uri="{FF2B5EF4-FFF2-40B4-BE49-F238E27FC236}">
                <a16:creationId xmlns:a16="http://schemas.microsoft.com/office/drawing/2014/main" id="{C26D1A40-96C6-4949-92D1-A027FAC2FE42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与 LR(0) 相同，点跨过 INT；不同的是两种 lookahead 原样保留。</a:t>
            </a:r>
          </a:p>
        </p:txBody>
      </p:sp>
      <p:sp>
        <p:nvSpPr>
          <p:cNvPr id="6" name="goto-int-i0-box">
            <a:extLst>
              <a:ext uri="{FF2B5EF4-FFF2-40B4-BE49-F238E27FC236}">
                <a16:creationId xmlns:a16="http://schemas.microsoft.com/office/drawing/2014/main" id="{20C0E441-E710-4DAE-A623-CDD749DDE32B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4095750" cy="1619250"/>
          </a:xfrm>
          <a:prstGeom prst="roundRect">
            <a:avLst>
              <a:gd name="adj" fmla="val 470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goto-int-i0-title">
            <a:extLst>
              <a:ext uri="{FF2B5EF4-FFF2-40B4-BE49-F238E27FC236}">
                <a16:creationId xmlns:a16="http://schemas.microsoft.com/office/drawing/2014/main" id="{96B83DE9-3E5D-42FD-B5FD-0CC488CE5A39}"/>
              </a:ext>
            </a:extLst>
          </p:cNvPr>
          <p:cNvSpPr>
            <a:spLocks noGrp="1"/>
          </p:cNvSpPr>
          <p:nvPr/>
        </p:nvSpPr>
        <p:spPr>
          <a:xfrm>
            <a:off x="781050" y="1838325"/>
            <a:ext cx="3867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8" name="goto-int-i0-items">
            <a:extLst>
              <a:ext uri="{FF2B5EF4-FFF2-40B4-BE49-F238E27FC236}">
                <a16:creationId xmlns:a16="http://schemas.microsoft.com/office/drawing/2014/main" id="{1D489135-956C-4066-8444-7D708842F659}"/>
              </a:ext>
            </a:extLst>
          </p:cNvPr>
          <p:cNvSpPr>
            <a:spLocks noGrp="1"/>
          </p:cNvSpPr>
          <p:nvPr/>
        </p:nvSpPr>
        <p:spPr>
          <a:xfrm>
            <a:off x="800100" y="2124075"/>
            <a:ext cx="38290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· expr,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{$, PLUS}]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{$, PLUS}]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{$, PLUS}]</a:t>
            </a:r>
          </a:p>
        </p:txBody>
      </p:sp>
      <p:sp>
        <p:nvSpPr>
          <p:cNvPr id="9" name="goto-int-line">
            <a:extLst>
              <a:ext uri="{FF2B5EF4-FFF2-40B4-BE49-F238E27FC236}">
                <a16:creationId xmlns:a16="http://schemas.microsoft.com/office/drawing/2014/main" id="{654D95CF-6C86-4E03-8251-F7196234395A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90487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0" name="goto-int-label">
            <a:extLst>
              <a:ext uri="{FF2B5EF4-FFF2-40B4-BE49-F238E27FC236}">
                <a16:creationId xmlns:a16="http://schemas.microsoft.com/office/drawing/2014/main" id="{5DC76F56-621B-4E17-8DAF-C9090EA1B8DE}"/>
              </a:ext>
            </a:extLst>
          </p:cNvPr>
          <p:cNvSpPr>
            <a:spLocks noGrp="1"/>
          </p:cNvSpPr>
          <p:nvPr/>
        </p:nvSpPr>
        <p:spPr>
          <a:xfrm>
            <a:off x="4905375" y="21717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INT</a:t>
            </a:r>
          </a:p>
        </p:txBody>
      </p:sp>
      <p:sp>
        <p:nvSpPr>
          <p:cNvPr id="11" name="goto-int-i3-box">
            <a:extLst>
              <a:ext uri="{FF2B5EF4-FFF2-40B4-BE49-F238E27FC236}">
                <a16:creationId xmlns:a16="http://schemas.microsoft.com/office/drawing/2014/main" id="{96E2BDD7-9FD6-4DB6-A100-627A2ADA89AD}"/>
              </a:ext>
            </a:extLst>
          </p:cNvPr>
          <p:cNvSpPr>
            <a:spLocks noGrp="1"/>
          </p:cNvSpPr>
          <p:nvPr/>
        </p:nvSpPr>
        <p:spPr>
          <a:xfrm>
            <a:off x="5667375" y="2047875"/>
            <a:ext cx="3143250" cy="1095375"/>
          </a:xfrm>
          <a:prstGeom prst="roundRect">
            <a:avLst>
              <a:gd name="adj" fmla="val 695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goto-int-i3-title">
            <a:extLst>
              <a:ext uri="{FF2B5EF4-FFF2-40B4-BE49-F238E27FC236}">
                <a16:creationId xmlns:a16="http://schemas.microsoft.com/office/drawing/2014/main" id="{E9A5E750-CAAA-4969-B135-8E5C05506182}"/>
              </a:ext>
            </a:extLst>
          </p:cNvPr>
          <p:cNvSpPr>
            <a:spLocks noGrp="1"/>
          </p:cNvSpPr>
          <p:nvPr/>
        </p:nvSpPr>
        <p:spPr>
          <a:xfrm>
            <a:off x="5781675" y="2124075"/>
            <a:ext cx="2914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I₃</a:t>
            </a:r>
          </a:p>
        </p:txBody>
      </p:sp>
      <p:sp>
        <p:nvSpPr>
          <p:cNvPr id="13" name="goto-int-i3-items">
            <a:extLst>
              <a:ext uri="{FF2B5EF4-FFF2-40B4-BE49-F238E27FC236}">
                <a16:creationId xmlns:a16="http://schemas.microsoft.com/office/drawing/2014/main" id="{FCDA0E06-0A12-45C2-940E-43B279AACAC7}"/>
              </a:ext>
            </a:extLst>
          </p:cNvPr>
          <p:cNvSpPr>
            <a:spLocks noGrp="1"/>
          </p:cNvSpPr>
          <p:nvPr/>
        </p:nvSpPr>
        <p:spPr>
          <a:xfrm>
            <a:off x="5800725" y="2409825"/>
            <a:ext cx="28765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INT ·, $]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INT ·, PLUS]</a:t>
            </a:r>
          </a:p>
        </p:txBody>
      </p:sp>
      <p:sp>
        <p:nvSpPr>
          <p:cNvPr id="14" name="goto-int-takeaway">
            <a:extLst>
              <a:ext uri="{FF2B5EF4-FFF2-40B4-BE49-F238E27FC236}">
                <a16:creationId xmlns:a16="http://schemas.microsoft.com/office/drawing/2014/main" id="{B1759618-EB72-4535-A908-FB5E7B24BE3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I₃ 只允许在 PLUS 或 $ 前执行 reduce term → INT。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I₀ 识别 term：goto 得到 I₂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6C3428B-053E-6B4E-39FF-75B44F3F33F6}" type="slidenum">
              <a:t>33</a:t>
            </a:fld>
            <a:endParaRPr/>
          </a:p>
        </p:txBody>
      </p:sp>
      <p:sp>
        <p:nvSpPr>
          <p:cNvPr id="5" name="goto-term-subtitle">
            <a:extLst>
              <a:ext uri="{FF2B5EF4-FFF2-40B4-BE49-F238E27FC236}">
                <a16:creationId xmlns:a16="http://schemas.microsoft.com/office/drawing/2014/main" id="{73C13491-F6E8-4F14-BAD7-B03F8DB5980A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点移动到产生式末尾；item 携带的 {$, PLUS} 成为这次reduce的允许条件。</a:t>
            </a:r>
          </a:p>
        </p:txBody>
      </p:sp>
      <p:sp>
        <p:nvSpPr>
          <p:cNvPr id="6" name="goto-term-i0-box">
            <a:extLst>
              <a:ext uri="{FF2B5EF4-FFF2-40B4-BE49-F238E27FC236}">
                <a16:creationId xmlns:a16="http://schemas.microsoft.com/office/drawing/2014/main" id="{162D070E-B750-426D-8059-E2F51042DCFB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4095750" cy="1619250"/>
          </a:xfrm>
          <a:prstGeom prst="roundRect">
            <a:avLst>
              <a:gd name="adj" fmla="val 470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goto-term-i0-title">
            <a:extLst>
              <a:ext uri="{FF2B5EF4-FFF2-40B4-BE49-F238E27FC236}">
                <a16:creationId xmlns:a16="http://schemas.microsoft.com/office/drawing/2014/main" id="{F76CEB94-3026-475C-B9E7-B4006A4207C2}"/>
              </a:ext>
            </a:extLst>
          </p:cNvPr>
          <p:cNvSpPr>
            <a:spLocks noGrp="1"/>
          </p:cNvSpPr>
          <p:nvPr/>
        </p:nvSpPr>
        <p:spPr>
          <a:xfrm>
            <a:off x="781050" y="1838325"/>
            <a:ext cx="3867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8" name="goto-term-i0-items">
            <a:extLst>
              <a:ext uri="{FF2B5EF4-FFF2-40B4-BE49-F238E27FC236}">
                <a16:creationId xmlns:a16="http://schemas.microsoft.com/office/drawing/2014/main" id="{0B0AC6AF-12CC-41CE-947F-DA189ECD50A9}"/>
              </a:ext>
            </a:extLst>
          </p:cNvPr>
          <p:cNvSpPr>
            <a:spLocks noGrp="1"/>
          </p:cNvSpPr>
          <p:nvPr/>
        </p:nvSpPr>
        <p:spPr>
          <a:xfrm>
            <a:off x="800100" y="2124075"/>
            <a:ext cx="38290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· expr,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{$, PLUS}]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{$, PLUS}]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{$, PLUS}]</a:t>
            </a:r>
          </a:p>
        </p:txBody>
      </p:sp>
      <p:sp>
        <p:nvSpPr>
          <p:cNvPr id="9" name="goto-term-line">
            <a:extLst>
              <a:ext uri="{FF2B5EF4-FFF2-40B4-BE49-F238E27FC236}">
                <a16:creationId xmlns:a16="http://schemas.microsoft.com/office/drawing/2014/main" id="{232654EE-B865-473E-B6F5-15A98E439A95}"/>
              </a:ext>
            </a:extLst>
          </p:cNvPr>
          <p:cNvSpPr>
            <a:spLocks noGrp="1"/>
          </p:cNvSpPr>
          <p:nvPr/>
        </p:nvSpPr>
        <p:spPr>
          <a:xfrm>
            <a:off x="4762500" y="2571750"/>
            <a:ext cx="90487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0" name="goto-term-label">
            <a:extLst>
              <a:ext uri="{FF2B5EF4-FFF2-40B4-BE49-F238E27FC236}">
                <a16:creationId xmlns:a16="http://schemas.microsoft.com/office/drawing/2014/main" id="{85E6F0D2-1A76-439F-92F5-E72603572B41}"/>
              </a:ext>
            </a:extLst>
          </p:cNvPr>
          <p:cNvSpPr>
            <a:spLocks noGrp="1"/>
          </p:cNvSpPr>
          <p:nvPr/>
        </p:nvSpPr>
        <p:spPr>
          <a:xfrm>
            <a:off x="4857750" y="2171700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term</a:t>
            </a:r>
          </a:p>
        </p:txBody>
      </p:sp>
      <p:sp>
        <p:nvSpPr>
          <p:cNvPr id="11" name="goto-term-i2-box">
            <a:extLst>
              <a:ext uri="{FF2B5EF4-FFF2-40B4-BE49-F238E27FC236}">
                <a16:creationId xmlns:a16="http://schemas.microsoft.com/office/drawing/2014/main" id="{CE3EB270-0A6E-42FD-A0C2-C1EDF21E5E08}"/>
              </a:ext>
            </a:extLst>
          </p:cNvPr>
          <p:cNvSpPr>
            <a:spLocks noGrp="1"/>
          </p:cNvSpPr>
          <p:nvPr/>
        </p:nvSpPr>
        <p:spPr>
          <a:xfrm>
            <a:off x="5667375" y="2047875"/>
            <a:ext cx="3143250" cy="1095375"/>
          </a:xfrm>
          <a:prstGeom prst="roundRect">
            <a:avLst>
              <a:gd name="adj" fmla="val 695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goto-term-i2-title">
            <a:extLst>
              <a:ext uri="{FF2B5EF4-FFF2-40B4-BE49-F238E27FC236}">
                <a16:creationId xmlns:a16="http://schemas.microsoft.com/office/drawing/2014/main" id="{095684BC-AB01-407A-A739-8ED9BBB8A603}"/>
              </a:ext>
            </a:extLst>
          </p:cNvPr>
          <p:cNvSpPr>
            <a:spLocks noGrp="1"/>
          </p:cNvSpPr>
          <p:nvPr/>
        </p:nvSpPr>
        <p:spPr>
          <a:xfrm>
            <a:off x="5781675" y="2124075"/>
            <a:ext cx="2914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I₂</a:t>
            </a:r>
          </a:p>
        </p:txBody>
      </p:sp>
      <p:sp>
        <p:nvSpPr>
          <p:cNvPr id="13" name="goto-term-i2-items">
            <a:extLst>
              <a:ext uri="{FF2B5EF4-FFF2-40B4-BE49-F238E27FC236}">
                <a16:creationId xmlns:a16="http://schemas.microsoft.com/office/drawing/2014/main" id="{77B4D3A4-6AC9-4CBD-A564-4345CDDE18CF}"/>
              </a:ext>
            </a:extLst>
          </p:cNvPr>
          <p:cNvSpPr>
            <a:spLocks noGrp="1"/>
          </p:cNvSpPr>
          <p:nvPr/>
        </p:nvSpPr>
        <p:spPr>
          <a:xfrm>
            <a:off x="5800725" y="2409825"/>
            <a:ext cx="28765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term ·, $]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term ·, PLUS]</a:t>
            </a:r>
          </a:p>
        </p:txBody>
      </p:sp>
      <p:sp>
        <p:nvSpPr>
          <p:cNvPr id="14" name="goto-term-takeaway">
            <a:extLst>
              <a:ext uri="{FF2B5EF4-FFF2-40B4-BE49-F238E27FC236}">
                <a16:creationId xmlns:a16="http://schemas.microsoft.com/office/drawing/2014/main" id="{464A21C6-447F-4A8B-B91D-F37DB13F385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I₂ 只允许在 PLUS 或 $ 前执行 reduce expr → term。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I₀ 识别 expr：goto 得到 I₁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9F9B2FD-F323-2D0A-D581-D6E61055F9A8}" type="slidenum">
              <a:t>34</a:t>
            </a:fld>
            <a:endParaRPr/>
          </a:p>
        </p:txBody>
      </p:sp>
      <p:sp>
        <p:nvSpPr>
          <p:cNvPr id="5" name="goto-expr-subtitle">
            <a:extLst>
              <a:ext uri="{FF2B5EF4-FFF2-40B4-BE49-F238E27FC236}">
                <a16:creationId xmlns:a16="http://schemas.microsoft.com/office/drawing/2014/main" id="{77AE355D-CAF0-4E8A-8386-73CC30564849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I₁ 同时包含 accept 的条件，以及继续读取 PLUS 的移进项。</a:t>
            </a:r>
          </a:p>
        </p:txBody>
      </p:sp>
      <p:sp>
        <p:nvSpPr>
          <p:cNvPr id="6" name="goto-expr-i0-box">
            <a:extLst>
              <a:ext uri="{FF2B5EF4-FFF2-40B4-BE49-F238E27FC236}">
                <a16:creationId xmlns:a16="http://schemas.microsoft.com/office/drawing/2014/main" id="{755C8462-5B4F-47B2-B146-27DB73BFBFFC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4095750" cy="1619250"/>
          </a:xfrm>
          <a:prstGeom prst="roundRect">
            <a:avLst>
              <a:gd name="adj" fmla="val 470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goto-expr-i0-title">
            <a:extLst>
              <a:ext uri="{FF2B5EF4-FFF2-40B4-BE49-F238E27FC236}">
                <a16:creationId xmlns:a16="http://schemas.microsoft.com/office/drawing/2014/main" id="{90803E12-F012-44B0-9699-513FE7E3A413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3867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8" name="goto-expr-i0-items">
            <a:extLst>
              <a:ext uri="{FF2B5EF4-FFF2-40B4-BE49-F238E27FC236}">
                <a16:creationId xmlns:a16="http://schemas.microsoft.com/office/drawing/2014/main" id="{586ED0A4-66BF-4352-87B1-E8C0EB099423}"/>
              </a:ext>
            </a:extLst>
          </p:cNvPr>
          <p:cNvSpPr>
            <a:spLocks noGrp="1"/>
          </p:cNvSpPr>
          <p:nvPr/>
        </p:nvSpPr>
        <p:spPr>
          <a:xfrm>
            <a:off x="704850" y="2124075"/>
            <a:ext cx="38290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· expr,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expr PLUS term, {$, PLUS}]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· term, {$, PLUS}]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{$, PLUS}]</a:t>
            </a:r>
          </a:p>
        </p:txBody>
      </p:sp>
      <p:sp>
        <p:nvSpPr>
          <p:cNvPr id="9" name="goto-expr-line">
            <a:extLst>
              <a:ext uri="{FF2B5EF4-FFF2-40B4-BE49-F238E27FC236}">
                <a16:creationId xmlns:a16="http://schemas.microsoft.com/office/drawing/2014/main" id="{FF8BED05-4559-4A16-93E7-23BE5DDA08F0}"/>
              </a:ext>
            </a:extLst>
          </p:cNvPr>
          <p:cNvSpPr>
            <a:spLocks noGrp="1"/>
          </p:cNvSpPr>
          <p:nvPr/>
        </p:nvSpPr>
        <p:spPr>
          <a:xfrm>
            <a:off x="4667250" y="2571750"/>
            <a:ext cx="809625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0" name="goto-expr-label">
            <a:extLst>
              <a:ext uri="{FF2B5EF4-FFF2-40B4-BE49-F238E27FC236}">
                <a16:creationId xmlns:a16="http://schemas.microsoft.com/office/drawing/2014/main" id="{96096AEF-CF59-43A8-9410-D031CA0EE9F0}"/>
              </a:ext>
            </a:extLst>
          </p:cNvPr>
          <p:cNvSpPr>
            <a:spLocks noGrp="1"/>
          </p:cNvSpPr>
          <p:nvPr/>
        </p:nvSpPr>
        <p:spPr>
          <a:xfrm>
            <a:off x="4714875" y="2171700"/>
            <a:ext cx="90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expr</a:t>
            </a:r>
          </a:p>
        </p:txBody>
      </p:sp>
      <p:sp>
        <p:nvSpPr>
          <p:cNvPr id="11" name="goto-expr-i1-box">
            <a:extLst>
              <a:ext uri="{FF2B5EF4-FFF2-40B4-BE49-F238E27FC236}">
                <a16:creationId xmlns:a16="http://schemas.microsoft.com/office/drawing/2014/main" id="{4B84B229-CE06-41DB-8DAD-DBD9C677312D}"/>
              </a:ext>
            </a:extLst>
          </p:cNvPr>
          <p:cNvSpPr>
            <a:spLocks noGrp="1"/>
          </p:cNvSpPr>
          <p:nvPr/>
        </p:nvSpPr>
        <p:spPr>
          <a:xfrm>
            <a:off x="5476875" y="1857375"/>
            <a:ext cx="3429000" cy="1381125"/>
          </a:xfrm>
          <a:prstGeom prst="roundRect">
            <a:avLst>
              <a:gd name="adj" fmla="val 5517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goto-expr-i1-title">
            <a:extLst>
              <a:ext uri="{FF2B5EF4-FFF2-40B4-BE49-F238E27FC236}">
                <a16:creationId xmlns:a16="http://schemas.microsoft.com/office/drawing/2014/main" id="{8ECC75EF-863F-480C-B0D9-61689C3D4D10}"/>
              </a:ext>
            </a:extLst>
          </p:cNvPr>
          <p:cNvSpPr>
            <a:spLocks noGrp="1"/>
          </p:cNvSpPr>
          <p:nvPr/>
        </p:nvSpPr>
        <p:spPr>
          <a:xfrm>
            <a:off x="5591175" y="1933575"/>
            <a:ext cx="3200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I₁</a:t>
            </a:r>
          </a:p>
        </p:txBody>
      </p:sp>
      <p:sp>
        <p:nvSpPr>
          <p:cNvPr id="13" name="goto-expr-i1-items">
            <a:extLst>
              <a:ext uri="{FF2B5EF4-FFF2-40B4-BE49-F238E27FC236}">
                <a16:creationId xmlns:a16="http://schemas.microsoft.com/office/drawing/2014/main" id="{17A8366E-CE9A-4057-B3CA-B4853F13100D}"/>
              </a:ext>
            </a:extLst>
          </p:cNvPr>
          <p:cNvSpPr>
            <a:spLocks noGrp="1"/>
          </p:cNvSpPr>
          <p:nvPr/>
        </p:nvSpPr>
        <p:spPr>
          <a:xfrm>
            <a:off x="5610225" y="2219325"/>
            <a:ext cx="316230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expr ·,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· PLUS term,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· PLUS term, PLUS]</a:t>
            </a:r>
          </a:p>
        </p:txBody>
      </p:sp>
      <p:sp>
        <p:nvSpPr>
          <p:cNvPr id="14" name="goto-expr-actions">
            <a:extLst>
              <a:ext uri="{FF2B5EF4-FFF2-40B4-BE49-F238E27FC236}">
                <a16:creationId xmlns:a16="http://schemas.microsoft.com/office/drawing/2014/main" id="{015E33FA-B912-4DEE-9644-D4DE577945D4}"/>
              </a:ext>
            </a:extLst>
          </p:cNvPr>
          <p:cNvSpPr>
            <a:spLocks noGrp="1"/>
          </p:cNvSpPr>
          <p:nvPr/>
        </p:nvSpPr>
        <p:spPr>
          <a:xfrm>
            <a:off x="5572125" y="3619500"/>
            <a:ext cx="3333750" cy="590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$：accept        PLUS：继续 shift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I₁ 读到 PLUS：得到 I₄，并对 term 做 closure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6C2EC43-E3B9-C9B0-67FF-5447EB7F3925}" type="slidenum">
              <a:t>35</a:t>
            </a:fld>
            <a:endParaRPr/>
          </a:p>
        </p:txBody>
      </p:sp>
      <p:sp>
        <p:nvSpPr>
          <p:cNvPr id="5" name="goto-plus-subtitle">
            <a:extLst>
              <a:ext uri="{FF2B5EF4-FFF2-40B4-BE49-F238E27FC236}">
                <a16:creationId xmlns:a16="http://schemas.microsoft.com/office/drawing/2014/main" id="{48171ABA-906C-4567-A12E-8B9399134294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先移动点，再展开点后的 term；两条 item 的 lookahead 都是 {$, PLUS}。</a:t>
            </a:r>
          </a:p>
        </p:txBody>
      </p:sp>
      <p:sp>
        <p:nvSpPr>
          <p:cNvPr id="6" name="goto-plus-i1-box">
            <a:extLst>
              <a:ext uri="{FF2B5EF4-FFF2-40B4-BE49-F238E27FC236}">
                <a16:creationId xmlns:a16="http://schemas.microsoft.com/office/drawing/2014/main" id="{C9A8A1A4-D26D-4797-A42B-5E536DA2C6AE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3571875" cy="1428750"/>
          </a:xfrm>
          <a:prstGeom prst="roundRect">
            <a:avLst>
              <a:gd name="adj" fmla="val 5333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goto-plus-i1-title">
            <a:extLst>
              <a:ext uri="{FF2B5EF4-FFF2-40B4-BE49-F238E27FC236}">
                <a16:creationId xmlns:a16="http://schemas.microsoft.com/office/drawing/2014/main" id="{4709E6B5-D815-46EE-8374-54E3F4A88887}"/>
              </a:ext>
            </a:extLst>
          </p:cNvPr>
          <p:cNvSpPr>
            <a:spLocks noGrp="1"/>
          </p:cNvSpPr>
          <p:nvPr/>
        </p:nvSpPr>
        <p:spPr>
          <a:xfrm>
            <a:off x="638175" y="1885950"/>
            <a:ext cx="33432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I₁</a:t>
            </a:r>
          </a:p>
        </p:txBody>
      </p:sp>
      <p:sp>
        <p:nvSpPr>
          <p:cNvPr id="8" name="goto-plus-i1-items">
            <a:extLst>
              <a:ext uri="{FF2B5EF4-FFF2-40B4-BE49-F238E27FC236}">
                <a16:creationId xmlns:a16="http://schemas.microsoft.com/office/drawing/2014/main" id="{8A6D085A-A9CA-47AF-B45B-AAC58F138207}"/>
              </a:ext>
            </a:extLst>
          </p:cNvPr>
          <p:cNvSpPr>
            <a:spLocks noGrp="1"/>
          </p:cNvSpPr>
          <p:nvPr/>
        </p:nvSpPr>
        <p:spPr>
          <a:xfrm>
            <a:off x="657225" y="2171700"/>
            <a:ext cx="33051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 → expr ·,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· PLUS term,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· PLUS term, PLUS]</a:t>
            </a:r>
          </a:p>
        </p:txBody>
      </p:sp>
      <p:sp>
        <p:nvSpPr>
          <p:cNvPr id="9" name="goto-plus-line">
            <a:extLst>
              <a:ext uri="{FF2B5EF4-FFF2-40B4-BE49-F238E27FC236}">
                <a16:creationId xmlns:a16="http://schemas.microsoft.com/office/drawing/2014/main" id="{ADC9F7D5-E953-4351-98FF-7BEABC2D00F4}"/>
              </a:ext>
            </a:extLst>
          </p:cNvPr>
          <p:cNvSpPr>
            <a:spLocks noGrp="1"/>
          </p:cNvSpPr>
          <p:nvPr/>
        </p:nvSpPr>
        <p:spPr>
          <a:xfrm>
            <a:off x="4095750" y="2571750"/>
            <a:ext cx="10477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0" name="goto-plus-label">
            <a:extLst>
              <a:ext uri="{FF2B5EF4-FFF2-40B4-BE49-F238E27FC236}">
                <a16:creationId xmlns:a16="http://schemas.microsoft.com/office/drawing/2014/main" id="{0F3216DF-F9F5-4CD6-911E-E78FA19D6D1A}"/>
              </a:ext>
            </a:extLst>
          </p:cNvPr>
          <p:cNvSpPr>
            <a:spLocks noGrp="1"/>
          </p:cNvSpPr>
          <p:nvPr/>
        </p:nvSpPr>
        <p:spPr>
          <a:xfrm>
            <a:off x="4238625" y="2171700"/>
            <a:ext cx="904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PLUS</a:t>
            </a:r>
          </a:p>
        </p:txBody>
      </p:sp>
      <p:sp>
        <p:nvSpPr>
          <p:cNvPr id="11" name="goto-plus-i4-box">
            <a:extLst>
              <a:ext uri="{FF2B5EF4-FFF2-40B4-BE49-F238E27FC236}">
                <a16:creationId xmlns:a16="http://schemas.microsoft.com/office/drawing/2014/main" id="{099563C9-6E96-4198-93ED-F6C4474F19B8}"/>
              </a:ext>
            </a:extLst>
          </p:cNvPr>
          <p:cNvSpPr>
            <a:spLocks noGrp="1"/>
          </p:cNvSpPr>
          <p:nvPr/>
        </p:nvSpPr>
        <p:spPr>
          <a:xfrm>
            <a:off x="5143500" y="1714500"/>
            <a:ext cx="3762375" cy="1714500"/>
          </a:xfrm>
          <a:prstGeom prst="roundRect">
            <a:avLst>
              <a:gd name="adj" fmla="val 4444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2" name="goto-plus-i4-title">
            <a:extLst>
              <a:ext uri="{FF2B5EF4-FFF2-40B4-BE49-F238E27FC236}">
                <a16:creationId xmlns:a16="http://schemas.microsoft.com/office/drawing/2014/main" id="{6AECE8A4-4CF0-4030-A586-B2FEE605D6E7}"/>
              </a:ext>
            </a:extLst>
          </p:cNvPr>
          <p:cNvSpPr>
            <a:spLocks noGrp="1"/>
          </p:cNvSpPr>
          <p:nvPr/>
        </p:nvSpPr>
        <p:spPr>
          <a:xfrm>
            <a:off x="5257800" y="1790700"/>
            <a:ext cx="3533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I₄</a:t>
            </a:r>
          </a:p>
        </p:txBody>
      </p:sp>
      <p:sp>
        <p:nvSpPr>
          <p:cNvPr id="13" name="goto-plus-i4-items">
            <a:extLst>
              <a:ext uri="{FF2B5EF4-FFF2-40B4-BE49-F238E27FC236}">
                <a16:creationId xmlns:a16="http://schemas.microsoft.com/office/drawing/2014/main" id="{60713DB5-A776-4270-A462-68916D07C153}"/>
              </a:ext>
            </a:extLst>
          </p:cNvPr>
          <p:cNvSpPr>
            <a:spLocks noGrp="1"/>
          </p:cNvSpPr>
          <p:nvPr/>
        </p:nvSpPr>
        <p:spPr>
          <a:xfrm>
            <a:off x="5276850" y="2076450"/>
            <a:ext cx="3495675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PLUS · term,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PLUS · term, PLUS]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PLUS]</a:t>
            </a:r>
          </a:p>
        </p:txBody>
      </p:sp>
      <p:sp>
        <p:nvSpPr>
          <p:cNvPr id="14" name="goto-plus-closure">
            <a:extLst>
              <a:ext uri="{FF2B5EF4-FFF2-40B4-BE49-F238E27FC236}">
                <a16:creationId xmlns:a16="http://schemas.microsoft.com/office/drawing/2014/main" id="{005EB14C-1318-4B35-98F0-AE5C1F2809B0}"/>
              </a:ext>
            </a:extLst>
          </p:cNvPr>
          <p:cNvSpPr>
            <a:spLocks noGrp="1"/>
          </p:cNvSpPr>
          <p:nvPr/>
        </p:nvSpPr>
        <p:spPr>
          <a:xfrm>
            <a:off x="2143125" y="4191000"/>
            <a:ext cx="4857750" cy="5715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点后期望见到 term，所以 closure 加入两条 term → · INT item（由于term在原推导式最后，lookahead直接沿用）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 I₄ 继续：INT 回到 I₃，term 到达 I₅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4FA566-8B12-6DD2-DDB5-FA6393938FB6}" type="slidenum">
              <a:t>36</a:t>
            </a:fld>
            <a:endParaRPr/>
          </a:p>
        </p:txBody>
      </p:sp>
      <p:sp>
        <p:nvSpPr>
          <p:cNvPr id="5" name="goto-i4-subtitle">
            <a:extLst>
              <a:ext uri="{FF2B5EF4-FFF2-40B4-BE49-F238E27FC236}">
                <a16:creationId xmlns:a16="http://schemas.microsoft.com/office/drawing/2014/main" id="{53BB5833-B3DE-404E-A200-83F6C4252142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所有点后符号都已处理；至此不再产生新状态。</a:t>
            </a:r>
          </a:p>
        </p:txBody>
      </p:sp>
      <p:sp>
        <p:nvSpPr>
          <p:cNvPr id="6" name="goto-i4-source-box">
            <a:extLst>
              <a:ext uri="{FF2B5EF4-FFF2-40B4-BE49-F238E27FC236}">
                <a16:creationId xmlns:a16="http://schemas.microsoft.com/office/drawing/2014/main" id="{2AF70BBF-D086-4C56-8F20-60A13DAAD16E}"/>
              </a:ext>
            </a:extLst>
          </p:cNvPr>
          <p:cNvSpPr>
            <a:spLocks noGrp="1"/>
          </p:cNvSpPr>
          <p:nvPr/>
        </p:nvSpPr>
        <p:spPr>
          <a:xfrm>
            <a:off x="428625" y="1809750"/>
            <a:ext cx="3714750" cy="1714500"/>
          </a:xfrm>
          <a:prstGeom prst="roundRect">
            <a:avLst>
              <a:gd name="adj" fmla="val 4444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7" name="goto-i4-source-title">
            <a:extLst>
              <a:ext uri="{FF2B5EF4-FFF2-40B4-BE49-F238E27FC236}">
                <a16:creationId xmlns:a16="http://schemas.microsoft.com/office/drawing/2014/main" id="{0C95A659-A27F-4C28-85FA-6A91AD0B6E0A}"/>
              </a:ext>
            </a:extLst>
          </p:cNvPr>
          <p:cNvSpPr>
            <a:spLocks noGrp="1"/>
          </p:cNvSpPr>
          <p:nvPr/>
        </p:nvSpPr>
        <p:spPr>
          <a:xfrm>
            <a:off x="542925" y="1885950"/>
            <a:ext cx="3486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I₄</a:t>
            </a:r>
          </a:p>
        </p:txBody>
      </p:sp>
      <p:sp>
        <p:nvSpPr>
          <p:cNvPr id="8" name="goto-i4-source-items">
            <a:extLst>
              <a:ext uri="{FF2B5EF4-FFF2-40B4-BE49-F238E27FC236}">
                <a16:creationId xmlns:a16="http://schemas.microsoft.com/office/drawing/2014/main" id="{205A7547-D67C-4B0D-974F-18DA68773010}"/>
              </a:ext>
            </a:extLst>
          </p:cNvPr>
          <p:cNvSpPr>
            <a:spLocks noGrp="1"/>
          </p:cNvSpPr>
          <p:nvPr/>
        </p:nvSpPr>
        <p:spPr>
          <a:xfrm>
            <a:off x="561975" y="2171700"/>
            <a:ext cx="34480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PLUS · term,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PLUS · term, PLUS]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· INT, PLUS]</a:t>
            </a:r>
          </a:p>
        </p:txBody>
      </p:sp>
      <p:sp>
        <p:nvSpPr>
          <p:cNvPr id="9" name="goto-i4-int-line">
            <a:extLst>
              <a:ext uri="{FF2B5EF4-FFF2-40B4-BE49-F238E27FC236}">
                <a16:creationId xmlns:a16="http://schemas.microsoft.com/office/drawing/2014/main" id="{2E1A9EE9-ECAD-46CF-91A3-348F185BC85F}"/>
              </a:ext>
            </a:extLst>
          </p:cNvPr>
          <p:cNvSpPr>
            <a:spLocks noGrp="1"/>
          </p:cNvSpPr>
          <p:nvPr/>
        </p:nvSpPr>
        <p:spPr>
          <a:xfrm flipH="1">
            <a:off x="4143375" y="2000250"/>
            <a:ext cx="1666875" cy="38100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0" name="goto-i4-term-line">
            <a:extLst>
              <a:ext uri="{FF2B5EF4-FFF2-40B4-BE49-F238E27FC236}">
                <a16:creationId xmlns:a16="http://schemas.microsoft.com/office/drawing/2014/main" id="{CFB71B3C-7F0D-4516-BDA4-C5944ECE9D15}"/>
              </a:ext>
            </a:extLst>
          </p:cNvPr>
          <p:cNvSpPr>
            <a:spLocks noGrp="1"/>
          </p:cNvSpPr>
          <p:nvPr/>
        </p:nvSpPr>
        <p:spPr>
          <a:xfrm>
            <a:off x="4143375" y="3095625"/>
            <a:ext cx="1666875" cy="57150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1" name="goto-i4-int-label">
            <a:extLst>
              <a:ext uri="{FF2B5EF4-FFF2-40B4-BE49-F238E27FC236}">
                <a16:creationId xmlns:a16="http://schemas.microsoft.com/office/drawing/2014/main" id="{B87FF778-4A60-4E26-9367-B91337DCC92A}"/>
              </a:ext>
            </a:extLst>
          </p:cNvPr>
          <p:cNvSpPr>
            <a:spLocks noGrp="1"/>
          </p:cNvSpPr>
          <p:nvPr/>
        </p:nvSpPr>
        <p:spPr>
          <a:xfrm>
            <a:off x="4619625" y="1857375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INT</a:t>
            </a:r>
          </a:p>
        </p:txBody>
      </p:sp>
      <p:sp>
        <p:nvSpPr>
          <p:cNvPr id="12" name="goto-i4-term-label">
            <a:extLst>
              <a:ext uri="{FF2B5EF4-FFF2-40B4-BE49-F238E27FC236}">
                <a16:creationId xmlns:a16="http://schemas.microsoft.com/office/drawing/2014/main" id="{EAF3BBB8-70A7-4D16-A881-38280A95C7D5}"/>
              </a:ext>
            </a:extLst>
          </p:cNvPr>
          <p:cNvSpPr>
            <a:spLocks noGrp="1"/>
          </p:cNvSpPr>
          <p:nvPr/>
        </p:nvSpPr>
        <p:spPr>
          <a:xfrm>
            <a:off x="4524375" y="357187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term</a:t>
            </a:r>
          </a:p>
        </p:txBody>
      </p:sp>
      <p:sp>
        <p:nvSpPr>
          <p:cNvPr id="13" name="goto-i4-i3-box">
            <a:extLst>
              <a:ext uri="{FF2B5EF4-FFF2-40B4-BE49-F238E27FC236}">
                <a16:creationId xmlns:a16="http://schemas.microsoft.com/office/drawing/2014/main" id="{BE10E42E-FB42-435F-A55F-5B6CD52BF16C}"/>
              </a:ext>
            </a:extLst>
          </p:cNvPr>
          <p:cNvSpPr>
            <a:spLocks noGrp="1"/>
          </p:cNvSpPr>
          <p:nvPr/>
        </p:nvSpPr>
        <p:spPr>
          <a:xfrm>
            <a:off x="5810250" y="1571625"/>
            <a:ext cx="3000375" cy="1066800"/>
          </a:xfrm>
          <a:prstGeom prst="roundRect">
            <a:avLst>
              <a:gd name="adj" fmla="val 7143"/>
            </a:avLst>
          </a:prstGeom>
          <a:solidFill>
            <a:srgbClr val="F4F5F6"/>
          </a:solidFill>
          <a:ln w="12383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4" name="goto-i4-i3-title">
            <a:extLst>
              <a:ext uri="{FF2B5EF4-FFF2-40B4-BE49-F238E27FC236}">
                <a16:creationId xmlns:a16="http://schemas.microsoft.com/office/drawing/2014/main" id="{29C5DCEF-B479-4082-9F22-229FFABE5E17}"/>
              </a:ext>
            </a:extLst>
          </p:cNvPr>
          <p:cNvSpPr>
            <a:spLocks noGrp="1"/>
          </p:cNvSpPr>
          <p:nvPr/>
        </p:nvSpPr>
        <p:spPr>
          <a:xfrm>
            <a:off x="5924550" y="1647825"/>
            <a:ext cx="2771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I₃（已有）</a:t>
            </a:r>
          </a:p>
        </p:txBody>
      </p:sp>
      <p:sp>
        <p:nvSpPr>
          <p:cNvPr id="15" name="goto-i4-i3-items">
            <a:extLst>
              <a:ext uri="{FF2B5EF4-FFF2-40B4-BE49-F238E27FC236}">
                <a16:creationId xmlns:a16="http://schemas.microsoft.com/office/drawing/2014/main" id="{90ECC2E8-CA8B-44C5-A936-297D6BBA33D7}"/>
              </a:ext>
            </a:extLst>
          </p:cNvPr>
          <p:cNvSpPr>
            <a:spLocks noGrp="1"/>
          </p:cNvSpPr>
          <p:nvPr/>
        </p:nvSpPr>
        <p:spPr>
          <a:xfrm>
            <a:off x="5943600" y="1933575"/>
            <a:ext cx="2733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INT ·, $]</a:t>
            </a:r>
          </a:p>
          <a:p>
            <a:pPr algn="l">
              <a:buNone/>
              <a:defRPr sz="108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INT ·, PLUS]</a:t>
            </a:r>
          </a:p>
        </p:txBody>
      </p:sp>
      <p:sp>
        <p:nvSpPr>
          <p:cNvPr id="16" name="goto-i4-i5-box">
            <a:extLst>
              <a:ext uri="{FF2B5EF4-FFF2-40B4-BE49-F238E27FC236}">
                <a16:creationId xmlns:a16="http://schemas.microsoft.com/office/drawing/2014/main" id="{0077562F-EA0F-4375-A370-F45CF19561C4}"/>
              </a:ext>
            </a:extLst>
          </p:cNvPr>
          <p:cNvSpPr>
            <a:spLocks noGrp="1"/>
          </p:cNvSpPr>
          <p:nvPr/>
        </p:nvSpPr>
        <p:spPr>
          <a:xfrm>
            <a:off x="5810250" y="3238500"/>
            <a:ext cx="3000375" cy="1066800"/>
          </a:xfrm>
          <a:prstGeom prst="roundRect">
            <a:avLst>
              <a:gd name="adj" fmla="val 7143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7" name="goto-i4-i5-title">
            <a:extLst>
              <a:ext uri="{FF2B5EF4-FFF2-40B4-BE49-F238E27FC236}">
                <a16:creationId xmlns:a16="http://schemas.microsoft.com/office/drawing/2014/main" id="{19949521-427B-434A-AB46-668AD3E57235}"/>
              </a:ext>
            </a:extLst>
          </p:cNvPr>
          <p:cNvSpPr>
            <a:spLocks noGrp="1"/>
          </p:cNvSpPr>
          <p:nvPr/>
        </p:nvSpPr>
        <p:spPr>
          <a:xfrm>
            <a:off x="5924550" y="3314700"/>
            <a:ext cx="2771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I₅（新状态）</a:t>
            </a:r>
          </a:p>
        </p:txBody>
      </p:sp>
      <p:sp>
        <p:nvSpPr>
          <p:cNvPr id="18" name="goto-i4-i5-items">
            <a:extLst>
              <a:ext uri="{FF2B5EF4-FFF2-40B4-BE49-F238E27FC236}">
                <a16:creationId xmlns:a16="http://schemas.microsoft.com/office/drawing/2014/main" id="{AADF3EC0-66B3-414E-8E8B-BD7DC1AD8FB7}"/>
              </a:ext>
            </a:extLst>
          </p:cNvPr>
          <p:cNvSpPr>
            <a:spLocks noGrp="1"/>
          </p:cNvSpPr>
          <p:nvPr/>
        </p:nvSpPr>
        <p:spPr>
          <a:xfrm>
            <a:off x="5943600" y="3600450"/>
            <a:ext cx="27336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PLUS term ·, $]</a:t>
            </a:r>
          </a:p>
          <a:p>
            <a:pPr algn="l">
              <a:buNone/>
              <a:defRPr sz="105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PLUS term ·, PLUS]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完整 LR(1) 自动机：I₀–I₅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39A338D-B192-3127-EB9A-53A2665A0BB7}" type="slidenum">
              <a:t>37</a:t>
            </a:fld>
            <a:endParaRPr/>
          </a:p>
        </p:txBody>
      </p:sp>
      <p:sp>
        <p:nvSpPr>
          <p:cNvPr id="6" name="auto-i0-i1">
            <a:extLst>
              <a:ext uri="{FF2B5EF4-FFF2-40B4-BE49-F238E27FC236}">
                <a16:creationId xmlns:a16="http://schemas.microsoft.com/office/drawing/2014/main" id="{2A258EAF-CCC2-4A45-A3BB-6ECAAAD6138B}"/>
              </a:ext>
            </a:extLst>
          </p:cNvPr>
          <p:cNvSpPr>
            <a:spLocks noGrp="1"/>
          </p:cNvSpPr>
          <p:nvPr/>
        </p:nvSpPr>
        <p:spPr>
          <a:xfrm flipH="1">
            <a:off x="2857500" y="2238375"/>
            <a:ext cx="857250" cy="619125"/>
          </a:xfrm>
          <a:prstGeom prst="line">
            <a:avLst/>
          </a:prstGeom>
          <a:noFill/>
          <a:ln w="17145">
            <a:solidFill>
              <a:srgbClr val="2D7C93"/>
            </a:solidFill>
            <a:prstDash val="solid"/>
          </a:ln>
        </p:spPr>
      </p:sp>
      <p:sp>
        <p:nvSpPr>
          <p:cNvPr id="7" name="auto-i0-i2">
            <a:extLst>
              <a:ext uri="{FF2B5EF4-FFF2-40B4-BE49-F238E27FC236}">
                <a16:creationId xmlns:a16="http://schemas.microsoft.com/office/drawing/2014/main" id="{9E23B9E2-CAC6-4BE9-B0B9-3E25765FE439}"/>
              </a:ext>
            </a:extLst>
          </p:cNvPr>
          <p:cNvSpPr>
            <a:spLocks noGrp="1"/>
          </p:cNvSpPr>
          <p:nvPr/>
        </p:nvSpPr>
        <p:spPr>
          <a:xfrm>
            <a:off x="2857500" y="3000375"/>
            <a:ext cx="857250" cy="190500"/>
          </a:xfrm>
          <a:prstGeom prst="line">
            <a:avLst/>
          </a:prstGeom>
          <a:noFill/>
          <a:ln w="17145">
            <a:solidFill>
              <a:srgbClr val="2D7C93"/>
            </a:solidFill>
            <a:prstDash val="solid"/>
          </a:ln>
        </p:spPr>
      </p:sp>
      <p:sp>
        <p:nvSpPr>
          <p:cNvPr id="8" name="auto-i0-i3">
            <a:extLst>
              <a:ext uri="{FF2B5EF4-FFF2-40B4-BE49-F238E27FC236}">
                <a16:creationId xmlns:a16="http://schemas.microsoft.com/office/drawing/2014/main" id="{F959699B-2D3D-4B6D-BE21-1EBD50BD0670}"/>
              </a:ext>
            </a:extLst>
          </p:cNvPr>
          <p:cNvSpPr>
            <a:spLocks noGrp="1"/>
          </p:cNvSpPr>
          <p:nvPr/>
        </p:nvSpPr>
        <p:spPr>
          <a:xfrm>
            <a:off x="2571750" y="3571875"/>
            <a:ext cx="952500" cy="666750"/>
          </a:xfrm>
          <a:prstGeom prst="line">
            <a:avLst/>
          </a:prstGeom>
          <a:noFill/>
          <a:ln w="17145">
            <a:solidFill>
              <a:srgbClr val="2D7C93"/>
            </a:solidFill>
            <a:prstDash val="solid"/>
          </a:ln>
        </p:spPr>
      </p:sp>
      <p:sp>
        <p:nvSpPr>
          <p:cNvPr id="9" name="auto-i1-i4">
            <a:extLst>
              <a:ext uri="{FF2B5EF4-FFF2-40B4-BE49-F238E27FC236}">
                <a16:creationId xmlns:a16="http://schemas.microsoft.com/office/drawing/2014/main" id="{6407FD25-2C2B-462F-8EA3-2E1494801D96}"/>
              </a:ext>
            </a:extLst>
          </p:cNvPr>
          <p:cNvSpPr>
            <a:spLocks noGrp="1"/>
          </p:cNvSpPr>
          <p:nvPr/>
        </p:nvSpPr>
        <p:spPr>
          <a:xfrm>
            <a:off x="5810250" y="2238375"/>
            <a:ext cx="762000" cy="619125"/>
          </a:xfrm>
          <a:prstGeom prst="line">
            <a:avLst/>
          </a:prstGeom>
          <a:noFill/>
          <a:ln w="17145">
            <a:solidFill>
              <a:srgbClr val="2D7C93"/>
            </a:solidFill>
            <a:prstDash val="solid"/>
          </a:ln>
        </p:spPr>
      </p:sp>
      <p:sp>
        <p:nvSpPr>
          <p:cNvPr id="10" name="auto-i4-i3">
            <a:extLst>
              <a:ext uri="{FF2B5EF4-FFF2-40B4-BE49-F238E27FC236}">
                <a16:creationId xmlns:a16="http://schemas.microsoft.com/office/drawing/2014/main" id="{4DF782A1-CC20-41A9-8793-ACCC5F54CD9A}"/>
              </a:ext>
            </a:extLst>
          </p:cNvPr>
          <p:cNvSpPr>
            <a:spLocks noGrp="1"/>
          </p:cNvSpPr>
          <p:nvPr/>
        </p:nvSpPr>
        <p:spPr>
          <a:xfrm flipH="1">
            <a:off x="5238750" y="3476625"/>
            <a:ext cx="1333500" cy="762000"/>
          </a:xfrm>
          <a:prstGeom prst="line">
            <a:avLst/>
          </a:prstGeom>
          <a:noFill/>
          <a:ln w="17145">
            <a:solidFill>
              <a:srgbClr val="2D7C93"/>
            </a:solidFill>
            <a:prstDash val="solid"/>
          </a:ln>
        </p:spPr>
      </p:sp>
      <p:sp>
        <p:nvSpPr>
          <p:cNvPr id="11" name="auto-i4-i5">
            <a:extLst>
              <a:ext uri="{FF2B5EF4-FFF2-40B4-BE49-F238E27FC236}">
                <a16:creationId xmlns:a16="http://schemas.microsoft.com/office/drawing/2014/main" id="{DB45AED3-B8B5-4B6F-A81B-C4E31EB5C132}"/>
              </a:ext>
            </a:extLst>
          </p:cNvPr>
          <p:cNvSpPr>
            <a:spLocks noGrp="1"/>
          </p:cNvSpPr>
          <p:nvPr/>
        </p:nvSpPr>
        <p:spPr>
          <a:xfrm>
            <a:off x="7905750" y="3524250"/>
            <a:ext cx="95250" cy="619125"/>
          </a:xfrm>
          <a:prstGeom prst="line">
            <a:avLst/>
          </a:prstGeom>
          <a:noFill/>
          <a:ln w="17145">
            <a:solidFill>
              <a:srgbClr val="2D7C93"/>
            </a:solidFill>
            <a:prstDash val="solid"/>
          </a:ln>
        </p:spPr>
      </p:sp>
      <p:sp>
        <p:nvSpPr>
          <p:cNvPr id="12" name="auto-label-expr">
            <a:extLst>
              <a:ext uri="{FF2B5EF4-FFF2-40B4-BE49-F238E27FC236}">
                <a16:creationId xmlns:a16="http://schemas.microsoft.com/office/drawing/2014/main" id="{87ED4ED0-506C-4997-85E3-62B51441A53D}"/>
              </a:ext>
            </a:extLst>
          </p:cNvPr>
          <p:cNvSpPr>
            <a:spLocks noGrp="1"/>
          </p:cNvSpPr>
          <p:nvPr/>
        </p:nvSpPr>
        <p:spPr>
          <a:xfrm>
            <a:off x="2971800" y="1952625"/>
            <a:ext cx="714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2D7C93"/>
                </a:solidFill>
              </a:defRPr>
            </a:pPr>
            <a:r>
              <a:rPr sz="1050" b="1">
                <a:solidFill>
                  <a:srgbClr val="2D7C93"/>
                </a:solidFill>
              </a:rPr>
              <a:t>expr</a:t>
            </a:r>
          </a:p>
        </p:txBody>
      </p:sp>
      <p:sp>
        <p:nvSpPr>
          <p:cNvPr id="13" name="auto-label-term0">
            <a:extLst>
              <a:ext uri="{FF2B5EF4-FFF2-40B4-BE49-F238E27FC236}">
                <a16:creationId xmlns:a16="http://schemas.microsoft.com/office/drawing/2014/main" id="{CF284376-0481-4142-9E1A-0512C0211B11}"/>
              </a:ext>
            </a:extLst>
          </p:cNvPr>
          <p:cNvSpPr>
            <a:spLocks noGrp="1"/>
          </p:cNvSpPr>
          <p:nvPr/>
        </p:nvSpPr>
        <p:spPr>
          <a:xfrm>
            <a:off x="2933700" y="3257550"/>
            <a:ext cx="714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2D7C93"/>
                </a:solidFill>
              </a:defRPr>
            </a:pPr>
            <a:r>
              <a:rPr sz="1050" b="1">
                <a:solidFill>
                  <a:srgbClr val="2D7C93"/>
                </a:solidFill>
              </a:rPr>
              <a:t>term</a:t>
            </a:r>
          </a:p>
        </p:txBody>
      </p:sp>
      <p:sp>
        <p:nvSpPr>
          <p:cNvPr id="14" name="auto-label-int0">
            <a:extLst>
              <a:ext uri="{FF2B5EF4-FFF2-40B4-BE49-F238E27FC236}">
                <a16:creationId xmlns:a16="http://schemas.microsoft.com/office/drawing/2014/main" id="{2CF03663-2986-4950-840F-C0827C8A29F5}"/>
              </a:ext>
            </a:extLst>
          </p:cNvPr>
          <p:cNvSpPr>
            <a:spLocks noGrp="1"/>
          </p:cNvSpPr>
          <p:nvPr/>
        </p:nvSpPr>
        <p:spPr>
          <a:xfrm>
            <a:off x="2714625" y="430530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2D7C93"/>
                </a:solidFill>
              </a:defRPr>
            </a:pPr>
            <a:r>
              <a:rPr sz="1050" b="1">
                <a:solidFill>
                  <a:srgbClr val="2D7C93"/>
                </a:solidFill>
              </a:rPr>
              <a:t>INT</a:t>
            </a:r>
          </a:p>
        </p:txBody>
      </p:sp>
      <p:sp>
        <p:nvSpPr>
          <p:cNvPr id="15" name="auto-label-plus">
            <a:extLst>
              <a:ext uri="{FF2B5EF4-FFF2-40B4-BE49-F238E27FC236}">
                <a16:creationId xmlns:a16="http://schemas.microsoft.com/office/drawing/2014/main" id="{F3B5E900-0274-4C2D-B8CB-E5D973887E19}"/>
              </a:ext>
            </a:extLst>
          </p:cNvPr>
          <p:cNvSpPr>
            <a:spLocks noGrp="1"/>
          </p:cNvSpPr>
          <p:nvPr/>
        </p:nvSpPr>
        <p:spPr>
          <a:xfrm>
            <a:off x="5953125" y="20002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2D7C93"/>
                </a:solidFill>
              </a:defRPr>
            </a:pPr>
            <a:r>
              <a:rPr sz="1050" b="1">
                <a:solidFill>
                  <a:srgbClr val="2D7C93"/>
                </a:solidFill>
              </a:rPr>
              <a:t>PLUS</a:t>
            </a:r>
          </a:p>
        </p:txBody>
      </p:sp>
      <p:sp>
        <p:nvSpPr>
          <p:cNvPr id="16" name="auto-label-int4">
            <a:extLst>
              <a:ext uri="{FF2B5EF4-FFF2-40B4-BE49-F238E27FC236}">
                <a16:creationId xmlns:a16="http://schemas.microsoft.com/office/drawing/2014/main" id="{C1DC5EAB-ED2A-4640-93C6-4A0D396FCBF7}"/>
              </a:ext>
            </a:extLst>
          </p:cNvPr>
          <p:cNvSpPr>
            <a:spLocks noGrp="1"/>
          </p:cNvSpPr>
          <p:nvPr/>
        </p:nvSpPr>
        <p:spPr>
          <a:xfrm>
            <a:off x="5857875" y="4171950"/>
            <a:ext cx="619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2D7C93"/>
                </a:solidFill>
              </a:defRPr>
            </a:pPr>
            <a:r>
              <a:rPr sz="1050" b="1">
                <a:solidFill>
                  <a:srgbClr val="2D7C93"/>
                </a:solidFill>
              </a:rPr>
              <a:t>INT</a:t>
            </a:r>
          </a:p>
        </p:txBody>
      </p:sp>
      <p:sp>
        <p:nvSpPr>
          <p:cNvPr id="17" name="auto-label-term4">
            <a:extLst>
              <a:ext uri="{FF2B5EF4-FFF2-40B4-BE49-F238E27FC236}">
                <a16:creationId xmlns:a16="http://schemas.microsoft.com/office/drawing/2014/main" id="{89DB82EB-6884-4CF5-9A75-D2A86241FCF3}"/>
              </a:ext>
            </a:extLst>
          </p:cNvPr>
          <p:cNvSpPr>
            <a:spLocks noGrp="1"/>
          </p:cNvSpPr>
          <p:nvPr/>
        </p:nvSpPr>
        <p:spPr>
          <a:xfrm>
            <a:off x="8143875" y="3781425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1">
                <a:solidFill>
                  <a:srgbClr val="2D7C93"/>
                </a:solidFill>
              </a:defRPr>
            </a:pPr>
            <a:r>
              <a:rPr sz="1050" b="1">
                <a:solidFill>
                  <a:srgbClr val="2D7C93"/>
                </a:solidFill>
              </a:rPr>
              <a:t>term</a:t>
            </a:r>
          </a:p>
        </p:txBody>
      </p:sp>
      <p:sp>
        <p:nvSpPr>
          <p:cNvPr id="18" name="auto-i0-box">
            <a:extLst>
              <a:ext uri="{FF2B5EF4-FFF2-40B4-BE49-F238E27FC236}">
                <a16:creationId xmlns:a16="http://schemas.microsoft.com/office/drawing/2014/main" id="{0CEC122F-9172-429D-87AB-A485DB63DA99}"/>
              </a:ext>
            </a:extLst>
          </p:cNvPr>
          <p:cNvSpPr>
            <a:spLocks noGrp="1"/>
          </p:cNvSpPr>
          <p:nvPr/>
        </p:nvSpPr>
        <p:spPr>
          <a:xfrm>
            <a:off x="333375" y="2095500"/>
            <a:ext cx="2524125" cy="1619250"/>
          </a:xfrm>
          <a:prstGeom prst="roundRect">
            <a:avLst>
              <a:gd name="adj" fmla="val 470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9" name="auto-i0-title">
            <a:extLst>
              <a:ext uri="{FF2B5EF4-FFF2-40B4-BE49-F238E27FC236}">
                <a16:creationId xmlns:a16="http://schemas.microsoft.com/office/drawing/2014/main" id="{D317FA69-17D2-4388-A127-1A2BECB3CDC8}"/>
              </a:ext>
            </a:extLst>
          </p:cNvPr>
          <p:cNvSpPr>
            <a:spLocks noGrp="1"/>
          </p:cNvSpPr>
          <p:nvPr/>
        </p:nvSpPr>
        <p:spPr>
          <a:xfrm>
            <a:off x="447675" y="2171700"/>
            <a:ext cx="22955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I₀</a:t>
            </a:r>
          </a:p>
        </p:txBody>
      </p:sp>
      <p:sp>
        <p:nvSpPr>
          <p:cNvPr id="20" name="auto-i0-items">
            <a:extLst>
              <a:ext uri="{FF2B5EF4-FFF2-40B4-BE49-F238E27FC236}">
                <a16:creationId xmlns:a16="http://schemas.microsoft.com/office/drawing/2014/main" id="{2EC7E0F1-85DA-40B5-AAA9-87B2D5DA8B1C}"/>
              </a:ext>
            </a:extLst>
          </p:cNvPr>
          <p:cNvSpPr>
            <a:spLocks noGrp="1"/>
          </p:cNvSpPr>
          <p:nvPr/>
        </p:nvSpPr>
        <p:spPr>
          <a:xfrm>
            <a:off x="324144" y="2457450"/>
            <a:ext cx="2609556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[start→·expr,$]</a:t>
            </a:r>
          </a:p>
          <a:p>
            <a:pPr algn="l">
              <a:buNone/>
              <a:defRPr sz="9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[expr→·expr PLUS term,{$,PLUS}]</a:t>
            </a:r>
          </a:p>
          <a:p>
            <a:pPr algn="l">
              <a:buNone/>
              <a:defRPr sz="9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[expr→·term,{$,PLUS}]</a:t>
            </a:r>
          </a:p>
          <a:p>
            <a:pPr algn="l">
              <a:buNone/>
              <a:defRPr sz="9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[term→·INT,{$,PLUS}]</a:t>
            </a:r>
          </a:p>
        </p:txBody>
      </p:sp>
      <p:sp>
        <p:nvSpPr>
          <p:cNvPr id="21" name="auto-i1-box">
            <a:extLst>
              <a:ext uri="{FF2B5EF4-FFF2-40B4-BE49-F238E27FC236}">
                <a16:creationId xmlns:a16="http://schemas.microsoft.com/office/drawing/2014/main" id="{4D514782-7254-4A9A-94E5-C87ED6E3A514}"/>
              </a:ext>
            </a:extLst>
          </p:cNvPr>
          <p:cNvSpPr>
            <a:spLocks noGrp="1"/>
          </p:cNvSpPr>
          <p:nvPr/>
        </p:nvSpPr>
        <p:spPr>
          <a:xfrm>
            <a:off x="3714750" y="1666875"/>
            <a:ext cx="2095500" cy="1095375"/>
          </a:xfrm>
          <a:prstGeom prst="roundRect">
            <a:avLst>
              <a:gd name="adj" fmla="val 6957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2" name="auto-i1-title">
            <a:extLst>
              <a:ext uri="{FF2B5EF4-FFF2-40B4-BE49-F238E27FC236}">
                <a16:creationId xmlns:a16="http://schemas.microsoft.com/office/drawing/2014/main" id="{6AAFBF2E-B7C6-461A-8C60-E124AF7380A9}"/>
              </a:ext>
            </a:extLst>
          </p:cNvPr>
          <p:cNvSpPr>
            <a:spLocks noGrp="1"/>
          </p:cNvSpPr>
          <p:nvPr/>
        </p:nvSpPr>
        <p:spPr>
          <a:xfrm>
            <a:off x="3829050" y="1743075"/>
            <a:ext cx="1866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I₁</a:t>
            </a:r>
          </a:p>
        </p:txBody>
      </p:sp>
      <p:sp>
        <p:nvSpPr>
          <p:cNvPr id="23" name="auto-i1-items">
            <a:extLst>
              <a:ext uri="{FF2B5EF4-FFF2-40B4-BE49-F238E27FC236}">
                <a16:creationId xmlns:a16="http://schemas.microsoft.com/office/drawing/2014/main" id="{94A06893-73BC-4DE2-AB3E-27430E630B27}"/>
              </a:ext>
            </a:extLst>
          </p:cNvPr>
          <p:cNvSpPr>
            <a:spLocks noGrp="1"/>
          </p:cNvSpPr>
          <p:nvPr/>
        </p:nvSpPr>
        <p:spPr>
          <a:xfrm>
            <a:off x="3848100" y="2028825"/>
            <a:ext cx="182880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[start→expr·,$]</a:t>
            </a:r>
          </a:p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[expr→expr·PLUS term,</a:t>
            </a:r>
          </a:p>
          <a:p>
            <a:pPr algn="l">
              <a:buNone/>
              <a:defRPr sz="10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{$,PLUS}]</a:t>
            </a:r>
          </a:p>
        </p:txBody>
      </p:sp>
      <p:sp>
        <p:nvSpPr>
          <p:cNvPr id="24" name="auto-i2-box">
            <a:extLst>
              <a:ext uri="{FF2B5EF4-FFF2-40B4-BE49-F238E27FC236}">
                <a16:creationId xmlns:a16="http://schemas.microsoft.com/office/drawing/2014/main" id="{9CAE24D2-7764-453D-85F9-4ECB054FBF8B}"/>
              </a:ext>
            </a:extLst>
          </p:cNvPr>
          <p:cNvSpPr>
            <a:spLocks noGrp="1"/>
          </p:cNvSpPr>
          <p:nvPr/>
        </p:nvSpPr>
        <p:spPr>
          <a:xfrm>
            <a:off x="3714750" y="295275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5" name="auto-i2-title">
            <a:extLst>
              <a:ext uri="{FF2B5EF4-FFF2-40B4-BE49-F238E27FC236}">
                <a16:creationId xmlns:a16="http://schemas.microsoft.com/office/drawing/2014/main" id="{68C5F7A6-FC81-4CF5-8A1F-0D3553178A63}"/>
              </a:ext>
            </a:extLst>
          </p:cNvPr>
          <p:cNvSpPr>
            <a:spLocks noGrp="1"/>
          </p:cNvSpPr>
          <p:nvPr/>
        </p:nvSpPr>
        <p:spPr>
          <a:xfrm>
            <a:off x="3829050" y="3028950"/>
            <a:ext cx="1866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I₂</a:t>
            </a:r>
          </a:p>
        </p:txBody>
      </p:sp>
      <p:sp>
        <p:nvSpPr>
          <p:cNvPr id="26" name="auto-i2-items">
            <a:extLst>
              <a:ext uri="{FF2B5EF4-FFF2-40B4-BE49-F238E27FC236}">
                <a16:creationId xmlns:a16="http://schemas.microsoft.com/office/drawing/2014/main" id="{7A8C5D53-1727-4703-A3E3-D083900808FA}"/>
              </a:ext>
            </a:extLst>
          </p:cNvPr>
          <p:cNvSpPr>
            <a:spLocks noGrp="1"/>
          </p:cNvSpPr>
          <p:nvPr/>
        </p:nvSpPr>
        <p:spPr>
          <a:xfrm>
            <a:off x="3848100" y="3314700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[expr→term·,{$,PLUS}]</a:t>
            </a:r>
          </a:p>
        </p:txBody>
      </p:sp>
      <p:sp>
        <p:nvSpPr>
          <p:cNvPr id="27" name="auto-i3-box">
            <a:extLst>
              <a:ext uri="{FF2B5EF4-FFF2-40B4-BE49-F238E27FC236}">
                <a16:creationId xmlns:a16="http://schemas.microsoft.com/office/drawing/2014/main" id="{1D06AB89-74BA-42C9-B18F-0F3A6E038A4B}"/>
              </a:ext>
            </a:extLst>
          </p:cNvPr>
          <p:cNvSpPr>
            <a:spLocks noGrp="1"/>
          </p:cNvSpPr>
          <p:nvPr/>
        </p:nvSpPr>
        <p:spPr>
          <a:xfrm>
            <a:off x="3524250" y="409575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8" name="auto-i3-title">
            <a:extLst>
              <a:ext uri="{FF2B5EF4-FFF2-40B4-BE49-F238E27FC236}">
                <a16:creationId xmlns:a16="http://schemas.microsoft.com/office/drawing/2014/main" id="{CFFC8F9B-F880-4311-931B-144BD549AFA6}"/>
              </a:ext>
            </a:extLst>
          </p:cNvPr>
          <p:cNvSpPr>
            <a:spLocks noGrp="1"/>
          </p:cNvSpPr>
          <p:nvPr/>
        </p:nvSpPr>
        <p:spPr>
          <a:xfrm>
            <a:off x="3638550" y="4171950"/>
            <a:ext cx="1866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I₃</a:t>
            </a:r>
          </a:p>
        </p:txBody>
      </p:sp>
      <p:sp>
        <p:nvSpPr>
          <p:cNvPr id="29" name="auto-i3-items">
            <a:extLst>
              <a:ext uri="{FF2B5EF4-FFF2-40B4-BE49-F238E27FC236}">
                <a16:creationId xmlns:a16="http://schemas.microsoft.com/office/drawing/2014/main" id="{46BD0CEC-290F-4D6C-8E5A-F2B9B010033A}"/>
              </a:ext>
            </a:extLst>
          </p:cNvPr>
          <p:cNvSpPr>
            <a:spLocks noGrp="1"/>
          </p:cNvSpPr>
          <p:nvPr/>
        </p:nvSpPr>
        <p:spPr>
          <a:xfrm>
            <a:off x="3657600" y="4457700"/>
            <a:ext cx="1828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975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[term→INT·,{$,PLUS}]</a:t>
            </a:r>
          </a:p>
        </p:txBody>
      </p:sp>
      <p:sp>
        <p:nvSpPr>
          <p:cNvPr id="30" name="auto-i4-box">
            <a:extLst>
              <a:ext uri="{FF2B5EF4-FFF2-40B4-BE49-F238E27FC236}">
                <a16:creationId xmlns:a16="http://schemas.microsoft.com/office/drawing/2014/main" id="{86C18DF0-0D0B-439D-AD5B-4796BB187C9D}"/>
              </a:ext>
            </a:extLst>
          </p:cNvPr>
          <p:cNvSpPr>
            <a:spLocks noGrp="1"/>
          </p:cNvSpPr>
          <p:nvPr/>
        </p:nvSpPr>
        <p:spPr>
          <a:xfrm>
            <a:off x="6572250" y="2619375"/>
            <a:ext cx="2238375" cy="1095375"/>
          </a:xfrm>
          <a:prstGeom prst="roundRect">
            <a:avLst>
              <a:gd name="adj" fmla="val 6957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1" name="auto-i4-title">
            <a:extLst>
              <a:ext uri="{FF2B5EF4-FFF2-40B4-BE49-F238E27FC236}">
                <a16:creationId xmlns:a16="http://schemas.microsoft.com/office/drawing/2014/main" id="{A0739FFE-1281-4E1D-8E86-B46A044D3127}"/>
              </a:ext>
            </a:extLst>
          </p:cNvPr>
          <p:cNvSpPr>
            <a:spLocks noGrp="1"/>
          </p:cNvSpPr>
          <p:nvPr/>
        </p:nvSpPr>
        <p:spPr>
          <a:xfrm>
            <a:off x="6686550" y="2695575"/>
            <a:ext cx="2009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I₄</a:t>
            </a:r>
          </a:p>
        </p:txBody>
      </p:sp>
      <p:sp>
        <p:nvSpPr>
          <p:cNvPr id="32" name="auto-i4-items">
            <a:extLst>
              <a:ext uri="{FF2B5EF4-FFF2-40B4-BE49-F238E27FC236}">
                <a16:creationId xmlns:a16="http://schemas.microsoft.com/office/drawing/2014/main" id="{5739836C-4946-462A-82B1-D7F1CFBD6662}"/>
              </a:ext>
            </a:extLst>
          </p:cNvPr>
          <p:cNvSpPr>
            <a:spLocks noGrp="1"/>
          </p:cNvSpPr>
          <p:nvPr/>
        </p:nvSpPr>
        <p:spPr>
          <a:xfrm>
            <a:off x="6705600" y="2981325"/>
            <a:ext cx="197167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0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[expr→expr PLUS·term,</a:t>
            </a:r>
          </a:p>
          <a:p>
            <a:pPr algn="l">
              <a:buNone/>
              <a:defRPr sz="10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{$,PLUS}]</a:t>
            </a:r>
          </a:p>
          <a:p>
            <a:pPr algn="l">
              <a:buNone/>
              <a:defRPr sz="10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[term→·INT,{$,PLUS}]</a:t>
            </a:r>
          </a:p>
        </p:txBody>
      </p:sp>
      <p:sp>
        <p:nvSpPr>
          <p:cNvPr id="33" name="auto-i5-box">
            <a:extLst>
              <a:ext uri="{FF2B5EF4-FFF2-40B4-BE49-F238E27FC236}">
                <a16:creationId xmlns:a16="http://schemas.microsoft.com/office/drawing/2014/main" id="{0691029D-EFA6-405E-8E85-341E5C22832E}"/>
              </a:ext>
            </a:extLst>
          </p:cNvPr>
          <p:cNvSpPr>
            <a:spLocks noGrp="1"/>
          </p:cNvSpPr>
          <p:nvPr/>
        </p:nvSpPr>
        <p:spPr>
          <a:xfrm>
            <a:off x="6810375" y="4143375"/>
            <a:ext cx="2190750" cy="8763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4" name="auto-i5-title">
            <a:extLst>
              <a:ext uri="{FF2B5EF4-FFF2-40B4-BE49-F238E27FC236}">
                <a16:creationId xmlns:a16="http://schemas.microsoft.com/office/drawing/2014/main" id="{87A9EE03-78D2-4BDB-9ADB-732517F0FC6C}"/>
              </a:ext>
            </a:extLst>
          </p:cNvPr>
          <p:cNvSpPr>
            <a:spLocks noGrp="1"/>
          </p:cNvSpPr>
          <p:nvPr/>
        </p:nvSpPr>
        <p:spPr>
          <a:xfrm>
            <a:off x="6924675" y="4219575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I₅</a:t>
            </a:r>
          </a:p>
        </p:txBody>
      </p:sp>
      <p:sp>
        <p:nvSpPr>
          <p:cNvPr id="35" name="auto-i5-items">
            <a:extLst>
              <a:ext uri="{FF2B5EF4-FFF2-40B4-BE49-F238E27FC236}">
                <a16:creationId xmlns:a16="http://schemas.microsoft.com/office/drawing/2014/main" id="{6F153471-52EB-4F28-91BF-F9924D1342F8}"/>
              </a:ext>
            </a:extLst>
          </p:cNvPr>
          <p:cNvSpPr>
            <a:spLocks noGrp="1"/>
          </p:cNvSpPr>
          <p:nvPr/>
        </p:nvSpPr>
        <p:spPr>
          <a:xfrm>
            <a:off x="6943725" y="4505325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0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[expr→expr PLUS term·,</a:t>
            </a:r>
          </a:p>
          <a:p>
            <a:pPr algn="l">
              <a:buNone/>
              <a:defRPr sz="100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0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{$,PLUS}]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由完整自动机生成 ACTION / GOTO 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D334276-4C85-190E-BA41-5CA1CBB04E4E}" type="slidenum">
              <a:t>38</a:t>
            </a:fld>
            <a:endParaRPr/>
          </a:p>
        </p:txBody>
      </p:sp>
      <p:sp>
        <p:nvSpPr>
          <p:cNvPr id="5" name="lr1-table-subtitle">
            <a:extLst>
              <a:ext uri="{FF2B5EF4-FFF2-40B4-BE49-F238E27FC236}">
                <a16:creationId xmlns:a16="http://schemas.microsoft.com/office/drawing/2014/main" id="{A83188E8-5054-41A4-9737-C535224E3B01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转换边照常生成 shift / GOTO；完成项只在自身的 lookahead 列生成 reduce。</a:t>
            </a:r>
          </a:p>
        </p:txBody>
      </p:sp>
      <p:sp>
        <p:nvSpPr>
          <p:cNvPr id="6" name="lr1-table-0-0">
            <a:extLst>
              <a:ext uri="{FF2B5EF4-FFF2-40B4-BE49-F238E27FC236}">
                <a16:creationId xmlns:a16="http://schemas.microsoft.com/office/drawing/2014/main" id="{0395F92E-C652-4A90-AC7D-5C6FA65AC7D1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952500" cy="4000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state</a:t>
            </a:r>
          </a:p>
        </p:txBody>
      </p:sp>
      <p:sp>
        <p:nvSpPr>
          <p:cNvPr id="7" name="lr1-table-0-1">
            <a:extLst>
              <a:ext uri="{FF2B5EF4-FFF2-40B4-BE49-F238E27FC236}">
                <a16:creationId xmlns:a16="http://schemas.microsoft.com/office/drawing/2014/main" id="{70CDD629-6DE1-4219-8051-9B7C84909992}"/>
              </a:ext>
            </a:extLst>
          </p:cNvPr>
          <p:cNvSpPr>
            <a:spLocks noGrp="1"/>
          </p:cNvSpPr>
          <p:nvPr/>
        </p:nvSpPr>
        <p:spPr>
          <a:xfrm>
            <a:off x="1571625" y="1619250"/>
            <a:ext cx="1238250" cy="4000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INT</a:t>
            </a:r>
          </a:p>
        </p:txBody>
      </p:sp>
      <p:sp>
        <p:nvSpPr>
          <p:cNvPr id="8" name="lr1-table-0-2">
            <a:extLst>
              <a:ext uri="{FF2B5EF4-FFF2-40B4-BE49-F238E27FC236}">
                <a16:creationId xmlns:a16="http://schemas.microsoft.com/office/drawing/2014/main" id="{A8E99169-C080-49EA-B8E4-A6E0D06F5853}"/>
              </a:ext>
            </a:extLst>
          </p:cNvPr>
          <p:cNvSpPr>
            <a:spLocks noGrp="1"/>
          </p:cNvSpPr>
          <p:nvPr/>
        </p:nvSpPr>
        <p:spPr>
          <a:xfrm>
            <a:off x="2809875" y="1619250"/>
            <a:ext cx="1238250" cy="4000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</a:t>
            </a:r>
          </a:p>
        </p:txBody>
      </p:sp>
      <p:sp>
        <p:nvSpPr>
          <p:cNvPr id="9" name="lr1-table-0-3">
            <a:extLst>
              <a:ext uri="{FF2B5EF4-FFF2-40B4-BE49-F238E27FC236}">
                <a16:creationId xmlns:a16="http://schemas.microsoft.com/office/drawing/2014/main" id="{67608631-1D14-4BBF-93EF-4A6CDD2C8461}"/>
              </a:ext>
            </a:extLst>
          </p:cNvPr>
          <p:cNvSpPr>
            <a:spLocks noGrp="1"/>
          </p:cNvSpPr>
          <p:nvPr/>
        </p:nvSpPr>
        <p:spPr>
          <a:xfrm>
            <a:off x="4048125" y="1619250"/>
            <a:ext cx="1238250" cy="4000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$</a:t>
            </a:r>
          </a:p>
        </p:txBody>
      </p:sp>
      <p:sp>
        <p:nvSpPr>
          <p:cNvPr id="10" name="lr1-table-0-4">
            <a:extLst>
              <a:ext uri="{FF2B5EF4-FFF2-40B4-BE49-F238E27FC236}">
                <a16:creationId xmlns:a16="http://schemas.microsoft.com/office/drawing/2014/main" id="{04DF9862-779E-465A-A02D-A03A46CDDBCC}"/>
              </a:ext>
            </a:extLst>
          </p:cNvPr>
          <p:cNvSpPr>
            <a:spLocks noGrp="1"/>
          </p:cNvSpPr>
          <p:nvPr/>
        </p:nvSpPr>
        <p:spPr>
          <a:xfrm>
            <a:off x="5286375" y="1619250"/>
            <a:ext cx="1619250" cy="4000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</a:t>
            </a:r>
          </a:p>
        </p:txBody>
      </p:sp>
      <p:sp>
        <p:nvSpPr>
          <p:cNvPr id="11" name="lr1-table-0-5">
            <a:extLst>
              <a:ext uri="{FF2B5EF4-FFF2-40B4-BE49-F238E27FC236}">
                <a16:creationId xmlns:a16="http://schemas.microsoft.com/office/drawing/2014/main" id="{42F5BCAB-C173-47A2-8702-563A9CF679A5}"/>
              </a:ext>
            </a:extLst>
          </p:cNvPr>
          <p:cNvSpPr>
            <a:spLocks noGrp="1"/>
          </p:cNvSpPr>
          <p:nvPr/>
        </p:nvSpPr>
        <p:spPr>
          <a:xfrm>
            <a:off x="6905625" y="1619250"/>
            <a:ext cx="1619250" cy="4000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8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term</a:t>
            </a:r>
          </a:p>
        </p:txBody>
      </p:sp>
      <p:sp>
        <p:nvSpPr>
          <p:cNvPr id="12" name="lr1-table-1-0">
            <a:extLst>
              <a:ext uri="{FF2B5EF4-FFF2-40B4-BE49-F238E27FC236}">
                <a16:creationId xmlns:a16="http://schemas.microsoft.com/office/drawing/2014/main" id="{6672D822-6710-4980-94BE-1073F4F95228}"/>
              </a:ext>
            </a:extLst>
          </p:cNvPr>
          <p:cNvSpPr>
            <a:spLocks noGrp="1"/>
          </p:cNvSpPr>
          <p:nvPr/>
        </p:nvSpPr>
        <p:spPr>
          <a:xfrm>
            <a:off x="619125" y="201930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I₀</a:t>
            </a:r>
          </a:p>
        </p:txBody>
      </p:sp>
      <p:sp>
        <p:nvSpPr>
          <p:cNvPr id="13" name="lr1-table-1-1">
            <a:extLst>
              <a:ext uri="{FF2B5EF4-FFF2-40B4-BE49-F238E27FC236}">
                <a16:creationId xmlns:a16="http://schemas.microsoft.com/office/drawing/2014/main" id="{B3296F58-900D-4752-93D7-798A6B8F7844}"/>
              </a:ext>
            </a:extLst>
          </p:cNvPr>
          <p:cNvSpPr>
            <a:spLocks noGrp="1"/>
          </p:cNvSpPr>
          <p:nvPr/>
        </p:nvSpPr>
        <p:spPr>
          <a:xfrm>
            <a:off x="1571625" y="201930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s3</a:t>
            </a:r>
          </a:p>
        </p:txBody>
      </p:sp>
      <p:sp>
        <p:nvSpPr>
          <p:cNvPr id="14" name="lr1-table-1-2">
            <a:extLst>
              <a:ext uri="{FF2B5EF4-FFF2-40B4-BE49-F238E27FC236}">
                <a16:creationId xmlns:a16="http://schemas.microsoft.com/office/drawing/2014/main" id="{46B77495-AA5B-4E41-A791-A260E28E5119}"/>
              </a:ext>
            </a:extLst>
          </p:cNvPr>
          <p:cNvSpPr>
            <a:spLocks noGrp="1"/>
          </p:cNvSpPr>
          <p:nvPr/>
        </p:nvSpPr>
        <p:spPr>
          <a:xfrm>
            <a:off x="2809875" y="201930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5" name="lr1-table-1-3">
            <a:extLst>
              <a:ext uri="{FF2B5EF4-FFF2-40B4-BE49-F238E27FC236}">
                <a16:creationId xmlns:a16="http://schemas.microsoft.com/office/drawing/2014/main" id="{0818E634-EDE5-46F2-B6A2-53374D73712D}"/>
              </a:ext>
            </a:extLst>
          </p:cNvPr>
          <p:cNvSpPr>
            <a:spLocks noGrp="1"/>
          </p:cNvSpPr>
          <p:nvPr/>
        </p:nvSpPr>
        <p:spPr>
          <a:xfrm>
            <a:off x="4048125" y="201930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6" name="lr1-table-1-4">
            <a:extLst>
              <a:ext uri="{FF2B5EF4-FFF2-40B4-BE49-F238E27FC236}">
                <a16:creationId xmlns:a16="http://schemas.microsoft.com/office/drawing/2014/main" id="{E14DB083-ECB7-46B6-B2E1-155D63518DFE}"/>
              </a:ext>
            </a:extLst>
          </p:cNvPr>
          <p:cNvSpPr>
            <a:spLocks noGrp="1"/>
          </p:cNvSpPr>
          <p:nvPr/>
        </p:nvSpPr>
        <p:spPr>
          <a:xfrm>
            <a:off x="5286375" y="201930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17" name="lr1-table-1-5">
            <a:extLst>
              <a:ext uri="{FF2B5EF4-FFF2-40B4-BE49-F238E27FC236}">
                <a16:creationId xmlns:a16="http://schemas.microsoft.com/office/drawing/2014/main" id="{1D6BDA5F-1D1B-423B-9861-AD839F945DCE}"/>
              </a:ext>
            </a:extLst>
          </p:cNvPr>
          <p:cNvSpPr>
            <a:spLocks noGrp="1"/>
          </p:cNvSpPr>
          <p:nvPr/>
        </p:nvSpPr>
        <p:spPr>
          <a:xfrm>
            <a:off x="6905625" y="201930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8" name="lr1-table-2-0">
            <a:extLst>
              <a:ext uri="{FF2B5EF4-FFF2-40B4-BE49-F238E27FC236}">
                <a16:creationId xmlns:a16="http://schemas.microsoft.com/office/drawing/2014/main" id="{59796FB7-322F-422A-A861-0AE84B82191E}"/>
              </a:ext>
            </a:extLst>
          </p:cNvPr>
          <p:cNvSpPr>
            <a:spLocks noGrp="1"/>
          </p:cNvSpPr>
          <p:nvPr/>
        </p:nvSpPr>
        <p:spPr>
          <a:xfrm>
            <a:off x="619125" y="241935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I₁</a:t>
            </a:r>
          </a:p>
        </p:txBody>
      </p:sp>
      <p:sp>
        <p:nvSpPr>
          <p:cNvPr id="19" name="lr1-table-2-1">
            <a:extLst>
              <a:ext uri="{FF2B5EF4-FFF2-40B4-BE49-F238E27FC236}">
                <a16:creationId xmlns:a16="http://schemas.microsoft.com/office/drawing/2014/main" id="{BE3233DC-D35A-4D6B-B341-BC5F41E4CBC5}"/>
              </a:ext>
            </a:extLst>
          </p:cNvPr>
          <p:cNvSpPr>
            <a:spLocks noGrp="1"/>
          </p:cNvSpPr>
          <p:nvPr/>
        </p:nvSpPr>
        <p:spPr>
          <a:xfrm>
            <a:off x="1571625" y="241935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0" name="lr1-table-2-2">
            <a:extLst>
              <a:ext uri="{FF2B5EF4-FFF2-40B4-BE49-F238E27FC236}">
                <a16:creationId xmlns:a16="http://schemas.microsoft.com/office/drawing/2014/main" id="{94F01A9E-A544-4877-8A05-E8645C0DB5CF}"/>
              </a:ext>
            </a:extLst>
          </p:cNvPr>
          <p:cNvSpPr>
            <a:spLocks noGrp="1"/>
          </p:cNvSpPr>
          <p:nvPr/>
        </p:nvSpPr>
        <p:spPr>
          <a:xfrm>
            <a:off x="2809875" y="241935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454545"/>
                </a:solidFill>
                <a:latin typeface="Menlo"/>
                <a:ea typeface="Menlo"/>
                <a:cs typeface="Menlo"/>
              </a:rPr>
              <a:t>s4</a:t>
            </a:r>
          </a:p>
        </p:txBody>
      </p:sp>
      <p:sp>
        <p:nvSpPr>
          <p:cNvPr id="21" name="lr1-table-2-3">
            <a:extLst>
              <a:ext uri="{FF2B5EF4-FFF2-40B4-BE49-F238E27FC236}">
                <a16:creationId xmlns:a16="http://schemas.microsoft.com/office/drawing/2014/main" id="{5EF13078-F14A-413B-81D8-1B2B3A98DA72}"/>
              </a:ext>
            </a:extLst>
          </p:cNvPr>
          <p:cNvSpPr>
            <a:spLocks noGrp="1"/>
          </p:cNvSpPr>
          <p:nvPr/>
        </p:nvSpPr>
        <p:spPr>
          <a:xfrm>
            <a:off x="4048125" y="241935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2D7C93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acc</a:t>
            </a:r>
          </a:p>
        </p:txBody>
      </p:sp>
      <p:sp>
        <p:nvSpPr>
          <p:cNvPr id="22" name="lr1-table-2-4">
            <a:extLst>
              <a:ext uri="{FF2B5EF4-FFF2-40B4-BE49-F238E27FC236}">
                <a16:creationId xmlns:a16="http://schemas.microsoft.com/office/drawing/2014/main" id="{90FC054F-D301-4E42-873D-603E56436370}"/>
              </a:ext>
            </a:extLst>
          </p:cNvPr>
          <p:cNvSpPr>
            <a:spLocks noGrp="1"/>
          </p:cNvSpPr>
          <p:nvPr/>
        </p:nvSpPr>
        <p:spPr>
          <a:xfrm>
            <a:off x="5286375" y="241935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3" name="lr1-table-2-5">
            <a:extLst>
              <a:ext uri="{FF2B5EF4-FFF2-40B4-BE49-F238E27FC236}">
                <a16:creationId xmlns:a16="http://schemas.microsoft.com/office/drawing/2014/main" id="{5EEC1563-6CF5-49FB-BEC5-7DD976D331C4}"/>
              </a:ext>
            </a:extLst>
          </p:cNvPr>
          <p:cNvSpPr>
            <a:spLocks noGrp="1"/>
          </p:cNvSpPr>
          <p:nvPr/>
        </p:nvSpPr>
        <p:spPr>
          <a:xfrm>
            <a:off x="6905625" y="241935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4" name="lr1-table-3-0">
            <a:extLst>
              <a:ext uri="{FF2B5EF4-FFF2-40B4-BE49-F238E27FC236}">
                <a16:creationId xmlns:a16="http://schemas.microsoft.com/office/drawing/2014/main" id="{F1FBDCFA-FA9D-446D-A8F9-2EC955475BFF}"/>
              </a:ext>
            </a:extLst>
          </p:cNvPr>
          <p:cNvSpPr>
            <a:spLocks noGrp="1"/>
          </p:cNvSpPr>
          <p:nvPr/>
        </p:nvSpPr>
        <p:spPr>
          <a:xfrm>
            <a:off x="619125" y="281940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I₂</a:t>
            </a:r>
          </a:p>
        </p:txBody>
      </p:sp>
      <p:sp>
        <p:nvSpPr>
          <p:cNvPr id="25" name="lr1-table-3-1">
            <a:extLst>
              <a:ext uri="{FF2B5EF4-FFF2-40B4-BE49-F238E27FC236}">
                <a16:creationId xmlns:a16="http://schemas.microsoft.com/office/drawing/2014/main" id="{FF9ECBCA-B219-46D4-ACCA-A474296653B2}"/>
              </a:ext>
            </a:extLst>
          </p:cNvPr>
          <p:cNvSpPr>
            <a:spLocks noGrp="1"/>
          </p:cNvSpPr>
          <p:nvPr/>
        </p:nvSpPr>
        <p:spPr>
          <a:xfrm>
            <a:off x="1571625" y="2819400"/>
            <a:ext cx="1238250" cy="400050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8A8A8A"/>
                </a:solidFill>
              </a:defRPr>
            </a:pPr>
            <a:r>
              <a:rPr sz="1050" b="1">
                <a:solidFill>
                  <a:srgbClr val="8A8A8A"/>
                </a:solidFill>
              </a:rPr>
              <a:t>r2</a:t>
            </a:r>
            <a:endParaRPr/>
          </a:p>
        </p:txBody>
      </p:sp>
      <p:sp>
        <p:nvSpPr>
          <p:cNvPr id="26" name="lr1-table-3-2">
            <a:extLst>
              <a:ext uri="{FF2B5EF4-FFF2-40B4-BE49-F238E27FC236}">
                <a16:creationId xmlns:a16="http://schemas.microsoft.com/office/drawing/2014/main" id="{5695A80E-5287-4D07-B619-EC0153ED7C4E}"/>
              </a:ext>
            </a:extLst>
          </p:cNvPr>
          <p:cNvSpPr>
            <a:spLocks noGrp="1"/>
          </p:cNvSpPr>
          <p:nvPr/>
        </p:nvSpPr>
        <p:spPr>
          <a:xfrm>
            <a:off x="2809875" y="281940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r2</a:t>
            </a:r>
          </a:p>
        </p:txBody>
      </p:sp>
      <p:sp>
        <p:nvSpPr>
          <p:cNvPr id="27" name="lr1-table-3-3">
            <a:extLst>
              <a:ext uri="{FF2B5EF4-FFF2-40B4-BE49-F238E27FC236}">
                <a16:creationId xmlns:a16="http://schemas.microsoft.com/office/drawing/2014/main" id="{67A54740-FC5C-496E-BFBB-B81FC3A37766}"/>
              </a:ext>
            </a:extLst>
          </p:cNvPr>
          <p:cNvSpPr>
            <a:spLocks noGrp="1"/>
          </p:cNvSpPr>
          <p:nvPr/>
        </p:nvSpPr>
        <p:spPr>
          <a:xfrm>
            <a:off x="4048125" y="281940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r2</a:t>
            </a:r>
          </a:p>
        </p:txBody>
      </p:sp>
      <p:sp>
        <p:nvSpPr>
          <p:cNvPr id="28" name="lr1-table-3-4">
            <a:extLst>
              <a:ext uri="{FF2B5EF4-FFF2-40B4-BE49-F238E27FC236}">
                <a16:creationId xmlns:a16="http://schemas.microsoft.com/office/drawing/2014/main" id="{2A9446A8-F2C4-4465-B0EF-E20660FFDCE8}"/>
              </a:ext>
            </a:extLst>
          </p:cNvPr>
          <p:cNvSpPr>
            <a:spLocks noGrp="1"/>
          </p:cNvSpPr>
          <p:nvPr/>
        </p:nvSpPr>
        <p:spPr>
          <a:xfrm>
            <a:off x="5286375" y="281940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29" name="lr1-table-3-5">
            <a:extLst>
              <a:ext uri="{FF2B5EF4-FFF2-40B4-BE49-F238E27FC236}">
                <a16:creationId xmlns:a16="http://schemas.microsoft.com/office/drawing/2014/main" id="{04A14DF2-5F22-410A-873D-5801D84126DC}"/>
              </a:ext>
            </a:extLst>
          </p:cNvPr>
          <p:cNvSpPr>
            <a:spLocks noGrp="1"/>
          </p:cNvSpPr>
          <p:nvPr/>
        </p:nvSpPr>
        <p:spPr>
          <a:xfrm>
            <a:off x="6905625" y="281940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0" name="lr1-table-4-0">
            <a:extLst>
              <a:ext uri="{FF2B5EF4-FFF2-40B4-BE49-F238E27FC236}">
                <a16:creationId xmlns:a16="http://schemas.microsoft.com/office/drawing/2014/main" id="{E1566C55-41E9-4F22-872F-E126E8DA8331}"/>
              </a:ext>
            </a:extLst>
          </p:cNvPr>
          <p:cNvSpPr>
            <a:spLocks noGrp="1"/>
          </p:cNvSpPr>
          <p:nvPr/>
        </p:nvSpPr>
        <p:spPr>
          <a:xfrm>
            <a:off x="619125" y="321945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I₃</a:t>
            </a:r>
          </a:p>
        </p:txBody>
      </p:sp>
      <p:sp>
        <p:nvSpPr>
          <p:cNvPr id="31" name="lr1-table-4-1">
            <a:extLst>
              <a:ext uri="{FF2B5EF4-FFF2-40B4-BE49-F238E27FC236}">
                <a16:creationId xmlns:a16="http://schemas.microsoft.com/office/drawing/2014/main" id="{1FFDB149-5702-49FC-904F-026742E1ABE6}"/>
              </a:ext>
            </a:extLst>
          </p:cNvPr>
          <p:cNvSpPr>
            <a:spLocks noGrp="1"/>
          </p:cNvSpPr>
          <p:nvPr/>
        </p:nvSpPr>
        <p:spPr>
          <a:xfrm>
            <a:off x="1571625" y="3219450"/>
            <a:ext cx="1238250" cy="400050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8A8A8A"/>
                </a:solidFill>
              </a:defRPr>
            </a:pPr>
            <a:r>
              <a:rPr sz="1050" b="1">
                <a:solidFill>
                  <a:srgbClr val="8A8A8A"/>
                </a:solidFill>
              </a:rPr>
              <a:t>r3</a:t>
            </a:r>
            <a:endParaRPr/>
          </a:p>
        </p:txBody>
      </p:sp>
      <p:sp>
        <p:nvSpPr>
          <p:cNvPr id="32" name="lr1-table-4-2">
            <a:extLst>
              <a:ext uri="{FF2B5EF4-FFF2-40B4-BE49-F238E27FC236}">
                <a16:creationId xmlns:a16="http://schemas.microsoft.com/office/drawing/2014/main" id="{7B583B81-FC3D-4F9C-A905-F40BA3BE844B}"/>
              </a:ext>
            </a:extLst>
          </p:cNvPr>
          <p:cNvSpPr>
            <a:spLocks noGrp="1"/>
          </p:cNvSpPr>
          <p:nvPr/>
        </p:nvSpPr>
        <p:spPr>
          <a:xfrm>
            <a:off x="2809875" y="321945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33" name="lr1-table-4-3">
            <a:extLst>
              <a:ext uri="{FF2B5EF4-FFF2-40B4-BE49-F238E27FC236}">
                <a16:creationId xmlns:a16="http://schemas.microsoft.com/office/drawing/2014/main" id="{D71E2375-AB8E-4806-AE44-234B8DEE830A}"/>
              </a:ext>
            </a:extLst>
          </p:cNvPr>
          <p:cNvSpPr>
            <a:spLocks noGrp="1"/>
          </p:cNvSpPr>
          <p:nvPr/>
        </p:nvSpPr>
        <p:spPr>
          <a:xfrm>
            <a:off x="4048125" y="321945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34" name="lr1-table-4-4">
            <a:extLst>
              <a:ext uri="{FF2B5EF4-FFF2-40B4-BE49-F238E27FC236}">
                <a16:creationId xmlns:a16="http://schemas.microsoft.com/office/drawing/2014/main" id="{A178AB99-C01A-4569-AAF9-0702C891438B}"/>
              </a:ext>
            </a:extLst>
          </p:cNvPr>
          <p:cNvSpPr>
            <a:spLocks noGrp="1"/>
          </p:cNvSpPr>
          <p:nvPr/>
        </p:nvSpPr>
        <p:spPr>
          <a:xfrm>
            <a:off x="5286375" y="321945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5" name="lr1-table-4-5">
            <a:extLst>
              <a:ext uri="{FF2B5EF4-FFF2-40B4-BE49-F238E27FC236}">
                <a16:creationId xmlns:a16="http://schemas.microsoft.com/office/drawing/2014/main" id="{93C57D3B-6AE4-4606-86FA-E05ADB56A4D7}"/>
              </a:ext>
            </a:extLst>
          </p:cNvPr>
          <p:cNvSpPr>
            <a:spLocks noGrp="1"/>
          </p:cNvSpPr>
          <p:nvPr/>
        </p:nvSpPr>
        <p:spPr>
          <a:xfrm>
            <a:off x="6905625" y="321945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6" name="lr1-table-5-0">
            <a:extLst>
              <a:ext uri="{FF2B5EF4-FFF2-40B4-BE49-F238E27FC236}">
                <a16:creationId xmlns:a16="http://schemas.microsoft.com/office/drawing/2014/main" id="{4901FCFD-3227-465E-90E7-8B60949D4F5A}"/>
              </a:ext>
            </a:extLst>
          </p:cNvPr>
          <p:cNvSpPr>
            <a:spLocks noGrp="1"/>
          </p:cNvSpPr>
          <p:nvPr/>
        </p:nvSpPr>
        <p:spPr>
          <a:xfrm>
            <a:off x="619125" y="361950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I₄</a:t>
            </a:r>
          </a:p>
        </p:txBody>
      </p:sp>
      <p:sp>
        <p:nvSpPr>
          <p:cNvPr id="37" name="lr1-table-5-1">
            <a:extLst>
              <a:ext uri="{FF2B5EF4-FFF2-40B4-BE49-F238E27FC236}">
                <a16:creationId xmlns:a16="http://schemas.microsoft.com/office/drawing/2014/main" id="{209719A6-F187-45C2-B134-F8C4D55A5985}"/>
              </a:ext>
            </a:extLst>
          </p:cNvPr>
          <p:cNvSpPr>
            <a:spLocks noGrp="1"/>
          </p:cNvSpPr>
          <p:nvPr/>
        </p:nvSpPr>
        <p:spPr>
          <a:xfrm>
            <a:off x="1571625" y="361950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s3</a:t>
            </a:r>
          </a:p>
        </p:txBody>
      </p:sp>
      <p:sp>
        <p:nvSpPr>
          <p:cNvPr id="38" name="lr1-table-5-2">
            <a:extLst>
              <a:ext uri="{FF2B5EF4-FFF2-40B4-BE49-F238E27FC236}">
                <a16:creationId xmlns:a16="http://schemas.microsoft.com/office/drawing/2014/main" id="{62D4FE01-776D-46C3-A75F-3DF466978508}"/>
              </a:ext>
            </a:extLst>
          </p:cNvPr>
          <p:cNvSpPr>
            <a:spLocks noGrp="1"/>
          </p:cNvSpPr>
          <p:nvPr/>
        </p:nvSpPr>
        <p:spPr>
          <a:xfrm>
            <a:off x="2809875" y="361950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39" name="lr1-table-5-3">
            <a:extLst>
              <a:ext uri="{FF2B5EF4-FFF2-40B4-BE49-F238E27FC236}">
                <a16:creationId xmlns:a16="http://schemas.microsoft.com/office/drawing/2014/main" id="{86B08076-DD24-464F-A159-C7E9861B047B}"/>
              </a:ext>
            </a:extLst>
          </p:cNvPr>
          <p:cNvSpPr>
            <a:spLocks noGrp="1"/>
          </p:cNvSpPr>
          <p:nvPr/>
        </p:nvSpPr>
        <p:spPr>
          <a:xfrm>
            <a:off x="4048125" y="361950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0" name="lr1-table-5-4">
            <a:extLst>
              <a:ext uri="{FF2B5EF4-FFF2-40B4-BE49-F238E27FC236}">
                <a16:creationId xmlns:a16="http://schemas.microsoft.com/office/drawing/2014/main" id="{EDFF6B19-FD2B-4F7B-BF0E-AA19498209E4}"/>
              </a:ext>
            </a:extLst>
          </p:cNvPr>
          <p:cNvSpPr>
            <a:spLocks noGrp="1"/>
          </p:cNvSpPr>
          <p:nvPr/>
        </p:nvSpPr>
        <p:spPr>
          <a:xfrm>
            <a:off x="5286375" y="361950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1" name="lr1-table-5-5">
            <a:extLst>
              <a:ext uri="{FF2B5EF4-FFF2-40B4-BE49-F238E27FC236}">
                <a16:creationId xmlns:a16="http://schemas.microsoft.com/office/drawing/2014/main" id="{8D4DB8AC-949C-4516-9E9C-AE8B89602B82}"/>
              </a:ext>
            </a:extLst>
          </p:cNvPr>
          <p:cNvSpPr>
            <a:spLocks noGrp="1"/>
          </p:cNvSpPr>
          <p:nvPr/>
        </p:nvSpPr>
        <p:spPr>
          <a:xfrm>
            <a:off x="6905625" y="361950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42" name="lr1-table-6-0">
            <a:extLst>
              <a:ext uri="{FF2B5EF4-FFF2-40B4-BE49-F238E27FC236}">
                <a16:creationId xmlns:a16="http://schemas.microsoft.com/office/drawing/2014/main" id="{519F3867-DFEB-4007-849C-2489A36B2644}"/>
              </a:ext>
            </a:extLst>
          </p:cNvPr>
          <p:cNvSpPr>
            <a:spLocks noGrp="1"/>
          </p:cNvSpPr>
          <p:nvPr/>
        </p:nvSpPr>
        <p:spPr>
          <a:xfrm>
            <a:off x="619125" y="4019550"/>
            <a:ext cx="95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I₅</a:t>
            </a:r>
          </a:p>
        </p:txBody>
      </p:sp>
      <p:sp>
        <p:nvSpPr>
          <p:cNvPr id="43" name="lr1-table-6-1">
            <a:extLst>
              <a:ext uri="{FF2B5EF4-FFF2-40B4-BE49-F238E27FC236}">
                <a16:creationId xmlns:a16="http://schemas.microsoft.com/office/drawing/2014/main" id="{E2AB4245-5DF2-48A0-94FF-D753132B478D}"/>
              </a:ext>
            </a:extLst>
          </p:cNvPr>
          <p:cNvSpPr>
            <a:spLocks noGrp="1"/>
          </p:cNvSpPr>
          <p:nvPr/>
        </p:nvSpPr>
        <p:spPr>
          <a:xfrm>
            <a:off x="1571625" y="4019550"/>
            <a:ext cx="1238250" cy="400050"/>
          </a:xfrm>
          <a:prstGeom prst="rect">
            <a:avLst/>
          </a:prstGeom>
          <a:solidFill>
            <a:srgbClr val="FCEEF0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8A8A8A"/>
                </a:solidFill>
              </a:defRPr>
            </a:pPr>
            <a:r>
              <a:rPr sz="1050" b="1">
                <a:solidFill>
                  <a:srgbClr val="8A8A8A"/>
                </a:solidFill>
              </a:rPr>
              <a:t>r1</a:t>
            </a:r>
            <a:endParaRPr/>
          </a:p>
        </p:txBody>
      </p:sp>
      <p:sp>
        <p:nvSpPr>
          <p:cNvPr id="44" name="lr1-table-6-2">
            <a:extLst>
              <a:ext uri="{FF2B5EF4-FFF2-40B4-BE49-F238E27FC236}">
                <a16:creationId xmlns:a16="http://schemas.microsoft.com/office/drawing/2014/main" id="{68E044A5-4C25-4295-B6EF-D4DCB7993F3B}"/>
              </a:ext>
            </a:extLst>
          </p:cNvPr>
          <p:cNvSpPr>
            <a:spLocks noGrp="1"/>
          </p:cNvSpPr>
          <p:nvPr/>
        </p:nvSpPr>
        <p:spPr>
          <a:xfrm>
            <a:off x="2809875" y="401955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r1</a:t>
            </a:r>
          </a:p>
        </p:txBody>
      </p:sp>
      <p:sp>
        <p:nvSpPr>
          <p:cNvPr id="45" name="lr1-table-6-3">
            <a:extLst>
              <a:ext uri="{FF2B5EF4-FFF2-40B4-BE49-F238E27FC236}">
                <a16:creationId xmlns:a16="http://schemas.microsoft.com/office/drawing/2014/main" id="{74FA53CA-505B-4D8A-A6F7-79E38A82EEDD}"/>
              </a:ext>
            </a:extLst>
          </p:cNvPr>
          <p:cNvSpPr>
            <a:spLocks noGrp="1"/>
          </p:cNvSpPr>
          <p:nvPr/>
        </p:nvSpPr>
        <p:spPr>
          <a:xfrm>
            <a:off x="4048125" y="4019550"/>
            <a:ext cx="1238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163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r1</a:t>
            </a:r>
          </a:p>
        </p:txBody>
      </p:sp>
      <p:sp>
        <p:nvSpPr>
          <p:cNvPr id="46" name="lr1-table-6-4">
            <a:extLst>
              <a:ext uri="{FF2B5EF4-FFF2-40B4-BE49-F238E27FC236}">
                <a16:creationId xmlns:a16="http://schemas.microsoft.com/office/drawing/2014/main" id="{116BAC1A-AE50-4DCD-BF7C-83F897990F4D}"/>
              </a:ext>
            </a:extLst>
          </p:cNvPr>
          <p:cNvSpPr>
            <a:spLocks noGrp="1"/>
          </p:cNvSpPr>
          <p:nvPr/>
        </p:nvSpPr>
        <p:spPr>
          <a:xfrm>
            <a:off x="5286375" y="401955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7" name="lr1-table-6-5">
            <a:extLst>
              <a:ext uri="{FF2B5EF4-FFF2-40B4-BE49-F238E27FC236}">
                <a16:creationId xmlns:a16="http://schemas.microsoft.com/office/drawing/2014/main" id="{ECF5427F-3D5B-484D-9B88-E04564F4B9AA}"/>
              </a:ext>
            </a:extLst>
          </p:cNvPr>
          <p:cNvSpPr>
            <a:spLocks noGrp="1"/>
          </p:cNvSpPr>
          <p:nvPr/>
        </p:nvSpPr>
        <p:spPr>
          <a:xfrm>
            <a:off x="6905625" y="4019550"/>
            <a:ext cx="16192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48" name="lr1-table-rules">
            <a:extLst>
              <a:ext uri="{FF2B5EF4-FFF2-40B4-BE49-F238E27FC236}">
                <a16:creationId xmlns:a16="http://schemas.microsoft.com/office/drawing/2014/main" id="{B48BACDE-2495-4DBA-86B0-5023D980F5DB}"/>
              </a:ext>
            </a:extLst>
          </p:cNvPr>
          <p:cNvSpPr>
            <a:spLocks noGrp="1"/>
          </p:cNvSpPr>
          <p:nvPr/>
        </p:nvSpPr>
        <p:spPr>
          <a:xfrm>
            <a:off x="1476375" y="45148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88">
                <a:solidFill>
                  <a:srgbClr val="777777"/>
                </a:solidFill>
                <a:latin typeface="Menlo"/>
                <a:ea typeface="Menlo"/>
                <a:cs typeface="Menlo"/>
              </a:defRPr>
            </a:pPr>
            <a:r>
              <a:rPr sz="1088">
                <a:solidFill>
                  <a:srgbClr val="777777"/>
                </a:solidFill>
                <a:latin typeface="Menlo"/>
                <a:ea typeface="Menlo"/>
                <a:cs typeface="Menlo"/>
              </a:rPr>
              <a:t>r1: expr → expr PLUS term     r2: expr → term     r3: term → INT</a:t>
            </a:r>
          </a:p>
        </p:txBody>
      </p:sp>
      <p:sp>
        <p:nvSpPr>
          <p:cNvPr id="49" name="lr1-table-3-1-lr0-strike">
            <a:extLst>
              <a:ext uri="{FF2B5EF4-FFF2-40B4-BE49-F238E27FC236}">
                <a16:creationId xmlns:a16="http://schemas.microsoft.com/office/drawing/2014/main" id="{6D74483B-C9DB-44F4-AD59-F3EBC3ADF0CF}"/>
              </a:ext>
            </a:extLst>
          </p:cNvPr>
          <p:cNvSpPr>
            <a:spLocks noGrp="1"/>
          </p:cNvSpPr>
          <p:nvPr/>
        </p:nvSpPr>
        <p:spPr>
          <a:xfrm>
            <a:off x="2038350" y="3019425"/>
            <a:ext cx="304800" cy="0"/>
          </a:xfrm>
          <a:prstGeom prst="line">
            <a:avLst/>
          </a:prstGeom>
          <a:noFill/>
          <a:ln w="20955">
            <a:solidFill>
              <a:srgbClr val="C4384D"/>
            </a:solidFill>
            <a:prstDash val="solid"/>
          </a:ln>
        </p:spPr>
      </p:sp>
      <p:sp>
        <p:nvSpPr>
          <p:cNvPr id="50" name="lr1-table-4-1-lr0-strike">
            <a:extLst>
              <a:ext uri="{FF2B5EF4-FFF2-40B4-BE49-F238E27FC236}">
                <a16:creationId xmlns:a16="http://schemas.microsoft.com/office/drawing/2014/main" id="{F807E50E-905D-4C28-A6FE-4A72D50DFD1C}"/>
              </a:ext>
            </a:extLst>
          </p:cNvPr>
          <p:cNvSpPr>
            <a:spLocks noGrp="1"/>
          </p:cNvSpPr>
          <p:nvPr/>
        </p:nvSpPr>
        <p:spPr>
          <a:xfrm>
            <a:off x="2038350" y="3419475"/>
            <a:ext cx="304800" cy="0"/>
          </a:xfrm>
          <a:prstGeom prst="line">
            <a:avLst/>
          </a:prstGeom>
          <a:noFill/>
          <a:ln w="20955">
            <a:solidFill>
              <a:srgbClr val="C4384D"/>
            </a:solidFill>
            <a:prstDash val="solid"/>
          </a:ln>
        </p:spPr>
      </p:sp>
      <p:sp>
        <p:nvSpPr>
          <p:cNvPr id="51" name="lr1-table-6-1-lr0-strike">
            <a:extLst>
              <a:ext uri="{FF2B5EF4-FFF2-40B4-BE49-F238E27FC236}">
                <a16:creationId xmlns:a16="http://schemas.microsoft.com/office/drawing/2014/main" id="{AC884B3B-ADC7-4013-BA5B-B828CE661DCE}"/>
              </a:ext>
            </a:extLst>
          </p:cNvPr>
          <p:cNvSpPr>
            <a:spLocks noGrp="1"/>
          </p:cNvSpPr>
          <p:nvPr/>
        </p:nvSpPr>
        <p:spPr>
          <a:xfrm>
            <a:off x="2038350" y="4219575"/>
            <a:ext cx="304800" cy="0"/>
          </a:xfrm>
          <a:prstGeom prst="line">
            <a:avLst/>
          </a:prstGeom>
          <a:noFill/>
          <a:ln w="20955">
            <a:solidFill>
              <a:srgbClr val="C4384D"/>
            </a:solidFill>
            <a:prstDash val="solid"/>
          </a:ln>
        </p:spPr>
      </p:sp>
      <p:sp>
        <p:nvSpPr>
          <p:cNvPr id="52" name="lr0-removed-legend">
            <a:extLst>
              <a:ext uri="{FF2B5EF4-FFF2-40B4-BE49-F238E27FC236}">
                <a16:creationId xmlns:a16="http://schemas.microsoft.com/office/drawing/2014/main" id="{E514A1D1-AB60-4AC2-BB39-EBAB05E1B52C}"/>
              </a:ext>
            </a:extLst>
          </p:cNvPr>
          <p:cNvSpPr>
            <a:spLocks noGrp="1"/>
          </p:cNvSpPr>
          <p:nvPr/>
        </p:nvSpPr>
        <p:spPr>
          <a:xfrm>
            <a:off x="1476375" y="48577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C4384D"/>
                </a:solidFill>
              </a:defRPr>
            </a:pPr>
            <a:r>
              <a:rPr sz="1088" b="1">
                <a:solidFill>
                  <a:srgbClr val="C4384D"/>
                </a:solidFill>
              </a:rPr>
              <a:t>淡红划线项：LR(0) 在 INT 列原有 reduce；LR(1) 因 lookahead 不含 INT 而删除。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作用一：无效输入能更早报错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55A7F00-3259-A23D-D734-A322A9F9DD63}" type="slidenum">
              <a:t>39</a:t>
            </a:fld>
            <a:endParaRPr/>
          </a:p>
        </p:txBody>
      </p:sp>
      <p:sp>
        <p:nvSpPr>
          <p:cNvPr id="5" name="assign-return-subtitle">
            <a:extLst>
              <a:ext uri="{FF2B5EF4-FFF2-40B4-BE49-F238E27FC236}">
                <a16:creationId xmlns:a16="http://schemas.microsoft.com/office/drawing/2014/main" id="{CD6316DD-0D81-4EA6-ABFC-19BFC0B8D4E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输入：INT  INT  $。读完第一个 INT 后，current 又是 INT。</a:t>
            </a:r>
          </a:p>
        </p:txBody>
      </p:sp>
      <p:sp>
        <p:nvSpPr>
          <p:cNvPr id="6" name="assign-slr-head">
            <a:extLst>
              <a:ext uri="{FF2B5EF4-FFF2-40B4-BE49-F238E27FC236}">
                <a16:creationId xmlns:a16="http://schemas.microsoft.com/office/drawing/2014/main" id="{16A5DE21-93EF-4F38-9F71-4104678CB665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3762375" cy="4191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LR(0)：完成项对所有 Token reduce</a:t>
            </a:r>
          </a:p>
        </p:txBody>
      </p:sp>
      <p:sp>
        <p:nvSpPr>
          <p:cNvPr id="7" name="assign-slr-state">
            <a:extLst>
              <a:ext uri="{FF2B5EF4-FFF2-40B4-BE49-F238E27FC236}">
                <a16:creationId xmlns:a16="http://schemas.microsoft.com/office/drawing/2014/main" id="{EF5C0817-98D6-497E-8F69-CD2E412BFEC6}"/>
              </a:ext>
            </a:extLst>
          </p:cNvPr>
          <p:cNvSpPr>
            <a:spLocks noGrp="1"/>
          </p:cNvSpPr>
          <p:nvPr/>
        </p:nvSpPr>
        <p:spPr>
          <a:xfrm>
            <a:off x="523875" y="2133600"/>
            <a:ext cx="3762375" cy="9525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I₃：term → INT ·</a:t>
            </a:r>
          </a:p>
        </p:txBody>
      </p:sp>
      <p:sp>
        <p:nvSpPr>
          <p:cNvPr id="8" name="assign-slr-action">
            <a:extLst>
              <a:ext uri="{FF2B5EF4-FFF2-40B4-BE49-F238E27FC236}">
                <a16:creationId xmlns:a16="http://schemas.microsoft.com/office/drawing/2014/main" id="{B7647EB6-8B8B-4805-98B1-2CC1CA3D4255}"/>
              </a:ext>
            </a:extLst>
          </p:cNvPr>
          <p:cNvSpPr>
            <a:spLocks noGrp="1"/>
          </p:cNvSpPr>
          <p:nvPr/>
        </p:nvSpPr>
        <p:spPr>
          <a:xfrm>
            <a:off x="523875" y="3333750"/>
            <a:ext cx="3762375" cy="6858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INT 列：r3 → r2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之后才 error</a:t>
            </a:r>
          </a:p>
        </p:txBody>
      </p:sp>
      <p:sp>
        <p:nvSpPr>
          <p:cNvPr id="9" name="assign-lr1-head">
            <a:extLst>
              <a:ext uri="{FF2B5EF4-FFF2-40B4-BE49-F238E27FC236}">
                <a16:creationId xmlns:a16="http://schemas.microsoft.com/office/drawing/2014/main" id="{F638192A-9206-4B1B-977C-F226E538C918}"/>
              </a:ext>
            </a:extLst>
          </p:cNvPr>
          <p:cNvSpPr>
            <a:spLocks noGrp="1"/>
          </p:cNvSpPr>
          <p:nvPr/>
        </p:nvSpPr>
        <p:spPr>
          <a:xfrm>
            <a:off x="4857750" y="1714500"/>
            <a:ext cx="3762375" cy="4191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LR(1)：只在 {$, PLUS} 前 reduce</a:t>
            </a:r>
          </a:p>
        </p:txBody>
      </p:sp>
      <p:sp>
        <p:nvSpPr>
          <p:cNvPr id="10" name="assign-lr1-state">
            <a:extLst>
              <a:ext uri="{FF2B5EF4-FFF2-40B4-BE49-F238E27FC236}">
                <a16:creationId xmlns:a16="http://schemas.microsoft.com/office/drawing/2014/main" id="{D2C51D54-3D67-417D-AA90-2778A5FC8109}"/>
              </a:ext>
            </a:extLst>
          </p:cNvPr>
          <p:cNvSpPr>
            <a:spLocks noGrp="1"/>
          </p:cNvSpPr>
          <p:nvPr/>
        </p:nvSpPr>
        <p:spPr>
          <a:xfrm>
            <a:off x="4857750" y="2133600"/>
            <a:ext cx="3762375" cy="9525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[term → INT ·, {$, PLUS}]</a:t>
            </a:r>
          </a:p>
        </p:txBody>
      </p:sp>
      <p:sp>
        <p:nvSpPr>
          <p:cNvPr id="11" name="assign-lr1-action">
            <a:extLst>
              <a:ext uri="{FF2B5EF4-FFF2-40B4-BE49-F238E27FC236}">
                <a16:creationId xmlns:a16="http://schemas.microsoft.com/office/drawing/2014/main" id="{DEB4C820-E2E1-4105-AF5A-93051887E1ED}"/>
              </a:ext>
            </a:extLst>
          </p:cNvPr>
          <p:cNvSpPr>
            <a:spLocks noGrp="1"/>
          </p:cNvSpPr>
          <p:nvPr/>
        </p:nvSpPr>
        <p:spPr>
          <a:xfrm>
            <a:off x="4857750" y="3333750"/>
            <a:ext cx="3762375" cy="6858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INT 不在 lookahead 中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立即 error</a:t>
            </a:r>
          </a:p>
        </p:txBody>
      </p:sp>
      <p:sp>
        <p:nvSpPr>
          <p:cNvPr id="12" name="assign-return-takeaway">
            <a:extLst>
              <a:ext uri="{FF2B5EF4-FFF2-40B4-BE49-F238E27FC236}">
                <a16:creationId xmlns:a16="http://schemas.microsoft.com/office/drawing/2014/main" id="{1623237D-989D-4C2A-923B-25EA21DEC59C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实际上</a:t>
            </a:r>
            <a:r>
              <a:rPr sz="1313" b="1"/>
              <a:t>合法输入不会访问这三个表项；删去它们，可以让 Parser 更早发现错误。</a:t>
            </a:r>
            <a:endParaRPr sz="1313" b="1">
              <a:solidFill>
                <a:srgbClr val="C438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作用二：解决赋值文法的冲突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166C477-A387-35CF-F492-F54B4FA4FEC9}" type="slidenum">
              <a:t>40</a:t>
            </a:fld>
            <a:endParaRPr/>
          </a:p>
        </p:txBody>
      </p:sp>
      <p:sp>
        <p:nvSpPr>
          <p:cNvPr id="5" name="assign-return-subtitle">
            <a:extLst>
              <a:ext uri="{FF2B5EF4-FFF2-40B4-BE49-F238E27FC236}">
                <a16:creationId xmlns:a16="http://schemas.microsoft.com/office/drawing/2014/main" id="{CD6316DD-0D81-4EA6-ABFC-19BFC0B8D4E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SLR 使用 FOLLOW(right) 的全局并集；LR(1) 状态保留沿当前路径传播来的 $。</a:t>
            </a:r>
          </a:p>
        </p:txBody>
      </p:sp>
      <p:sp>
        <p:nvSpPr>
          <p:cNvPr id="6" name="assign-slr-head">
            <a:extLst>
              <a:ext uri="{FF2B5EF4-FFF2-40B4-BE49-F238E27FC236}">
                <a16:creationId xmlns:a16="http://schemas.microsoft.com/office/drawing/2014/main" id="{16A5DE21-93EF-4F38-9F71-4104678CB665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3762375" cy="4191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LR(0) / SLR：读完 left</a:t>
            </a:r>
          </a:p>
        </p:txBody>
      </p:sp>
      <p:sp>
        <p:nvSpPr>
          <p:cNvPr id="7" name="assign-slr-state">
            <a:extLst>
              <a:ext uri="{FF2B5EF4-FFF2-40B4-BE49-F238E27FC236}">
                <a16:creationId xmlns:a16="http://schemas.microsoft.com/office/drawing/2014/main" id="{EF5C0817-98D6-497E-8F69-CD2E412BFEC6}"/>
              </a:ext>
            </a:extLst>
          </p:cNvPr>
          <p:cNvSpPr>
            <a:spLocks noGrp="1"/>
          </p:cNvSpPr>
          <p:nvPr/>
        </p:nvSpPr>
        <p:spPr>
          <a:xfrm>
            <a:off x="523875" y="2133600"/>
            <a:ext cx="3762375" cy="9525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stmt  → left · EQUAL right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right → left ·</a:t>
            </a:r>
          </a:p>
        </p:txBody>
      </p:sp>
      <p:sp>
        <p:nvSpPr>
          <p:cNvPr id="8" name="assign-slr-action">
            <a:extLst>
              <a:ext uri="{FF2B5EF4-FFF2-40B4-BE49-F238E27FC236}">
                <a16:creationId xmlns:a16="http://schemas.microsoft.com/office/drawing/2014/main" id="{B7647EB6-8B8B-4805-98B1-2CC1CA3D4255}"/>
              </a:ext>
            </a:extLst>
          </p:cNvPr>
          <p:cNvSpPr>
            <a:spLocks noGrp="1"/>
          </p:cNvSpPr>
          <p:nvPr/>
        </p:nvSpPr>
        <p:spPr>
          <a:xfrm>
            <a:off x="523875" y="3333750"/>
            <a:ext cx="3762375" cy="6858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current = EQUAL</a:t>
            </a:r>
          </a:p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shift / reduce 冲突</a:t>
            </a:r>
          </a:p>
        </p:txBody>
      </p:sp>
      <p:sp>
        <p:nvSpPr>
          <p:cNvPr id="9" name="assign-lr1-head">
            <a:extLst>
              <a:ext uri="{FF2B5EF4-FFF2-40B4-BE49-F238E27FC236}">
                <a16:creationId xmlns:a16="http://schemas.microsoft.com/office/drawing/2014/main" id="{F638192A-9206-4B1B-977C-F226E538C918}"/>
              </a:ext>
            </a:extLst>
          </p:cNvPr>
          <p:cNvSpPr>
            <a:spLocks noGrp="1"/>
          </p:cNvSpPr>
          <p:nvPr/>
        </p:nvSpPr>
        <p:spPr>
          <a:xfrm>
            <a:off x="4857750" y="1714500"/>
            <a:ext cx="3762375" cy="4191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LR(1)：读完 left</a:t>
            </a:r>
          </a:p>
        </p:txBody>
      </p:sp>
      <p:sp>
        <p:nvSpPr>
          <p:cNvPr id="10" name="assign-lr1-state">
            <a:extLst>
              <a:ext uri="{FF2B5EF4-FFF2-40B4-BE49-F238E27FC236}">
                <a16:creationId xmlns:a16="http://schemas.microsoft.com/office/drawing/2014/main" id="{D2C51D54-3D67-417D-AA90-2778A5FC8109}"/>
              </a:ext>
            </a:extLst>
          </p:cNvPr>
          <p:cNvSpPr>
            <a:spLocks noGrp="1"/>
          </p:cNvSpPr>
          <p:nvPr/>
        </p:nvSpPr>
        <p:spPr>
          <a:xfrm>
            <a:off x="4857750" y="2133600"/>
            <a:ext cx="3762375" cy="9525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[stmt  → left · EQUAL right, $]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[right → left ·, $]</a:t>
            </a:r>
          </a:p>
        </p:txBody>
      </p:sp>
      <p:sp>
        <p:nvSpPr>
          <p:cNvPr id="11" name="assign-lr1-action">
            <a:extLst>
              <a:ext uri="{FF2B5EF4-FFF2-40B4-BE49-F238E27FC236}">
                <a16:creationId xmlns:a16="http://schemas.microsoft.com/office/drawing/2014/main" id="{DEB4C820-E2E1-4105-AF5A-93051887E1ED}"/>
              </a:ext>
            </a:extLst>
          </p:cNvPr>
          <p:cNvSpPr>
            <a:spLocks noGrp="1"/>
          </p:cNvSpPr>
          <p:nvPr/>
        </p:nvSpPr>
        <p:spPr>
          <a:xfrm>
            <a:off x="4857750" y="3333750"/>
            <a:ext cx="3762375" cy="6858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EQUAL：shift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$：reduce right → left</a:t>
            </a:r>
          </a:p>
        </p:txBody>
      </p:sp>
      <p:sp>
        <p:nvSpPr>
          <p:cNvPr id="12" name="assign-return-takeaway">
            <a:extLst>
              <a:ext uri="{FF2B5EF4-FFF2-40B4-BE49-F238E27FC236}">
                <a16:creationId xmlns:a16="http://schemas.microsoft.com/office/drawing/2014/main" id="{1623237D-989D-4C2A-923B-25EA21DEC59C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EQUAL 表示继续识别 stmt；只有 $ 表示 right 已经结束。lookahead 把两种上下文落实为不同动作。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622"/>
          </a:bodyPr>
          <a:lstStyle/>
          <a:p>
            <a:r>
              <a:rPr>
                <a:latin typeface="Arial"/>
                <a:ea typeface="Arial"/>
                <a:cs typeface="Arial"/>
              </a:rPr>
              <a:t>完整构造算法：与 LR(0) 相同的工作表框架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0C89EF0-BE71-8D92-BDDF-FF7D05F0AC04}" type="slidenum">
              <a:t>41</a:t>
            </a:fld>
            <a:endParaRPr/>
          </a:p>
        </p:txBody>
      </p:sp>
      <p:sp>
        <p:nvSpPr>
          <p:cNvPr id="5" name="lr1-algo-subtitle">
            <a:extLst>
              <a:ext uri="{FF2B5EF4-FFF2-40B4-BE49-F238E27FC236}">
                <a16:creationId xmlns:a16="http://schemas.microsoft.com/office/drawing/2014/main" id="{4B5D1A6C-7589-4910-ABD0-61EE01083B8C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唯一新增的数据是 lookahead；状态发现、去重、转换和填表仍按同一套流程完成。</a:t>
            </a:r>
          </a:p>
        </p:txBody>
      </p:sp>
      <p:sp>
        <p:nvSpPr>
          <p:cNvPr id="6" name="lr1-algo-0-0">
            <a:extLst>
              <a:ext uri="{FF2B5EF4-FFF2-40B4-BE49-F238E27FC236}">
                <a16:creationId xmlns:a16="http://schemas.microsoft.com/office/drawing/2014/main" id="{A045E1EB-69B9-4E05-BD9A-32AFD0A5A2F1}"/>
              </a:ext>
            </a:extLst>
          </p:cNvPr>
          <p:cNvSpPr>
            <a:spLocks noGrp="1"/>
          </p:cNvSpPr>
          <p:nvPr/>
        </p:nvSpPr>
        <p:spPr>
          <a:xfrm>
            <a:off x="762000" y="1666875"/>
            <a:ext cx="85725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步骤</a:t>
            </a:r>
          </a:p>
        </p:txBody>
      </p:sp>
      <p:sp>
        <p:nvSpPr>
          <p:cNvPr id="7" name="lr1-algo-0-1">
            <a:extLst>
              <a:ext uri="{FF2B5EF4-FFF2-40B4-BE49-F238E27FC236}">
                <a16:creationId xmlns:a16="http://schemas.microsoft.com/office/drawing/2014/main" id="{ACAA20B0-8E4B-43AD-87D6-B7746861BAA8}"/>
              </a:ext>
            </a:extLst>
          </p:cNvPr>
          <p:cNvSpPr>
            <a:spLocks noGrp="1"/>
          </p:cNvSpPr>
          <p:nvPr/>
        </p:nvSpPr>
        <p:spPr>
          <a:xfrm>
            <a:off x="1619250" y="1666875"/>
            <a:ext cx="285750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操作</a:t>
            </a:r>
          </a:p>
        </p:txBody>
      </p:sp>
      <p:sp>
        <p:nvSpPr>
          <p:cNvPr id="8" name="lr1-algo-0-2">
            <a:extLst>
              <a:ext uri="{FF2B5EF4-FFF2-40B4-BE49-F238E27FC236}">
                <a16:creationId xmlns:a16="http://schemas.microsoft.com/office/drawing/2014/main" id="{9426C546-A078-40F9-AD46-0821BE916A44}"/>
              </a:ext>
            </a:extLst>
          </p:cNvPr>
          <p:cNvSpPr>
            <a:spLocks noGrp="1"/>
          </p:cNvSpPr>
          <p:nvPr/>
        </p:nvSpPr>
        <p:spPr>
          <a:xfrm>
            <a:off x="4476750" y="1666875"/>
            <a:ext cx="390525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本例</a:t>
            </a:r>
          </a:p>
        </p:txBody>
      </p:sp>
      <p:sp>
        <p:nvSpPr>
          <p:cNvPr id="9" name="lr1-algo-1-0">
            <a:extLst>
              <a:ext uri="{FF2B5EF4-FFF2-40B4-BE49-F238E27FC236}">
                <a16:creationId xmlns:a16="http://schemas.microsoft.com/office/drawing/2014/main" id="{9A72B54A-05B3-4051-9DC2-FF877BA1E9DC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857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1</a:t>
            </a:r>
          </a:p>
        </p:txBody>
      </p:sp>
      <p:sp>
        <p:nvSpPr>
          <p:cNvPr id="10" name="lr1-algo-1-1">
            <a:extLst>
              <a:ext uri="{FF2B5EF4-FFF2-40B4-BE49-F238E27FC236}">
                <a16:creationId xmlns:a16="http://schemas.microsoft.com/office/drawing/2014/main" id="{9722AE48-075A-4F65-ADE8-E836E8549EC0}"/>
              </a:ext>
            </a:extLst>
          </p:cNvPr>
          <p:cNvSpPr>
            <a:spLocks noGrp="1"/>
          </p:cNvSpPr>
          <p:nvPr/>
        </p:nvSpPr>
        <p:spPr>
          <a:xfrm>
            <a:off x="1619250" y="2219325"/>
            <a:ext cx="2857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建立初始 item</a:t>
            </a:r>
          </a:p>
        </p:txBody>
      </p:sp>
      <p:sp>
        <p:nvSpPr>
          <p:cNvPr id="11" name="lr1-algo-1-2">
            <a:extLst>
              <a:ext uri="{FF2B5EF4-FFF2-40B4-BE49-F238E27FC236}">
                <a16:creationId xmlns:a16="http://schemas.microsoft.com/office/drawing/2014/main" id="{037860C0-BB12-4518-B32F-8232CA96FBB9}"/>
              </a:ext>
            </a:extLst>
          </p:cNvPr>
          <p:cNvSpPr>
            <a:spLocks noGrp="1"/>
          </p:cNvSpPr>
          <p:nvPr/>
        </p:nvSpPr>
        <p:spPr>
          <a:xfrm>
            <a:off x="4476750" y="2219325"/>
            <a:ext cx="390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[start → · expr, $]</a:t>
            </a:r>
          </a:p>
        </p:txBody>
      </p:sp>
      <p:sp>
        <p:nvSpPr>
          <p:cNvPr id="12" name="lr1-algo-2-0">
            <a:extLst>
              <a:ext uri="{FF2B5EF4-FFF2-40B4-BE49-F238E27FC236}">
                <a16:creationId xmlns:a16="http://schemas.microsoft.com/office/drawing/2014/main" id="{0886E809-8EE6-4AD5-9250-807C171FEBF0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857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2</a:t>
            </a:r>
          </a:p>
        </p:txBody>
      </p:sp>
      <p:sp>
        <p:nvSpPr>
          <p:cNvPr id="13" name="lr1-algo-2-1">
            <a:extLst>
              <a:ext uri="{FF2B5EF4-FFF2-40B4-BE49-F238E27FC236}">
                <a16:creationId xmlns:a16="http://schemas.microsoft.com/office/drawing/2014/main" id="{BCA89D51-7A5D-4200-A27A-02A506E1F73D}"/>
              </a:ext>
            </a:extLst>
          </p:cNvPr>
          <p:cNvSpPr>
            <a:spLocks noGrp="1"/>
          </p:cNvSpPr>
          <p:nvPr/>
        </p:nvSpPr>
        <p:spPr>
          <a:xfrm>
            <a:off x="1619250" y="2771775"/>
            <a:ext cx="2857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反复执行 closure</a:t>
            </a:r>
          </a:p>
        </p:txBody>
      </p:sp>
      <p:sp>
        <p:nvSpPr>
          <p:cNvPr id="14" name="lr1-algo-2-2">
            <a:extLst>
              <a:ext uri="{FF2B5EF4-FFF2-40B4-BE49-F238E27FC236}">
                <a16:creationId xmlns:a16="http://schemas.microsoft.com/office/drawing/2014/main" id="{259ECC07-110A-4421-88C3-7915ABBDE7C8}"/>
              </a:ext>
            </a:extLst>
          </p:cNvPr>
          <p:cNvSpPr>
            <a:spLocks noGrp="1"/>
          </p:cNvSpPr>
          <p:nvPr/>
        </p:nvSpPr>
        <p:spPr>
          <a:xfrm>
            <a:off x="4476750" y="2771775"/>
            <a:ext cx="390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用 FIRST(βa) 传播 lookahead</a:t>
            </a:r>
          </a:p>
        </p:txBody>
      </p:sp>
      <p:sp>
        <p:nvSpPr>
          <p:cNvPr id="15" name="lr1-algo-3-0">
            <a:extLst>
              <a:ext uri="{FF2B5EF4-FFF2-40B4-BE49-F238E27FC236}">
                <a16:creationId xmlns:a16="http://schemas.microsoft.com/office/drawing/2014/main" id="{14172B41-AC4C-4B0A-AC96-0BAF4C9FE42F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857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3</a:t>
            </a:r>
          </a:p>
        </p:txBody>
      </p:sp>
      <p:sp>
        <p:nvSpPr>
          <p:cNvPr id="16" name="lr1-algo-3-1">
            <a:extLst>
              <a:ext uri="{FF2B5EF4-FFF2-40B4-BE49-F238E27FC236}">
                <a16:creationId xmlns:a16="http://schemas.microsoft.com/office/drawing/2014/main" id="{511A3AF5-8A59-4B4C-9DB8-40997D76490B}"/>
              </a:ext>
            </a:extLst>
          </p:cNvPr>
          <p:cNvSpPr>
            <a:spLocks noGrp="1"/>
          </p:cNvSpPr>
          <p:nvPr/>
        </p:nvSpPr>
        <p:spPr>
          <a:xfrm>
            <a:off x="1619250" y="3324225"/>
            <a:ext cx="2857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对每个点后符号 X 执行 goto</a:t>
            </a:r>
          </a:p>
        </p:txBody>
      </p:sp>
      <p:sp>
        <p:nvSpPr>
          <p:cNvPr id="17" name="lr1-algo-3-2">
            <a:extLst>
              <a:ext uri="{FF2B5EF4-FFF2-40B4-BE49-F238E27FC236}">
                <a16:creationId xmlns:a16="http://schemas.microsoft.com/office/drawing/2014/main" id="{FF9F218D-B543-4251-92CD-EC7B2D4E35CC}"/>
              </a:ext>
            </a:extLst>
          </p:cNvPr>
          <p:cNvSpPr>
            <a:spLocks noGrp="1"/>
          </p:cNvSpPr>
          <p:nvPr/>
        </p:nvSpPr>
        <p:spPr>
          <a:xfrm>
            <a:off x="4476750" y="3324225"/>
            <a:ext cx="390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得到 I₁–I₅ 与转换边</a:t>
            </a:r>
          </a:p>
        </p:txBody>
      </p:sp>
      <p:sp>
        <p:nvSpPr>
          <p:cNvPr id="18" name="lr1-algo-4-0">
            <a:extLst>
              <a:ext uri="{FF2B5EF4-FFF2-40B4-BE49-F238E27FC236}">
                <a16:creationId xmlns:a16="http://schemas.microsoft.com/office/drawing/2014/main" id="{1B017FE6-9D7A-44B8-8E5A-3909FD5DB638}"/>
              </a:ext>
            </a:extLst>
          </p:cNvPr>
          <p:cNvSpPr>
            <a:spLocks noGrp="1"/>
          </p:cNvSpPr>
          <p:nvPr/>
        </p:nvSpPr>
        <p:spPr>
          <a:xfrm>
            <a:off x="762000" y="3876675"/>
            <a:ext cx="857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4</a:t>
            </a:r>
          </a:p>
        </p:txBody>
      </p:sp>
      <p:sp>
        <p:nvSpPr>
          <p:cNvPr id="19" name="lr1-algo-4-1">
            <a:extLst>
              <a:ext uri="{FF2B5EF4-FFF2-40B4-BE49-F238E27FC236}">
                <a16:creationId xmlns:a16="http://schemas.microsoft.com/office/drawing/2014/main" id="{BEF0A7FE-69B7-4F44-B517-03DF50C9D6BC}"/>
              </a:ext>
            </a:extLst>
          </p:cNvPr>
          <p:cNvSpPr>
            <a:spLocks noGrp="1"/>
          </p:cNvSpPr>
          <p:nvPr/>
        </p:nvSpPr>
        <p:spPr>
          <a:xfrm>
            <a:off x="1619250" y="3876675"/>
            <a:ext cx="2857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重复，直到没有新状态</a:t>
            </a:r>
          </a:p>
        </p:txBody>
      </p:sp>
      <p:sp>
        <p:nvSpPr>
          <p:cNvPr id="20" name="lr1-algo-4-2">
            <a:extLst>
              <a:ext uri="{FF2B5EF4-FFF2-40B4-BE49-F238E27FC236}">
                <a16:creationId xmlns:a16="http://schemas.microsoft.com/office/drawing/2014/main" id="{EBFF3485-3CCC-4B7A-85F9-637271C29E4B}"/>
              </a:ext>
            </a:extLst>
          </p:cNvPr>
          <p:cNvSpPr>
            <a:spLocks noGrp="1"/>
          </p:cNvSpPr>
          <p:nvPr/>
        </p:nvSpPr>
        <p:spPr>
          <a:xfrm>
            <a:off x="4476750" y="3876675"/>
            <a:ext cx="390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六个状态后达到不动点</a:t>
            </a:r>
          </a:p>
        </p:txBody>
      </p:sp>
      <p:sp>
        <p:nvSpPr>
          <p:cNvPr id="21" name="lr1-algo-5-0">
            <a:extLst>
              <a:ext uri="{FF2B5EF4-FFF2-40B4-BE49-F238E27FC236}">
                <a16:creationId xmlns:a16="http://schemas.microsoft.com/office/drawing/2014/main" id="{F450D299-1220-43EA-8D4A-FFACC036B1AB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857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5</a:t>
            </a:r>
          </a:p>
        </p:txBody>
      </p:sp>
      <p:sp>
        <p:nvSpPr>
          <p:cNvPr id="22" name="lr1-algo-5-1">
            <a:extLst>
              <a:ext uri="{FF2B5EF4-FFF2-40B4-BE49-F238E27FC236}">
                <a16:creationId xmlns:a16="http://schemas.microsoft.com/office/drawing/2014/main" id="{B064E115-0C59-4EDA-824C-97092350462E}"/>
              </a:ext>
            </a:extLst>
          </p:cNvPr>
          <p:cNvSpPr>
            <a:spLocks noGrp="1"/>
          </p:cNvSpPr>
          <p:nvPr/>
        </p:nvSpPr>
        <p:spPr>
          <a:xfrm>
            <a:off x="1619250" y="4429125"/>
            <a:ext cx="2857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由边和完成项生成表</a:t>
            </a:r>
          </a:p>
        </p:txBody>
      </p:sp>
      <p:sp>
        <p:nvSpPr>
          <p:cNvPr id="23" name="lr1-algo-5-2">
            <a:extLst>
              <a:ext uri="{FF2B5EF4-FFF2-40B4-BE49-F238E27FC236}">
                <a16:creationId xmlns:a16="http://schemas.microsoft.com/office/drawing/2014/main" id="{BC8FFD25-AB78-4098-B03C-906B20242ABA}"/>
              </a:ext>
            </a:extLst>
          </p:cNvPr>
          <p:cNvSpPr>
            <a:spLocks noGrp="1"/>
          </p:cNvSpPr>
          <p:nvPr/>
        </p:nvSpPr>
        <p:spPr>
          <a:xfrm>
            <a:off x="4476750" y="4429125"/>
            <a:ext cx="390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454545"/>
                </a:solidFill>
              </a:defRPr>
            </a:pPr>
            <a:r>
              <a:rPr sz="1125" b="0">
                <a:solidFill>
                  <a:srgbClr val="454545"/>
                </a:solidFill>
              </a:rPr>
              <a:t>shift / GOTO / reduce / accept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LR(1) 更精确，但不保证状态规模不变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CAEC632-A9E6-82AB-6034-3014BC3905A0}" type="slidenum">
              <a:t>42</a:t>
            </a:fld>
            <a:endParaRPr/>
          </a:p>
        </p:txBody>
      </p:sp>
      <p:sp>
        <p:nvSpPr>
          <p:cNvPr id="5" name="lr1-cost-subtitle">
            <a:extLst>
              <a:ext uri="{FF2B5EF4-FFF2-40B4-BE49-F238E27FC236}">
                <a16:creationId xmlns:a16="http://schemas.microsoft.com/office/drawing/2014/main" id="{8BEDC703-F45A-48E7-A060-BA1C090DE904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由于具有不同lookahead的item属于不同item，因此LR(1)可能生成比LR(0)更多的状态</a:t>
            </a:r>
          </a:p>
        </p:txBody>
      </p:sp>
      <p:sp>
        <p:nvSpPr>
          <p:cNvPr id="6" name="cost-example-head">
            <a:extLst>
              <a:ext uri="{FF2B5EF4-FFF2-40B4-BE49-F238E27FC236}">
                <a16:creationId xmlns:a16="http://schemas.microsoft.com/office/drawing/2014/main" id="{8915714E-D6C7-4B49-8F49-F3C382BB282C}"/>
              </a:ext>
            </a:extLst>
          </p:cNvPr>
          <p:cNvSpPr>
            <a:spLocks noGrp="1"/>
          </p:cNvSpPr>
          <p:nvPr/>
        </p:nvSpPr>
        <p:spPr>
          <a:xfrm>
            <a:off x="714375" y="1762125"/>
            <a:ext cx="7715250" cy="4572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相同的 LR(0) item 集合：{ A → x ·, B → y · }</a:t>
            </a:r>
          </a:p>
        </p:txBody>
      </p:sp>
      <p:sp>
        <p:nvSpPr>
          <p:cNvPr id="7" name="cost-a-box">
            <a:extLst>
              <a:ext uri="{FF2B5EF4-FFF2-40B4-BE49-F238E27FC236}">
                <a16:creationId xmlns:a16="http://schemas.microsoft.com/office/drawing/2014/main" id="{56B5CA91-4758-4D61-B195-56050604AAEB}"/>
              </a:ext>
            </a:extLst>
          </p:cNvPr>
          <p:cNvSpPr>
            <a:spLocks noGrp="1"/>
          </p:cNvSpPr>
          <p:nvPr/>
        </p:nvSpPr>
        <p:spPr>
          <a:xfrm>
            <a:off x="904875" y="2714625"/>
            <a:ext cx="3143250" cy="1047750"/>
          </a:xfrm>
          <a:prstGeom prst="roundRect">
            <a:avLst>
              <a:gd name="adj" fmla="val 7273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8" name="cost-a-title">
            <a:extLst>
              <a:ext uri="{FF2B5EF4-FFF2-40B4-BE49-F238E27FC236}">
                <a16:creationId xmlns:a16="http://schemas.microsoft.com/office/drawing/2014/main" id="{63755EB8-3B81-4E38-88D4-AA2FCB160A6D}"/>
              </a:ext>
            </a:extLst>
          </p:cNvPr>
          <p:cNvSpPr>
            <a:spLocks noGrp="1"/>
          </p:cNvSpPr>
          <p:nvPr/>
        </p:nvSpPr>
        <p:spPr>
          <a:xfrm>
            <a:off x="1019175" y="2790825"/>
            <a:ext cx="2914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LR(1) 状态 Iₐ</a:t>
            </a:r>
          </a:p>
        </p:txBody>
      </p:sp>
      <p:sp>
        <p:nvSpPr>
          <p:cNvPr id="9" name="cost-a-items">
            <a:extLst>
              <a:ext uri="{FF2B5EF4-FFF2-40B4-BE49-F238E27FC236}">
                <a16:creationId xmlns:a16="http://schemas.microsoft.com/office/drawing/2014/main" id="{6CC45EB4-82FC-43AB-B7CD-09FD33581161}"/>
              </a:ext>
            </a:extLst>
          </p:cNvPr>
          <p:cNvSpPr>
            <a:spLocks noGrp="1"/>
          </p:cNvSpPr>
          <p:nvPr/>
        </p:nvSpPr>
        <p:spPr>
          <a:xfrm>
            <a:off x="1038225" y="3076575"/>
            <a:ext cx="2876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x ·, COMMA]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[B → y ·, $]</a:t>
            </a:r>
          </a:p>
        </p:txBody>
      </p:sp>
      <p:sp>
        <p:nvSpPr>
          <p:cNvPr id="10" name="cost-b-box">
            <a:extLst>
              <a:ext uri="{FF2B5EF4-FFF2-40B4-BE49-F238E27FC236}">
                <a16:creationId xmlns:a16="http://schemas.microsoft.com/office/drawing/2014/main" id="{9C4C43E3-986F-4110-9F7F-75F2523E18D8}"/>
              </a:ext>
            </a:extLst>
          </p:cNvPr>
          <p:cNvSpPr>
            <a:spLocks noGrp="1"/>
          </p:cNvSpPr>
          <p:nvPr/>
        </p:nvSpPr>
        <p:spPr>
          <a:xfrm>
            <a:off x="5095875" y="2714625"/>
            <a:ext cx="3143250" cy="1047750"/>
          </a:xfrm>
          <a:prstGeom prst="roundRect">
            <a:avLst>
              <a:gd name="adj" fmla="val 7273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1" name="cost-b-title">
            <a:extLst>
              <a:ext uri="{FF2B5EF4-FFF2-40B4-BE49-F238E27FC236}">
                <a16:creationId xmlns:a16="http://schemas.microsoft.com/office/drawing/2014/main" id="{F3D40F9F-4A32-4BD6-A13E-1FD66CBB0DCC}"/>
              </a:ext>
            </a:extLst>
          </p:cNvPr>
          <p:cNvSpPr>
            <a:spLocks noGrp="1"/>
          </p:cNvSpPr>
          <p:nvPr/>
        </p:nvSpPr>
        <p:spPr>
          <a:xfrm>
            <a:off x="5210175" y="2790825"/>
            <a:ext cx="2914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LR(1) 状态 Iᵦ</a:t>
            </a:r>
          </a:p>
        </p:txBody>
      </p:sp>
      <p:sp>
        <p:nvSpPr>
          <p:cNvPr id="12" name="cost-b-items">
            <a:extLst>
              <a:ext uri="{FF2B5EF4-FFF2-40B4-BE49-F238E27FC236}">
                <a16:creationId xmlns:a16="http://schemas.microsoft.com/office/drawing/2014/main" id="{48C9E364-76F7-4BD7-8F45-321DFF0A8276}"/>
              </a:ext>
            </a:extLst>
          </p:cNvPr>
          <p:cNvSpPr>
            <a:spLocks noGrp="1"/>
          </p:cNvSpPr>
          <p:nvPr/>
        </p:nvSpPr>
        <p:spPr>
          <a:xfrm>
            <a:off x="5229225" y="3076575"/>
            <a:ext cx="28765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x ·, RPAREN]</a:t>
            </a:r>
          </a:p>
          <a:p>
            <a:pPr algn="l">
              <a:buNone/>
              <a:defRPr sz="120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454545"/>
                </a:solidFill>
                <a:latin typeface="Menlo"/>
                <a:ea typeface="Menlo"/>
                <a:cs typeface="Menlo"/>
              </a:rPr>
              <a:t>[B → y ·, ELSE]</a:t>
            </a:r>
          </a:p>
        </p:txBody>
      </p:sp>
      <p:sp>
        <p:nvSpPr>
          <p:cNvPr id="13" name="cost-takeaway">
            <a:extLst>
              <a:ext uri="{FF2B5EF4-FFF2-40B4-BE49-F238E27FC236}">
                <a16:creationId xmlns:a16="http://schemas.microsoft.com/office/drawing/2014/main" id="{45815B08-74AC-4884-9BF7-44D9E924CE52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更具体的上下文可以消除假冲突，但也可能生成更多状态。能否做一些简单合并呢？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7492"/>
          </a:bodyPr>
          <a:lstStyle/>
          <a:p>
            <a:r>
              <a:rPr>
                <a:latin typeface="Arial"/>
                <a:ea typeface="Arial"/>
                <a:cs typeface="Arial"/>
              </a:rPr>
              <a:t>第三步：合并识别进度相同的状态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LALR(1)：在精度与状态规模之间折中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75CE1F1-F8E2-E359-8FD1-A9FA98B3A676}" type="slidenum"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回顾：LR(1) = LR(0) + lookahead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70EE3B2-1325-F8E9-D276-8EA80C32ED19}" type="slidenum">
              <a:t>44</a:t>
            </a:fld>
            <a:endParaRPr/>
          </a:p>
        </p:txBody>
      </p:sp>
      <p:sp>
        <p:nvSpPr>
          <p:cNvPr id="5" name="core-state">
            <a:extLst>
              <a:ext uri="{FF2B5EF4-FFF2-40B4-BE49-F238E27FC236}">
                <a16:creationId xmlns:a16="http://schemas.microsoft.com/office/drawing/2014/main" id="{91A9AE9F-6808-4F27-B4BA-170666758923}"/>
              </a:ext>
            </a:extLst>
          </p:cNvPr>
          <p:cNvSpPr>
            <a:spLocks noGrp="1"/>
          </p:cNvSpPr>
          <p:nvPr/>
        </p:nvSpPr>
        <p:spPr>
          <a:xfrm>
            <a:off x="904875" y="2261745"/>
            <a:ext cx="3619500" cy="14763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[A → x ·, COMMA],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[B → y · Z, $]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6" name="core-arrow">
            <a:extLst>
              <a:ext uri="{FF2B5EF4-FFF2-40B4-BE49-F238E27FC236}">
                <a16:creationId xmlns:a16="http://schemas.microsoft.com/office/drawing/2014/main" id="{55B03BDD-AEB2-4911-A13A-EAEB1F125796}"/>
              </a:ext>
            </a:extLst>
          </p:cNvPr>
          <p:cNvSpPr>
            <a:spLocks noGrp="1"/>
          </p:cNvSpPr>
          <p:nvPr/>
        </p:nvSpPr>
        <p:spPr>
          <a:xfrm>
            <a:off x="4524375" y="255702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163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暂时忽略</a:t>
            </a:r>
          </a:p>
          <a:p>
            <a:pPr algn="ctr">
              <a:buNone/>
              <a:defRPr sz="1163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lookahead</a:t>
            </a:r>
          </a:p>
          <a:p>
            <a:pPr algn="ctr">
              <a:buNone/>
              <a:defRPr sz="1163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core-result">
            <a:extLst>
              <a:ext uri="{FF2B5EF4-FFF2-40B4-BE49-F238E27FC236}">
                <a16:creationId xmlns:a16="http://schemas.microsoft.com/office/drawing/2014/main" id="{557F0BEA-6E12-44CC-90AC-6DE1A2650D56}"/>
              </a:ext>
            </a:extLst>
          </p:cNvPr>
          <p:cNvSpPr>
            <a:spLocks noGrp="1"/>
          </p:cNvSpPr>
          <p:nvPr/>
        </p:nvSpPr>
        <p:spPr>
          <a:xfrm>
            <a:off x="5572125" y="2261745"/>
            <a:ext cx="2762250" cy="147637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A → x ·,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B → y · Z</a:t>
            </a:r>
          </a:p>
          <a:p>
            <a:pPr algn="l">
              <a:buNone/>
              <a:defRPr sz="135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8" name="core-meaning">
            <a:extLst>
              <a:ext uri="{FF2B5EF4-FFF2-40B4-BE49-F238E27FC236}">
                <a16:creationId xmlns:a16="http://schemas.microsoft.com/office/drawing/2014/main" id="{5A1780DA-4760-4E5D-B92B-10A209E3E670}"/>
              </a:ext>
            </a:extLst>
          </p:cNvPr>
          <p:cNvSpPr>
            <a:spLocks noGrp="1"/>
          </p:cNvSpPr>
          <p:nvPr/>
        </p:nvSpPr>
        <p:spPr>
          <a:xfrm>
            <a:off x="1809750" y="4687362"/>
            <a:ext cx="5524500" cy="6096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如果忽略 lookahead，item 就又回到了 LR(0) 的结构。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LALR 的核心操作：合并识别进度相同的状态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1110800D-D5E6-B48B-B335-F070B0EAA3B9}" type="slidenum">
              <a:t>45</a:t>
            </a:fld>
            <a:endParaRPr/>
          </a:p>
        </p:txBody>
      </p:sp>
      <p:sp>
        <p:nvSpPr>
          <p:cNvPr id="5" name="merge-a-box">
            <a:extLst>
              <a:ext uri="{FF2B5EF4-FFF2-40B4-BE49-F238E27FC236}">
                <a16:creationId xmlns:a16="http://schemas.microsoft.com/office/drawing/2014/main" id="{E2CC3432-A435-4282-AAB8-F2238D9B955D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2762250" cy="876300"/>
          </a:xfrm>
          <a:prstGeom prst="roundRect">
            <a:avLst>
              <a:gd name="adj" fmla="val 869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" name="merge-a-title">
            <a:extLst>
              <a:ext uri="{FF2B5EF4-FFF2-40B4-BE49-F238E27FC236}">
                <a16:creationId xmlns:a16="http://schemas.microsoft.com/office/drawing/2014/main" id="{369C7D3B-CCE5-4CC1-B810-3D83A9633500}"/>
              </a:ext>
            </a:extLst>
          </p:cNvPr>
          <p:cNvSpPr>
            <a:spLocks noGrp="1"/>
          </p:cNvSpPr>
          <p:nvPr/>
        </p:nvSpPr>
        <p:spPr>
          <a:xfrm>
            <a:off x="733425" y="1838325"/>
            <a:ext cx="2533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Iₐ</a:t>
            </a:r>
          </a:p>
        </p:txBody>
      </p:sp>
      <p:sp>
        <p:nvSpPr>
          <p:cNvPr id="7" name="merge-a-items">
            <a:extLst>
              <a:ext uri="{FF2B5EF4-FFF2-40B4-BE49-F238E27FC236}">
                <a16:creationId xmlns:a16="http://schemas.microsoft.com/office/drawing/2014/main" id="{C4C48ED0-3832-4180-A671-739F3FD565A4}"/>
              </a:ext>
            </a:extLst>
          </p:cNvPr>
          <p:cNvSpPr>
            <a:spLocks noGrp="1"/>
          </p:cNvSpPr>
          <p:nvPr/>
        </p:nvSpPr>
        <p:spPr>
          <a:xfrm>
            <a:off x="752475" y="2124075"/>
            <a:ext cx="2495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x ·, COMMA]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[B → y ·, $]</a:t>
            </a:r>
          </a:p>
        </p:txBody>
      </p:sp>
      <p:sp>
        <p:nvSpPr>
          <p:cNvPr id="8" name="merge-b-box">
            <a:extLst>
              <a:ext uri="{FF2B5EF4-FFF2-40B4-BE49-F238E27FC236}">
                <a16:creationId xmlns:a16="http://schemas.microsoft.com/office/drawing/2014/main" id="{1B3EA604-5621-4624-B090-17E6C1548D44}"/>
              </a:ext>
            </a:extLst>
          </p:cNvPr>
          <p:cNvSpPr>
            <a:spLocks noGrp="1"/>
          </p:cNvSpPr>
          <p:nvPr/>
        </p:nvSpPr>
        <p:spPr>
          <a:xfrm>
            <a:off x="619125" y="3238500"/>
            <a:ext cx="2762250" cy="876300"/>
          </a:xfrm>
          <a:prstGeom prst="roundRect">
            <a:avLst>
              <a:gd name="adj" fmla="val 8696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" name="merge-b-title">
            <a:extLst>
              <a:ext uri="{FF2B5EF4-FFF2-40B4-BE49-F238E27FC236}">
                <a16:creationId xmlns:a16="http://schemas.microsoft.com/office/drawing/2014/main" id="{41775DE0-CE4F-463A-A18D-7F865CC689D2}"/>
              </a:ext>
            </a:extLst>
          </p:cNvPr>
          <p:cNvSpPr>
            <a:spLocks noGrp="1"/>
          </p:cNvSpPr>
          <p:nvPr/>
        </p:nvSpPr>
        <p:spPr>
          <a:xfrm>
            <a:off x="733425" y="3314700"/>
            <a:ext cx="2533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Iᵦ</a:t>
            </a:r>
          </a:p>
        </p:txBody>
      </p:sp>
      <p:sp>
        <p:nvSpPr>
          <p:cNvPr id="10" name="merge-b-items">
            <a:extLst>
              <a:ext uri="{FF2B5EF4-FFF2-40B4-BE49-F238E27FC236}">
                <a16:creationId xmlns:a16="http://schemas.microsoft.com/office/drawing/2014/main" id="{44EBA67F-7A76-4943-83DF-BB2DC6C56F4E}"/>
              </a:ext>
            </a:extLst>
          </p:cNvPr>
          <p:cNvSpPr>
            <a:spLocks noGrp="1"/>
          </p:cNvSpPr>
          <p:nvPr/>
        </p:nvSpPr>
        <p:spPr>
          <a:xfrm>
            <a:off x="752475" y="3600450"/>
            <a:ext cx="2495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x ·, RPAREN]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[B → y ·, ELSE]</a:t>
            </a:r>
          </a:p>
        </p:txBody>
      </p:sp>
      <p:sp>
        <p:nvSpPr>
          <p:cNvPr id="11" name="merge-arrow">
            <a:extLst>
              <a:ext uri="{FF2B5EF4-FFF2-40B4-BE49-F238E27FC236}">
                <a16:creationId xmlns:a16="http://schemas.microsoft.com/office/drawing/2014/main" id="{FEA0B2DC-51A1-4195-805F-E7C3659EEB0A}"/>
              </a:ext>
            </a:extLst>
          </p:cNvPr>
          <p:cNvSpPr>
            <a:spLocks noGrp="1"/>
          </p:cNvSpPr>
          <p:nvPr/>
        </p:nvSpPr>
        <p:spPr>
          <a:xfrm>
            <a:off x="3714750" y="2714625"/>
            <a:ext cx="95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777777"/>
                </a:solidFill>
              </a:defRPr>
            </a:pPr>
            <a:r>
              <a:rPr sz="1500" b="1">
                <a:solidFill>
                  <a:srgbClr val="777777"/>
                </a:solidFill>
              </a:rPr>
              <a:t>合并</a:t>
            </a:r>
          </a:p>
          <a:p>
            <a:pPr algn="ctr">
              <a:buNone/>
              <a:defRPr sz="1500" b="1">
                <a:solidFill>
                  <a:srgbClr val="777777"/>
                </a:solidFill>
              </a:defRPr>
            </a:pPr>
            <a:r>
              <a:rPr sz="1500" b="1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12" name="merge-result-box">
            <a:extLst>
              <a:ext uri="{FF2B5EF4-FFF2-40B4-BE49-F238E27FC236}">
                <a16:creationId xmlns:a16="http://schemas.microsoft.com/office/drawing/2014/main" id="{3396DCDA-1C98-47D4-BC8C-2D66233005A3}"/>
              </a:ext>
            </a:extLst>
          </p:cNvPr>
          <p:cNvSpPr>
            <a:spLocks noGrp="1"/>
          </p:cNvSpPr>
          <p:nvPr/>
        </p:nvSpPr>
        <p:spPr>
          <a:xfrm>
            <a:off x="4953000" y="2238375"/>
            <a:ext cx="3714750" cy="876300"/>
          </a:xfrm>
          <a:prstGeom prst="roundRect">
            <a:avLst>
              <a:gd name="adj" fmla="val 869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" name="merge-result-title">
            <a:extLst>
              <a:ext uri="{FF2B5EF4-FFF2-40B4-BE49-F238E27FC236}">
                <a16:creationId xmlns:a16="http://schemas.microsoft.com/office/drawing/2014/main" id="{12C0ECCB-B67A-44ED-A75D-DB933F55E7A7}"/>
              </a:ext>
            </a:extLst>
          </p:cNvPr>
          <p:cNvSpPr>
            <a:spLocks noGrp="1"/>
          </p:cNvSpPr>
          <p:nvPr/>
        </p:nvSpPr>
        <p:spPr>
          <a:xfrm>
            <a:off x="5067300" y="2314575"/>
            <a:ext cx="3486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LALR 状态</a:t>
            </a:r>
          </a:p>
        </p:txBody>
      </p:sp>
      <p:sp>
        <p:nvSpPr>
          <p:cNvPr id="14" name="merge-result-items">
            <a:extLst>
              <a:ext uri="{FF2B5EF4-FFF2-40B4-BE49-F238E27FC236}">
                <a16:creationId xmlns:a16="http://schemas.microsoft.com/office/drawing/2014/main" id="{F97A49D9-A90F-413C-AA8C-94AAF1C8E6C7}"/>
              </a:ext>
            </a:extLst>
          </p:cNvPr>
          <p:cNvSpPr>
            <a:spLocks noGrp="1"/>
          </p:cNvSpPr>
          <p:nvPr/>
        </p:nvSpPr>
        <p:spPr>
          <a:xfrm>
            <a:off x="5086350" y="2600325"/>
            <a:ext cx="3448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x ·, {COMMA, RPAREN}]</a:t>
            </a:r>
          </a:p>
          <a:p>
            <a:pPr algn="l">
              <a:buNone/>
              <a:defRPr sz="1163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63">
                <a:solidFill>
                  <a:srgbClr val="454545"/>
                </a:solidFill>
                <a:latin typeface="Menlo"/>
                <a:ea typeface="Menlo"/>
                <a:cs typeface="Menlo"/>
              </a:rPr>
              <a:t>[B → y ·, {$, ELSE}]</a:t>
            </a:r>
          </a:p>
        </p:txBody>
      </p:sp>
      <p:sp>
        <p:nvSpPr>
          <p:cNvPr id="15" name="takeaway-32">
            <a:extLst>
              <a:ext uri="{FF2B5EF4-FFF2-40B4-BE49-F238E27FC236}">
                <a16:creationId xmlns:a16="http://schemas.microsoft.com/office/drawing/2014/main" id="{132877F4-1F13-4B00-B6CB-D2FA8870B7D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LALR 保留 LR(0) 的状态骨架，只把 LR(1) lookahead 汇总进来。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concrete-edge-merged"/>
          <p:cNvCxnSpPr>
            <a:stCxn id="24" idx="3"/>
            <a:endCxn id="25" idx="1"/>
          </p:cNvCxnSpPr>
          <p:nvPr/>
        </p:nvCxnSpPr>
        <p:spPr>
          <a:xfrm>
            <a:off x="7124700" y="2905125"/>
            <a:ext cx="361950" cy="0"/>
          </a:xfrm>
          <a:prstGeom prst="straightConnector1">
            <a:avLst/>
          </a:prstGeom>
          <a:ln w="20955">
            <a:solidFill>
              <a:srgbClr val="2D7C93"/>
            </a:solidFill>
            <a:prstDash val="solid"/>
            <a:tailEnd type="arrow" w="med" len="med"/>
          </a:ln>
        </p:spPr>
      </p:cxnSp>
      <p:cxnSp>
        <p:nvCxnSpPr>
          <p:cNvPr id="29" name="concrete-edge-b"/>
          <p:cNvCxnSpPr>
            <a:stCxn id="17" idx="3"/>
            <a:endCxn id="18" idx="1"/>
          </p:cNvCxnSpPr>
          <p:nvPr/>
        </p:nvCxnSpPr>
        <p:spPr>
          <a:xfrm>
            <a:off x="2114550" y="3429000"/>
            <a:ext cx="895350" cy="0"/>
          </a:xfrm>
          <a:prstGeom prst="straightConnector1">
            <a:avLst/>
          </a:prstGeom>
          <a:ln w="19050">
            <a:solidFill>
              <a:srgbClr val="C4384D"/>
            </a:solidFill>
            <a:prstDash val="solid"/>
            <a:tailEnd type="arrow" w="med" len="med"/>
          </a:ln>
        </p:spPr>
      </p:cxnSp>
      <p:cxnSp>
        <p:nvCxnSpPr>
          <p:cNvPr id="30" name="concrete-edge-a"/>
          <p:cNvCxnSpPr>
            <a:stCxn id="15" idx="3"/>
            <a:endCxn id="16" idx="1"/>
          </p:cNvCxnSpPr>
          <p:nvPr/>
        </p:nvCxnSpPr>
        <p:spPr>
          <a:xfrm>
            <a:off x="2114550" y="2371725"/>
            <a:ext cx="895350" cy="0"/>
          </a:xfrm>
          <a:prstGeom prst="straightConnector1">
            <a:avLst/>
          </a:prstGeom>
          <a:ln w="19050">
            <a:solidFill>
              <a:srgbClr val="2D7C93"/>
            </a:solidFill>
            <a:prstDash val="solid"/>
            <a:tailEnd type="arrow" w="med" len="med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合并后，自动机转换仍然一致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E060EEA-E29B-CF3D-E7B7-BE01DFE3A2D2}" type="slidenum">
              <a:rPr/>
              <a:t>46</a:t>
            </a:fld>
            <a:endParaRPr/>
          </a:p>
        </p:txBody>
      </p:sp>
      <p:sp>
        <p:nvSpPr>
          <p:cNvPr id="5" name="subtitle-27">
            <a:extLst>
              <a:ext uri="{FF2B5EF4-FFF2-40B4-BE49-F238E27FC236}">
                <a16:creationId xmlns:a16="http://schemas.microsoft.com/office/drawing/2014/main" id="{D627BD09-7D11-40F0-B497-38EF20070490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两组状态只在 lookahead 上不同；沿 Z 转移后，目标状态仍然只在 lookahead 上不同。</a:t>
            </a:r>
          </a:p>
        </p:txBody>
      </p:sp>
      <p:sp>
        <p:nvSpPr>
          <p:cNvPr id="12" name="merge-benefit">
            <a:extLst>
              <a:ext uri="{FF2B5EF4-FFF2-40B4-BE49-F238E27FC236}">
                <a16:creationId xmlns:a16="http://schemas.microsoft.com/office/drawing/2014/main" id="{52E301F3-8587-4B76-AD79-99CB2B6F4B57}"/>
              </a:ext>
            </a:extLst>
          </p:cNvPr>
          <p:cNvSpPr>
            <a:spLocks noGrp="1"/>
          </p:cNvSpPr>
          <p:nvPr/>
        </p:nvSpPr>
        <p:spPr>
          <a:xfrm>
            <a:off x="1809750" y="4333875"/>
            <a:ext cx="5524500" cy="4191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</a:ln>
        </p:spPr>
        <p:txBody>
          <a:bodyPr anchor="ctr">
            <a:normAutofit/>
          </a:bodyPr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状态合并后，原来的 Z 转换仍连接合并后的源状态和目标状态。</a:t>
            </a:r>
          </a:p>
        </p:txBody>
      </p:sp>
      <p:sp>
        <p:nvSpPr>
          <p:cNvPr id="13" name="before-label-concrete">
            <a:extLst>
              <a:ext uri="{FF2B5EF4-FFF2-40B4-BE49-F238E27FC236}">
                <a16:creationId xmlns:a16="http://schemas.microsoft.com/office/drawing/2014/main" id="{8C199E2C-B766-4EE1-9269-A3D7F81C33DF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857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275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合并前</a:t>
            </a:r>
          </a:p>
        </p:txBody>
      </p:sp>
      <p:sp>
        <p:nvSpPr>
          <p:cNvPr id="14" name="after-label-concrete">
            <a:extLst>
              <a:ext uri="{FF2B5EF4-FFF2-40B4-BE49-F238E27FC236}">
                <a16:creationId xmlns:a16="http://schemas.microsoft.com/office/drawing/2014/main" id="{C2BE9D6C-BB0E-49D3-A88E-C8D6CA1A3EE7}"/>
              </a:ext>
            </a:extLst>
          </p:cNvPr>
          <p:cNvSpPr>
            <a:spLocks noGrp="1"/>
          </p:cNvSpPr>
          <p:nvPr/>
        </p:nvSpPr>
        <p:spPr>
          <a:xfrm>
            <a:off x="5762625" y="1685925"/>
            <a:ext cx="857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275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合并后</a:t>
            </a:r>
          </a:p>
        </p:txBody>
      </p:sp>
      <p:sp>
        <p:nvSpPr>
          <p:cNvPr id="15" name="concrete-ia">
            <a:extLst>
              <a:ext uri="{FF2B5EF4-FFF2-40B4-BE49-F238E27FC236}">
                <a16:creationId xmlns:a16="http://schemas.microsoft.com/office/drawing/2014/main" id="{8E49A68C-8E4F-4ECE-968D-4D018E5684E6}"/>
              </a:ext>
            </a:extLst>
          </p:cNvPr>
          <p:cNvSpPr>
            <a:spLocks noGrp="1"/>
          </p:cNvSpPr>
          <p:nvPr/>
        </p:nvSpPr>
        <p:spPr>
          <a:xfrm>
            <a:off x="457200" y="2038350"/>
            <a:ext cx="1657350" cy="666750"/>
          </a:xfrm>
          <a:prstGeom prst="roundRect">
            <a:avLst>
              <a:gd name="adj" fmla="val 11429"/>
            </a:avLst>
          </a:prstGeom>
          <a:solidFill>
            <a:srgbClr val="EAF5F8"/>
          </a:solidFill>
          <a:ln w="14288">
            <a:solidFill>
              <a:srgbClr val="2D7C93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defRPr sz="1125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Iₐ</a:t>
            </a:r>
          </a:p>
          <a:p>
            <a:pPr algn="ctr">
              <a:defRPr sz="1125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[B → y · Z, $]</a:t>
            </a:r>
          </a:p>
        </p:txBody>
      </p:sp>
      <p:sp>
        <p:nvSpPr>
          <p:cNvPr id="16" name="concrete-ja">
            <a:extLst>
              <a:ext uri="{FF2B5EF4-FFF2-40B4-BE49-F238E27FC236}">
                <a16:creationId xmlns:a16="http://schemas.microsoft.com/office/drawing/2014/main" id="{8F1E7E22-EC33-4E13-8EF2-AD16B26C365D}"/>
              </a:ext>
            </a:extLst>
          </p:cNvPr>
          <p:cNvSpPr>
            <a:spLocks noGrp="1"/>
          </p:cNvSpPr>
          <p:nvPr/>
        </p:nvSpPr>
        <p:spPr>
          <a:xfrm>
            <a:off x="3009900" y="2038350"/>
            <a:ext cx="1657350" cy="666750"/>
          </a:xfrm>
          <a:prstGeom prst="roundRect">
            <a:avLst>
              <a:gd name="adj" fmla="val 11429"/>
            </a:avLst>
          </a:prstGeom>
          <a:solidFill>
            <a:srgbClr val="F4F5F6"/>
          </a:solidFill>
          <a:ln w="14288">
            <a:solidFill>
              <a:srgbClr val="B8B8B8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Jₐ</a:t>
            </a:r>
          </a:p>
          <a:p>
            <a:pPr algn="ctr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[B → y Z ·, $]</a:t>
            </a:r>
          </a:p>
        </p:txBody>
      </p:sp>
      <p:sp>
        <p:nvSpPr>
          <p:cNvPr id="17" name="concrete-ib">
            <a:extLst>
              <a:ext uri="{FF2B5EF4-FFF2-40B4-BE49-F238E27FC236}">
                <a16:creationId xmlns:a16="http://schemas.microsoft.com/office/drawing/2014/main" id="{B8EFB953-27EF-4084-856B-4802C0937363}"/>
              </a:ext>
            </a:extLst>
          </p:cNvPr>
          <p:cNvSpPr>
            <a:spLocks noGrp="1"/>
          </p:cNvSpPr>
          <p:nvPr/>
        </p:nvSpPr>
        <p:spPr>
          <a:xfrm>
            <a:off x="457200" y="3095625"/>
            <a:ext cx="1657350" cy="666750"/>
          </a:xfrm>
          <a:prstGeom prst="roundRect">
            <a:avLst>
              <a:gd name="adj" fmla="val 11429"/>
            </a:avLst>
          </a:prstGeom>
          <a:solidFill>
            <a:srgbClr val="FCEEF0"/>
          </a:solidFill>
          <a:ln w="14288">
            <a:solidFill>
              <a:srgbClr val="C4384D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defRPr sz="1125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Iᵦ</a:t>
            </a:r>
          </a:p>
          <a:p>
            <a:pPr algn="ctr">
              <a:defRPr sz="1125" b="1">
                <a:solidFill>
                  <a:srgbClr val="C438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4384D"/>
                </a:solidFill>
                <a:latin typeface="Arial"/>
                <a:ea typeface="Arial"/>
                <a:cs typeface="Arial"/>
              </a:rPr>
              <a:t>[B → y · Z, ELSE]</a:t>
            </a:r>
          </a:p>
        </p:txBody>
      </p:sp>
      <p:sp>
        <p:nvSpPr>
          <p:cNvPr id="18" name="concrete-jb">
            <a:extLst>
              <a:ext uri="{FF2B5EF4-FFF2-40B4-BE49-F238E27FC236}">
                <a16:creationId xmlns:a16="http://schemas.microsoft.com/office/drawing/2014/main" id="{12F537EB-1129-4038-B1EC-ADA688483650}"/>
              </a:ext>
            </a:extLst>
          </p:cNvPr>
          <p:cNvSpPr>
            <a:spLocks noGrp="1"/>
          </p:cNvSpPr>
          <p:nvPr/>
        </p:nvSpPr>
        <p:spPr>
          <a:xfrm>
            <a:off x="3009900" y="3095625"/>
            <a:ext cx="1657350" cy="666750"/>
          </a:xfrm>
          <a:prstGeom prst="roundRect">
            <a:avLst>
              <a:gd name="adj" fmla="val 11429"/>
            </a:avLst>
          </a:prstGeom>
          <a:solidFill>
            <a:srgbClr val="F4F5F6"/>
          </a:solidFill>
          <a:ln w="14288">
            <a:solidFill>
              <a:srgbClr val="B8B8B8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Jᵦ</a:t>
            </a:r>
          </a:p>
          <a:p>
            <a:pPr algn="ctr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[B → y Z ·, ELSE]</a:t>
            </a:r>
          </a:p>
        </p:txBody>
      </p:sp>
      <p:sp>
        <p:nvSpPr>
          <p:cNvPr id="21" name="concrete-z-a">
            <a:extLst>
              <a:ext uri="{FF2B5EF4-FFF2-40B4-BE49-F238E27FC236}">
                <a16:creationId xmlns:a16="http://schemas.microsoft.com/office/drawing/2014/main" id="{39B6ACB6-6621-4DCA-AC1B-88CBACD8242A}"/>
              </a:ext>
            </a:extLst>
          </p:cNvPr>
          <p:cNvSpPr>
            <a:spLocks noGrp="1"/>
          </p:cNvSpPr>
          <p:nvPr/>
        </p:nvSpPr>
        <p:spPr>
          <a:xfrm>
            <a:off x="2476500" y="201930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22" name="concrete-z-b">
            <a:extLst>
              <a:ext uri="{FF2B5EF4-FFF2-40B4-BE49-F238E27FC236}">
                <a16:creationId xmlns:a16="http://schemas.microsoft.com/office/drawing/2014/main" id="{21A34680-E81A-4437-BE9C-6F7EDCF943B2}"/>
              </a:ext>
            </a:extLst>
          </p:cNvPr>
          <p:cNvSpPr>
            <a:spLocks noGrp="1"/>
          </p:cNvSpPr>
          <p:nvPr/>
        </p:nvSpPr>
        <p:spPr>
          <a:xfrm>
            <a:off x="2476500" y="3076575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23" name="concrete-merge">
            <a:extLst>
              <a:ext uri="{FF2B5EF4-FFF2-40B4-BE49-F238E27FC236}">
                <a16:creationId xmlns:a16="http://schemas.microsoft.com/office/drawing/2014/main" id="{5E75CD94-71F2-4D28-85EA-4D3D2E70EB58}"/>
              </a:ext>
            </a:extLst>
          </p:cNvPr>
          <p:cNvSpPr>
            <a:spLocks noGrp="1"/>
          </p:cNvSpPr>
          <p:nvPr/>
        </p:nvSpPr>
        <p:spPr>
          <a:xfrm>
            <a:off x="4810125" y="2571750"/>
            <a:ext cx="6477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合并</a:t>
            </a:r>
          </a:p>
          <a:p>
            <a:pPr algn="ctr">
              <a:defRPr sz="1350" b="1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77777"/>
                </a:solidFill>
                <a:latin typeface="Arial"/>
                <a:ea typeface="Arial"/>
                <a:cs typeface="Arial"/>
              </a:rPr>
              <a:t>⇒</a:t>
            </a:r>
          </a:p>
        </p:txBody>
      </p:sp>
      <p:sp>
        <p:nvSpPr>
          <p:cNvPr id="24" name="concrete-iab">
            <a:extLst>
              <a:ext uri="{FF2B5EF4-FFF2-40B4-BE49-F238E27FC236}">
                <a16:creationId xmlns:a16="http://schemas.microsoft.com/office/drawing/2014/main" id="{4A8592B3-8CA4-4039-BF57-0EA4D82A8E15}"/>
              </a:ext>
            </a:extLst>
          </p:cNvPr>
          <p:cNvSpPr>
            <a:spLocks noGrp="1"/>
          </p:cNvSpPr>
          <p:nvPr/>
        </p:nvSpPr>
        <p:spPr>
          <a:xfrm>
            <a:off x="5543550" y="2514600"/>
            <a:ext cx="1581150" cy="781050"/>
          </a:xfrm>
          <a:prstGeom prst="roundRect">
            <a:avLst>
              <a:gd name="adj" fmla="val 9756"/>
            </a:avLst>
          </a:prstGeom>
          <a:solidFill>
            <a:srgbClr val="EAF5F8"/>
          </a:solidFill>
          <a:ln w="14288">
            <a:solidFill>
              <a:srgbClr val="2D7C93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defRPr sz="1050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Iₐᵦ</a:t>
            </a:r>
          </a:p>
          <a:p>
            <a:pPr algn="ctr">
              <a:defRPr sz="1050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[B → y · Z, {$, ELSE}]</a:t>
            </a:r>
          </a:p>
        </p:txBody>
      </p:sp>
      <p:sp>
        <p:nvSpPr>
          <p:cNvPr id="25" name="concrete-jab">
            <a:extLst>
              <a:ext uri="{FF2B5EF4-FFF2-40B4-BE49-F238E27FC236}">
                <a16:creationId xmlns:a16="http://schemas.microsoft.com/office/drawing/2014/main" id="{0C1DDA51-193F-468D-A7F7-5EA3FD64791B}"/>
              </a:ext>
            </a:extLst>
          </p:cNvPr>
          <p:cNvSpPr>
            <a:spLocks noGrp="1"/>
          </p:cNvSpPr>
          <p:nvPr/>
        </p:nvSpPr>
        <p:spPr>
          <a:xfrm>
            <a:off x="7486650" y="2514600"/>
            <a:ext cx="1581150" cy="781050"/>
          </a:xfrm>
          <a:prstGeom prst="roundRect">
            <a:avLst>
              <a:gd name="adj" fmla="val 9756"/>
            </a:avLst>
          </a:prstGeom>
          <a:solidFill>
            <a:srgbClr val="EAF5F8"/>
          </a:solidFill>
          <a:ln w="14288">
            <a:solidFill>
              <a:srgbClr val="2D7C93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defRPr sz="1050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Jₐᵦ</a:t>
            </a:r>
          </a:p>
          <a:p>
            <a:pPr algn="ctr">
              <a:defRPr sz="1050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[B → y Z ·, {$, ELSE}]</a:t>
            </a:r>
          </a:p>
        </p:txBody>
      </p:sp>
      <p:sp>
        <p:nvSpPr>
          <p:cNvPr id="27" name="concrete-z-merged">
            <a:extLst>
              <a:ext uri="{FF2B5EF4-FFF2-40B4-BE49-F238E27FC236}">
                <a16:creationId xmlns:a16="http://schemas.microsoft.com/office/drawing/2014/main" id="{79307AE8-5534-447B-B663-ECA13123E233}"/>
              </a:ext>
            </a:extLst>
          </p:cNvPr>
          <p:cNvSpPr>
            <a:spLocks noGrp="1"/>
          </p:cNvSpPr>
          <p:nvPr/>
        </p:nvSpPr>
        <p:spPr>
          <a:xfrm>
            <a:off x="7200900" y="2495550"/>
            <a:ext cx="2476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D7C93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合并并非零代价：lookahead 的并集可能制造新冲突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72DB7CE-501A-BBF4-0CAD-B084CE0A592C}" type="slidenum">
              <a:rPr/>
              <a:t>47</a:t>
            </a:fld>
            <a:endParaRPr/>
          </a:p>
        </p:txBody>
      </p:sp>
      <p:sp>
        <p:nvSpPr>
          <p:cNvPr id="5" name="risk-a-box">
            <a:extLst>
              <a:ext uri="{FF2B5EF4-FFF2-40B4-BE49-F238E27FC236}">
                <a16:creationId xmlns:a16="http://schemas.microsoft.com/office/drawing/2014/main" id="{C9134B3E-C533-48A9-9F09-164CB7F34FDA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2714625" cy="876300"/>
          </a:xfrm>
          <a:prstGeom prst="roundRect">
            <a:avLst>
              <a:gd name="adj" fmla="val 8696"/>
            </a:avLst>
          </a:prstGeom>
          <a:solidFill>
            <a:srgbClr val="EAF5F8"/>
          </a:solidFill>
          <a:ln w="12383">
            <a:solidFill>
              <a:srgbClr val="2D7C93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6" name="risk-a-title">
            <a:extLst>
              <a:ext uri="{FF2B5EF4-FFF2-40B4-BE49-F238E27FC236}">
                <a16:creationId xmlns:a16="http://schemas.microsoft.com/office/drawing/2014/main" id="{78DBAD42-865A-4E0E-89D2-2C4B30EF7F2A}"/>
              </a:ext>
            </a:extLst>
          </p:cNvPr>
          <p:cNvSpPr>
            <a:spLocks noGrp="1"/>
          </p:cNvSpPr>
          <p:nvPr/>
        </p:nvSpPr>
        <p:spPr>
          <a:xfrm>
            <a:off x="828675" y="1743075"/>
            <a:ext cx="2486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I₁</a:t>
            </a:r>
          </a:p>
        </p:txBody>
      </p:sp>
      <p:sp>
        <p:nvSpPr>
          <p:cNvPr id="7" name="risk-a-items">
            <a:extLst>
              <a:ext uri="{FF2B5EF4-FFF2-40B4-BE49-F238E27FC236}">
                <a16:creationId xmlns:a16="http://schemas.microsoft.com/office/drawing/2014/main" id="{C1A40C42-977F-411A-8434-ABB8334F4091}"/>
              </a:ext>
            </a:extLst>
          </p:cNvPr>
          <p:cNvSpPr>
            <a:spLocks noGrp="1"/>
          </p:cNvSpPr>
          <p:nvPr/>
        </p:nvSpPr>
        <p:spPr>
          <a:xfrm>
            <a:off x="847725" y="2028825"/>
            <a:ext cx="2447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x ·, p]</a:t>
            </a:r>
          </a:p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[B → x ·, q]</a:t>
            </a:r>
          </a:p>
        </p:txBody>
      </p:sp>
      <p:sp>
        <p:nvSpPr>
          <p:cNvPr id="8" name="risk-b-box">
            <a:extLst>
              <a:ext uri="{FF2B5EF4-FFF2-40B4-BE49-F238E27FC236}">
                <a16:creationId xmlns:a16="http://schemas.microsoft.com/office/drawing/2014/main" id="{F0747583-201F-496A-8C44-BCCDDB0E5B1E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2714625" cy="876300"/>
          </a:xfrm>
          <a:prstGeom prst="roundRect">
            <a:avLst>
              <a:gd name="adj" fmla="val 8696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9" name="risk-b-title">
            <a:extLst>
              <a:ext uri="{FF2B5EF4-FFF2-40B4-BE49-F238E27FC236}">
                <a16:creationId xmlns:a16="http://schemas.microsoft.com/office/drawing/2014/main" id="{BAE5C2DC-95FC-4EA3-806C-298504A3C0A3}"/>
              </a:ext>
            </a:extLst>
          </p:cNvPr>
          <p:cNvSpPr>
            <a:spLocks noGrp="1"/>
          </p:cNvSpPr>
          <p:nvPr/>
        </p:nvSpPr>
        <p:spPr>
          <a:xfrm>
            <a:off x="828675" y="3219450"/>
            <a:ext cx="2486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I₂</a:t>
            </a:r>
          </a:p>
        </p:txBody>
      </p:sp>
      <p:sp>
        <p:nvSpPr>
          <p:cNvPr id="10" name="risk-b-items">
            <a:extLst>
              <a:ext uri="{FF2B5EF4-FFF2-40B4-BE49-F238E27FC236}">
                <a16:creationId xmlns:a16="http://schemas.microsoft.com/office/drawing/2014/main" id="{2F53B1F4-AD1C-400A-B497-C903417A186D}"/>
              </a:ext>
            </a:extLst>
          </p:cNvPr>
          <p:cNvSpPr>
            <a:spLocks noGrp="1"/>
          </p:cNvSpPr>
          <p:nvPr/>
        </p:nvSpPr>
        <p:spPr>
          <a:xfrm>
            <a:off x="847725" y="3505200"/>
            <a:ext cx="2447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x ·, q]</a:t>
            </a:r>
          </a:p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[B → x ·, p]</a:t>
            </a:r>
          </a:p>
        </p:txBody>
      </p:sp>
      <p:sp>
        <p:nvSpPr>
          <p:cNvPr id="11" name="risk-arrow">
            <a:extLst>
              <a:ext uri="{FF2B5EF4-FFF2-40B4-BE49-F238E27FC236}">
                <a16:creationId xmlns:a16="http://schemas.microsoft.com/office/drawing/2014/main" id="{6DE84300-D423-454D-8A58-E69DAD586C1D}"/>
              </a:ext>
            </a:extLst>
          </p:cNvPr>
          <p:cNvSpPr>
            <a:spLocks noGrp="1"/>
          </p:cNvSpPr>
          <p:nvPr/>
        </p:nvSpPr>
        <p:spPr>
          <a:xfrm>
            <a:off x="3667125" y="2571750"/>
            <a:ext cx="95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777777"/>
                </a:solidFill>
              </a:defRPr>
            </a:pPr>
            <a:r>
              <a:rPr sz="1500" b="1">
                <a:solidFill>
                  <a:srgbClr val="777777"/>
                </a:solidFill>
              </a:rPr>
              <a:t>合并</a:t>
            </a:r>
          </a:p>
          <a:p>
            <a:pPr algn="ctr">
              <a:buNone/>
              <a:defRPr sz="1500" b="1">
                <a:solidFill>
                  <a:srgbClr val="777777"/>
                </a:solidFill>
              </a:defRPr>
            </a:pPr>
            <a:r>
              <a:rPr sz="1500" b="1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12" name="risk-result-box">
            <a:extLst>
              <a:ext uri="{FF2B5EF4-FFF2-40B4-BE49-F238E27FC236}">
                <a16:creationId xmlns:a16="http://schemas.microsoft.com/office/drawing/2014/main" id="{F85BB00C-7960-463D-A17F-6414D786F40F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3476625" cy="876300"/>
          </a:xfrm>
          <a:prstGeom prst="roundRect">
            <a:avLst>
              <a:gd name="adj" fmla="val 8696"/>
            </a:avLst>
          </a:prstGeom>
          <a:solidFill>
            <a:srgbClr val="FCEEF0"/>
          </a:solidFill>
          <a:ln w="12383">
            <a:solidFill>
              <a:srgbClr val="C4384D"/>
            </a:solidFill>
            <a:prstDash val="solid"/>
          </a:ln>
        </p:spPr>
        <p:txBody>
          <a:bodyPr anchor="ctr"/>
          <a:lstStyle/>
          <a:p>
            <a:endParaRPr/>
          </a:p>
        </p:txBody>
      </p:sp>
      <p:sp>
        <p:nvSpPr>
          <p:cNvPr id="13" name="risk-result-title">
            <a:extLst>
              <a:ext uri="{FF2B5EF4-FFF2-40B4-BE49-F238E27FC236}">
                <a16:creationId xmlns:a16="http://schemas.microsoft.com/office/drawing/2014/main" id="{928A3E49-FF25-4ECB-B360-5CE2BCAC65F8}"/>
              </a:ext>
            </a:extLst>
          </p:cNvPr>
          <p:cNvSpPr>
            <a:spLocks noGrp="1"/>
          </p:cNvSpPr>
          <p:nvPr/>
        </p:nvSpPr>
        <p:spPr>
          <a:xfrm>
            <a:off x="4972050" y="2171700"/>
            <a:ext cx="32480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合并后</a:t>
            </a:r>
          </a:p>
        </p:txBody>
      </p:sp>
      <p:sp>
        <p:nvSpPr>
          <p:cNvPr id="14" name="risk-result-items">
            <a:extLst>
              <a:ext uri="{FF2B5EF4-FFF2-40B4-BE49-F238E27FC236}">
                <a16:creationId xmlns:a16="http://schemas.microsoft.com/office/drawing/2014/main" id="{5CA8AB22-4EA2-4F8D-8EF3-9CCE9809CD9A}"/>
              </a:ext>
            </a:extLst>
          </p:cNvPr>
          <p:cNvSpPr>
            <a:spLocks noGrp="1"/>
          </p:cNvSpPr>
          <p:nvPr/>
        </p:nvSpPr>
        <p:spPr>
          <a:xfrm>
            <a:off x="4991100" y="2457450"/>
            <a:ext cx="3209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[A → x ·, {p, q}]</a:t>
            </a:r>
          </a:p>
          <a:p>
            <a:pPr algn="l">
              <a:buNone/>
              <a:defRPr sz="1238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>
                <a:solidFill>
                  <a:srgbClr val="454545"/>
                </a:solidFill>
                <a:latin typeface="Menlo"/>
                <a:ea typeface="Menlo"/>
                <a:cs typeface="Menlo"/>
              </a:rPr>
              <a:t>[B → x ·, {p, q}]</a:t>
            </a:r>
          </a:p>
        </p:txBody>
      </p:sp>
      <p:sp>
        <p:nvSpPr>
          <p:cNvPr id="15" name="risk-conflict">
            <a:extLst>
              <a:ext uri="{FF2B5EF4-FFF2-40B4-BE49-F238E27FC236}">
                <a16:creationId xmlns:a16="http://schemas.microsoft.com/office/drawing/2014/main" id="{AC8BB562-4D3A-403C-8A15-8B20F22961BA}"/>
              </a:ext>
            </a:extLst>
          </p:cNvPr>
          <p:cNvSpPr>
            <a:spLocks noGrp="1"/>
          </p:cNvSpPr>
          <p:nvPr/>
        </p:nvSpPr>
        <p:spPr>
          <a:xfrm>
            <a:off x="5048250" y="3714750"/>
            <a:ext cx="3095625" cy="5715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在 p、q 上都出现 reduce/reduce conflict</a:t>
            </a:r>
          </a:p>
        </p:txBody>
      </p:sp>
      <p:sp>
        <p:nvSpPr>
          <p:cNvPr id="16" name="takeaway-34">
            <a:extLst>
              <a:ext uri="{FF2B5EF4-FFF2-40B4-BE49-F238E27FC236}">
                <a16:creationId xmlns:a16="http://schemas.microsoft.com/office/drawing/2014/main" id="{1214E8FD-DA0F-4825-8A29-E419F76EC073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因此有些文法是 LR(1)，却不是 LALR(1)。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总结各算法：执行算法相同，区别在 ACTION / GOTO 表如何生成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766E625-45F0-7FC0-7206-B9D4780D3461}" type="slidenum">
              <a:t>48</a:t>
            </a:fld>
            <a:endParaRPr/>
          </a:p>
        </p:txBody>
      </p:sp>
      <p:sp>
        <p:nvSpPr>
          <p:cNvPr id="5" name="family-0-0">
            <a:extLst>
              <a:ext uri="{FF2B5EF4-FFF2-40B4-BE49-F238E27FC236}">
                <a16:creationId xmlns:a16="http://schemas.microsoft.com/office/drawing/2014/main" id="{E609A94E-1348-43A2-B2D8-8311180EBCCD}"/>
              </a:ext>
            </a:extLst>
          </p:cNvPr>
          <p:cNvSpPr>
            <a:spLocks noGrp="1"/>
          </p:cNvSpPr>
          <p:nvPr/>
        </p:nvSpPr>
        <p:spPr>
          <a:xfrm>
            <a:off x="297631" y="1476375"/>
            <a:ext cx="1190625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54545"/>
                </a:solidFill>
              </a:defRPr>
            </a:pPr>
            <a:r>
              <a:rPr sz="1050" b="1">
                <a:solidFill>
                  <a:srgbClr val="454545"/>
                </a:solidFill>
              </a:rPr>
              <a:t>方法</a:t>
            </a:r>
          </a:p>
        </p:txBody>
      </p:sp>
      <p:sp>
        <p:nvSpPr>
          <p:cNvPr id="6" name="family-0-1">
            <a:extLst>
              <a:ext uri="{FF2B5EF4-FFF2-40B4-BE49-F238E27FC236}">
                <a16:creationId xmlns:a16="http://schemas.microsoft.com/office/drawing/2014/main" id="{FD9F8A28-7BE3-4C04-8CF3-CA843891BB3F}"/>
              </a:ext>
            </a:extLst>
          </p:cNvPr>
          <p:cNvSpPr>
            <a:spLocks noGrp="1"/>
          </p:cNvSpPr>
          <p:nvPr/>
        </p:nvSpPr>
        <p:spPr>
          <a:xfrm>
            <a:off x="1488256" y="1476375"/>
            <a:ext cx="1952625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</a:defRPr>
            </a:pPr>
            <a:r>
              <a:rPr sz="1050" b="1">
                <a:solidFill>
                  <a:srgbClr val="454545"/>
                </a:solidFill>
              </a:rPr>
              <a:t>自动机状态</a:t>
            </a:r>
          </a:p>
        </p:txBody>
      </p:sp>
      <p:sp>
        <p:nvSpPr>
          <p:cNvPr id="7" name="family-0-2">
            <a:extLst>
              <a:ext uri="{FF2B5EF4-FFF2-40B4-BE49-F238E27FC236}">
                <a16:creationId xmlns:a16="http://schemas.microsoft.com/office/drawing/2014/main" id="{AE6460F3-F1E3-4EA9-9045-0DDFC367143B}"/>
              </a:ext>
            </a:extLst>
          </p:cNvPr>
          <p:cNvSpPr>
            <a:spLocks noGrp="1"/>
          </p:cNvSpPr>
          <p:nvPr/>
        </p:nvSpPr>
        <p:spPr>
          <a:xfrm>
            <a:off x="3440881" y="1476375"/>
            <a:ext cx="1952625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</a:defRPr>
            </a:pPr>
            <a:r>
              <a:rPr sz="1050" b="1">
                <a:solidFill>
                  <a:srgbClr val="454545"/>
                </a:solidFill>
              </a:rPr>
              <a:t>reduce 依据</a:t>
            </a:r>
          </a:p>
        </p:txBody>
      </p:sp>
      <p:sp>
        <p:nvSpPr>
          <p:cNvPr id="8" name="family-0-3">
            <a:extLst>
              <a:ext uri="{FF2B5EF4-FFF2-40B4-BE49-F238E27FC236}">
                <a16:creationId xmlns:a16="http://schemas.microsoft.com/office/drawing/2014/main" id="{A6282CD4-EF66-4F2F-9A7F-EAD92223DAFC}"/>
              </a:ext>
            </a:extLst>
          </p:cNvPr>
          <p:cNvSpPr>
            <a:spLocks noGrp="1"/>
          </p:cNvSpPr>
          <p:nvPr/>
        </p:nvSpPr>
        <p:spPr>
          <a:xfrm>
            <a:off x="5393506" y="1476375"/>
            <a:ext cx="200025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454545"/>
                </a:solidFill>
              </a:defRPr>
            </a:pPr>
            <a:r>
              <a:rPr sz="1050" b="1">
                <a:solidFill>
                  <a:srgbClr val="454545"/>
                </a:solidFill>
              </a:rPr>
              <a:t>能力</a:t>
            </a:r>
          </a:p>
        </p:txBody>
      </p:sp>
      <p:sp>
        <p:nvSpPr>
          <p:cNvPr id="9" name="family-0-4">
            <a:extLst>
              <a:ext uri="{FF2B5EF4-FFF2-40B4-BE49-F238E27FC236}">
                <a16:creationId xmlns:a16="http://schemas.microsoft.com/office/drawing/2014/main" id="{651DCE83-82EA-4E5F-97AB-006FB8B9257C}"/>
              </a:ext>
            </a:extLst>
          </p:cNvPr>
          <p:cNvSpPr>
            <a:spLocks noGrp="1"/>
          </p:cNvSpPr>
          <p:nvPr/>
        </p:nvSpPr>
        <p:spPr>
          <a:xfrm>
            <a:off x="7393756" y="1476375"/>
            <a:ext cx="1619250" cy="5524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54545"/>
                </a:solidFill>
              </a:defRPr>
            </a:pPr>
            <a:r>
              <a:rPr sz="1050" b="1">
                <a:solidFill>
                  <a:srgbClr val="454545"/>
                </a:solidFill>
              </a:rPr>
              <a:t>规模</a:t>
            </a:r>
          </a:p>
        </p:txBody>
      </p:sp>
      <p:sp>
        <p:nvSpPr>
          <p:cNvPr id="10" name="family-1-0">
            <a:extLst>
              <a:ext uri="{FF2B5EF4-FFF2-40B4-BE49-F238E27FC236}">
                <a16:creationId xmlns:a16="http://schemas.microsoft.com/office/drawing/2014/main" id="{7FBA4DDA-3A12-4D3A-9F56-1CFC3CA53A42}"/>
              </a:ext>
            </a:extLst>
          </p:cNvPr>
          <p:cNvSpPr>
            <a:spLocks noGrp="1"/>
          </p:cNvSpPr>
          <p:nvPr/>
        </p:nvSpPr>
        <p:spPr>
          <a:xfrm>
            <a:off x="297631" y="2028825"/>
            <a:ext cx="1190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LR(0)</a:t>
            </a:r>
          </a:p>
        </p:txBody>
      </p:sp>
      <p:sp>
        <p:nvSpPr>
          <p:cNvPr id="11" name="family-1-1">
            <a:extLst>
              <a:ext uri="{FF2B5EF4-FFF2-40B4-BE49-F238E27FC236}">
                <a16:creationId xmlns:a16="http://schemas.microsoft.com/office/drawing/2014/main" id="{7DF65697-7FB3-4DA5-9A5F-CB9E6CB08FC7}"/>
              </a:ext>
            </a:extLst>
          </p:cNvPr>
          <p:cNvSpPr>
            <a:spLocks noGrp="1"/>
          </p:cNvSpPr>
          <p:nvPr/>
        </p:nvSpPr>
        <p:spPr>
          <a:xfrm>
            <a:off x="1488256" y="2028825"/>
            <a:ext cx="1952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LR(0) item</a:t>
            </a:r>
          </a:p>
        </p:txBody>
      </p:sp>
      <p:sp>
        <p:nvSpPr>
          <p:cNvPr id="12" name="family-1-2">
            <a:extLst>
              <a:ext uri="{FF2B5EF4-FFF2-40B4-BE49-F238E27FC236}">
                <a16:creationId xmlns:a16="http://schemas.microsoft.com/office/drawing/2014/main" id="{481A0626-5A03-4B2C-A603-45A311636712}"/>
              </a:ext>
            </a:extLst>
          </p:cNvPr>
          <p:cNvSpPr>
            <a:spLocks noGrp="1"/>
          </p:cNvSpPr>
          <p:nvPr/>
        </p:nvSpPr>
        <p:spPr>
          <a:xfrm>
            <a:off x="3440881" y="2028825"/>
            <a:ext cx="1952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所有终结符</a:t>
            </a:r>
          </a:p>
        </p:txBody>
      </p:sp>
      <p:sp>
        <p:nvSpPr>
          <p:cNvPr id="13" name="family-1-3">
            <a:extLst>
              <a:ext uri="{FF2B5EF4-FFF2-40B4-BE49-F238E27FC236}">
                <a16:creationId xmlns:a16="http://schemas.microsoft.com/office/drawing/2014/main" id="{03996202-959C-4319-90BE-0F066D9B9813}"/>
              </a:ext>
            </a:extLst>
          </p:cNvPr>
          <p:cNvSpPr>
            <a:spLocks noGrp="1"/>
          </p:cNvSpPr>
          <p:nvPr/>
        </p:nvSpPr>
        <p:spPr>
          <a:xfrm>
            <a:off x="5393506" y="2028825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最弱</a:t>
            </a:r>
          </a:p>
        </p:txBody>
      </p:sp>
      <p:sp>
        <p:nvSpPr>
          <p:cNvPr id="14" name="family-1-4">
            <a:extLst>
              <a:ext uri="{FF2B5EF4-FFF2-40B4-BE49-F238E27FC236}">
                <a16:creationId xmlns:a16="http://schemas.microsoft.com/office/drawing/2014/main" id="{A37B9A80-198D-4EF1-8D56-541CC3D0A38A}"/>
              </a:ext>
            </a:extLst>
          </p:cNvPr>
          <p:cNvSpPr>
            <a:spLocks noGrp="1"/>
          </p:cNvSpPr>
          <p:nvPr/>
        </p:nvSpPr>
        <p:spPr>
          <a:xfrm>
            <a:off x="7393756" y="2028825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小</a:t>
            </a:r>
          </a:p>
        </p:txBody>
      </p:sp>
      <p:sp>
        <p:nvSpPr>
          <p:cNvPr id="15" name="family-2-0">
            <a:extLst>
              <a:ext uri="{FF2B5EF4-FFF2-40B4-BE49-F238E27FC236}">
                <a16:creationId xmlns:a16="http://schemas.microsoft.com/office/drawing/2014/main" id="{8E44209E-FE84-4D21-9D78-D1FA40DB7E98}"/>
              </a:ext>
            </a:extLst>
          </p:cNvPr>
          <p:cNvSpPr>
            <a:spLocks noGrp="1"/>
          </p:cNvSpPr>
          <p:nvPr/>
        </p:nvSpPr>
        <p:spPr>
          <a:xfrm>
            <a:off x="297631" y="2581275"/>
            <a:ext cx="1190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SLR(1)</a:t>
            </a:r>
          </a:p>
        </p:txBody>
      </p:sp>
      <p:sp>
        <p:nvSpPr>
          <p:cNvPr id="16" name="family-2-1">
            <a:extLst>
              <a:ext uri="{FF2B5EF4-FFF2-40B4-BE49-F238E27FC236}">
                <a16:creationId xmlns:a16="http://schemas.microsoft.com/office/drawing/2014/main" id="{01C46B8E-6877-4109-B69C-07677552D672}"/>
              </a:ext>
            </a:extLst>
          </p:cNvPr>
          <p:cNvSpPr>
            <a:spLocks noGrp="1"/>
          </p:cNvSpPr>
          <p:nvPr/>
        </p:nvSpPr>
        <p:spPr>
          <a:xfrm>
            <a:off x="1488256" y="2581275"/>
            <a:ext cx="1952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LR(0) item</a:t>
            </a:r>
          </a:p>
        </p:txBody>
      </p:sp>
      <p:sp>
        <p:nvSpPr>
          <p:cNvPr id="17" name="family-2-2">
            <a:extLst>
              <a:ext uri="{FF2B5EF4-FFF2-40B4-BE49-F238E27FC236}">
                <a16:creationId xmlns:a16="http://schemas.microsoft.com/office/drawing/2014/main" id="{0527CE73-7171-49FA-AD86-E3E377E3D71E}"/>
              </a:ext>
            </a:extLst>
          </p:cNvPr>
          <p:cNvSpPr>
            <a:spLocks noGrp="1"/>
          </p:cNvSpPr>
          <p:nvPr/>
        </p:nvSpPr>
        <p:spPr>
          <a:xfrm>
            <a:off x="3440881" y="2581275"/>
            <a:ext cx="1952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FOLLOW(A)</a:t>
            </a:r>
          </a:p>
        </p:txBody>
      </p:sp>
      <p:sp>
        <p:nvSpPr>
          <p:cNvPr id="18" name="family-2-3">
            <a:extLst>
              <a:ext uri="{FF2B5EF4-FFF2-40B4-BE49-F238E27FC236}">
                <a16:creationId xmlns:a16="http://schemas.microsoft.com/office/drawing/2014/main" id="{6B9071D7-ED80-454C-90A2-E8F9D55A6385}"/>
              </a:ext>
            </a:extLst>
          </p:cNvPr>
          <p:cNvSpPr>
            <a:spLocks noGrp="1"/>
          </p:cNvSpPr>
          <p:nvPr/>
        </p:nvSpPr>
        <p:spPr>
          <a:xfrm>
            <a:off x="5393506" y="2581275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比 LR(0) 强</a:t>
            </a:r>
          </a:p>
        </p:txBody>
      </p:sp>
      <p:sp>
        <p:nvSpPr>
          <p:cNvPr id="19" name="family-2-4">
            <a:extLst>
              <a:ext uri="{FF2B5EF4-FFF2-40B4-BE49-F238E27FC236}">
                <a16:creationId xmlns:a16="http://schemas.microsoft.com/office/drawing/2014/main" id="{2A3DCDFB-2601-4638-A8CE-C3271C3C253B}"/>
              </a:ext>
            </a:extLst>
          </p:cNvPr>
          <p:cNvSpPr>
            <a:spLocks noGrp="1"/>
          </p:cNvSpPr>
          <p:nvPr/>
        </p:nvSpPr>
        <p:spPr>
          <a:xfrm>
            <a:off x="7393756" y="2581275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小</a:t>
            </a:r>
          </a:p>
        </p:txBody>
      </p:sp>
      <p:sp>
        <p:nvSpPr>
          <p:cNvPr id="20" name="family-3-0">
            <a:extLst>
              <a:ext uri="{FF2B5EF4-FFF2-40B4-BE49-F238E27FC236}">
                <a16:creationId xmlns:a16="http://schemas.microsoft.com/office/drawing/2014/main" id="{0B7398DE-06FC-4DB3-921F-18726109F59B}"/>
              </a:ext>
            </a:extLst>
          </p:cNvPr>
          <p:cNvSpPr>
            <a:spLocks noGrp="1"/>
          </p:cNvSpPr>
          <p:nvPr/>
        </p:nvSpPr>
        <p:spPr>
          <a:xfrm>
            <a:off x="297631" y="3133725"/>
            <a:ext cx="1190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LR(1)</a:t>
            </a:r>
          </a:p>
        </p:txBody>
      </p:sp>
      <p:sp>
        <p:nvSpPr>
          <p:cNvPr id="21" name="family-3-1">
            <a:extLst>
              <a:ext uri="{FF2B5EF4-FFF2-40B4-BE49-F238E27FC236}">
                <a16:creationId xmlns:a16="http://schemas.microsoft.com/office/drawing/2014/main" id="{C14F1075-E736-4ADA-A71E-BCC0667D8DB8}"/>
              </a:ext>
            </a:extLst>
          </p:cNvPr>
          <p:cNvSpPr>
            <a:spLocks noGrp="1"/>
          </p:cNvSpPr>
          <p:nvPr/>
        </p:nvSpPr>
        <p:spPr>
          <a:xfrm>
            <a:off x="1488256" y="3133725"/>
            <a:ext cx="1952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LR(1) item</a:t>
            </a:r>
          </a:p>
        </p:txBody>
      </p:sp>
      <p:sp>
        <p:nvSpPr>
          <p:cNvPr id="22" name="family-3-2">
            <a:extLst>
              <a:ext uri="{FF2B5EF4-FFF2-40B4-BE49-F238E27FC236}">
                <a16:creationId xmlns:a16="http://schemas.microsoft.com/office/drawing/2014/main" id="{35B252B0-AD43-4F8A-9A7B-13F29F92DAF6}"/>
              </a:ext>
            </a:extLst>
          </p:cNvPr>
          <p:cNvSpPr>
            <a:spLocks noGrp="1"/>
          </p:cNvSpPr>
          <p:nvPr/>
        </p:nvSpPr>
        <p:spPr>
          <a:xfrm>
            <a:off x="3440881" y="3133725"/>
            <a:ext cx="1952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item lookahead</a:t>
            </a:r>
          </a:p>
        </p:txBody>
      </p:sp>
      <p:sp>
        <p:nvSpPr>
          <p:cNvPr id="23" name="family-3-3">
            <a:extLst>
              <a:ext uri="{FF2B5EF4-FFF2-40B4-BE49-F238E27FC236}">
                <a16:creationId xmlns:a16="http://schemas.microsoft.com/office/drawing/2014/main" id="{DEC34439-A0BA-40DF-8558-468ABADF9EC8}"/>
              </a:ext>
            </a:extLst>
          </p:cNvPr>
          <p:cNvSpPr>
            <a:spLocks noGrp="1"/>
          </p:cNvSpPr>
          <p:nvPr/>
        </p:nvSpPr>
        <p:spPr>
          <a:xfrm>
            <a:off x="5393506" y="3133725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最精确</a:t>
            </a:r>
          </a:p>
        </p:txBody>
      </p:sp>
      <p:sp>
        <p:nvSpPr>
          <p:cNvPr id="24" name="family-3-4">
            <a:extLst>
              <a:ext uri="{FF2B5EF4-FFF2-40B4-BE49-F238E27FC236}">
                <a16:creationId xmlns:a16="http://schemas.microsoft.com/office/drawing/2014/main" id="{4AF932AF-116E-48BE-A701-5417994B1A47}"/>
              </a:ext>
            </a:extLst>
          </p:cNvPr>
          <p:cNvSpPr>
            <a:spLocks noGrp="1"/>
          </p:cNvSpPr>
          <p:nvPr/>
        </p:nvSpPr>
        <p:spPr>
          <a:xfrm>
            <a:off x="7393756" y="3133725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可能很大</a:t>
            </a:r>
          </a:p>
        </p:txBody>
      </p:sp>
      <p:sp>
        <p:nvSpPr>
          <p:cNvPr id="25" name="family-4-0">
            <a:extLst>
              <a:ext uri="{FF2B5EF4-FFF2-40B4-BE49-F238E27FC236}">
                <a16:creationId xmlns:a16="http://schemas.microsoft.com/office/drawing/2014/main" id="{8CA7EB48-8333-436B-AC1B-A6BB3D571B37}"/>
              </a:ext>
            </a:extLst>
          </p:cNvPr>
          <p:cNvSpPr>
            <a:spLocks noGrp="1"/>
          </p:cNvSpPr>
          <p:nvPr/>
        </p:nvSpPr>
        <p:spPr>
          <a:xfrm>
            <a:off x="297631" y="3686175"/>
            <a:ext cx="1190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LALR(1)</a:t>
            </a:r>
          </a:p>
        </p:txBody>
      </p:sp>
      <p:sp>
        <p:nvSpPr>
          <p:cNvPr id="26" name="family-4-1">
            <a:extLst>
              <a:ext uri="{FF2B5EF4-FFF2-40B4-BE49-F238E27FC236}">
                <a16:creationId xmlns:a16="http://schemas.microsoft.com/office/drawing/2014/main" id="{AE548684-040B-4391-A610-49B8627D013B}"/>
              </a:ext>
            </a:extLst>
          </p:cNvPr>
          <p:cNvSpPr>
            <a:spLocks noGrp="1"/>
          </p:cNvSpPr>
          <p:nvPr/>
        </p:nvSpPr>
        <p:spPr>
          <a:xfrm>
            <a:off x="1488256" y="3686175"/>
            <a:ext cx="1952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合并相同识别进度</a:t>
            </a:r>
          </a:p>
        </p:txBody>
      </p:sp>
      <p:sp>
        <p:nvSpPr>
          <p:cNvPr id="27" name="family-4-2">
            <a:extLst>
              <a:ext uri="{FF2B5EF4-FFF2-40B4-BE49-F238E27FC236}">
                <a16:creationId xmlns:a16="http://schemas.microsoft.com/office/drawing/2014/main" id="{79C8C070-AB9B-4439-A8B2-F63E4B479D4F}"/>
              </a:ext>
            </a:extLst>
          </p:cNvPr>
          <p:cNvSpPr>
            <a:spLocks noGrp="1"/>
          </p:cNvSpPr>
          <p:nvPr/>
        </p:nvSpPr>
        <p:spPr>
          <a:xfrm>
            <a:off x="3440881" y="3686175"/>
            <a:ext cx="1952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合并的 lookahead</a:t>
            </a:r>
          </a:p>
        </p:txBody>
      </p:sp>
      <p:sp>
        <p:nvSpPr>
          <p:cNvPr id="28" name="family-4-3">
            <a:extLst>
              <a:ext uri="{FF2B5EF4-FFF2-40B4-BE49-F238E27FC236}">
                <a16:creationId xmlns:a16="http://schemas.microsoft.com/office/drawing/2014/main" id="{41DDE0BF-8015-4039-A065-8294B18742BD}"/>
              </a:ext>
            </a:extLst>
          </p:cNvPr>
          <p:cNvSpPr>
            <a:spLocks noGrp="1"/>
          </p:cNvSpPr>
          <p:nvPr/>
        </p:nvSpPr>
        <p:spPr>
          <a:xfrm>
            <a:off x="5393506" y="3686175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接近 LR(1)</a:t>
            </a:r>
          </a:p>
        </p:txBody>
      </p:sp>
      <p:sp>
        <p:nvSpPr>
          <p:cNvPr id="29" name="family-4-4">
            <a:extLst>
              <a:ext uri="{FF2B5EF4-FFF2-40B4-BE49-F238E27FC236}">
                <a16:creationId xmlns:a16="http://schemas.microsoft.com/office/drawing/2014/main" id="{D49C4EE8-9716-4B60-96EC-6EFBAFFBB8D7}"/>
              </a:ext>
            </a:extLst>
          </p:cNvPr>
          <p:cNvSpPr>
            <a:spLocks noGrp="1"/>
          </p:cNvSpPr>
          <p:nvPr/>
        </p:nvSpPr>
        <p:spPr>
          <a:xfrm>
            <a:off x="7393756" y="3686175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88" b="0">
                <a:solidFill>
                  <a:srgbClr val="454545"/>
                </a:solidFill>
              </a:defRPr>
            </a:pPr>
            <a:r>
              <a:rPr sz="1088" b="0">
                <a:solidFill>
                  <a:srgbClr val="454545"/>
                </a:solidFill>
              </a:rPr>
              <a:t>接近 SLR</a:t>
            </a:r>
          </a:p>
        </p:txBody>
      </p:sp>
      <p:sp>
        <p:nvSpPr>
          <p:cNvPr id="30" name="takeaway-35">
            <a:extLst>
              <a:ext uri="{FF2B5EF4-FFF2-40B4-BE49-F238E27FC236}">
                <a16:creationId xmlns:a16="http://schemas.microsoft.com/office/drawing/2014/main" id="{F0E5C1D9-12F4-4291-AB92-9B458AC97EC4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工程上 LALR(1) 更常见：yacc / Bison 默认模式和大量既有文法都使用它；当状态合并引入额外冲突时，Bison 可以改用完整 LR(1)。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讨论：为什么有 ALL(*)，却很少谈 LR(*)？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79CF87E8-8F71-04A5-6F3A-BEE8F630D5E2}" type="slidenum">
              <a:rPr/>
              <a:t>49</a:t>
            </a:fld>
            <a:endParaRPr/>
          </a:p>
        </p:txBody>
      </p:sp>
      <p:sp>
        <p:nvSpPr>
          <p:cNvPr id="5" name="false-conflict">
            <a:extLst>
              <a:ext uri="{FF2B5EF4-FFF2-40B4-BE49-F238E27FC236}">
                <a16:creationId xmlns:a16="http://schemas.microsoft.com/office/drawing/2014/main" id="{BDF8E21B-5D23-423F-B85E-C3D78D0E9431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3667125" cy="22383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ALL(*)：避免共同前缀改写</a:t>
            </a:r>
          </a:p>
          <a:p>
            <a:endParaRPr sz="1425" b="1">
              <a:solidFill>
                <a:srgbClr val="2D7C93"/>
              </a:solidFill>
            </a:endParaRPr>
          </a:p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例子：stmt → ID LPAREN args RPAREN</a:t>
            </a:r>
          </a:p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        | ID EQUAL expr</a:t>
            </a: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endParaRPr sz="1238" b="1">
              <a:solidFill>
                <a:srgbClr val="2D7C93"/>
              </a:solidFill>
            </a:endParaRPr>
          </a:p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LL(1) 见到 ID 时必须选择</a:t>
            </a:r>
          </a:p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ALL(*) 可继续看到 LPAREN / EQUAL</a:t>
            </a:r>
          </a:p>
        </p:txBody>
      </p:sp>
      <p:sp>
        <p:nvSpPr>
          <p:cNvPr id="6" name="real-conflict">
            <a:extLst>
              <a:ext uri="{FF2B5EF4-FFF2-40B4-BE49-F238E27FC236}">
                <a16:creationId xmlns:a16="http://schemas.microsoft.com/office/drawing/2014/main" id="{A0AF9AD8-FE63-448F-9BAA-67268F8F7066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3667125" cy="223837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LR(1)：已经能够延迟选择</a:t>
            </a:r>
          </a:p>
          <a:p>
            <a:endParaRPr sz="1425" b="1">
              <a:solidFill>
                <a:srgbClr val="C4384D"/>
              </a:solidFill>
            </a:endParaRPr>
          </a:p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先 shift ID，不急于选择产生式</a:t>
            </a:r>
          </a:p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看到 LPAREN / EQUAL 后再区分</a:t>
            </a:r>
          </a:p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endParaRPr sz="1238" b="1">
              <a:solidFill>
                <a:srgbClr val="C4384D"/>
              </a:solidFill>
            </a:endParaRPr>
          </a:p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剩余冲突常来自歧义</a:t>
            </a:r>
          </a:p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增加 k 未必有效，表却会更大</a:t>
            </a:r>
          </a:p>
        </p:txBody>
      </p:sp>
      <p:sp>
        <p:nvSpPr>
          <p:cNvPr id="7" name="takeaway-37">
            <a:extLst>
              <a:ext uri="{FF2B5EF4-FFF2-40B4-BE49-F238E27FC236}">
                <a16:creationId xmlns:a16="http://schemas.microsoft.com/office/drawing/2014/main" id="{A5D03AF1-151C-4DEB-8205-5DE44547F4C9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LR(k) 仍能让少数文法更紧凑，但收益有限；工程上更常用 precedence、文法改写等方法。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LR 中的冲突与消解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冲突从哪里来？应该升级分析方法、声明规则，还是修改文法？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74175A-4E66-87FD-D56A-AAD4D4BBF877}" type="slidenum">
              <a:rPr/>
              <a:t>50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判断冲突：沿两种动作继续分析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491E0C6-B3E9-2F0E-6F4F-4638278C4AE4}" type="slidenum">
              <a:t>51</a:t>
            </a:fld>
            <a:endParaRPr/>
          </a:p>
        </p:txBody>
      </p:sp>
      <p:sp>
        <p:nvSpPr>
          <p:cNvPr id="5" name="false-conflict">
            <a:extLst>
              <a:ext uri="{FF2B5EF4-FFF2-40B4-BE49-F238E27FC236}">
                <a16:creationId xmlns:a16="http://schemas.microsoft.com/office/drawing/2014/main" id="{BDF8E21B-5D23-423F-B85E-C3D78D0E9431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3667125" cy="22383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只有一条路径最终成功</a:t>
            </a:r>
          </a:p>
          <a:p>
            <a:endParaRPr sz="1425" b="1">
              <a:solidFill>
                <a:srgbClr val="2D7C93"/>
              </a:solidFill>
            </a:endParaRP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另一条路径在后续 Token 处失败</a:t>
            </a: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→ 当前分析方法信息不足</a:t>
            </a: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例：赋值文法的 SLR 冲突</a:t>
            </a:r>
          </a:p>
        </p:txBody>
      </p:sp>
      <p:sp>
        <p:nvSpPr>
          <p:cNvPr id="6" name="real-conflict">
            <a:extLst>
              <a:ext uri="{FF2B5EF4-FFF2-40B4-BE49-F238E27FC236}">
                <a16:creationId xmlns:a16="http://schemas.microsoft.com/office/drawing/2014/main" id="{A0AF9AD8-FE63-448F-9BAA-67268F8F7066}"/>
              </a:ext>
            </a:extLst>
          </p:cNvPr>
          <p:cNvSpPr>
            <a:spLocks noGrp="1"/>
          </p:cNvSpPr>
          <p:nvPr/>
        </p:nvSpPr>
        <p:spPr>
          <a:xfrm>
            <a:off x="4762500" y="1809750"/>
            <a:ext cx="3667125" cy="223837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7374D"/>
                </a:solidFill>
              </a:defRPr>
            </a:pPr>
            <a:r>
              <a:rPr sz="1425" b="1">
                <a:solidFill>
                  <a:srgbClr val="C7374D"/>
                </a:solidFill>
              </a:rPr>
              <a:t>两条路径都能完整接受</a:t>
            </a:r>
          </a:p>
          <a:p>
            <a:endParaRPr sz="1425" b="1">
              <a:solidFill>
                <a:srgbClr val="C7374D"/>
              </a:solidFill>
            </a:endParaRPr>
          </a:p>
          <a:p>
            <a:pPr algn="ctr">
              <a:buNone/>
              <a:defRPr sz="1425" b="1">
                <a:solidFill>
                  <a:srgbClr val="C7374D"/>
                </a:solidFill>
              </a:defRPr>
            </a:pPr>
            <a:r>
              <a:rPr sz="1425" b="1">
                <a:solidFill>
                  <a:srgbClr val="C7374D"/>
                </a:solidFill>
              </a:rPr>
              <a:t>同一输入得到两棵不同 Parse Tree</a:t>
            </a:r>
          </a:p>
          <a:p>
            <a:pPr algn="ctr">
              <a:buNone/>
              <a:defRPr sz="1425" b="1">
                <a:solidFill>
                  <a:srgbClr val="C7374D"/>
                </a:solidFill>
              </a:defRPr>
            </a:pPr>
            <a:r>
              <a:rPr sz="1425" b="1">
                <a:solidFill>
                  <a:srgbClr val="C7374D"/>
                </a:solidFill>
              </a:rPr>
              <a:t>→ 文法本身存在歧义</a:t>
            </a:r>
          </a:p>
          <a:p>
            <a:pPr algn="ctr">
              <a:buNone/>
              <a:defRPr sz="1425" b="1">
                <a:solidFill>
                  <a:srgbClr val="C7374D"/>
                </a:solidFill>
              </a:defRPr>
            </a:pPr>
            <a:r>
              <a:rPr sz="1425" b="1">
                <a:solidFill>
                  <a:srgbClr val="C7374D"/>
                </a:solidFill>
              </a:rPr>
              <a:t>例：1 + 2 * 3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5724"/>
          </a:bodyPr>
          <a:lstStyle/>
          <a:p>
            <a:r>
              <a:rPr>
                <a:latin typeface="Arial"/>
                <a:ea typeface="Arial"/>
                <a:cs typeface="Arial"/>
              </a:rPr>
              <a:t>经典真实歧义：算符优先级没有写进文法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043A58D-60CA-DFB2-80EC-B65AE4CB9481}" type="slidenum">
              <a:rPr/>
              <a:t>52</a:t>
            </a:fld>
            <a:endParaRPr/>
          </a:p>
        </p:txBody>
      </p:sp>
      <p:sp>
        <p:nvSpPr>
          <p:cNvPr id="5" name="amb-expr">
            <a:extLst>
              <a:ext uri="{FF2B5EF4-FFF2-40B4-BE49-F238E27FC236}">
                <a16:creationId xmlns:a16="http://schemas.microsoft.com/office/drawing/2014/main" id="{52D6B292-DEF5-4A8C-9717-47743B2DEEDE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238500" cy="157162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 dirty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expr PLUS expr</a:t>
            </a: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 dirty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expr STAR expr</a:t>
            </a:r>
          </a:p>
          <a:p>
            <a:pPr algn="l">
              <a:buNone/>
              <a:defRPr sz="14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425" b="0" dirty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INT</a:t>
            </a:r>
          </a:p>
        </p:txBody>
      </p:sp>
      <p:sp>
        <p:nvSpPr>
          <p:cNvPr id="6" name="amb-items">
            <a:extLst>
              <a:ext uri="{FF2B5EF4-FFF2-40B4-BE49-F238E27FC236}">
                <a16:creationId xmlns:a16="http://schemas.microsoft.com/office/drawing/2014/main" id="{277671F1-D532-47B3-908D-2060685DC8F4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905250" cy="157162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STAR expr ·, PLUS]</a:t>
            </a:r>
          </a:p>
          <a:p>
            <a:pPr algn="l">
              <a:buNone/>
              <a:defRPr sz="1238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3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[expr → expr · PLUS expr, PLUS]</a:t>
            </a:r>
          </a:p>
        </p:txBody>
      </p:sp>
      <p:sp>
        <p:nvSpPr>
          <p:cNvPr id="7" name="amb-choice">
            <a:extLst>
              <a:ext uri="{FF2B5EF4-FFF2-40B4-BE49-F238E27FC236}">
                <a16:creationId xmlns:a16="http://schemas.microsoft.com/office/drawing/2014/main" id="{2F6E546A-378C-4698-8A30-A27A081E6180}"/>
              </a:ext>
            </a:extLst>
          </p:cNvPr>
          <p:cNvSpPr>
            <a:spLocks noGrp="1"/>
          </p:cNvSpPr>
          <p:nvPr/>
        </p:nvSpPr>
        <p:spPr>
          <a:xfrm>
            <a:off x="1047750" y="3667125"/>
            <a:ext cx="7048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current = PLUS：reduce 表示 STAR 优先；shift 表示 PLUS优先。</a:t>
            </a:r>
          </a:p>
        </p:txBody>
      </p:sp>
      <p:sp>
        <p:nvSpPr>
          <p:cNvPr id="8" name="takeaway-38">
            <a:extLst>
              <a:ext uri="{FF2B5EF4-FFF2-40B4-BE49-F238E27FC236}">
                <a16:creationId xmlns:a16="http://schemas.microsoft.com/office/drawing/2014/main" id="{1B22C1C5-E9D1-453F-AC4A-68773BD39E3A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此处冲突对应真实的两棵 Parse Tree；必须由语言设计规定优先级。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622"/>
          </a:bodyPr>
          <a:lstStyle/>
          <a:p>
            <a:r>
              <a:rPr>
                <a:latin typeface="Arial"/>
                <a:ea typeface="Arial"/>
                <a:cs typeface="Arial"/>
              </a:rPr>
              <a:t>优先级和结合性可以直接成为冲突处理规则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633A456-5465-3671-5B0B-A8DFBB753E5A}" type="slidenum">
              <a:rPr/>
              <a:t>53</a:t>
            </a:fld>
            <a:endParaRPr/>
          </a:p>
        </p:txBody>
      </p:sp>
      <p:sp>
        <p:nvSpPr>
          <p:cNvPr id="5" name="subtitle-33">
            <a:extLst>
              <a:ext uri="{FF2B5EF4-FFF2-40B4-BE49-F238E27FC236}">
                <a16:creationId xmlns:a16="http://schemas.microsoft.com/office/drawing/2014/main" id="{3B8988C1-7D11-4713-8986-42A6F0B6739B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现有工具（Parser generator）通常允许不改写文法，而是给 Token 和产生式声明优先级。</a:t>
            </a:r>
          </a:p>
        </p:txBody>
      </p:sp>
      <p:sp>
        <p:nvSpPr>
          <p:cNvPr id="6" name="prec-table-0-0">
            <a:extLst>
              <a:ext uri="{FF2B5EF4-FFF2-40B4-BE49-F238E27FC236}">
                <a16:creationId xmlns:a16="http://schemas.microsoft.com/office/drawing/2014/main" id="{378387EB-1FBA-468A-A8F8-F2565B3F00A9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2286000" cy="6286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400" b="1">
                <a:solidFill>
                  <a:srgbClr val="454545"/>
                </a:solidFill>
              </a:rPr>
              <a:t>比较</a:t>
            </a:r>
          </a:p>
        </p:txBody>
      </p:sp>
      <p:sp>
        <p:nvSpPr>
          <p:cNvPr id="7" name="prec-table-0-1">
            <a:extLst>
              <a:ext uri="{FF2B5EF4-FFF2-40B4-BE49-F238E27FC236}">
                <a16:creationId xmlns:a16="http://schemas.microsoft.com/office/drawing/2014/main" id="{25304224-BF61-4744-ADBD-490A7C12B574}"/>
              </a:ext>
            </a:extLst>
          </p:cNvPr>
          <p:cNvSpPr>
            <a:spLocks noGrp="1"/>
          </p:cNvSpPr>
          <p:nvPr/>
        </p:nvSpPr>
        <p:spPr>
          <a:xfrm>
            <a:off x="3048000" y="1762125"/>
            <a:ext cx="2571750" cy="6286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454545"/>
                </a:solidFill>
              </a:defRPr>
            </a:pPr>
            <a:r>
              <a:rPr sz="1400" b="1">
                <a:solidFill>
                  <a:srgbClr val="454545"/>
                </a:solidFill>
              </a:rPr>
              <a:t>选择</a:t>
            </a:r>
          </a:p>
        </p:txBody>
      </p:sp>
      <p:sp>
        <p:nvSpPr>
          <p:cNvPr id="8" name="prec-table-0-2">
            <a:extLst>
              <a:ext uri="{FF2B5EF4-FFF2-40B4-BE49-F238E27FC236}">
                <a16:creationId xmlns:a16="http://schemas.microsoft.com/office/drawing/2014/main" id="{A90ABC59-C8F7-4A6B-9CC8-063FD8F93EB5}"/>
              </a:ext>
            </a:extLst>
          </p:cNvPr>
          <p:cNvSpPr>
            <a:spLocks noGrp="1"/>
          </p:cNvSpPr>
          <p:nvPr/>
        </p:nvSpPr>
        <p:spPr>
          <a:xfrm>
            <a:off x="5619750" y="1762125"/>
            <a:ext cx="3333750" cy="628650"/>
          </a:xfrm>
          <a:prstGeom prst="rect">
            <a:avLst/>
          </a:prstGeom>
          <a:solidFill>
            <a:srgbClr val="E5E7E9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163" b="1">
                <a:solidFill>
                  <a:srgbClr val="454545"/>
                </a:solidFill>
              </a:defRPr>
            </a:pPr>
            <a:r>
              <a:rPr sz="1400" b="1">
                <a:solidFill>
                  <a:srgbClr val="454545"/>
                </a:solidFill>
              </a:rPr>
              <a:t>含义</a:t>
            </a:r>
          </a:p>
        </p:txBody>
      </p:sp>
      <p:sp>
        <p:nvSpPr>
          <p:cNvPr id="9" name="prec-table-1-0">
            <a:extLst>
              <a:ext uri="{FF2B5EF4-FFF2-40B4-BE49-F238E27FC236}">
                <a16:creationId xmlns:a16="http://schemas.microsoft.com/office/drawing/2014/main" id="{EDA1F280-85E3-43C2-8737-F15F87E75EEB}"/>
              </a:ext>
            </a:extLst>
          </p:cNvPr>
          <p:cNvSpPr>
            <a:spLocks noGrp="1"/>
          </p:cNvSpPr>
          <p:nvPr/>
        </p:nvSpPr>
        <p:spPr>
          <a:xfrm>
            <a:off x="762000" y="2390775"/>
            <a:ext cx="228600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400" b="0" dirty="0">
                <a:solidFill>
                  <a:srgbClr val="454545"/>
                </a:solidFill>
              </a:rPr>
              <a:t>lookahead </a:t>
            </a:r>
            <a:r>
              <a:rPr sz="1400" b="0" dirty="0" err="1">
                <a:solidFill>
                  <a:srgbClr val="454545"/>
                </a:solidFill>
              </a:rPr>
              <a:t>优先级更高</a:t>
            </a:r>
            <a:endParaRPr sz="1400" b="0" dirty="0">
              <a:solidFill>
                <a:srgbClr val="454545"/>
              </a:solidFill>
            </a:endParaRPr>
          </a:p>
        </p:txBody>
      </p:sp>
      <p:sp>
        <p:nvSpPr>
          <p:cNvPr id="10" name="prec-table-1-1">
            <a:extLst>
              <a:ext uri="{FF2B5EF4-FFF2-40B4-BE49-F238E27FC236}">
                <a16:creationId xmlns:a16="http://schemas.microsoft.com/office/drawing/2014/main" id="{E4397D56-AA75-4AF0-B041-69D042E909D7}"/>
              </a:ext>
            </a:extLst>
          </p:cNvPr>
          <p:cNvSpPr>
            <a:spLocks noGrp="1"/>
          </p:cNvSpPr>
          <p:nvPr/>
        </p:nvSpPr>
        <p:spPr>
          <a:xfrm>
            <a:off x="3048000" y="2390775"/>
            <a:ext cx="257175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</a:defRPr>
            </a:pPr>
            <a:r>
              <a:rPr sz="1400" b="0">
                <a:solidFill>
                  <a:srgbClr val="454545"/>
                </a:solidFill>
              </a:rPr>
              <a:t>shift</a:t>
            </a:r>
          </a:p>
        </p:txBody>
      </p:sp>
      <p:sp>
        <p:nvSpPr>
          <p:cNvPr id="11" name="prec-table-1-2">
            <a:extLst>
              <a:ext uri="{FF2B5EF4-FFF2-40B4-BE49-F238E27FC236}">
                <a16:creationId xmlns:a16="http://schemas.microsoft.com/office/drawing/2014/main" id="{56C8BAD8-FCAD-4B16-9D3F-ED4E3E2497AB}"/>
              </a:ext>
            </a:extLst>
          </p:cNvPr>
          <p:cNvSpPr>
            <a:spLocks noGrp="1"/>
          </p:cNvSpPr>
          <p:nvPr/>
        </p:nvSpPr>
        <p:spPr>
          <a:xfrm>
            <a:off x="5619750" y="2390775"/>
            <a:ext cx="333375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400" b="0">
                <a:solidFill>
                  <a:srgbClr val="454545"/>
                </a:solidFill>
              </a:rPr>
              <a:t>让右侧算符先进入</a:t>
            </a:r>
          </a:p>
        </p:txBody>
      </p:sp>
      <p:sp>
        <p:nvSpPr>
          <p:cNvPr id="12" name="prec-table-2-0">
            <a:extLst>
              <a:ext uri="{FF2B5EF4-FFF2-40B4-BE49-F238E27FC236}">
                <a16:creationId xmlns:a16="http://schemas.microsoft.com/office/drawing/2014/main" id="{D90E6181-1675-45EA-A037-1AA4A7139A87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228600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400" b="0">
                <a:solidFill>
                  <a:srgbClr val="454545"/>
                </a:solidFill>
              </a:rPr>
              <a:t>产生式优先级更高</a:t>
            </a:r>
          </a:p>
        </p:txBody>
      </p:sp>
      <p:sp>
        <p:nvSpPr>
          <p:cNvPr id="13" name="prec-table-2-1">
            <a:extLst>
              <a:ext uri="{FF2B5EF4-FFF2-40B4-BE49-F238E27FC236}">
                <a16:creationId xmlns:a16="http://schemas.microsoft.com/office/drawing/2014/main" id="{6F2A0179-7FF1-4AED-B815-D533F38D86E6}"/>
              </a:ext>
            </a:extLst>
          </p:cNvPr>
          <p:cNvSpPr>
            <a:spLocks noGrp="1"/>
          </p:cNvSpPr>
          <p:nvPr/>
        </p:nvSpPr>
        <p:spPr>
          <a:xfrm>
            <a:off x="3048000" y="3019425"/>
            <a:ext cx="257175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</a:defRPr>
            </a:pPr>
            <a:r>
              <a:rPr sz="1400" b="0">
                <a:solidFill>
                  <a:srgbClr val="454545"/>
                </a:solidFill>
              </a:rPr>
              <a:t>reduce</a:t>
            </a:r>
          </a:p>
        </p:txBody>
      </p:sp>
      <p:sp>
        <p:nvSpPr>
          <p:cNvPr id="14" name="prec-table-2-2">
            <a:extLst>
              <a:ext uri="{FF2B5EF4-FFF2-40B4-BE49-F238E27FC236}">
                <a16:creationId xmlns:a16="http://schemas.microsoft.com/office/drawing/2014/main" id="{543C2A03-B798-4955-8223-F3E1E3873C04}"/>
              </a:ext>
            </a:extLst>
          </p:cNvPr>
          <p:cNvSpPr>
            <a:spLocks noGrp="1"/>
          </p:cNvSpPr>
          <p:nvPr/>
        </p:nvSpPr>
        <p:spPr>
          <a:xfrm>
            <a:off x="5619750" y="3019425"/>
            <a:ext cx="333375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400" b="0">
                <a:solidFill>
                  <a:srgbClr val="454545"/>
                </a:solidFill>
              </a:rPr>
              <a:t>先完成当前产生式</a:t>
            </a:r>
          </a:p>
        </p:txBody>
      </p:sp>
      <p:sp>
        <p:nvSpPr>
          <p:cNvPr id="15" name="prec-table-3-0">
            <a:extLst>
              <a:ext uri="{FF2B5EF4-FFF2-40B4-BE49-F238E27FC236}">
                <a16:creationId xmlns:a16="http://schemas.microsoft.com/office/drawing/2014/main" id="{04C2F443-0427-4E12-9926-EB35C57155C2}"/>
              </a:ext>
            </a:extLst>
          </p:cNvPr>
          <p:cNvSpPr>
            <a:spLocks noGrp="1"/>
          </p:cNvSpPr>
          <p:nvPr/>
        </p:nvSpPr>
        <p:spPr>
          <a:xfrm>
            <a:off x="762000" y="3648075"/>
            <a:ext cx="228600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400" b="0">
                <a:solidFill>
                  <a:srgbClr val="454545"/>
                </a:solidFill>
              </a:rPr>
              <a:t>优先级相同</a:t>
            </a:r>
          </a:p>
        </p:txBody>
      </p:sp>
      <p:sp>
        <p:nvSpPr>
          <p:cNvPr id="16" name="prec-table-3-1">
            <a:extLst>
              <a:ext uri="{FF2B5EF4-FFF2-40B4-BE49-F238E27FC236}">
                <a16:creationId xmlns:a16="http://schemas.microsoft.com/office/drawing/2014/main" id="{1FDD85AE-1070-4065-9809-4D2B2081EF10}"/>
              </a:ext>
            </a:extLst>
          </p:cNvPr>
          <p:cNvSpPr>
            <a:spLocks noGrp="1"/>
          </p:cNvSpPr>
          <p:nvPr/>
        </p:nvSpPr>
        <p:spPr>
          <a:xfrm>
            <a:off x="3048000" y="3648075"/>
            <a:ext cx="257175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454545"/>
                </a:solidFill>
              </a:defRPr>
            </a:pPr>
            <a:r>
              <a:rPr sz="1400" b="0">
                <a:solidFill>
                  <a:srgbClr val="454545"/>
                </a:solidFill>
              </a:rPr>
              <a:t>看结合性</a:t>
            </a:r>
          </a:p>
        </p:txBody>
      </p:sp>
      <p:sp>
        <p:nvSpPr>
          <p:cNvPr id="17" name="prec-table-3-2">
            <a:extLst>
              <a:ext uri="{FF2B5EF4-FFF2-40B4-BE49-F238E27FC236}">
                <a16:creationId xmlns:a16="http://schemas.microsoft.com/office/drawing/2014/main" id="{0CA7F051-7F7E-4AEF-954B-2B90FF814473}"/>
              </a:ext>
            </a:extLst>
          </p:cNvPr>
          <p:cNvSpPr>
            <a:spLocks noGrp="1"/>
          </p:cNvSpPr>
          <p:nvPr/>
        </p:nvSpPr>
        <p:spPr>
          <a:xfrm>
            <a:off x="5619750" y="3648075"/>
            <a:ext cx="3333750" cy="628650"/>
          </a:xfrm>
          <a:prstGeom prst="rect">
            <a:avLst/>
          </a:prstGeom>
          <a:solidFill>
            <a:srgbClr val="FFFFFF"/>
          </a:solidFill>
          <a:ln w="7620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454545"/>
                </a:solidFill>
              </a:defRPr>
            </a:pPr>
            <a:r>
              <a:rPr sz="1400" b="0">
                <a:solidFill>
                  <a:srgbClr val="454545"/>
                </a:solidFill>
              </a:rPr>
              <a:t>左结合 reduce；右结合 shift</a:t>
            </a:r>
          </a:p>
        </p:txBody>
      </p:sp>
      <p:sp>
        <p:nvSpPr>
          <p:cNvPr id="18" name="takeaway-39">
            <a:extLst>
              <a:ext uri="{FF2B5EF4-FFF2-40B4-BE49-F238E27FC236}">
                <a16:creationId xmlns:a16="http://schemas.microsoft.com/office/drawing/2014/main" id="{2B06C975-DD07-4727-AEBE-CC61A4F27DA0}"/>
              </a:ext>
            </a:extLst>
          </p:cNvPr>
          <p:cNvSpPr>
            <a:spLocks noGrp="1"/>
          </p:cNvSpPr>
          <p:nvPr/>
        </p:nvSpPr>
        <p:spPr>
          <a:xfrm>
            <a:off x="647700" y="466725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这不是 Parser 猜测，而是把语言的优先级规则编译进 ACTION 表。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Bison：用优先级声明解决冲突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477B42F-3A06-F812-16D6-7080D8A12563}" type="slidenum">
              <a:t>54</a:t>
            </a:fld>
            <a:endParaRPr/>
          </a:p>
        </p:txBody>
      </p:sp>
      <p:sp>
        <p:nvSpPr>
          <p:cNvPr id="5" name="bison-prec">
            <a:extLst>
              <a:ext uri="{FF2B5EF4-FFF2-40B4-BE49-F238E27FC236}">
                <a16:creationId xmlns:a16="http://schemas.microsoft.com/office/drawing/2014/main" id="{DB81E5FC-C46B-4DEA-A6C2-6122E90519B2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3333750" cy="233362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%left PLUS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%left STAR</a:t>
            </a:r>
          </a:p>
          <a:p>
            <a:endParaRPr sz="1313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%%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expr: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expr PLUS expr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| expr STAR expr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| INT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;</a:t>
            </a:r>
          </a:p>
        </p:txBody>
      </p:sp>
      <p:sp>
        <p:nvSpPr>
          <p:cNvPr id="6" name="bison-prec-explain">
            <a:extLst>
              <a:ext uri="{FF2B5EF4-FFF2-40B4-BE49-F238E27FC236}">
                <a16:creationId xmlns:a16="http://schemas.microsoft.com/office/drawing/2014/main" id="{E2A34BD2-54EE-44B4-B0A4-1BCB293D96DF}"/>
              </a:ext>
            </a:extLst>
          </p:cNvPr>
          <p:cNvSpPr>
            <a:spLocks noGrp="1"/>
          </p:cNvSpPr>
          <p:nvPr/>
        </p:nvSpPr>
        <p:spPr>
          <a:xfrm>
            <a:off x="4810125" y="1762125"/>
            <a:ext cx="3524250" cy="20955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声明顺序表示优先级：</a:t>
            </a: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STAR 高于 PLUS</a:t>
            </a:r>
          </a:p>
          <a:p>
            <a:endParaRPr sz="1425" b="1">
              <a:solidFill>
                <a:srgbClr val="2D7C93"/>
              </a:solidFill>
            </a:endParaRP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%left 表示同级左结合</a:t>
            </a:r>
          </a:p>
          <a:p>
            <a:endParaRPr sz="1425" b="1">
              <a:solidFill>
                <a:srgbClr val="2D7C93"/>
              </a:solidFill>
            </a:endParaRP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生成器据此解决相应的</a:t>
            </a: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shift/reduce conflict</a:t>
            </a:r>
          </a:p>
        </p:txBody>
      </p:sp>
      <p:sp>
        <p:nvSpPr>
          <p:cNvPr id="7" name="bison-source">
            <a:extLst>
              <a:ext uri="{FF2B5EF4-FFF2-40B4-BE49-F238E27FC236}">
                <a16:creationId xmlns:a16="http://schemas.microsoft.com/office/drawing/2014/main" id="{1FE4F42E-34D9-4499-877E-C2CACFC77BC1}"/>
              </a:ext>
            </a:extLst>
          </p:cNvPr>
          <p:cNvSpPr>
            <a:spLocks noGrp="1"/>
          </p:cNvSpPr>
          <p:nvPr/>
        </p:nvSpPr>
        <p:spPr>
          <a:xfrm>
            <a:off x="4810125" y="4095750"/>
            <a:ext cx="352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>
                <a:solidFill>
                  <a:srgbClr val="777777"/>
                </a:solidFill>
              </a:defRPr>
            </a:pPr>
            <a:r>
              <a:rPr sz="1050">
                <a:solidFill>
                  <a:srgbClr val="777777"/>
                </a:solidFill>
              </a:rPr>
              <a:t>语法形式采用 GNU Bison 常见写法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dangling else：默认 shift 恰好实现“匹配最近 IF”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FFCF489-DFD6-64BD-BCB3-4D97AF36B1FB}" type="slidenum">
              <a:t>55</a:t>
            </a:fld>
            <a:endParaRPr/>
          </a:p>
        </p:txBody>
      </p:sp>
      <p:sp>
        <p:nvSpPr>
          <p:cNvPr id="5" name="else-items">
            <a:extLst>
              <a:ext uri="{FF2B5EF4-FFF2-40B4-BE49-F238E27FC236}">
                <a16:creationId xmlns:a16="http://schemas.microsoft.com/office/drawing/2014/main" id="{CD9E95B2-EFEB-4F33-9933-C483BA1379DB}"/>
              </a:ext>
            </a:extLst>
          </p:cNvPr>
          <p:cNvSpPr>
            <a:spLocks noGrp="1"/>
          </p:cNvSpPr>
          <p:nvPr/>
        </p:nvSpPr>
        <p:spPr>
          <a:xfrm>
            <a:off x="714375" y="1762125"/>
            <a:ext cx="4476750" cy="16192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[stmt → IF cond stmt ·, ELSE]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[stmt → IF cond stmt · ELSE stmt, x]</a:t>
            </a:r>
          </a:p>
        </p:txBody>
      </p:sp>
      <p:sp>
        <p:nvSpPr>
          <p:cNvPr id="6" name="else-choice">
            <a:extLst>
              <a:ext uri="{FF2B5EF4-FFF2-40B4-BE49-F238E27FC236}">
                <a16:creationId xmlns:a16="http://schemas.microsoft.com/office/drawing/2014/main" id="{247F3ACA-8B0C-4D9C-9D25-A978F3244F2C}"/>
              </a:ext>
            </a:extLst>
          </p:cNvPr>
          <p:cNvSpPr>
            <a:spLocks noGrp="1"/>
          </p:cNvSpPr>
          <p:nvPr/>
        </p:nvSpPr>
        <p:spPr>
          <a:xfrm>
            <a:off x="5810250" y="1762125"/>
            <a:ext cx="2571750" cy="1619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current = ELSE</a:t>
            </a:r>
          </a:p>
          <a:p>
            <a:endParaRPr sz="1350" b="1">
              <a:solidFill>
                <a:srgbClr val="454545"/>
              </a:solidFill>
            </a:endParaRP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shift：继续第二条产生式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reduce：结束第一条产生式</a:t>
            </a:r>
          </a:p>
        </p:txBody>
      </p:sp>
      <p:sp>
        <p:nvSpPr>
          <p:cNvPr id="7" name="else-policy">
            <a:extLst>
              <a:ext uri="{FF2B5EF4-FFF2-40B4-BE49-F238E27FC236}">
                <a16:creationId xmlns:a16="http://schemas.microsoft.com/office/drawing/2014/main" id="{3EDD1496-FCF3-4F02-854C-E643AE03A35D}"/>
              </a:ext>
            </a:extLst>
          </p:cNvPr>
          <p:cNvSpPr>
            <a:spLocks noGrp="1"/>
          </p:cNvSpPr>
          <p:nvPr/>
        </p:nvSpPr>
        <p:spPr>
          <a:xfrm>
            <a:off x="1666875" y="3714750"/>
            <a:ext cx="5810250" cy="5524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2D7C93"/>
                </a:solidFill>
              </a:defRPr>
            </a:pPr>
            <a:r>
              <a:rPr sz="1313" b="1">
                <a:solidFill>
                  <a:srgbClr val="2D7C93"/>
                </a:solidFill>
              </a:rPr>
              <a:t>许多生成器在未声明时默认 shift；但工程上应显式记录或消除预期冲突。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Reduce/Reduce conflict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C0BC6D5-207B-F838-F994-CD836D38A6B0}" type="slidenum">
              <a:rPr/>
              <a:t>56</a:t>
            </a:fld>
            <a:endParaRPr/>
          </a:p>
        </p:txBody>
      </p:sp>
      <p:sp>
        <p:nvSpPr>
          <p:cNvPr id="5" name="rr-grammar">
            <a:extLst>
              <a:ext uri="{FF2B5EF4-FFF2-40B4-BE49-F238E27FC236}">
                <a16:creationId xmlns:a16="http://schemas.microsoft.com/office/drawing/2014/main" id="{CEBADF30-DFE2-476B-A6AD-221879A76CBC}"/>
              </a:ext>
            </a:extLst>
          </p:cNvPr>
          <p:cNvSpPr>
            <a:spLocks noGrp="1"/>
          </p:cNvSpPr>
          <p:nvPr/>
        </p:nvSpPr>
        <p:spPr>
          <a:xfrm>
            <a:off x="619125" y="1666875"/>
            <a:ext cx="2190750" cy="2381250"/>
          </a:xfrm>
          <a:prstGeom prst="roundRect">
            <a:avLst>
              <a:gd name="adj" fmla="val 4348"/>
            </a:avLst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133350" tIns="133350" rIns="133350" bIns="133350" anchor="ctr"/>
          <a:lstStyle/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600" b="1" dirty="0" err="1">
                <a:solidFill>
                  <a:srgbClr val="555555"/>
                </a:solidFill>
                <a:latin typeface="Menlo"/>
                <a:ea typeface="Menlo"/>
                <a:cs typeface="Menlo"/>
              </a:rPr>
              <a:t>文法</a:t>
            </a:r>
            <a:endParaRPr sz="1600" b="1" dirty="0">
              <a:solidFill>
                <a:srgbClr val="55555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 dirty="0">
                <a:solidFill>
                  <a:srgbClr val="444444"/>
                </a:solidFill>
                <a:latin typeface="Menlo"/>
                <a:ea typeface="Menlo"/>
                <a:cs typeface="Menlo"/>
              </a:rPr>
              <a:t>start → name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 dirty="0">
                <a:solidFill>
                  <a:srgbClr val="444444"/>
                </a:solidFill>
                <a:latin typeface="Menlo"/>
                <a:ea typeface="Menlo"/>
                <a:cs typeface="Menlo"/>
              </a:rPr>
              <a:t>      | target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 dirty="0">
                <a:solidFill>
                  <a:srgbClr val="444444"/>
                </a:solidFill>
                <a:latin typeface="Menlo"/>
                <a:ea typeface="Menlo"/>
                <a:cs typeface="Menlo"/>
              </a:rPr>
              <a:t>name → ID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 dirty="0">
                <a:solidFill>
                  <a:srgbClr val="444444"/>
                </a:solidFill>
                <a:latin typeface="Menlo"/>
                <a:ea typeface="Menlo"/>
                <a:cs typeface="Menlo"/>
              </a:rPr>
              <a:t>target → ID</a:t>
            </a:r>
          </a:p>
        </p:txBody>
      </p:sp>
      <p:sp>
        <p:nvSpPr>
          <p:cNvPr id="6" name="rr-two">
            <a:extLst>
              <a:ext uri="{FF2B5EF4-FFF2-40B4-BE49-F238E27FC236}">
                <a16:creationId xmlns:a16="http://schemas.microsoft.com/office/drawing/2014/main" id="{F262302D-DFBD-41F3-B404-345E39F705CF}"/>
              </a:ext>
            </a:extLst>
          </p:cNvPr>
          <p:cNvSpPr>
            <a:spLocks noGrp="1"/>
          </p:cNvSpPr>
          <p:nvPr/>
        </p:nvSpPr>
        <p:spPr>
          <a:xfrm>
            <a:off x="6238875" y="1666875"/>
            <a:ext cx="2428875" cy="2381250"/>
          </a:xfrm>
          <a:prstGeom prst="roundRect">
            <a:avLst>
              <a:gd name="adj" fmla="val 4000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33350" tIns="133350" rIns="133350" bIns="133350" anchor="ctr"/>
          <a:lstStyle/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600" b="1">
                <a:solidFill>
                  <a:srgbClr val="C7374D"/>
                </a:solidFill>
                <a:latin typeface="Menlo"/>
                <a:ea typeface="Menlo"/>
                <a:cs typeface="Menlo"/>
              </a:rPr>
              <a:t>I₁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444444"/>
                </a:solidFill>
                <a:latin typeface="Menlo"/>
                <a:ea typeface="Menlo"/>
                <a:cs typeface="Menlo"/>
              </a:rPr>
              <a:t>name → ID ·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444444"/>
                </a:solidFill>
                <a:latin typeface="Menlo"/>
                <a:ea typeface="Menlo"/>
                <a:cs typeface="Menlo"/>
              </a:rPr>
              <a:t>target → ID ·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endParaRPr/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444444"/>
                </a:solidFill>
                <a:latin typeface="Menlo"/>
                <a:ea typeface="Menlo"/>
                <a:cs typeface="Menlo"/>
              </a:rPr>
              <a:t>current = $</a:t>
            </a:r>
          </a:p>
        </p:txBody>
      </p:sp>
      <p:sp>
        <p:nvSpPr>
          <p:cNvPr id="7" name="takeaway-42">
            <a:extLst>
              <a:ext uri="{FF2B5EF4-FFF2-40B4-BE49-F238E27FC236}">
                <a16:creationId xmlns:a16="http://schemas.microsoft.com/office/drawing/2014/main" id="{EA29D0AA-2A57-49E3-AB39-79E43C56A84A}"/>
              </a:ext>
            </a:extLst>
          </p:cNvPr>
          <p:cNvSpPr>
            <a:spLocks noGrp="1"/>
          </p:cNvSpPr>
          <p:nvPr/>
        </p:nvSpPr>
        <p:spPr>
          <a:xfrm>
            <a:off x="647700" y="4552950"/>
            <a:ext cx="8020050" cy="6477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7374D"/>
                </a:solidFill>
              </a:defRPr>
            </a:pPr>
            <a:r>
              <a:rPr sz="1350" b="1">
                <a:solidFill>
                  <a:srgbClr val="C7374D"/>
                </a:solidFill>
              </a:rPr>
              <a:t>R/R conflict：同一 ACTION 表项中存在两个 reduce</a:t>
            </a:r>
          </a:p>
          <a:p>
            <a:pPr algn="ctr">
              <a:buNone/>
              <a:defRPr sz="1350" b="1">
                <a:solidFill>
                  <a:srgbClr val="C7374D"/>
                </a:solidFill>
              </a:defRPr>
            </a:pPr>
            <a:r>
              <a:rPr sz="1350" b="1">
                <a:solidFill>
                  <a:srgbClr val="C7374D"/>
                </a:solidFill>
              </a:rPr>
              <a:t>看到它时，优先检查产生式是否重叠或存在重复路径</a:t>
            </a:r>
          </a:p>
        </p:txBody>
      </p:sp>
      <p:sp>
        <p:nvSpPr>
          <p:cNvPr id="8" name="rr-construct-arrow">
            <a:extLst>
              <a:ext uri="{FF2B5EF4-FFF2-40B4-BE49-F238E27FC236}">
                <a16:creationId xmlns:a16="http://schemas.microsoft.com/office/drawing/2014/main" id="{F8DFA9C6-E2F3-467A-9AB3-023160518245}"/>
              </a:ext>
            </a:extLst>
          </p:cNvPr>
          <p:cNvSpPr>
            <a:spLocks noGrp="1"/>
          </p:cNvSpPr>
          <p:nvPr/>
        </p:nvSpPr>
        <p:spPr>
          <a:xfrm>
            <a:off x="2809875" y="2428875"/>
            <a:ext cx="523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构造</a:t>
            </a:r>
          </a:p>
          <a:p>
            <a:pPr algn="ctr">
              <a:buNone/>
              <a:defRPr sz="1350" b="1">
                <a:solidFill>
                  <a:srgbClr val="777777"/>
                </a:solidFill>
              </a:defRPr>
            </a:pPr>
            <a:r>
              <a:rPr sz="1350" b="1">
                <a:solidFill>
                  <a:srgbClr val="777777"/>
                </a:solidFill>
              </a:rPr>
              <a:t>→</a:t>
            </a:r>
          </a:p>
        </p:txBody>
      </p:sp>
      <p:sp>
        <p:nvSpPr>
          <p:cNvPr id="9" name="rr-id-arrow">
            <a:extLst>
              <a:ext uri="{FF2B5EF4-FFF2-40B4-BE49-F238E27FC236}">
                <a16:creationId xmlns:a16="http://schemas.microsoft.com/office/drawing/2014/main" id="{FCB4A606-557E-40EF-9621-962157B6DC76}"/>
              </a:ext>
            </a:extLst>
          </p:cNvPr>
          <p:cNvSpPr>
            <a:spLocks noGrp="1"/>
          </p:cNvSpPr>
          <p:nvPr/>
        </p:nvSpPr>
        <p:spPr>
          <a:xfrm>
            <a:off x="5572125" y="2428875"/>
            <a:ext cx="666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350" b="1">
                <a:solidFill>
                  <a:srgbClr val="C7374D"/>
                </a:solidFill>
              </a:defRPr>
            </a:pPr>
            <a:r>
              <a:rPr sz="1350" b="1">
                <a:solidFill>
                  <a:srgbClr val="C7374D"/>
                </a:solidFill>
              </a:rPr>
              <a:t>ID</a:t>
            </a:r>
          </a:p>
          <a:p>
            <a:pPr algn="ctr">
              <a:buNone/>
              <a:defRPr sz="1350" b="1">
                <a:solidFill>
                  <a:srgbClr val="C7374D"/>
                </a:solidFill>
              </a:defRPr>
            </a:pPr>
            <a:r>
              <a:rPr sz="1350" b="1">
                <a:solidFill>
                  <a:srgbClr val="C7374D"/>
                </a:solidFill>
              </a:rPr>
              <a:t>→</a:t>
            </a:r>
          </a:p>
        </p:txBody>
      </p:sp>
      <p:sp>
        <p:nvSpPr>
          <p:cNvPr id="10" name="rr-i0-panel">
            <a:extLst>
              <a:ext uri="{FF2B5EF4-FFF2-40B4-BE49-F238E27FC236}">
                <a16:creationId xmlns:a16="http://schemas.microsoft.com/office/drawing/2014/main" id="{08F58C6A-B546-4F51-90D6-C6263C23EAF8}"/>
              </a:ext>
            </a:extLst>
          </p:cNvPr>
          <p:cNvSpPr>
            <a:spLocks noGrp="1"/>
          </p:cNvSpPr>
          <p:nvPr/>
        </p:nvSpPr>
        <p:spPr>
          <a:xfrm>
            <a:off x="3333750" y="1666875"/>
            <a:ext cx="2238375" cy="2381250"/>
          </a:xfrm>
          <a:prstGeom prst="roundRect">
            <a:avLst>
              <a:gd name="adj" fmla="val 4255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33350" tIns="133350" rIns="133350" bIns="133350" anchor="ctr"/>
          <a:lstStyle/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600"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I₀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444444"/>
                </a:solidFill>
                <a:latin typeface="Menlo"/>
                <a:ea typeface="Menlo"/>
                <a:cs typeface="Menlo"/>
              </a:rPr>
              <a:t>start → · name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444444"/>
                </a:solidFill>
                <a:latin typeface="Menlo"/>
                <a:ea typeface="Menlo"/>
                <a:cs typeface="Menlo"/>
              </a:rPr>
              <a:t>start → · target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444444"/>
                </a:solidFill>
                <a:latin typeface="Menlo"/>
                <a:ea typeface="Menlo"/>
                <a:cs typeface="Menlo"/>
              </a:rPr>
              <a:t>name → · ID</a:t>
            </a:r>
          </a:p>
          <a:p>
            <a:pPr algn="l">
              <a:buNone/>
              <a:defRPr sz="135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350">
                <a:solidFill>
                  <a:srgbClr val="444444"/>
                </a:solidFill>
                <a:latin typeface="Menlo"/>
                <a:ea typeface="Menlo"/>
                <a:cs typeface="Menlo"/>
              </a:rPr>
              <a:t>target → · ID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冲突类型不同，检查方向也不同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3265AEE-4D99-0673-12C8-99EFF695690A}" type="slidenum">
              <a:rPr/>
              <a:t>57</a:t>
            </a:fld>
            <a:endParaRPr/>
          </a:p>
        </p:txBody>
      </p:sp>
      <p:sp>
        <p:nvSpPr>
          <p:cNvPr id="5" name="report">
            <a:extLst>
              <a:ext uri="{FF2B5EF4-FFF2-40B4-BE49-F238E27FC236}">
                <a16:creationId xmlns:a16="http://schemas.microsoft.com/office/drawing/2014/main" id="{75E834A2-07D2-4E44-BB8C-AC3FF6BE4AAF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4000500" cy="23812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152400" tIns="152400" rIns="152400" bIns="152400" anchor="ctr"/>
          <a:lstStyle/>
          <a:p>
            <a:pPr algn="l">
              <a:buNone/>
              <a:defRPr sz="150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S/R conflict</a:t>
            </a:r>
          </a:p>
          <a:p>
            <a:pPr algn="l">
              <a:buNone/>
              <a:defRPr sz="150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444444"/>
                </a:solidFill>
                <a:latin typeface="Menlo"/>
                <a:ea typeface="Menlo"/>
                <a:cs typeface="Menlo"/>
              </a:rPr>
              <a:t>ACTION[I, a] = shift j</a:t>
            </a:r>
          </a:p>
          <a:p>
            <a:pPr algn="l">
              <a:buNone/>
              <a:defRPr sz="150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444444"/>
                </a:solidFill>
                <a:latin typeface="Menlo"/>
                <a:ea typeface="Menlo"/>
                <a:cs typeface="Menlo"/>
              </a:rPr>
              <a:t>ACTION[I, a] = reduce p</a:t>
            </a:r>
          </a:p>
          <a:p>
            <a:pPr algn="l">
              <a:buNone/>
              <a:defRPr sz="150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endParaRPr/>
          </a:p>
          <a:p>
            <a:pPr algn="l">
              <a:buNone/>
              <a:defRPr sz="150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b="1">
                <a:solidFill>
                  <a:srgbClr val="C7374D"/>
                </a:solidFill>
                <a:latin typeface="Menlo"/>
                <a:ea typeface="Menlo"/>
                <a:cs typeface="Menlo"/>
              </a:rPr>
              <a:t>R/R conflict</a:t>
            </a:r>
          </a:p>
          <a:p>
            <a:pPr algn="l">
              <a:buNone/>
              <a:defRPr sz="150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444444"/>
                </a:solidFill>
                <a:latin typeface="Menlo"/>
                <a:ea typeface="Menlo"/>
                <a:cs typeface="Menlo"/>
              </a:rPr>
              <a:t>ACTION[I, a] = reduce p</a:t>
            </a:r>
          </a:p>
          <a:p>
            <a:pPr algn="l">
              <a:buNone/>
              <a:defRPr sz="1500">
                <a:solidFill>
                  <a:srgbClr val="444444"/>
                </a:solidFill>
                <a:latin typeface="Aptos Mono"/>
                <a:ea typeface="Aptos Mono"/>
                <a:cs typeface="Aptos Mono"/>
              </a:defRPr>
            </a:pPr>
            <a:r>
              <a:rPr sz="1500">
                <a:solidFill>
                  <a:srgbClr val="444444"/>
                </a:solidFill>
                <a:latin typeface="Menlo"/>
                <a:ea typeface="Menlo"/>
                <a:cs typeface="Menlo"/>
              </a:rPr>
              <a:t>ACTION[I, a] = reduce q</a:t>
            </a:r>
          </a:p>
        </p:txBody>
      </p:sp>
      <p:sp>
        <p:nvSpPr>
          <p:cNvPr id="6" name="debug-n-0">
            <a:extLst>
              <a:ext uri="{FF2B5EF4-FFF2-40B4-BE49-F238E27FC236}">
                <a16:creationId xmlns:a16="http://schemas.microsoft.com/office/drawing/2014/main" id="{37837BAE-DC0C-40CB-9D96-B381AC66AC6A}"/>
              </a:ext>
            </a:extLst>
          </p:cNvPr>
          <p:cNvSpPr>
            <a:spLocks noGrp="1"/>
          </p:cNvSpPr>
          <p:nvPr/>
        </p:nvSpPr>
        <p:spPr>
          <a:xfrm>
            <a:off x="5143500" y="16668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1</a:t>
            </a:r>
          </a:p>
        </p:txBody>
      </p:sp>
      <p:sp>
        <p:nvSpPr>
          <p:cNvPr id="7" name="debug-h-0">
            <a:extLst>
              <a:ext uri="{FF2B5EF4-FFF2-40B4-BE49-F238E27FC236}">
                <a16:creationId xmlns:a16="http://schemas.microsoft.com/office/drawing/2014/main" id="{B93E6B60-9658-4BB9-857C-C040309D8AB4}"/>
              </a:ext>
            </a:extLst>
          </p:cNvPr>
          <p:cNvSpPr>
            <a:spLocks noGrp="1"/>
          </p:cNvSpPr>
          <p:nvPr/>
        </p:nvSpPr>
        <p:spPr>
          <a:xfrm>
            <a:off x="5762625" y="16668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S/R：先检查</a:t>
            </a:r>
          </a:p>
        </p:txBody>
      </p:sp>
      <p:sp>
        <p:nvSpPr>
          <p:cNvPr id="8" name="debug-b-0">
            <a:extLst>
              <a:ext uri="{FF2B5EF4-FFF2-40B4-BE49-F238E27FC236}">
                <a16:creationId xmlns:a16="http://schemas.microsoft.com/office/drawing/2014/main" id="{52EF9E05-A585-4D5D-84D5-EBC5003F71EC}"/>
              </a:ext>
            </a:extLst>
          </p:cNvPr>
          <p:cNvSpPr>
            <a:spLocks noGrp="1"/>
          </p:cNvSpPr>
          <p:nvPr/>
        </p:nvSpPr>
        <p:spPr>
          <a:xfrm>
            <a:off x="5762625" y="1914525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优先级、结合性、悬空结构</a:t>
            </a:r>
          </a:p>
        </p:txBody>
      </p:sp>
      <p:sp>
        <p:nvSpPr>
          <p:cNvPr id="9" name="debug-n-1">
            <a:extLst>
              <a:ext uri="{FF2B5EF4-FFF2-40B4-BE49-F238E27FC236}">
                <a16:creationId xmlns:a16="http://schemas.microsoft.com/office/drawing/2014/main" id="{80BD8C29-F581-42C1-BA23-D78DC3CF1B16}"/>
              </a:ext>
            </a:extLst>
          </p:cNvPr>
          <p:cNvSpPr>
            <a:spLocks noGrp="1"/>
          </p:cNvSpPr>
          <p:nvPr/>
        </p:nvSpPr>
        <p:spPr>
          <a:xfrm>
            <a:off x="5143500" y="23145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EAF5F8"/>
          </a:solidFill>
          <a:ln w="11430">
            <a:solidFill>
              <a:srgbClr val="2D7C9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2</a:t>
            </a:r>
          </a:p>
        </p:txBody>
      </p:sp>
      <p:sp>
        <p:nvSpPr>
          <p:cNvPr id="10" name="debug-h-1">
            <a:extLst>
              <a:ext uri="{FF2B5EF4-FFF2-40B4-BE49-F238E27FC236}">
                <a16:creationId xmlns:a16="http://schemas.microsoft.com/office/drawing/2014/main" id="{A97E1C79-C1FB-4D11-A8C3-7BE8AB9ABC63}"/>
              </a:ext>
            </a:extLst>
          </p:cNvPr>
          <p:cNvSpPr>
            <a:spLocks noGrp="1"/>
          </p:cNvSpPr>
          <p:nvPr/>
        </p:nvSpPr>
        <p:spPr>
          <a:xfrm>
            <a:off x="5762625" y="23145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S/R：常见处理</a:t>
            </a:r>
          </a:p>
        </p:txBody>
      </p:sp>
      <p:sp>
        <p:nvSpPr>
          <p:cNvPr id="11" name="debug-b-1">
            <a:extLst>
              <a:ext uri="{FF2B5EF4-FFF2-40B4-BE49-F238E27FC236}">
                <a16:creationId xmlns:a16="http://schemas.microsoft.com/office/drawing/2014/main" id="{ABC9490B-BF97-408A-AD50-9696BE309645}"/>
              </a:ext>
            </a:extLst>
          </p:cNvPr>
          <p:cNvSpPr>
            <a:spLocks noGrp="1"/>
          </p:cNvSpPr>
          <p:nvPr/>
        </p:nvSpPr>
        <p:spPr>
          <a:xfrm>
            <a:off x="5762625" y="2562225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声明选择规则，或改写文法</a:t>
            </a:r>
          </a:p>
        </p:txBody>
      </p:sp>
      <p:sp>
        <p:nvSpPr>
          <p:cNvPr id="12" name="debug-n-2">
            <a:extLst>
              <a:ext uri="{FF2B5EF4-FFF2-40B4-BE49-F238E27FC236}">
                <a16:creationId xmlns:a16="http://schemas.microsoft.com/office/drawing/2014/main" id="{87809E09-3FC9-446D-8D35-507B4088748B}"/>
              </a:ext>
            </a:extLst>
          </p:cNvPr>
          <p:cNvSpPr>
            <a:spLocks noGrp="1"/>
          </p:cNvSpPr>
          <p:nvPr/>
        </p:nvSpPr>
        <p:spPr>
          <a:xfrm>
            <a:off x="51435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3</a:t>
            </a:r>
          </a:p>
        </p:txBody>
      </p:sp>
      <p:sp>
        <p:nvSpPr>
          <p:cNvPr id="13" name="debug-h-2">
            <a:extLst>
              <a:ext uri="{FF2B5EF4-FFF2-40B4-BE49-F238E27FC236}">
                <a16:creationId xmlns:a16="http://schemas.microsoft.com/office/drawing/2014/main" id="{3CCB7CB3-37E3-40CA-AAA7-DC892FC9586A}"/>
              </a:ext>
            </a:extLst>
          </p:cNvPr>
          <p:cNvSpPr>
            <a:spLocks noGrp="1"/>
          </p:cNvSpPr>
          <p:nvPr/>
        </p:nvSpPr>
        <p:spPr>
          <a:xfrm>
            <a:off x="5762625" y="29622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R/R：先检查</a:t>
            </a:r>
          </a:p>
        </p:txBody>
      </p:sp>
      <p:sp>
        <p:nvSpPr>
          <p:cNvPr id="14" name="debug-b-2">
            <a:extLst>
              <a:ext uri="{FF2B5EF4-FFF2-40B4-BE49-F238E27FC236}">
                <a16:creationId xmlns:a16="http://schemas.microsoft.com/office/drawing/2014/main" id="{A1A9B66D-949B-4928-A3C2-FC8300E5A1B5}"/>
              </a:ext>
            </a:extLst>
          </p:cNvPr>
          <p:cNvSpPr>
            <a:spLocks noGrp="1"/>
          </p:cNvSpPr>
          <p:nvPr/>
        </p:nvSpPr>
        <p:spPr>
          <a:xfrm>
            <a:off x="5762625" y="3209925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产生式重叠或重复路径</a:t>
            </a:r>
          </a:p>
        </p:txBody>
      </p:sp>
      <p:sp>
        <p:nvSpPr>
          <p:cNvPr id="15" name="debug-n-3">
            <a:extLst>
              <a:ext uri="{FF2B5EF4-FFF2-40B4-BE49-F238E27FC236}">
                <a16:creationId xmlns:a16="http://schemas.microsoft.com/office/drawing/2014/main" id="{1A7011AF-CEBA-4524-88BC-942C41F09403}"/>
              </a:ext>
            </a:extLst>
          </p:cNvPr>
          <p:cNvSpPr>
            <a:spLocks noGrp="1"/>
          </p:cNvSpPr>
          <p:nvPr/>
        </p:nvSpPr>
        <p:spPr>
          <a:xfrm>
            <a:off x="5143500" y="3609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FCEEF0"/>
          </a:solidFill>
          <a:ln w="11430">
            <a:solidFill>
              <a:srgbClr val="C4384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4</a:t>
            </a:r>
          </a:p>
        </p:txBody>
      </p:sp>
      <p:sp>
        <p:nvSpPr>
          <p:cNvPr id="16" name="debug-h-3">
            <a:extLst>
              <a:ext uri="{FF2B5EF4-FFF2-40B4-BE49-F238E27FC236}">
                <a16:creationId xmlns:a16="http://schemas.microsoft.com/office/drawing/2014/main" id="{BE7C0F6A-1856-4054-A3CD-9C9EB3C14488}"/>
              </a:ext>
            </a:extLst>
          </p:cNvPr>
          <p:cNvSpPr>
            <a:spLocks noGrp="1"/>
          </p:cNvSpPr>
          <p:nvPr/>
        </p:nvSpPr>
        <p:spPr>
          <a:xfrm>
            <a:off x="5762625" y="3609975"/>
            <a:ext cx="2190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R/R：常见处理</a:t>
            </a:r>
          </a:p>
        </p:txBody>
      </p:sp>
      <p:sp>
        <p:nvSpPr>
          <p:cNvPr id="17" name="debug-b-3">
            <a:extLst>
              <a:ext uri="{FF2B5EF4-FFF2-40B4-BE49-F238E27FC236}">
                <a16:creationId xmlns:a16="http://schemas.microsoft.com/office/drawing/2014/main" id="{B274DCC4-1652-4F58-A397-C8BD24B09108}"/>
              </a:ext>
            </a:extLst>
          </p:cNvPr>
          <p:cNvSpPr>
            <a:spLocks noGrp="1"/>
          </p:cNvSpPr>
          <p:nvPr/>
        </p:nvSpPr>
        <p:spPr>
          <a:xfrm>
            <a:off x="5762625" y="3857625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63">
                <a:solidFill>
                  <a:srgbClr val="454545"/>
                </a:solidFill>
              </a:defRPr>
            </a:pPr>
            <a:r>
              <a:rPr sz="1163">
                <a:solidFill>
                  <a:srgbClr val="454545"/>
                </a:solidFill>
              </a:rPr>
              <a:t>通常修改文法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从文法规约到生成的 Parser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Parser generator：把前面学过的机械过程自动化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F0DF58B-F0CC-EE04-B3E8-87EC24B7009F}" type="slidenum">
              <a:t>58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为什么 LR Parser 通常由工具生成？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C5D86DB-0D22-4F3A-B798-73C3EACC87D6}" type="slidenum">
              <a:t>59</a:t>
            </a:fld>
            <a:endParaRPr/>
          </a:p>
        </p:txBody>
      </p:sp>
      <p:sp>
        <p:nvSpPr>
          <p:cNvPr id="5" name="subtitle-p8vetc3e">
            <a:extLst>
              <a:ext uri="{FF2B5EF4-FFF2-40B4-BE49-F238E27FC236}">
                <a16:creationId xmlns:a16="http://schemas.microsoft.com/office/drawing/2014/main" id="{E2935F06-A393-43FD-BCE9-AC53D97AF0D1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773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递归下降可以直接写成函数；LR 的状态集合与分析表规模更大，但构造过程高度机械。 </a:t>
            </a:r>
          </a:p>
        </p:txBody>
      </p:sp>
      <p:sp>
        <p:nvSpPr>
          <p:cNvPr id="6" name="rd-map">
            <a:extLst>
              <a:ext uri="{FF2B5EF4-FFF2-40B4-BE49-F238E27FC236}">
                <a16:creationId xmlns:a16="http://schemas.microsoft.com/office/drawing/2014/main" id="{C7EE1190-5621-4977-B00D-2B6440549C4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3143250" cy="195262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手写递归下降</a:t>
            </a:r>
          </a:p>
          <a:p>
            <a:endParaRPr sz="1425" b="1">
              <a:solidFill>
                <a:srgbClr val="2D7C93"/>
              </a:solidFill>
            </a:endParaRP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一个非终结符  →  一个函数</a:t>
            </a:r>
          </a:p>
          <a:p>
            <a:endParaRPr sz="1425" b="1">
              <a:solidFill>
                <a:srgbClr val="2D7C93"/>
              </a:solidFill>
            </a:endParaRP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expr  →  parseExpr()</a:t>
            </a:r>
          </a:p>
          <a:p>
            <a:pPr algn="ctr">
              <a:buNone/>
              <a:defRPr sz="1425" b="1">
                <a:solidFill>
                  <a:srgbClr val="2D7C93"/>
                </a:solidFill>
              </a:defRPr>
            </a:pPr>
            <a:r>
              <a:rPr sz="1425" b="1">
                <a:solidFill>
                  <a:srgbClr val="2D7C93"/>
                </a:solidFill>
              </a:rPr>
              <a:t>term  →  parseTerm()</a:t>
            </a:r>
          </a:p>
        </p:txBody>
      </p:sp>
      <p:sp>
        <p:nvSpPr>
          <p:cNvPr id="7" name="lr-map">
            <a:extLst>
              <a:ext uri="{FF2B5EF4-FFF2-40B4-BE49-F238E27FC236}">
                <a16:creationId xmlns:a16="http://schemas.microsoft.com/office/drawing/2014/main" id="{CBCEE885-407B-434F-8A97-554EC558F986}"/>
              </a:ext>
            </a:extLst>
          </p:cNvPr>
          <p:cNvSpPr>
            <a:spLocks noGrp="1"/>
          </p:cNvSpPr>
          <p:nvPr/>
        </p:nvSpPr>
        <p:spPr>
          <a:xfrm>
            <a:off x="5257800" y="1809750"/>
            <a:ext cx="3143250" cy="195262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生成 LR Parser</a:t>
            </a:r>
          </a:p>
          <a:p>
            <a:endParaRPr sz="1425" b="1">
              <a:solidFill>
                <a:srgbClr val="C4384D"/>
              </a:solidFill>
            </a:endParaRPr>
          </a:p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整个文法  →  item 状态机</a:t>
            </a:r>
          </a:p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          →  ACTION / GOTO</a:t>
            </a:r>
          </a:p>
          <a:p>
            <a:pPr algn="ctr">
              <a:buNone/>
              <a:defRPr sz="1425" b="1">
                <a:solidFill>
                  <a:srgbClr val="C4384D"/>
                </a:solidFill>
              </a:defRPr>
            </a:pPr>
            <a:r>
              <a:rPr sz="1425" b="1">
                <a:solidFill>
                  <a:srgbClr val="C4384D"/>
                </a:solidFill>
              </a:rPr>
              <a:t>          →  通用驱动循环</a:t>
            </a:r>
          </a:p>
        </p:txBody>
      </p:sp>
      <p:sp>
        <p:nvSpPr>
          <p:cNvPr id="8" name="compare-arrow">
            <a:extLst>
              <a:ext uri="{FF2B5EF4-FFF2-40B4-BE49-F238E27FC236}">
                <a16:creationId xmlns:a16="http://schemas.microsoft.com/office/drawing/2014/main" id="{3F2E1403-4291-4E7C-80EE-781DB739ECAA}"/>
              </a:ext>
            </a:extLst>
          </p:cNvPr>
          <p:cNvSpPr>
            <a:spLocks noGrp="1"/>
          </p:cNvSpPr>
          <p:nvPr/>
        </p:nvSpPr>
        <p:spPr>
          <a:xfrm>
            <a:off x="4048125" y="2781300"/>
            <a:ext cx="1047750" cy="0"/>
          </a:xfrm>
          <a:prstGeom prst="line">
            <a:avLst/>
          </a:prstGeom>
          <a:noFill/>
          <a:ln w="17145">
            <a:solidFill>
              <a:srgbClr val="777777"/>
            </a:solidFill>
            <a:prstDash val="solid"/>
          </a:ln>
        </p:spPr>
      </p:sp>
      <p:sp>
        <p:nvSpPr>
          <p:cNvPr id="9" name="takeaway-p8vetc3e">
            <a:extLst>
              <a:ext uri="{FF2B5EF4-FFF2-40B4-BE49-F238E27FC236}">
                <a16:creationId xmlns:a16="http://schemas.microsoft.com/office/drawing/2014/main" id="{EB21CE3C-4217-42DE-9C8E-E6EF8B207742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LR Parser最复杂的部分正适合自动生成。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Parser generator 内部，就是我们刚刚走过的流程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9F1FA4F-5E1D-6DD7-8899-DB45C4C32C6E}" type="slidenum">
              <a:t>60</a:t>
            </a:fld>
            <a:endParaRPr/>
          </a:p>
        </p:txBody>
      </p:sp>
      <p:sp>
        <p:nvSpPr>
          <p:cNvPr id="5" name="subtitle-mdo3u583">
            <a:extLst>
              <a:ext uri="{FF2B5EF4-FFF2-40B4-BE49-F238E27FC236}">
                <a16:creationId xmlns:a16="http://schemas.microsoft.com/office/drawing/2014/main" id="{28016211-8856-4E2B-994D-B10A824AE092}"/>
              </a:ext>
            </a:extLst>
          </p:cNvPr>
          <p:cNvSpPr>
            <a:spLocks noGrp="1"/>
          </p:cNvSpPr>
          <p:nvPr/>
        </p:nvSpPr>
        <p:spPr>
          <a:xfrm>
            <a:off x="704850" y="1212354"/>
            <a:ext cx="773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生成器把文法规约当作输入，自动构造状态、分析表以及表驱动 Parser。 </a:t>
            </a:r>
          </a:p>
        </p:txBody>
      </p:sp>
      <p:sp>
        <p:nvSpPr>
          <p:cNvPr id="6" name="pipeline-78">
            <a:extLst>
              <a:ext uri="{FF2B5EF4-FFF2-40B4-BE49-F238E27FC236}">
                <a16:creationId xmlns:a16="http://schemas.microsoft.com/office/drawing/2014/main" id="{E902A9E9-2ECD-4808-882C-D80EF19EED26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文法规约</a:t>
            </a:r>
          </a:p>
        </p:txBody>
      </p:sp>
      <p:sp>
        <p:nvSpPr>
          <p:cNvPr id="7" name="pipeline-274">
            <a:extLst>
              <a:ext uri="{FF2B5EF4-FFF2-40B4-BE49-F238E27FC236}">
                <a16:creationId xmlns:a16="http://schemas.microsoft.com/office/drawing/2014/main" id="{C9EF5406-B373-454F-84EC-A44D71244F18}"/>
              </a:ext>
            </a:extLst>
          </p:cNvPr>
          <p:cNvSpPr>
            <a:spLocks noGrp="1"/>
          </p:cNvSpPr>
          <p:nvPr/>
        </p:nvSpPr>
        <p:spPr>
          <a:xfrm>
            <a:off x="2609850" y="1952625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item 集合</a:t>
            </a:r>
          </a:p>
          <a:p>
            <a:pPr algn="ctr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与状态转换</a:t>
            </a:r>
          </a:p>
        </p:txBody>
      </p:sp>
      <p:sp>
        <p:nvSpPr>
          <p:cNvPr id="8" name="pipeline-470">
            <a:extLst>
              <a:ext uri="{FF2B5EF4-FFF2-40B4-BE49-F238E27FC236}">
                <a16:creationId xmlns:a16="http://schemas.microsoft.com/office/drawing/2014/main" id="{C63B8C2B-9600-406D-A62F-7CEF67374A5D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1428750" cy="1066800"/>
          </a:xfrm>
          <a:prstGeom prst="roundRect">
            <a:avLst>
              <a:gd name="adj" fmla="val 7143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ACTION /</a:t>
            </a:r>
          </a:p>
          <a:p>
            <a:pPr algn="ctr">
              <a:buNone/>
              <a:defRPr sz="1388" b="1">
                <a:solidFill>
                  <a:srgbClr val="2D7C93"/>
                </a:solidFill>
              </a:defRPr>
            </a:pPr>
            <a:r>
              <a:rPr sz="1388" b="1">
                <a:solidFill>
                  <a:srgbClr val="2D7C93"/>
                </a:solidFill>
              </a:rPr>
              <a:t>GOTO 表</a:t>
            </a:r>
          </a:p>
        </p:txBody>
      </p:sp>
      <p:sp>
        <p:nvSpPr>
          <p:cNvPr id="9" name="pipeline-666">
            <a:extLst>
              <a:ext uri="{FF2B5EF4-FFF2-40B4-BE49-F238E27FC236}">
                <a16:creationId xmlns:a16="http://schemas.microsoft.com/office/drawing/2014/main" id="{88A8EAAF-9963-4555-94F4-0374853EA7A8}"/>
              </a:ext>
            </a:extLst>
          </p:cNvPr>
          <p:cNvSpPr>
            <a:spLocks noGrp="1"/>
          </p:cNvSpPr>
          <p:nvPr/>
        </p:nvSpPr>
        <p:spPr>
          <a:xfrm>
            <a:off x="6343650" y="1952625"/>
            <a:ext cx="2057400" cy="1066800"/>
          </a:xfrm>
          <a:prstGeom prst="roundRect">
            <a:avLst>
              <a:gd name="adj" fmla="val 7143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表驱动 Parser</a:t>
            </a:r>
          </a:p>
          <a:p>
            <a:pPr algn="ctr">
              <a:buNone/>
              <a:defRPr sz="1388" b="1">
                <a:solidFill>
                  <a:srgbClr val="C4384D"/>
                </a:solidFill>
              </a:defRPr>
            </a:pPr>
            <a:r>
              <a:rPr sz="1388" b="1">
                <a:solidFill>
                  <a:srgbClr val="C4384D"/>
                </a:solidFill>
              </a:rPr>
              <a:t>控制代码</a:t>
            </a:r>
          </a:p>
        </p:txBody>
      </p:sp>
      <p:sp>
        <p:nvSpPr>
          <p:cNvPr id="10" name="pipeline-arrow-228">
            <a:extLst>
              <a:ext uri="{FF2B5EF4-FFF2-40B4-BE49-F238E27FC236}">
                <a16:creationId xmlns:a16="http://schemas.microsoft.com/office/drawing/2014/main" id="{F70BC8B4-A212-42E6-AC8C-8FCFEFF79D3A}"/>
              </a:ext>
            </a:extLst>
          </p:cNvPr>
          <p:cNvSpPr>
            <a:spLocks noGrp="1"/>
          </p:cNvSpPr>
          <p:nvPr/>
        </p:nvSpPr>
        <p:spPr>
          <a:xfrm>
            <a:off x="2171700" y="2486025"/>
            <a:ext cx="438150" cy="0"/>
          </a:xfrm>
          <a:prstGeom prst="line">
            <a:avLst/>
          </a:prstGeom>
          <a:noFill/>
          <a:ln w="17145">
            <a:solidFill>
              <a:srgbClr val="777777"/>
            </a:solidFill>
            <a:prstDash val="solid"/>
          </a:ln>
        </p:spPr>
      </p:sp>
      <p:sp>
        <p:nvSpPr>
          <p:cNvPr id="11" name="pipeline-arrow-424">
            <a:extLst>
              <a:ext uri="{FF2B5EF4-FFF2-40B4-BE49-F238E27FC236}">
                <a16:creationId xmlns:a16="http://schemas.microsoft.com/office/drawing/2014/main" id="{D4C9D696-41D0-4B6B-B73D-EA79B9ECFAE0}"/>
              </a:ext>
            </a:extLst>
          </p:cNvPr>
          <p:cNvSpPr>
            <a:spLocks noGrp="1"/>
          </p:cNvSpPr>
          <p:nvPr/>
        </p:nvSpPr>
        <p:spPr>
          <a:xfrm>
            <a:off x="4038600" y="2486025"/>
            <a:ext cx="438150" cy="0"/>
          </a:xfrm>
          <a:prstGeom prst="line">
            <a:avLst/>
          </a:prstGeom>
          <a:noFill/>
          <a:ln w="17145">
            <a:solidFill>
              <a:srgbClr val="777777"/>
            </a:solidFill>
            <a:prstDash val="solid"/>
          </a:ln>
        </p:spPr>
      </p:sp>
      <p:sp>
        <p:nvSpPr>
          <p:cNvPr id="12" name="pipeline-arrow-620">
            <a:extLst>
              <a:ext uri="{FF2B5EF4-FFF2-40B4-BE49-F238E27FC236}">
                <a16:creationId xmlns:a16="http://schemas.microsoft.com/office/drawing/2014/main" id="{E5950200-CD48-49B1-AF28-C90E7EB32F19}"/>
              </a:ext>
            </a:extLst>
          </p:cNvPr>
          <p:cNvSpPr>
            <a:spLocks noGrp="1"/>
          </p:cNvSpPr>
          <p:nvPr/>
        </p:nvSpPr>
        <p:spPr>
          <a:xfrm>
            <a:off x="5905500" y="2486025"/>
            <a:ext cx="438150" cy="0"/>
          </a:xfrm>
          <a:prstGeom prst="line">
            <a:avLst/>
          </a:prstGeom>
          <a:noFill/>
          <a:ln w="17145">
            <a:solidFill>
              <a:srgbClr val="777777"/>
            </a:solidFill>
            <a:prstDash val="solid"/>
          </a:ln>
        </p:spPr>
      </p:sp>
      <p:sp>
        <p:nvSpPr>
          <p:cNvPr id="13" name="generated-vs-owned">
            <a:extLst>
              <a:ext uri="{FF2B5EF4-FFF2-40B4-BE49-F238E27FC236}">
                <a16:creationId xmlns:a16="http://schemas.microsoft.com/office/drawing/2014/main" id="{01132FA1-27C5-496E-A8FC-290EDE310C8D}"/>
              </a:ext>
            </a:extLst>
          </p:cNvPr>
          <p:cNvSpPr>
            <a:spLocks noGrp="1"/>
          </p:cNvSpPr>
          <p:nvPr/>
        </p:nvSpPr>
        <p:spPr>
          <a:xfrm>
            <a:off x="1562100" y="3486150"/>
            <a:ext cx="6019800" cy="6667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自动生成：状态机、分析表、shift/reduce 控制循环</a:t>
            </a:r>
          </a:p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开发者提供：文法、优先级与冲突处理策略</a:t>
            </a:r>
          </a:p>
        </p:txBody>
      </p:sp>
      <p:sp>
        <p:nvSpPr>
          <p:cNvPr id="14" name="takeaway-mdo3u583">
            <a:extLst>
              <a:ext uri="{FF2B5EF4-FFF2-40B4-BE49-F238E27FC236}">
                <a16:creationId xmlns:a16="http://schemas.microsoft.com/office/drawing/2014/main" id="{B9F7318D-6257-4B1E-819E-4A4F27BB521A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前面学习的 closure、goto 和填表规则，正是 Parser generator 的核心算法。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生成器的输入是一份可执行的文法规约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8F55584-BE3A-83D9-FA7F-21221C333295}" type="slidenum">
              <a:t>61</a:t>
            </a:fld>
            <a:endParaRPr/>
          </a:p>
        </p:txBody>
      </p:sp>
      <p:sp>
        <p:nvSpPr>
          <p:cNvPr id="5" name="subtitle-7uxozyps">
            <a:extLst>
              <a:ext uri="{FF2B5EF4-FFF2-40B4-BE49-F238E27FC236}">
                <a16:creationId xmlns:a16="http://schemas.microsoft.com/office/drawing/2014/main" id="{0607C019-6872-4207-AA1C-EEAAD8418AA5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773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以 Bison 为例：声明 Token 和优先级，再写产生式；生成器负责把它编译成 Parser。 </a:t>
            </a:r>
          </a:p>
        </p:txBody>
      </p:sp>
      <p:sp>
        <p:nvSpPr>
          <p:cNvPr id="6" name="bison-spec">
            <a:extLst>
              <a:ext uri="{FF2B5EF4-FFF2-40B4-BE49-F238E27FC236}">
                <a16:creationId xmlns:a16="http://schemas.microsoft.com/office/drawing/2014/main" id="{4718F2B1-6B82-4EFB-A7B3-8E7231E74905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3905250" cy="25527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114300" tIns="95250" rIns="114300" bIns="95250" anchor="ctr"/>
          <a:lstStyle/>
          <a:p>
            <a:pPr algn="l">
              <a:buNone/>
              <a:defRPr sz="1388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3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%token INT PLUS STAR</a:t>
            </a:r>
          </a:p>
          <a:p>
            <a:pPr algn="l">
              <a:buNone/>
              <a:defRPr sz="1388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3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%left PLUS</a:t>
            </a:r>
          </a:p>
          <a:p>
            <a:pPr algn="l">
              <a:buNone/>
              <a:defRPr sz="1388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3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%left STAR</a:t>
            </a:r>
          </a:p>
          <a:p>
            <a:endParaRPr sz="1388" b="0">
              <a:solidFill>
                <a:srgbClr val="454545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388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3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%%</a:t>
            </a:r>
          </a:p>
          <a:p>
            <a:pPr algn="l">
              <a:buNone/>
              <a:defRPr sz="1388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3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: expr PLUS expr</a:t>
            </a:r>
          </a:p>
          <a:p>
            <a:pPr algn="l">
              <a:buNone/>
              <a:defRPr sz="1388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3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expr STAR expr</a:t>
            </a:r>
          </a:p>
          <a:p>
            <a:pPr algn="l">
              <a:buNone/>
              <a:defRPr sz="1388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3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| INT</a:t>
            </a:r>
          </a:p>
          <a:p>
            <a:pPr algn="l">
              <a:buNone/>
              <a:defRPr sz="1388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388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   ;</a:t>
            </a:r>
          </a:p>
        </p:txBody>
      </p:sp>
      <p:sp>
        <p:nvSpPr>
          <p:cNvPr id="7" name="spec-arrow">
            <a:extLst>
              <a:ext uri="{FF2B5EF4-FFF2-40B4-BE49-F238E27FC236}">
                <a16:creationId xmlns:a16="http://schemas.microsoft.com/office/drawing/2014/main" id="{1EED29AB-55CC-4DB8-BCCE-F0D461C9438A}"/>
              </a:ext>
            </a:extLst>
          </p:cNvPr>
          <p:cNvSpPr>
            <a:spLocks noGrp="1"/>
          </p:cNvSpPr>
          <p:nvPr/>
        </p:nvSpPr>
        <p:spPr>
          <a:xfrm>
            <a:off x="4762500" y="2914650"/>
            <a:ext cx="714375" cy="0"/>
          </a:xfrm>
          <a:prstGeom prst="line">
            <a:avLst/>
          </a:prstGeom>
          <a:noFill/>
          <a:ln w="17145">
            <a:solidFill>
              <a:srgbClr val="777777"/>
            </a:solidFill>
            <a:prstDash val="solid"/>
          </a:ln>
        </p:spPr>
      </p:sp>
      <p:sp>
        <p:nvSpPr>
          <p:cNvPr id="8" name="generator-output">
            <a:extLst>
              <a:ext uri="{FF2B5EF4-FFF2-40B4-BE49-F238E27FC236}">
                <a16:creationId xmlns:a16="http://schemas.microsoft.com/office/drawing/2014/main" id="{D7D66339-3F2F-4C4A-8E98-13916F9FCD5E}"/>
              </a:ext>
            </a:extLst>
          </p:cNvPr>
          <p:cNvSpPr>
            <a:spLocks noGrp="1"/>
          </p:cNvSpPr>
          <p:nvPr/>
        </p:nvSpPr>
        <p:spPr>
          <a:xfrm>
            <a:off x="5667375" y="1809750"/>
            <a:ext cx="2762250" cy="2238375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生成器输出</a:t>
            </a:r>
          </a:p>
          <a:p>
            <a:endParaRPr sz="1350" b="1">
              <a:solidFill>
                <a:srgbClr val="2D7C93"/>
              </a:solidFill>
            </a:endParaRPr>
          </a:p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• LR 状态与分析表</a:t>
            </a:r>
          </a:p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• Parser 控制循环</a:t>
            </a:r>
          </a:p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• 冲突报告</a:t>
            </a:r>
          </a:p>
          <a:p>
            <a:endParaRPr sz="1350" b="1">
              <a:solidFill>
                <a:srgbClr val="2D7C93"/>
              </a:solidFill>
            </a:endParaRPr>
          </a:p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代码可以重新生成，</a:t>
            </a:r>
          </a:p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文法规约才是源文件。</a:t>
            </a:r>
          </a:p>
        </p:txBody>
      </p:sp>
      <p:sp>
        <p:nvSpPr>
          <p:cNvPr id="9" name="takeaway-7uxozyps">
            <a:extLst>
              <a:ext uri="{FF2B5EF4-FFF2-40B4-BE49-F238E27FC236}">
                <a16:creationId xmlns:a16="http://schemas.microsoft.com/office/drawing/2014/main" id="{462C8DC9-4722-4112-A115-EE471F5F7B50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Parser generator 可看作小型编译器：输入 Grammar DSL，输出 Parser 程序。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000">
                <a:latin typeface="Arial"/>
                <a:ea typeface="Arial"/>
                <a:cs typeface="Arial"/>
              </a:rPr>
              <a:t>生成器还会检查：这份文法能否确定地工作？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1E013D6-0C4B-FE2D-855A-F1342FCB0974}" type="slidenum">
              <a:rPr/>
              <a:t>62</a:t>
            </a:fld>
            <a:endParaRPr/>
          </a:p>
        </p:txBody>
      </p:sp>
      <p:sp>
        <p:nvSpPr>
          <p:cNvPr id="5" name="subtitle-bapcne9c">
            <a:extLst>
              <a:ext uri="{FF2B5EF4-FFF2-40B4-BE49-F238E27FC236}">
                <a16:creationId xmlns:a16="http://schemas.microsoft.com/office/drawing/2014/main" id="{A4E8E3E5-534D-405E-99E2-978BBB06009B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773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构造分析表时，同一表项中存在的多个动作会被当作冲突报告。 </a:t>
            </a:r>
          </a:p>
        </p:txBody>
      </p:sp>
      <p:sp>
        <p:nvSpPr>
          <p:cNvPr id="6" name="conflict-output">
            <a:extLst>
              <a:ext uri="{FF2B5EF4-FFF2-40B4-BE49-F238E27FC236}">
                <a16:creationId xmlns:a16="http://schemas.microsoft.com/office/drawing/2014/main" id="{77E08FFD-6AD4-4B51-882B-27B7B7A66B97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524250" cy="2143125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114300" tIns="95250" rIns="114300" bIns="95250" anchor="ctr"/>
          <a:lstStyle/>
          <a:p>
            <a:pPr algn="l">
              <a:buNone/>
              <a:defRPr sz="1275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grammar.y: warning: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1 shift/reduce conflict</a:t>
            </a:r>
          </a:p>
          <a:p>
            <a:endParaRPr sz="1275" b="0">
              <a:solidFill>
                <a:srgbClr val="454545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275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state 12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expr: expr STAR expr ·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expr: expr · PLUS expr</a:t>
            </a:r>
          </a:p>
          <a:p>
            <a:endParaRPr sz="1275" b="0">
              <a:solidFill>
                <a:srgbClr val="454545"/>
              </a:solidFill>
              <a:latin typeface="Aptos Mono"/>
              <a:ea typeface="Aptos Mono"/>
              <a:cs typeface="Aptos Mono"/>
            </a:endParaRPr>
          </a:p>
          <a:p>
            <a:pPr algn="l">
              <a:buNone/>
              <a:defRPr sz="1275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 shift 8</a:t>
            </a:r>
          </a:p>
          <a:p>
            <a:pPr algn="l">
              <a:buNone/>
              <a:defRPr sz="1275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PLUS  [reduce 2]</a:t>
            </a:r>
          </a:p>
        </p:txBody>
      </p:sp>
      <p:sp>
        <p:nvSpPr>
          <p:cNvPr id="7" name="conflict-reading">
            <a:extLst>
              <a:ext uri="{FF2B5EF4-FFF2-40B4-BE49-F238E27FC236}">
                <a16:creationId xmlns:a16="http://schemas.microsoft.com/office/drawing/2014/main" id="{0248A906-0592-4F5D-A546-27C4D05EAED3}"/>
              </a:ext>
            </a:extLst>
          </p:cNvPr>
          <p:cNvSpPr>
            <a:spLocks noGrp="1"/>
          </p:cNvSpPr>
          <p:nvPr/>
        </p:nvSpPr>
        <p:spPr>
          <a:xfrm>
            <a:off x="4933950" y="1714500"/>
            <a:ext cx="3524250" cy="2143125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14300" tIns="95250" rIns="114300" bIns="95250" anchor="ctr"/>
          <a:lstStyle/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怎样读这份报告？</a:t>
            </a:r>
          </a:p>
          <a:p>
            <a:endParaRPr sz="1350" b="1">
              <a:solidFill>
                <a:srgbClr val="C4384D"/>
              </a:solidFill>
            </a:endParaRPr>
          </a:p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1. 找到冲突状态</a:t>
            </a:r>
          </a:p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2. 回到产生冲突的 item</a:t>
            </a:r>
          </a:p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3. 判断是信息不足还是文法歧义</a:t>
            </a:r>
          </a:p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4. 选择改文法、声明优先级，</a:t>
            </a:r>
          </a:p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   或更换分析方法</a:t>
            </a:r>
          </a:p>
        </p:txBody>
      </p:sp>
      <p:sp>
        <p:nvSpPr>
          <p:cNvPr id="8" name="takeaway-bapcne9c">
            <a:extLst>
              <a:ext uri="{FF2B5EF4-FFF2-40B4-BE49-F238E27FC236}">
                <a16:creationId xmlns:a16="http://schemas.microsoft.com/office/drawing/2014/main" id="{9644D60B-7D10-4DD8-B16A-5AE5D3F62224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Parser generator 既生成程序，也把冲突状态变成文法规约的诊断信息。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Parser 不只服务于编译器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71E1DC6-F89D-8D69-6333-36D980A4F9DD}" type="slidenum">
              <a:t>63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CB92A9D-D25A-4FC1-B668-E15C7B73E35F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7734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代码还没写完，IDE 为什么已经知道它的结构？</a:t>
            </a:r>
          </a:p>
        </p:txBody>
      </p:sp>
      <p:sp>
        <p:nvSpPr>
          <p:cNvPr id="6" name="editor-shell">
            <a:extLst>
              <a:ext uri="{FF2B5EF4-FFF2-40B4-BE49-F238E27FC236}">
                <a16:creationId xmlns:a16="http://schemas.microsoft.com/office/drawing/2014/main" id="{BA11F60B-A3B9-4DC2-AD75-A8182E398455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8020050" cy="2628900"/>
          </a:xfrm>
          <a:prstGeom prst="rect">
            <a:avLst/>
          </a:prstGeom>
          <a:solidFill>
            <a:srgbClr val="FFFFFF"/>
          </a:solidFill>
          <a:ln w="11430">
            <a:solidFill>
              <a:srgbClr val="9EA4AA"/>
            </a:solidFill>
            <a:prstDash val="solid"/>
          </a:ln>
        </p:spPr>
        <p:txBody>
          <a:bodyPr lIns="95250" tIns="76200" rIns="95250" bIns="76200" anchor="ctr"/>
          <a:lstStyle/>
          <a:p>
            <a:endParaRPr/>
          </a:p>
        </p:txBody>
      </p:sp>
      <p:sp>
        <p:nvSpPr>
          <p:cNvPr id="7" name="editor-tab">
            <a:extLst>
              <a:ext uri="{FF2B5EF4-FFF2-40B4-BE49-F238E27FC236}">
                <a16:creationId xmlns:a16="http://schemas.microsoft.com/office/drawing/2014/main" id="{B3271BA6-C2AD-48C6-9547-9DC7273D6140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8020050" cy="323850"/>
          </a:xfrm>
          <a:prstGeom prst="rect">
            <a:avLst/>
          </a:prstGeom>
          <a:solidFill>
            <a:srgbClr val="E9EAEC"/>
          </a:solidFill>
          <a:ln w="9525">
            <a:solidFill>
              <a:srgbClr val="C8CBCF"/>
            </a:solidFill>
            <a:prstDash val="solid"/>
          </a:ln>
        </p:spPr>
        <p:txBody>
          <a:bodyPr lIns="95250" tIns="76200" rIns="95250" bIns="76200" anchor="ctr"/>
          <a:lstStyle/>
          <a:p>
            <a:pPr algn="l">
              <a:buNone/>
              <a:defRPr sz="1088" b="1">
                <a:solidFill>
                  <a:srgbClr val="777777"/>
                </a:solidFill>
              </a:defRPr>
            </a:pPr>
            <a:r>
              <a:rPr sz="1088" b="1">
                <a:solidFill>
                  <a:srgbClr val="777777"/>
                </a:solidFill>
              </a:rPr>
              <a:t>main.cpp   •   editing</a:t>
            </a:r>
          </a:p>
        </p:txBody>
      </p:sp>
      <p:sp>
        <p:nvSpPr>
          <p:cNvPr id="8" name="breadcrumb">
            <a:extLst>
              <a:ext uri="{FF2B5EF4-FFF2-40B4-BE49-F238E27FC236}">
                <a16:creationId xmlns:a16="http://schemas.microsoft.com/office/drawing/2014/main" id="{EA07D951-A853-430D-8B10-0D9E0B9CDE32}"/>
              </a:ext>
            </a:extLst>
          </p:cNvPr>
          <p:cNvSpPr>
            <a:spLocks noGrp="1"/>
          </p:cNvSpPr>
          <p:nvPr/>
        </p:nvSpPr>
        <p:spPr>
          <a:xfrm>
            <a:off x="647700" y="1924050"/>
            <a:ext cx="6000750" cy="285750"/>
          </a:xfrm>
          <a:prstGeom prst="rect">
            <a:avLst/>
          </a:prstGeom>
          <a:solidFill>
            <a:srgbClr val="F7F7F8"/>
          </a:solidFill>
          <a:ln w="9525">
            <a:solidFill>
              <a:srgbClr val="D8DADD"/>
            </a:solidFill>
            <a:prstDash val="solid"/>
          </a:ln>
        </p:spPr>
        <p:txBody>
          <a:bodyPr lIns="95250" tIns="76200" rIns="95250" bIns="76200" anchor="ctr"/>
          <a:lstStyle/>
          <a:p>
            <a:pPr algn="l">
              <a:buNone/>
              <a:defRPr sz="1013" b="0">
                <a:solidFill>
                  <a:srgbClr val="777777"/>
                </a:solidFill>
              </a:defRPr>
            </a:pPr>
            <a:r>
              <a:rPr sz="1013" b="0">
                <a:solidFill>
                  <a:srgbClr val="777777"/>
                </a:solidFill>
              </a:rPr>
              <a:t>main.cpp   &gt;   main()   &gt;   function call</a:t>
            </a:r>
          </a:p>
        </p:txBody>
      </p:sp>
      <p:sp>
        <p:nvSpPr>
          <p:cNvPr id="9" name="outline-head">
            <a:extLst>
              <a:ext uri="{FF2B5EF4-FFF2-40B4-BE49-F238E27FC236}">
                <a16:creationId xmlns:a16="http://schemas.microsoft.com/office/drawing/2014/main" id="{24D30C1E-D7A5-4E40-A8D5-375808BCE8A6}"/>
              </a:ext>
            </a:extLst>
          </p:cNvPr>
          <p:cNvSpPr>
            <a:spLocks noGrp="1"/>
          </p:cNvSpPr>
          <p:nvPr/>
        </p:nvSpPr>
        <p:spPr>
          <a:xfrm>
            <a:off x="6648450" y="1924050"/>
            <a:ext cx="2019300" cy="285750"/>
          </a:xfrm>
          <a:prstGeom prst="rect">
            <a:avLst/>
          </a:prstGeom>
          <a:solidFill>
            <a:srgbClr val="EAF5F8"/>
          </a:solidFill>
          <a:ln w="9525">
            <a:solidFill>
              <a:srgbClr val="C2DDE5"/>
            </a:solidFill>
            <a:prstDash val="solid"/>
          </a:ln>
        </p:spPr>
        <p:txBody>
          <a:bodyPr lIns="95250" tIns="76200" rIns="95250" bIns="76200" anchor="ctr"/>
          <a:lstStyle/>
          <a:p>
            <a:pPr algn="l">
              <a:buNone/>
              <a:defRPr sz="1013" b="1">
                <a:solidFill>
                  <a:srgbClr val="2D7C93"/>
                </a:solidFill>
              </a:defRPr>
            </a:pPr>
            <a:r>
              <a:rPr sz="1013" b="1">
                <a:solidFill>
                  <a:srgbClr val="2D7C93"/>
                </a:solidFill>
              </a:rPr>
              <a:t>OUTLINE · Parser 结构</a:t>
            </a:r>
          </a:p>
        </p:txBody>
      </p:sp>
      <p:sp>
        <p:nvSpPr>
          <p:cNvPr id="10" name="gutter">
            <a:extLst>
              <a:ext uri="{FF2B5EF4-FFF2-40B4-BE49-F238E27FC236}">
                <a16:creationId xmlns:a16="http://schemas.microsoft.com/office/drawing/2014/main" id="{EB15423B-C223-4F7C-966C-6DF2C16B48F4}"/>
              </a:ext>
            </a:extLst>
          </p:cNvPr>
          <p:cNvSpPr>
            <a:spLocks noGrp="1"/>
          </p:cNvSpPr>
          <p:nvPr/>
        </p:nvSpPr>
        <p:spPr>
          <a:xfrm>
            <a:off x="647700" y="2209800"/>
            <a:ext cx="400050" cy="2019300"/>
          </a:xfrm>
          <a:prstGeom prst="rect">
            <a:avLst/>
          </a:prstGeom>
          <a:solidFill>
            <a:srgbClr val="F3F4F5"/>
          </a:solidFill>
          <a:ln w="9525">
            <a:solidFill>
              <a:srgbClr val="E1E3E5"/>
            </a:solidFill>
            <a:prstDash val="solid"/>
          </a:ln>
        </p:spPr>
        <p:txBody>
          <a:bodyPr lIns="95250" tIns="76200" rIns="95250" bIns="76200" anchor="t"/>
          <a:lstStyle/>
          <a:p>
            <a:pPr algn="r">
              <a:buNone/>
              <a:def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rPr>
              <a:t>1</a:t>
            </a:r>
          </a:p>
          <a:p>
            <a:pPr algn="r">
              <a:buNone/>
              <a:def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rPr>
              <a:t>2</a:t>
            </a:r>
          </a:p>
          <a:p>
            <a:pPr algn="r">
              <a:buNone/>
              <a:def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rPr>
              <a:t>3</a:t>
            </a:r>
          </a:p>
          <a:p>
            <a:pPr algn="r">
              <a:buNone/>
              <a:def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rPr>
              <a:t>4</a:t>
            </a:r>
          </a:p>
          <a:p>
            <a:pPr algn="r">
              <a:buNone/>
              <a:def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rPr>
              <a:t>5</a:t>
            </a:r>
          </a:p>
          <a:p>
            <a:pPr algn="r">
              <a:buNone/>
              <a:def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rPr>
              <a:t>6</a:t>
            </a:r>
          </a:p>
          <a:p>
            <a:pPr algn="r">
              <a:buNone/>
              <a:def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rPr>
              <a:t>7</a:t>
            </a:r>
          </a:p>
          <a:p>
            <a:pPr algn="r">
              <a:buNone/>
              <a:def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969A9E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11" name="live-code">
            <a:extLst>
              <a:ext uri="{FF2B5EF4-FFF2-40B4-BE49-F238E27FC236}">
                <a16:creationId xmlns:a16="http://schemas.microsoft.com/office/drawing/2014/main" id="{31A9AED5-BF33-42AE-BE55-6B340051CA79}"/>
              </a:ext>
            </a:extLst>
          </p:cNvPr>
          <p:cNvSpPr>
            <a:spLocks noGrp="1"/>
          </p:cNvSpPr>
          <p:nvPr/>
        </p:nvSpPr>
        <p:spPr>
          <a:xfrm>
            <a:off x="1047750" y="2209800"/>
            <a:ext cx="5600700" cy="20193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</p:spPr>
        <p:txBody>
          <a:bodyPr lIns="114300" tIns="76200" rIns="76200" bIns="76200" anchor="t"/>
          <a:lstStyle/>
          <a:p>
            <a:pPr algn="l">
              <a:buNone/>
              <a:defRPr sz="1163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int </a:t>
            </a:r>
            <a:r>
              <a:rPr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clamp</a:t>
            </a: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(int x, int lo, int hi) {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if (x &lt; lo) return lo;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if (x &gt; hi) return hi;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return x;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}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endParaRPr/>
          </a:p>
          <a:p>
            <a:pPr algn="l">
              <a:buNone/>
              <a:defRPr sz="1163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b="1">
                <a:solidFill>
                  <a:srgbClr val="2D7C93"/>
                </a:solidFill>
                <a:latin typeface="Menlo"/>
                <a:ea typeface="Menlo"/>
                <a:cs typeface="Menlo"/>
              </a:rPr>
              <a:t>int </a:t>
            </a:r>
            <a:r>
              <a:rPr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main</a:t>
            </a: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() {</a:t>
            </a:r>
          </a:p>
          <a:p>
            <a:pPr algn="l">
              <a:buNone/>
              <a:defRPr sz="1163" b="0">
                <a:solidFill>
                  <a:srgbClr val="454545"/>
                </a:solidFill>
                <a:latin typeface="Aptos Mono"/>
                <a:ea typeface="Aptos Mono"/>
                <a:cs typeface="Aptos Mono"/>
              </a:defRPr>
            </a:pPr>
            <a:r>
              <a:rPr sz="116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auto result = clamp(</a:t>
            </a:r>
            <a:r>
              <a:rPr>
                <a:solidFill>
                  <a:srgbClr val="A5A8AB"/>
                </a:solidFill>
                <a:latin typeface="Menlo"/>
                <a:ea typeface="Menlo"/>
                <a:cs typeface="Menlo"/>
              </a:rPr>
              <a:t>value, 0, 100);</a:t>
            </a:r>
            <a:r>
              <a:rPr sz="1150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  ← Copilot 建议（未接受）</a:t>
            </a:r>
          </a:p>
        </p:txBody>
      </p:sp>
      <p:sp>
        <p:nvSpPr>
          <p:cNvPr id="12" name="outline-body">
            <a:extLst>
              <a:ext uri="{FF2B5EF4-FFF2-40B4-BE49-F238E27FC236}">
                <a16:creationId xmlns:a16="http://schemas.microsoft.com/office/drawing/2014/main" id="{9409EEA1-6C9F-489C-9C3D-3FEC13723728}"/>
              </a:ext>
            </a:extLst>
          </p:cNvPr>
          <p:cNvSpPr>
            <a:spLocks noGrp="1"/>
          </p:cNvSpPr>
          <p:nvPr/>
        </p:nvSpPr>
        <p:spPr>
          <a:xfrm>
            <a:off x="6648450" y="2209800"/>
            <a:ext cx="2019300" cy="2019300"/>
          </a:xfrm>
          <a:prstGeom prst="rect">
            <a:avLst/>
          </a:prstGeom>
          <a:solidFill>
            <a:srgbClr val="F9FAFA"/>
          </a:solidFill>
          <a:ln w="13335">
            <a:solidFill>
              <a:srgbClr val="2D7C93"/>
            </a:solidFill>
            <a:prstDash val="solid"/>
          </a:ln>
        </p:spPr>
        <p:txBody>
          <a:bodyPr lIns="95250" tIns="76200" rIns="95250" bIns="76200" anchor="ctr"/>
          <a:lstStyle/>
          <a:p>
            <a:endParaRPr/>
          </a:p>
        </p:txBody>
      </p:sp>
      <p:sp>
        <p:nvSpPr>
          <p:cNvPr id="13" name="outline-file">
            <a:extLst>
              <a:ext uri="{FF2B5EF4-FFF2-40B4-BE49-F238E27FC236}">
                <a16:creationId xmlns:a16="http://schemas.microsoft.com/office/drawing/2014/main" id="{8029BB70-CF3D-4ADB-B874-1B123591719F}"/>
              </a:ext>
            </a:extLst>
          </p:cNvPr>
          <p:cNvSpPr>
            <a:spLocks noGrp="1"/>
          </p:cNvSpPr>
          <p:nvPr/>
        </p:nvSpPr>
        <p:spPr>
          <a:xfrm>
            <a:off x="6762750" y="2295525"/>
            <a:ext cx="1752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88" b="1">
                <a:solidFill>
                  <a:srgbClr val="454545"/>
                </a:solidFill>
              </a:defRPr>
            </a:pPr>
            <a:r>
              <a:rPr sz="1088" b="1">
                <a:solidFill>
                  <a:srgbClr val="454545"/>
                </a:solidFill>
              </a:rPr>
              <a:t>▾  main.cpp</a:t>
            </a:r>
          </a:p>
        </p:txBody>
      </p:sp>
      <p:sp>
        <p:nvSpPr>
          <p:cNvPr id="14" name="outline-clamp">
            <a:extLst>
              <a:ext uri="{FF2B5EF4-FFF2-40B4-BE49-F238E27FC236}">
                <a16:creationId xmlns:a16="http://schemas.microsoft.com/office/drawing/2014/main" id="{86E7D9EC-6C4A-496E-8CB1-718A88E14D48}"/>
              </a:ext>
            </a:extLst>
          </p:cNvPr>
          <p:cNvSpPr>
            <a:spLocks noGrp="1"/>
          </p:cNvSpPr>
          <p:nvPr/>
        </p:nvSpPr>
        <p:spPr>
          <a:xfrm>
            <a:off x="6819900" y="2581275"/>
            <a:ext cx="1714500" cy="266700"/>
          </a:xfrm>
          <a:prstGeom prst="rect">
            <a:avLst/>
          </a:prstGeom>
          <a:solidFill>
            <a:srgbClr val="EAF5F8"/>
          </a:solidFill>
          <a:ln w="9525">
            <a:solidFill>
              <a:srgbClr val="C2DDE5"/>
            </a:solidFill>
            <a:prstDash val="solid"/>
          </a:ln>
        </p:spPr>
        <p:txBody>
          <a:bodyPr lIns="95250" tIns="76200" rIns="95250" bIns="76200" anchor="ctr"/>
          <a:lstStyle/>
          <a:p>
            <a:pPr algn="l">
              <a:buNone/>
              <a:defRPr sz="1013" b="1">
                <a:solidFill>
                  <a:srgbClr val="2D7C93"/>
                </a:solidFill>
              </a:defRPr>
            </a:pPr>
            <a:r>
              <a:rPr sz="1013" b="1">
                <a:solidFill>
                  <a:srgbClr val="2D7C93"/>
                </a:solidFill>
              </a:rPr>
              <a:t>ƒ  clamp(x, lo, hi)</a:t>
            </a:r>
          </a:p>
        </p:txBody>
      </p:sp>
      <p:sp>
        <p:nvSpPr>
          <p:cNvPr id="15" name="outline-main">
            <a:extLst>
              <a:ext uri="{FF2B5EF4-FFF2-40B4-BE49-F238E27FC236}">
                <a16:creationId xmlns:a16="http://schemas.microsoft.com/office/drawing/2014/main" id="{F9B65ECB-123D-4DCF-8748-FC0714D1096C}"/>
              </a:ext>
            </a:extLst>
          </p:cNvPr>
          <p:cNvSpPr>
            <a:spLocks noGrp="1"/>
          </p:cNvSpPr>
          <p:nvPr/>
        </p:nvSpPr>
        <p:spPr>
          <a:xfrm>
            <a:off x="6819900" y="2905125"/>
            <a:ext cx="1714500" cy="38100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95250" tIns="76200" rIns="95250" bIns="76200" anchor="ctr"/>
          <a:lstStyle/>
          <a:p>
            <a:pPr algn="l">
              <a:buNone/>
              <a:defRPr sz="938" b="1">
                <a:solidFill>
                  <a:srgbClr val="C4384D"/>
                </a:solidFill>
              </a:defRPr>
            </a:pPr>
            <a:r>
              <a:rPr sz="938" b="1">
                <a:solidFill>
                  <a:srgbClr val="C4384D"/>
                </a:solidFill>
              </a:rPr>
              <a:t>ƒ  main()</a:t>
            </a:r>
          </a:p>
          <a:p>
            <a:pPr algn="l">
              <a:buNone/>
              <a:defRPr sz="938" b="1">
                <a:solidFill>
                  <a:srgbClr val="C4384D"/>
                </a:solidFill>
              </a:defRPr>
            </a:pPr>
            <a:r>
              <a:rPr sz="938" b="1">
                <a:solidFill>
                  <a:srgbClr val="C4384D"/>
                </a:solidFill>
              </a:rPr>
              <a:t>   缺少 }，仍被识别</a:t>
            </a:r>
          </a:p>
        </p:txBody>
      </p:sp>
      <p:sp>
        <p:nvSpPr>
          <p:cNvPr id="16" name="outline-uses">
            <a:extLst>
              <a:ext uri="{FF2B5EF4-FFF2-40B4-BE49-F238E27FC236}">
                <a16:creationId xmlns:a16="http://schemas.microsoft.com/office/drawing/2014/main" id="{F47BA15D-1AFF-47DA-A877-59FECE671E59}"/>
              </a:ext>
            </a:extLst>
          </p:cNvPr>
          <p:cNvSpPr>
            <a:spLocks noGrp="1"/>
          </p:cNvSpPr>
          <p:nvPr/>
        </p:nvSpPr>
        <p:spPr>
          <a:xfrm>
            <a:off x="6762750" y="3409950"/>
            <a:ext cx="17907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这份结构可用于：</a:t>
            </a:r>
          </a:p>
          <a:p>
            <a:pPr algn="l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折叠 · 大纲</a:t>
            </a:r>
          </a:p>
          <a:p>
            <a:pPr algn="l">
              <a:buNone/>
              <a:defRPr sz="1013" b="1">
                <a:solidFill>
                  <a:srgbClr val="454545"/>
                </a:solidFill>
              </a:defRPr>
            </a:pPr>
            <a:r>
              <a:rPr sz="1013" b="1">
                <a:solidFill>
                  <a:srgbClr val="454545"/>
                </a:solidFill>
              </a:rPr>
              <a:t>结构化选择 · 查询</a:t>
            </a:r>
          </a:p>
        </p:txBody>
      </p:sp>
      <p:sp>
        <p:nvSpPr>
          <p:cNvPr id="17" name="takeaway">
            <a:extLst>
              <a:ext uri="{FF2B5EF4-FFF2-40B4-BE49-F238E27FC236}">
                <a16:creationId xmlns:a16="http://schemas.microsoft.com/office/drawing/2014/main" id="{0C0D20A9-EB39-4EC6-9AEC-3504FD99631B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LLM 补全负责生成文本；Parser 持续把当前文本恢复成结构，供 IDE 使用。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编辑器对 Parser 提出了三项不同要求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8BECC1C-8AF1-E14F-B384-26C5966C006A}" type="slidenum">
              <a:t>64</a:t>
            </a:fld>
            <a:endParaRPr/>
          </a:p>
        </p:txBody>
      </p:sp>
      <p:sp>
        <p:nvSpPr>
          <p:cNvPr id="5" name="subtitle-8jepo3et">
            <a:extLst>
              <a:ext uri="{FF2B5EF4-FFF2-40B4-BE49-F238E27FC236}">
                <a16:creationId xmlns:a16="http://schemas.microsoft.com/office/drawing/2014/main" id="{4BE95EAE-2A00-49FD-9559-6112A067FE21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773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每次按键都会改变输入；代码经常尚未写完；工具还需要把结构精确映射回源码。 </a:t>
            </a:r>
          </a:p>
        </p:txBody>
      </p:sp>
      <p:sp>
        <p:nvSpPr>
          <p:cNvPr id="6" name="requirement-cause-0">
            <a:extLst>
              <a:ext uri="{FF2B5EF4-FFF2-40B4-BE49-F238E27FC236}">
                <a16:creationId xmlns:a16="http://schemas.microsoft.com/office/drawing/2014/main" id="{F01411DF-53E3-4854-9EB3-95B93C534091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2428875" cy="590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每次编辑或补全都要更新</a:t>
            </a:r>
          </a:p>
        </p:txBody>
      </p:sp>
      <p:sp>
        <p:nvSpPr>
          <p:cNvPr id="7" name="requirement-arrow-0">
            <a:extLst>
              <a:ext uri="{FF2B5EF4-FFF2-40B4-BE49-F238E27FC236}">
                <a16:creationId xmlns:a16="http://schemas.microsoft.com/office/drawing/2014/main" id="{E7B976B7-EDAC-483F-8A96-3CA93DA9EEBD}"/>
              </a:ext>
            </a:extLst>
          </p:cNvPr>
          <p:cNvSpPr>
            <a:spLocks noGrp="1"/>
          </p:cNvSpPr>
          <p:nvPr/>
        </p:nvSpPr>
        <p:spPr>
          <a:xfrm>
            <a:off x="3114675" y="2009775"/>
            <a:ext cx="523875" cy="0"/>
          </a:xfrm>
          <a:prstGeom prst="line">
            <a:avLst/>
          </a:prstGeom>
          <a:noFill/>
          <a:ln w="14288">
            <a:solidFill>
              <a:srgbClr val="777777"/>
            </a:solidFill>
            <a:prstDash val="solid"/>
          </a:ln>
        </p:spPr>
      </p:sp>
      <p:sp>
        <p:nvSpPr>
          <p:cNvPr id="8" name="requirement-label-0">
            <a:extLst>
              <a:ext uri="{FF2B5EF4-FFF2-40B4-BE49-F238E27FC236}">
                <a16:creationId xmlns:a16="http://schemas.microsoft.com/office/drawing/2014/main" id="{69859F7A-49C5-4B10-8320-80C4535A3950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1028700" cy="590550"/>
          </a:xfrm>
          <a:prstGeom prst="roundRect">
            <a:avLst>
              <a:gd name="adj" fmla="val 12903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增量</a:t>
            </a:r>
          </a:p>
        </p:txBody>
      </p:sp>
      <p:sp>
        <p:nvSpPr>
          <p:cNvPr id="9" name="requirement-arrow-b-0">
            <a:extLst>
              <a:ext uri="{FF2B5EF4-FFF2-40B4-BE49-F238E27FC236}">
                <a16:creationId xmlns:a16="http://schemas.microsoft.com/office/drawing/2014/main" id="{67D5CC4A-86C5-453C-A2B7-8F14583B5D9E}"/>
              </a:ext>
            </a:extLst>
          </p:cNvPr>
          <p:cNvSpPr>
            <a:spLocks noGrp="1"/>
          </p:cNvSpPr>
          <p:nvPr/>
        </p:nvSpPr>
        <p:spPr>
          <a:xfrm>
            <a:off x="4838700" y="2009775"/>
            <a:ext cx="466725" cy="0"/>
          </a:xfrm>
          <a:prstGeom prst="line">
            <a:avLst/>
          </a:prstGeom>
          <a:noFill/>
          <a:ln w="14288">
            <a:solidFill>
              <a:srgbClr val="777777"/>
            </a:solidFill>
            <a:prstDash val="solid"/>
          </a:ln>
        </p:spPr>
      </p:sp>
      <p:sp>
        <p:nvSpPr>
          <p:cNvPr id="10" name="requirement-response-0">
            <a:extLst>
              <a:ext uri="{FF2B5EF4-FFF2-40B4-BE49-F238E27FC236}">
                <a16:creationId xmlns:a16="http://schemas.microsoft.com/office/drawing/2014/main" id="{71364936-4487-412C-96A3-4F3371BA58E9}"/>
              </a:ext>
            </a:extLst>
          </p:cNvPr>
          <p:cNvSpPr>
            <a:spLocks noGrp="1"/>
          </p:cNvSpPr>
          <p:nvPr/>
        </p:nvSpPr>
        <p:spPr>
          <a:xfrm>
            <a:off x="5476875" y="1714500"/>
            <a:ext cx="2952750" cy="5905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复用未变化的旧结构，只重新解析受影响区域</a:t>
            </a:r>
          </a:p>
        </p:txBody>
      </p:sp>
      <p:sp>
        <p:nvSpPr>
          <p:cNvPr id="11" name="requirement-cause-1">
            <a:extLst>
              <a:ext uri="{FF2B5EF4-FFF2-40B4-BE49-F238E27FC236}">
                <a16:creationId xmlns:a16="http://schemas.microsoft.com/office/drawing/2014/main" id="{94341938-C94A-45DB-87D7-75A972E3B799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2428875" cy="590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代码可能缺括号、缺分号</a:t>
            </a:r>
          </a:p>
        </p:txBody>
      </p:sp>
      <p:sp>
        <p:nvSpPr>
          <p:cNvPr id="12" name="requirement-arrow-1">
            <a:extLst>
              <a:ext uri="{FF2B5EF4-FFF2-40B4-BE49-F238E27FC236}">
                <a16:creationId xmlns:a16="http://schemas.microsoft.com/office/drawing/2014/main" id="{E071B838-2A31-4F7F-91D6-A4F2E9F4FC3E}"/>
              </a:ext>
            </a:extLst>
          </p:cNvPr>
          <p:cNvSpPr>
            <a:spLocks noGrp="1"/>
          </p:cNvSpPr>
          <p:nvPr/>
        </p:nvSpPr>
        <p:spPr>
          <a:xfrm>
            <a:off x="3114675" y="2847975"/>
            <a:ext cx="523875" cy="0"/>
          </a:xfrm>
          <a:prstGeom prst="line">
            <a:avLst/>
          </a:prstGeom>
          <a:noFill/>
          <a:ln w="14288">
            <a:solidFill>
              <a:srgbClr val="777777"/>
            </a:solidFill>
            <a:prstDash val="solid"/>
          </a:ln>
        </p:spPr>
      </p:sp>
      <p:sp>
        <p:nvSpPr>
          <p:cNvPr id="13" name="requirement-label-1">
            <a:extLst>
              <a:ext uri="{FF2B5EF4-FFF2-40B4-BE49-F238E27FC236}">
                <a16:creationId xmlns:a16="http://schemas.microsoft.com/office/drawing/2014/main" id="{6C963052-6D11-42DA-B848-EEDC91F6FC4D}"/>
              </a:ext>
            </a:extLst>
          </p:cNvPr>
          <p:cNvSpPr>
            <a:spLocks noGrp="1"/>
          </p:cNvSpPr>
          <p:nvPr/>
        </p:nvSpPr>
        <p:spPr>
          <a:xfrm>
            <a:off x="3810000" y="2552700"/>
            <a:ext cx="1028700" cy="590550"/>
          </a:xfrm>
          <a:prstGeom prst="roundRect">
            <a:avLst>
              <a:gd name="adj" fmla="val 12903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500" b="1">
                <a:solidFill>
                  <a:srgbClr val="C4384D"/>
                </a:solidFill>
              </a:defRPr>
            </a:pPr>
            <a:r>
              <a:rPr sz="1500" b="1">
                <a:solidFill>
                  <a:srgbClr val="C4384D"/>
                </a:solidFill>
              </a:rPr>
              <a:t>容错</a:t>
            </a:r>
          </a:p>
        </p:txBody>
      </p:sp>
      <p:sp>
        <p:nvSpPr>
          <p:cNvPr id="14" name="requirement-arrow-b-1">
            <a:extLst>
              <a:ext uri="{FF2B5EF4-FFF2-40B4-BE49-F238E27FC236}">
                <a16:creationId xmlns:a16="http://schemas.microsoft.com/office/drawing/2014/main" id="{0704BC9A-8B89-4B0B-B054-4BD32AAEA2E1}"/>
              </a:ext>
            </a:extLst>
          </p:cNvPr>
          <p:cNvSpPr>
            <a:spLocks noGrp="1"/>
          </p:cNvSpPr>
          <p:nvPr/>
        </p:nvSpPr>
        <p:spPr>
          <a:xfrm>
            <a:off x="4838700" y="2847975"/>
            <a:ext cx="466725" cy="0"/>
          </a:xfrm>
          <a:prstGeom prst="line">
            <a:avLst/>
          </a:prstGeom>
          <a:noFill/>
          <a:ln w="14288">
            <a:solidFill>
              <a:srgbClr val="777777"/>
            </a:solidFill>
            <a:prstDash val="solid"/>
          </a:ln>
        </p:spPr>
      </p:sp>
      <p:sp>
        <p:nvSpPr>
          <p:cNvPr id="15" name="requirement-response-1">
            <a:extLst>
              <a:ext uri="{FF2B5EF4-FFF2-40B4-BE49-F238E27FC236}">
                <a16:creationId xmlns:a16="http://schemas.microsoft.com/office/drawing/2014/main" id="{3F42325B-E463-45E4-9A79-2DFD482B9267}"/>
              </a:ext>
            </a:extLst>
          </p:cNvPr>
          <p:cNvSpPr>
            <a:spLocks noGrp="1"/>
          </p:cNvSpPr>
          <p:nvPr/>
        </p:nvSpPr>
        <p:spPr>
          <a:xfrm>
            <a:off x="5476875" y="2552700"/>
            <a:ext cx="2952750" cy="5905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错误附近也返回当前能够识别的结构</a:t>
            </a:r>
          </a:p>
        </p:txBody>
      </p:sp>
      <p:sp>
        <p:nvSpPr>
          <p:cNvPr id="16" name="requirement-cause-2">
            <a:extLst>
              <a:ext uri="{FF2B5EF4-FFF2-40B4-BE49-F238E27FC236}">
                <a16:creationId xmlns:a16="http://schemas.microsoft.com/office/drawing/2014/main" id="{A560919A-9370-4368-93EC-DBDED29DF8A4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428875" cy="5905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工具要定位并修改源码</a:t>
            </a:r>
          </a:p>
        </p:txBody>
      </p:sp>
      <p:sp>
        <p:nvSpPr>
          <p:cNvPr id="17" name="requirement-arrow-2">
            <a:extLst>
              <a:ext uri="{FF2B5EF4-FFF2-40B4-BE49-F238E27FC236}">
                <a16:creationId xmlns:a16="http://schemas.microsoft.com/office/drawing/2014/main" id="{8DE7C11C-9110-4A3E-9E78-792FE32EE8F5}"/>
              </a:ext>
            </a:extLst>
          </p:cNvPr>
          <p:cNvSpPr>
            <a:spLocks noGrp="1"/>
          </p:cNvSpPr>
          <p:nvPr/>
        </p:nvSpPr>
        <p:spPr>
          <a:xfrm>
            <a:off x="3114675" y="3686175"/>
            <a:ext cx="523875" cy="0"/>
          </a:xfrm>
          <a:prstGeom prst="line">
            <a:avLst/>
          </a:prstGeom>
          <a:noFill/>
          <a:ln w="14288">
            <a:solidFill>
              <a:srgbClr val="777777"/>
            </a:solidFill>
            <a:prstDash val="solid"/>
          </a:ln>
        </p:spPr>
      </p:sp>
      <p:sp>
        <p:nvSpPr>
          <p:cNvPr id="18" name="requirement-label-2">
            <a:extLst>
              <a:ext uri="{FF2B5EF4-FFF2-40B4-BE49-F238E27FC236}">
                <a16:creationId xmlns:a16="http://schemas.microsoft.com/office/drawing/2014/main" id="{37A0AC85-1B99-4308-B87D-81BA77A26F24}"/>
              </a:ext>
            </a:extLst>
          </p:cNvPr>
          <p:cNvSpPr>
            <a:spLocks noGrp="1"/>
          </p:cNvSpPr>
          <p:nvPr/>
        </p:nvSpPr>
        <p:spPr>
          <a:xfrm>
            <a:off x="3810000" y="3390900"/>
            <a:ext cx="1028700" cy="590550"/>
          </a:xfrm>
          <a:prstGeom prst="roundRect">
            <a:avLst>
              <a:gd name="adj" fmla="val 12903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500" b="1">
                <a:solidFill>
                  <a:srgbClr val="2D7C93"/>
                </a:solidFill>
              </a:defRPr>
            </a:pPr>
            <a:r>
              <a:rPr sz="1500" b="1">
                <a:solidFill>
                  <a:srgbClr val="2D7C93"/>
                </a:solidFill>
              </a:rPr>
              <a:t>保留细节</a:t>
            </a:r>
          </a:p>
        </p:txBody>
      </p:sp>
      <p:sp>
        <p:nvSpPr>
          <p:cNvPr id="19" name="requirement-arrow-b-2">
            <a:extLst>
              <a:ext uri="{FF2B5EF4-FFF2-40B4-BE49-F238E27FC236}">
                <a16:creationId xmlns:a16="http://schemas.microsoft.com/office/drawing/2014/main" id="{2FF95201-7703-42F4-9F55-D521F391951A}"/>
              </a:ext>
            </a:extLst>
          </p:cNvPr>
          <p:cNvSpPr>
            <a:spLocks noGrp="1"/>
          </p:cNvSpPr>
          <p:nvPr/>
        </p:nvSpPr>
        <p:spPr>
          <a:xfrm>
            <a:off x="4838700" y="3686175"/>
            <a:ext cx="466725" cy="0"/>
          </a:xfrm>
          <a:prstGeom prst="line">
            <a:avLst/>
          </a:prstGeom>
          <a:noFill/>
          <a:ln w="14288">
            <a:solidFill>
              <a:srgbClr val="777777"/>
            </a:solidFill>
            <a:prstDash val="solid"/>
          </a:ln>
        </p:spPr>
      </p:sp>
      <p:sp>
        <p:nvSpPr>
          <p:cNvPr id="20" name="requirement-response-2">
            <a:extLst>
              <a:ext uri="{FF2B5EF4-FFF2-40B4-BE49-F238E27FC236}">
                <a16:creationId xmlns:a16="http://schemas.microsoft.com/office/drawing/2014/main" id="{A9523FCC-E246-4B30-AA64-9A05AB75765B}"/>
              </a:ext>
            </a:extLst>
          </p:cNvPr>
          <p:cNvSpPr>
            <a:spLocks noGrp="1"/>
          </p:cNvSpPr>
          <p:nvPr/>
        </p:nvSpPr>
        <p:spPr>
          <a:xfrm>
            <a:off x="5476875" y="3390900"/>
            <a:ext cx="2952750" cy="5905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保留标点、注释与源码范围等具体信息</a:t>
            </a:r>
          </a:p>
        </p:txBody>
      </p:sp>
      <p:sp>
        <p:nvSpPr>
          <p:cNvPr id="21" name="takeaway-8jepo3et">
            <a:extLst>
              <a:ext uri="{FF2B5EF4-FFF2-40B4-BE49-F238E27FC236}">
                <a16:creationId xmlns:a16="http://schemas.microsoft.com/office/drawing/2014/main" id="{885BAC75-46DB-4FB7-B811-0A07A14693AA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传统批处理 Parser 面向完整输入；编辑器需要增量、容错，并保留更多具体语法信息。 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增量解析：复用未变化的旧语法树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0266C08-4012-4EBF-30A1-86DAD603F97A}" type="slidenum">
              <a:t>65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1E05B67A-B843-485C-B6DE-1327D4CA2B03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7734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一次编辑只让相关节点失效；其他子树继续沿用上一次的解析结果。</a:t>
            </a:r>
          </a:p>
        </p:txBody>
      </p:sp>
      <p:sp>
        <p:nvSpPr>
          <p:cNvPr id="6" name="old-label">
            <a:extLst>
              <a:ext uri="{FF2B5EF4-FFF2-40B4-BE49-F238E27FC236}">
                <a16:creationId xmlns:a16="http://schemas.microsoft.com/office/drawing/2014/main" id="{1F598321-48E2-4E87-B4A5-A2BBA2B2047E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旧语法树</a:t>
            </a:r>
          </a:p>
        </p:txBody>
      </p:sp>
      <p:sp>
        <p:nvSpPr>
          <p:cNvPr id="7" name="new-label">
            <a:extLst>
              <a:ext uri="{FF2B5EF4-FFF2-40B4-BE49-F238E27FC236}">
                <a16:creationId xmlns:a16="http://schemas.microsoft.com/office/drawing/2014/main" id="{53A08643-94A4-4EB2-81BD-E9F116BB9356}"/>
              </a:ext>
            </a:extLst>
          </p:cNvPr>
          <p:cNvSpPr>
            <a:spLocks noGrp="1"/>
          </p:cNvSpPr>
          <p:nvPr/>
        </p:nvSpPr>
        <p:spPr>
          <a:xfrm>
            <a:off x="5486400" y="16192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新语法树</a:t>
            </a:r>
          </a:p>
        </p:txBody>
      </p:sp>
      <p:sp>
        <p:nvSpPr>
          <p:cNvPr id="8" name="old-to-f">
            <a:extLst>
              <a:ext uri="{FF2B5EF4-FFF2-40B4-BE49-F238E27FC236}">
                <a16:creationId xmlns:a16="http://schemas.microsoft.com/office/drawing/2014/main" id="{DADF2BA6-55F2-473E-BD27-52BDC464EE19}"/>
              </a:ext>
            </a:extLst>
          </p:cNvPr>
          <p:cNvSpPr>
            <a:spLocks noGrp="1"/>
          </p:cNvSpPr>
          <p:nvPr/>
        </p:nvSpPr>
        <p:spPr>
          <a:xfrm flipH="1">
            <a:off x="1466850" y="2333625"/>
            <a:ext cx="714375" cy="571500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9" name="old-to-g">
            <a:extLst>
              <a:ext uri="{FF2B5EF4-FFF2-40B4-BE49-F238E27FC236}">
                <a16:creationId xmlns:a16="http://schemas.microsoft.com/office/drawing/2014/main" id="{8E4F97D1-FD28-4950-95F7-D2BBC8EA2EB3}"/>
              </a:ext>
            </a:extLst>
          </p:cNvPr>
          <p:cNvSpPr>
            <a:spLocks noGrp="1"/>
          </p:cNvSpPr>
          <p:nvPr/>
        </p:nvSpPr>
        <p:spPr>
          <a:xfrm>
            <a:off x="2181225" y="2333625"/>
            <a:ext cx="714375" cy="571500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10" name="new-to-f">
            <a:extLst>
              <a:ext uri="{FF2B5EF4-FFF2-40B4-BE49-F238E27FC236}">
                <a16:creationId xmlns:a16="http://schemas.microsoft.com/office/drawing/2014/main" id="{407B300F-592B-40BC-8EC8-B15EF202D365}"/>
              </a:ext>
            </a:extLst>
          </p:cNvPr>
          <p:cNvSpPr>
            <a:spLocks noGrp="1"/>
          </p:cNvSpPr>
          <p:nvPr/>
        </p:nvSpPr>
        <p:spPr>
          <a:xfrm flipH="1">
            <a:off x="6248400" y="2333625"/>
            <a:ext cx="714375" cy="571500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11" name="new-to-g">
            <a:extLst>
              <a:ext uri="{FF2B5EF4-FFF2-40B4-BE49-F238E27FC236}">
                <a16:creationId xmlns:a16="http://schemas.microsoft.com/office/drawing/2014/main" id="{1502DEDD-F545-4F69-AC02-034B9D246269}"/>
              </a:ext>
            </a:extLst>
          </p:cNvPr>
          <p:cNvSpPr>
            <a:spLocks noGrp="1"/>
          </p:cNvSpPr>
          <p:nvPr/>
        </p:nvSpPr>
        <p:spPr>
          <a:xfrm>
            <a:off x="6962775" y="2333625"/>
            <a:ext cx="714375" cy="571500"/>
          </a:xfrm>
          <a:prstGeom prst="line">
            <a:avLst/>
          </a:prstGeom>
          <a:noFill/>
          <a:ln w="14288">
            <a:solidFill>
              <a:srgbClr val="B8B8B8"/>
            </a:solidFill>
            <a:prstDash val="solid"/>
          </a:ln>
        </p:spPr>
      </p:sp>
      <p:sp>
        <p:nvSpPr>
          <p:cNvPr id="12" name="edit-arrow">
            <a:extLst>
              <a:ext uri="{FF2B5EF4-FFF2-40B4-BE49-F238E27FC236}">
                <a16:creationId xmlns:a16="http://schemas.microsoft.com/office/drawing/2014/main" id="{A1367DC3-D0C8-4839-8F86-CD701494B6E5}"/>
              </a:ext>
            </a:extLst>
          </p:cNvPr>
          <p:cNvSpPr>
            <a:spLocks noGrp="1"/>
          </p:cNvSpPr>
          <p:nvPr/>
        </p:nvSpPr>
        <p:spPr>
          <a:xfrm>
            <a:off x="3714750" y="2571750"/>
            <a:ext cx="1714500" cy="0"/>
          </a:xfrm>
          <a:prstGeom prst="line">
            <a:avLst/>
          </a:prstGeom>
          <a:noFill/>
          <a:ln w="19050">
            <a:solidFill>
              <a:srgbClr val="C4384D"/>
            </a:solidFill>
            <a:prstDash val="solid"/>
          </a:ln>
        </p:spPr>
      </p:sp>
      <p:sp>
        <p:nvSpPr>
          <p:cNvPr id="14" name="old-program">
            <a:extLst>
              <a:ext uri="{FF2B5EF4-FFF2-40B4-BE49-F238E27FC236}">
                <a16:creationId xmlns:a16="http://schemas.microsoft.com/office/drawing/2014/main" id="{8CCD4AA9-2EAC-4829-9499-4AE4B5B6B9CA}"/>
              </a:ext>
            </a:extLst>
          </p:cNvPr>
          <p:cNvSpPr>
            <a:spLocks noGrp="1"/>
          </p:cNvSpPr>
          <p:nvPr/>
        </p:nvSpPr>
        <p:spPr>
          <a:xfrm>
            <a:off x="1514475" y="1971675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program</a:t>
            </a:r>
          </a:p>
        </p:txBody>
      </p:sp>
      <p:sp>
        <p:nvSpPr>
          <p:cNvPr id="15" name="old-f">
            <a:extLst>
              <a:ext uri="{FF2B5EF4-FFF2-40B4-BE49-F238E27FC236}">
                <a16:creationId xmlns:a16="http://schemas.microsoft.com/office/drawing/2014/main" id="{43430FDC-2D50-4207-B0A7-0C0DC7C23EED}"/>
              </a:ext>
            </a:extLst>
          </p:cNvPr>
          <p:cNvSpPr>
            <a:spLocks noGrp="1"/>
          </p:cNvSpPr>
          <p:nvPr/>
        </p:nvSpPr>
        <p:spPr>
          <a:xfrm>
            <a:off x="657225" y="2905125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function f</a:t>
            </a:r>
          </a:p>
          <a:p>
            <a:pPr algn="ctr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return 1 + 2</a:t>
            </a:r>
          </a:p>
        </p:txBody>
      </p:sp>
      <p:sp>
        <p:nvSpPr>
          <p:cNvPr id="16" name="old-g">
            <a:extLst>
              <a:ext uri="{FF2B5EF4-FFF2-40B4-BE49-F238E27FC236}">
                <a16:creationId xmlns:a16="http://schemas.microsoft.com/office/drawing/2014/main" id="{E69FAE6E-9DCE-4723-B4D4-EF2D5F5CF30C}"/>
              </a:ext>
            </a:extLst>
          </p:cNvPr>
          <p:cNvSpPr>
            <a:spLocks noGrp="1"/>
          </p:cNvSpPr>
          <p:nvPr/>
        </p:nvSpPr>
        <p:spPr>
          <a:xfrm>
            <a:off x="2466975" y="2905125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function g</a:t>
            </a:r>
          </a:p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return 3 + 4</a:t>
            </a:r>
          </a:p>
        </p:txBody>
      </p:sp>
      <p:sp>
        <p:nvSpPr>
          <p:cNvPr id="17" name="new-program">
            <a:extLst>
              <a:ext uri="{FF2B5EF4-FFF2-40B4-BE49-F238E27FC236}">
                <a16:creationId xmlns:a16="http://schemas.microsoft.com/office/drawing/2014/main" id="{7223DB7D-A99F-4F8E-A9DD-9FDE8011DFE5}"/>
              </a:ext>
            </a:extLst>
          </p:cNvPr>
          <p:cNvSpPr>
            <a:spLocks noGrp="1"/>
          </p:cNvSpPr>
          <p:nvPr/>
        </p:nvSpPr>
        <p:spPr>
          <a:xfrm>
            <a:off x="6296025" y="1971675"/>
            <a:ext cx="1333500" cy="457200"/>
          </a:xfrm>
          <a:prstGeom prst="roundRect">
            <a:avLst>
              <a:gd name="adj" fmla="val 16667"/>
            </a:avLst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50" b="1">
                <a:solidFill>
                  <a:srgbClr val="454545"/>
                </a:solidFill>
              </a:defRPr>
            </a:pPr>
            <a:r>
              <a:rPr sz="1350" b="1">
                <a:solidFill>
                  <a:srgbClr val="454545"/>
                </a:solidFill>
              </a:rPr>
              <a:t>program</a:t>
            </a:r>
          </a:p>
        </p:txBody>
      </p:sp>
      <p:sp>
        <p:nvSpPr>
          <p:cNvPr id="18" name="new-f">
            <a:extLst>
              <a:ext uri="{FF2B5EF4-FFF2-40B4-BE49-F238E27FC236}">
                <a16:creationId xmlns:a16="http://schemas.microsoft.com/office/drawing/2014/main" id="{C496A3CC-38F5-4529-B519-203997CBA5A5}"/>
              </a:ext>
            </a:extLst>
          </p:cNvPr>
          <p:cNvSpPr>
            <a:spLocks noGrp="1"/>
          </p:cNvSpPr>
          <p:nvPr/>
        </p:nvSpPr>
        <p:spPr>
          <a:xfrm>
            <a:off x="5438775" y="2905125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163" b="1">
                <a:solidFill>
                  <a:srgbClr val="C4384D"/>
                </a:solidFill>
              </a:defRPr>
            </a:pPr>
            <a:r>
              <a:rPr sz="1163" b="1">
                <a:solidFill>
                  <a:srgbClr val="C4384D"/>
                </a:solidFill>
              </a:rPr>
              <a:t>function f</a:t>
            </a:r>
          </a:p>
          <a:p>
            <a:pPr algn="ctr">
              <a:buNone/>
              <a:defRPr sz="1163" b="1">
                <a:solidFill>
                  <a:srgbClr val="C4384D"/>
                </a:solidFill>
              </a:defRPr>
            </a:pPr>
            <a:r>
              <a:rPr sz="1163" b="1">
                <a:solidFill>
                  <a:srgbClr val="C4384D"/>
                </a:solidFill>
              </a:rPr>
              <a:t>return 1 + 20</a:t>
            </a:r>
          </a:p>
          <a:p>
            <a:pPr algn="ctr">
              <a:buNone/>
              <a:defRPr sz="1163" b="1">
                <a:solidFill>
                  <a:srgbClr val="C4384D"/>
                </a:solidFill>
              </a:defRPr>
            </a:pPr>
            <a:r>
              <a:rPr sz="1163" b="1">
                <a:solidFill>
                  <a:srgbClr val="C4384D"/>
                </a:solidFill>
              </a:rPr>
              <a:t>重新解析</a:t>
            </a:r>
          </a:p>
        </p:txBody>
      </p:sp>
      <p:sp>
        <p:nvSpPr>
          <p:cNvPr id="19" name="new-g">
            <a:extLst>
              <a:ext uri="{FF2B5EF4-FFF2-40B4-BE49-F238E27FC236}">
                <a16:creationId xmlns:a16="http://schemas.microsoft.com/office/drawing/2014/main" id="{12568E07-C2A8-4E2A-BD8D-667773C98781}"/>
              </a:ext>
            </a:extLst>
          </p:cNvPr>
          <p:cNvSpPr>
            <a:spLocks noGrp="1"/>
          </p:cNvSpPr>
          <p:nvPr/>
        </p:nvSpPr>
        <p:spPr>
          <a:xfrm>
            <a:off x="7248525" y="2905125"/>
            <a:ext cx="1619250" cy="685800"/>
          </a:xfrm>
          <a:prstGeom prst="roundRect">
            <a:avLst>
              <a:gd name="adj" fmla="val 11111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163" b="1">
                <a:solidFill>
                  <a:srgbClr val="2D7C93"/>
                </a:solidFill>
              </a:defRPr>
            </a:pPr>
            <a:r>
              <a:rPr sz="1163" b="1">
                <a:solidFill>
                  <a:srgbClr val="2D7C93"/>
                </a:solidFill>
              </a:rPr>
              <a:t>function g</a:t>
            </a:r>
          </a:p>
          <a:p>
            <a:pPr algn="ctr">
              <a:buNone/>
              <a:defRPr sz="1163" b="1">
                <a:solidFill>
                  <a:srgbClr val="2D7C93"/>
                </a:solidFill>
              </a:defRPr>
            </a:pPr>
            <a:r>
              <a:rPr sz="1163" b="1">
                <a:solidFill>
                  <a:srgbClr val="2D7C93"/>
                </a:solidFill>
              </a:rPr>
              <a:t>return 3 + 4</a:t>
            </a:r>
          </a:p>
          <a:p>
            <a:pPr algn="ctr">
              <a:buNone/>
              <a:defRPr sz="1163" b="1">
                <a:solidFill>
                  <a:srgbClr val="2D7C93"/>
                </a:solidFill>
              </a:defRPr>
            </a:pPr>
            <a:r>
              <a:rPr sz="1163" b="1">
                <a:solidFill>
                  <a:srgbClr val="2D7C93"/>
                </a:solidFill>
              </a:rPr>
              <a:t>直接复用</a:t>
            </a:r>
          </a:p>
        </p:txBody>
      </p:sp>
      <p:sp>
        <p:nvSpPr>
          <p:cNvPr id="20" name="edit-label">
            <a:extLst>
              <a:ext uri="{FF2B5EF4-FFF2-40B4-BE49-F238E27FC236}">
                <a16:creationId xmlns:a16="http://schemas.microsoft.com/office/drawing/2014/main" id="{0C443AC1-0083-462E-8F15-B129C8317AA1}"/>
              </a:ext>
            </a:extLst>
          </p:cNvPr>
          <p:cNvSpPr>
            <a:spLocks noGrp="1"/>
          </p:cNvSpPr>
          <p:nvPr/>
        </p:nvSpPr>
        <p:spPr>
          <a:xfrm>
            <a:off x="4019550" y="2266950"/>
            <a:ext cx="1104900" cy="361950"/>
          </a:xfrm>
          <a:prstGeom prst="roundRect">
            <a:avLst>
              <a:gd name="adj" fmla="val 21053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C4384D"/>
                </a:solidFill>
              </a:defRPr>
            </a:pPr>
            <a:r>
              <a:rPr sz="1125" b="1">
                <a:solidFill>
                  <a:srgbClr val="C4384D"/>
                </a:solidFill>
              </a:rPr>
              <a:t>编辑 2 → 20</a:t>
            </a:r>
          </a:p>
        </p:txBody>
      </p:sp>
      <p:sp>
        <p:nvSpPr>
          <p:cNvPr id="22" name="steps">
            <a:extLst>
              <a:ext uri="{FF2B5EF4-FFF2-40B4-BE49-F238E27FC236}">
                <a16:creationId xmlns:a16="http://schemas.microsoft.com/office/drawing/2014/main" id="{E70E0D09-AE63-4BCD-8847-127A4CC2515D}"/>
              </a:ext>
            </a:extLst>
          </p:cNvPr>
          <p:cNvSpPr>
            <a:spLocks noGrp="1"/>
          </p:cNvSpPr>
          <p:nvPr/>
        </p:nvSpPr>
        <p:spPr>
          <a:xfrm>
            <a:off x="1095375" y="3971925"/>
            <a:ext cx="695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定位编辑范围   →   重建受影响的路径   →   复用其余旧子树</a:t>
            </a:r>
          </a:p>
        </p:txBody>
      </p:sp>
      <p:sp>
        <p:nvSpPr>
          <p:cNvPr id="23" name="takeaway">
            <a:extLst>
              <a:ext uri="{FF2B5EF4-FFF2-40B4-BE49-F238E27FC236}">
                <a16:creationId xmlns:a16="http://schemas.microsoft.com/office/drawing/2014/main" id="{C15F55C9-DEF1-4BF6-B513-F6A1430AC90F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旧语法树不仅是输出，也是下一次解析可以复用的缓存。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5386"/>
          </a:bodyPr>
          <a:lstStyle/>
          <a:p>
            <a:r>
              <a:rPr>
                <a:latin typeface="Arial"/>
                <a:ea typeface="Arial"/>
                <a:cs typeface="Arial"/>
              </a:rPr>
              <a:t>Tree-sitter：先生成 Parser，再解析源码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2FF3517-0353-38FD-111C-6706FB0AABA9}" type="slidenum">
              <a:t>66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89233E-177A-4126-8176-8FEE3ADA3803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7734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Tree-sitter中允许用户用grammar.js 描述整门目标语言。</a:t>
            </a:r>
          </a:p>
        </p:txBody>
      </p:sp>
      <p:sp>
        <p:nvSpPr>
          <p:cNvPr id="6" name="build-label">
            <a:extLst>
              <a:ext uri="{FF2B5EF4-FFF2-40B4-BE49-F238E27FC236}">
                <a16:creationId xmlns:a16="http://schemas.microsoft.com/office/drawing/2014/main" id="{B49A7C2D-62AD-4133-A24A-22D951E0F678}"/>
              </a:ext>
            </a:extLst>
          </p:cNvPr>
          <p:cNvSpPr>
            <a:spLocks noGrp="1"/>
          </p:cNvSpPr>
          <p:nvPr/>
        </p:nvSpPr>
        <p:spPr>
          <a:xfrm>
            <a:off x="685800" y="198441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生成时</a:t>
            </a:r>
          </a:p>
        </p:txBody>
      </p:sp>
      <p:sp>
        <p:nvSpPr>
          <p:cNvPr id="7" name="build-a">
            <a:extLst>
              <a:ext uri="{FF2B5EF4-FFF2-40B4-BE49-F238E27FC236}">
                <a16:creationId xmlns:a16="http://schemas.microsoft.com/office/drawing/2014/main" id="{86282D89-0AE6-4DD9-9DB5-F4CA6A5DD4E5}"/>
              </a:ext>
            </a:extLst>
          </p:cNvPr>
          <p:cNvSpPr>
            <a:spLocks noGrp="1"/>
          </p:cNvSpPr>
          <p:nvPr/>
        </p:nvSpPr>
        <p:spPr>
          <a:xfrm>
            <a:off x="2638425" y="2660685"/>
            <a:ext cx="885825" cy="0"/>
          </a:xfrm>
          <a:prstGeom prst="line">
            <a:avLst/>
          </a:prstGeom>
          <a:noFill/>
          <a:ln w="16193">
            <a:solidFill>
              <a:srgbClr val="777777"/>
            </a:solidFill>
            <a:prstDash val="solid"/>
          </a:ln>
        </p:spPr>
      </p:sp>
      <p:sp>
        <p:nvSpPr>
          <p:cNvPr id="8" name="build-b">
            <a:extLst>
              <a:ext uri="{FF2B5EF4-FFF2-40B4-BE49-F238E27FC236}">
                <a16:creationId xmlns:a16="http://schemas.microsoft.com/office/drawing/2014/main" id="{5C668084-1B6F-48E8-B721-DEFEA5279841}"/>
              </a:ext>
            </a:extLst>
          </p:cNvPr>
          <p:cNvSpPr>
            <a:spLocks noGrp="1"/>
          </p:cNvSpPr>
          <p:nvPr/>
        </p:nvSpPr>
        <p:spPr>
          <a:xfrm>
            <a:off x="5334000" y="2660685"/>
            <a:ext cx="885825" cy="0"/>
          </a:xfrm>
          <a:prstGeom prst="line">
            <a:avLst/>
          </a:prstGeom>
          <a:noFill/>
          <a:ln w="16193">
            <a:solidFill>
              <a:srgbClr val="777777"/>
            </a:solidFill>
            <a:prstDash val="solid"/>
          </a:ln>
        </p:spPr>
      </p:sp>
      <p:sp>
        <p:nvSpPr>
          <p:cNvPr id="9" name="cpp-grammar">
            <a:extLst>
              <a:ext uri="{FF2B5EF4-FFF2-40B4-BE49-F238E27FC236}">
                <a16:creationId xmlns:a16="http://schemas.microsoft.com/office/drawing/2014/main" id="{2A306C38-F4E7-4AF4-A7E9-FFD45828EB7D}"/>
              </a:ext>
            </a:extLst>
          </p:cNvPr>
          <p:cNvSpPr>
            <a:spLocks noGrp="1"/>
          </p:cNvSpPr>
          <p:nvPr/>
        </p:nvSpPr>
        <p:spPr>
          <a:xfrm>
            <a:off x="685800" y="2270160"/>
            <a:ext cx="1952625" cy="781050"/>
          </a:xfrm>
          <a:prstGeom prst="roundRect">
            <a:avLst>
              <a:gd name="adj" fmla="val 9756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C++ 文法规约</a:t>
            </a:r>
          </a:p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grammar.js</a:t>
            </a:r>
          </a:p>
        </p:txBody>
      </p:sp>
      <p:sp>
        <p:nvSpPr>
          <p:cNvPr id="10" name="ts-generator">
            <a:extLst>
              <a:ext uri="{FF2B5EF4-FFF2-40B4-BE49-F238E27FC236}">
                <a16:creationId xmlns:a16="http://schemas.microsoft.com/office/drawing/2014/main" id="{E35F0D6B-B040-43DE-A5D0-443B71772A73}"/>
              </a:ext>
            </a:extLst>
          </p:cNvPr>
          <p:cNvSpPr>
            <a:spLocks noGrp="1"/>
          </p:cNvSpPr>
          <p:nvPr/>
        </p:nvSpPr>
        <p:spPr>
          <a:xfrm>
            <a:off x="3524250" y="2270160"/>
            <a:ext cx="1809750" cy="781050"/>
          </a:xfrm>
          <a:prstGeom prst="roundRect">
            <a:avLst>
              <a:gd name="adj" fmla="val 9756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Tree-sitter</a:t>
            </a:r>
          </a:p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generator</a:t>
            </a:r>
          </a:p>
        </p:txBody>
      </p:sp>
      <p:sp>
        <p:nvSpPr>
          <p:cNvPr id="11" name="generated-c">
            <a:extLst>
              <a:ext uri="{FF2B5EF4-FFF2-40B4-BE49-F238E27FC236}">
                <a16:creationId xmlns:a16="http://schemas.microsoft.com/office/drawing/2014/main" id="{F7FB619C-F43F-431F-A9A5-8CA48BD33BDB}"/>
              </a:ext>
            </a:extLst>
          </p:cNvPr>
          <p:cNvSpPr>
            <a:spLocks noGrp="1"/>
          </p:cNvSpPr>
          <p:nvPr/>
        </p:nvSpPr>
        <p:spPr>
          <a:xfrm>
            <a:off x="6219825" y="2193960"/>
            <a:ext cx="2238375" cy="933450"/>
          </a:xfrm>
          <a:prstGeom prst="roundRect">
            <a:avLst>
              <a:gd name="adj" fmla="val 8163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生成的 parser.c</a:t>
            </a:r>
          </a:p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LR 分析表 + Parser 代码</a:t>
            </a:r>
          </a:p>
        </p:txBody>
      </p:sp>
      <p:sp>
        <p:nvSpPr>
          <p:cNvPr id="12" name="runtime-label">
            <a:extLst>
              <a:ext uri="{FF2B5EF4-FFF2-40B4-BE49-F238E27FC236}">
                <a16:creationId xmlns:a16="http://schemas.microsoft.com/office/drawing/2014/main" id="{870747BB-BD21-4062-9974-BEFFF502432C}"/>
              </a:ext>
            </a:extLst>
          </p:cNvPr>
          <p:cNvSpPr>
            <a:spLocks noGrp="1"/>
          </p:cNvSpPr>
          <p:nvPr/>
        </p:nvSpPr>
        <p:spPr>
          <a:xfrm>
            <a:off x="685800" y="340363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运行时</a:t>
            </a:r>
          </a:p>
        </p:txBody>
      </p:sp>
      <p:sp>
        <p:nvSpPr>
          <p:cNvPr id="13" name="run-a">
            <a:extLst>
              <a:ext uri="{FF2B5EF4-FFF2-40B4-BE49-F238E27FC236}">
                <a16:creationId xmlns:a16="http://schemas.microsoft.com/office/drawing/2014/main" id="{A19A7792-8B8B-4121-9D46-E10A99BFD829}"/>
              </a:ext>
            </a:extLst>
          </p:cNvPr>
          <p:cNvSpPr>
            <a:spLocks noGrp="1"/>
          </p:cNvSpPr>
          <p:nvPr/>
        </p:nvSpPr>
        <p:spPr>
          <a:xfrm>
            <a:off x="2857500" y="4089435"/>
            <a:ext cx="809625" cy="0"/>
          </a:xfrm>
          <a:prstGeom prst="line">
            <a:avLst/>
          </a:prstGeom>
          <a:noFill/>
          <a:ln w="16193">
            <a:solidFill>
              <a:srgbClr val="777777"/>
            </a:solidFill>
            <a:prstDash val="solid"/>
          </a:ln>
        </p:spPr>
      </p:sp>
      <p:sp>
        <p:nvSpPr>
          <p:cNvPr id="14" name="run-b">
            <a:extLst>
              <a:ext uri="{FF2B5EF4-FFF2-40B4-BE49-F238E27FC236}">
                <a16:creationId xmlns:a16="http://schemas.microsoft.com/office/drawing/2014/main" id="{4DB68C30-79FB-4B41-B9FB-415DEC8DEB9F}"/>
              </a:ext>
            </a:extLst>
          </p:cNvPr>
          <p:cNvSpPr>
            <a:spLocks noGrp="1"/>
          </p:cNvSpPr>
          <p:nvPr/>
        </p:nvSpPr>
        <p:spPr>
          <a:xfrm>
            <a:off x="5476875" y="4089435"/>
            <a:ext cx="809625" cy="0"/>
          </a:xfrm>
          <a:prstGeom prst="line">
            <a:avLst/>
          </a:prstGeom>
          <a:noFill/>
          <a:ln w="16193">
            <a:solidFill>
              <a:srgbClr val="777777"/>
            </a:solidFill>
            <a:prstDash val="solid"/>
          </a:ln>
        </p:spPr>
      </p:sp>
      <p:sp>
        <p:nvSpPr>
          <p:cNvPr id="15" name="runtime-input">
            <a:extLst>
              <a:ext uri="{FF2B5EF4-FFF2-40B4-BE49-F238E27FC236}">
                <a16:creationId xmlns:a16="http://schemas.microsoft.com/office/drawing/2014/main" id="{B9EDB079-FFD4-4BD5-B145-35DE3CC77B1D}"/>
              </a:ext>
            </a:extLst>
          </p:cNvPr>
          <p:cNvSpPr>
            <a:spLocks noGrp="1"/>
          </p:cNvSpPr>
          <p:nvPr/>
        </p:nvSpPr>
        <p:spPr>
          <a:xfrm>
            <a:off x="685800" y="3737010"/>
            <a:ext cx="2171700" cy="70485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main.cpp</a:t>
            </a:r>
          </a:p>
          <a:p>
            <a:pPr algn="ctr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+ 旧语法树 + 编辑位置</a:t>
            </a:r>
          </a:p>
        </p:txBody>
      </p:sp>
      <p:sp>
        <p:nvSpPr>
          <p:cNvPr id="16" name="runtime-parser">
            <a:extLst>
              <a:ext uri="{FF2B5EF4-FFF2-40B4-BE49-F238E27FC236}">
                <a16:creationId xmlns:a16="http://schemas.microsoft.com/office/drawing/2014/main" id="{CE481851-FF56-469F-82B1-83BF928E7990}"/>
              </a:ext>
            </a:extLst>
          </p:cNvPr>
          <p:cNvSpPr>
            <a:spLocks noGrp="1"/>
          </p:cNvSpPr>
          <p:nvPr/>
        </p:nvSpPr>
        <p:spPr>
          <a:xfrm>
            <a:off x="3667125" y="3737010"/>
            <a:ext cx="1809750" cy="704850"/>
          </a:xfrm>
          <a:prstGeom prst="roundRect">
            <a:avLst>
              <a:gd name="adj" fmla="val 10811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生成的 Parser</a:t>
            </a:r>
          </a:p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+ 增量运行时</a:t>
            </a:r>
          </a:p>
        </p:txBody>
      </p:sp>
      <p:sp>
        <p:nvSpPr>
          <p:cNvPr id="17" name="runtime-output">
            <a:extLst>
              <a:ext uri="{FF2B5EF4-FFF2-40B4-BE49-F238E27FC236}">
                <a16:creationId xmlns:a16="http://schemas.microsoft.com/office/drawing/2014/main" id="{6D32D58B-0822-4BE7-9F90-F3E22CA991BA}"/>
              </a:ext>
            </a:extLst>
          </p:cNvPr>
          <p:cNvSpPr>
            <a:spLocks noGrp="1"/>
          </p:cNvSpPr>
          <p:nvPr/>
        </p:nvSpPr>
        <p:spPr>
          <a:xfrm>
            <a:off x="6286500" y="3737010"/>
            <a:ext cx="2171700" cy="7048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新的 C++ 语法树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关键技术：整棵复用已经解析的旧子树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0572CC-9AC8-F369-D684-34788CEC1F0F}" type="slidenum">
              <a:rPr/>
              <a:t>67</a:t>
            </a:fld>
            <a:endParaRPr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39887BE0-E2F6-4F92-A0F5-392DD97AFFD9}"/>
              </a:ext>
            </a:extLst>
          </p:cNvPr>
          <p:cNvSpPr>
            <a:spLocks noGrp="1"/>
          </p:cNvSpPr>
          <p:nvPr/>
        </p:nvSpPr>
        <p:spPr>
          <a:xfrm>
            <a:off x="704850" y="1104900"/>
            <a:ext cx="7734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旧子树近似于一个已完成的 reduce 结果；满足两个条件时，可以整棵复用。</a:t>
            </a:r>
          </a:p>
        </p:txBody>
      </p:sp>
      <p:sp>
        <p:nvSpPr>
          <p:cNvPr id="6" name="normal-a">
            <a:extLst>
              <a:ext uri="{FF2B5EF4-FFF2-40B4-BE49-F238E27FC236}">
                <a16:creationId xmlns:a16="http://schemas.microsoft.com/office/drawing/2014/main" id="{0EDBB866-5BEA-4952-91A1-FADE9C3BE87A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762000" cy="0"/>
          </a:xfrm>
          <a:prstGeom prst="line">
            <a:avLst/>
          </a:prstGeom>
          <a:noFill/>
          <a:ln w="15240">
            <a:solidFill>
              <a:srgbClr val="777777"/>
            </a:solidFill>
            <a:prstDash val="solid"/>
          </a:ln>
        </p:spPr>
      </p:sp>
      <p:sp>
        <p:nvSpPr>
          <p:cNvPr id="7" name="normal-b">
            <a:extLst>
              <a:ext uri="{FF2B5EF4-FFF2-40B4-BE49-F238E27FC236}">
                <a16:creationId xmlns:a16="http://schemas.microsoft.com/office/drawing/2014/main" id="{252B91E5-E28C-4080-8307-444567170A25}"/>
              </a:ext>
            </a:extLst>
          </p:cNvPr>
          <p:cNvSpPr>
            <a:spLocks noGrp="1"/>
          </p:cNvSpPr>
          <p:nvPr/>
        </p:nvSpPr>
        <p:spPr>
          <a:xfrm>
            <a:off x="2952750" y="2209800"/>
            <a:ext cx="571500" cy="0"/>
          </a:xfrm>
          <a:prstGeom prst="line">
            <a:avLst/>
          </a:prstGeom>
          <a:noFill/>
          <a:ln w="15240">
            <a:solidFill>
              <a:srgbClr val="777777"/>
            </a:solidFill>
            <a:prstDash val="solid"/>
          </a:ln>
        </p:spPr>
      </p:sp>
      <p:sp>
        <p:nvSpPr>
          <p:cNvPr id="8" name="normal-c">
            <a:extLst>
              <a:ext uri="{FF2B5EF4-FFF2-40B4-BE49-F238E27FC236}">
                <a16:creationId xmlns:a16="http://schemas.microsoft.com/office/drawing/2014/main" id="{4BEA6660-C810-4CDC-90BC-9DF512CF648B}"/>
              </a:ext>
            </a:extLst>
          </p:cNvPr>
          <p:cNvSpPr>
            <a:spLocks noGrp="1"/>
          </p:cNvSpPr>
          <p:nvPr/>
        </p:nvSpPr>
        <p:spPr>
          <a:xfrm>
            <a:off x="4524375" y="2209800"/>
            <a:ext cx="571500" cy="0"/>
          </a:xfrm>
          <a:prstGeom prst="line">
            <a:avLst/>
          </a:prstGeom>
          <a:noFill/>
          <a:ln w="15240">
            <a:solidFill>
              <a:srgbClr val="777777"/>
            </a:solidFill>
            <a:prstDash val="solid"/>
          </a:ln>
        </p:spPr>
      </p:sp>
      <p:sp>
        <p:nvSpPr>
          <p:cNvPr id="9" name="reuse-a">
            <a:extLst>
              <a:ext uri="{FF2B5EF4-FFF2-40B4-BE49-F238E27FC236}">
                <a16:creationId xmlns:a16="http://schemas.microsoft.com/office/drawing/2014/main" id="{89311FF2-E3F0-400B-BD57-AC16D2912ED5}"/>
              </a:ext>
            </a:extLst>
          </p:cNvPr>
          <p:cNvSpPr>
            <a:spLocks noGrp="1"/>
          </p:cNvSpPr>
          <p:nvPr/>
        </p:nvSpPr>
        <p:spPr>
          <a:xfrm>
            <a:off x="1428750" y="3524250"/>
            <a:ext cx="14287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0" name="reuse-b">
            <a:extLst>
              <a:ext uri="{FF2B5EF4-FFF2-40B4-BE49-F238E27FC236}">
                <a16:creationId xmlns:a16="http://schemas.microsoft.com/office/drawing/2014/main" id="{490DC555-E33D-4FEE-98F3-105D5DE716E4}"/>
              </a:ext>
            </a:extLst>
          </p:cNvPr>
          <p:cNvSpPr>
            <a:spLocks noGrp="1"/>
          </p:cNvSpPr>
          <p:nvPr/>
        </p:nvSpPr>
        <p:spPr>
          <a:xfrm>
            <a:off x="4429125" y="3524250"/>
            <a:ext cx="666750" cy="0"/>
          </a:xfrm>
          <a:prstGeom prst="line">
            <a:avLst/>
          </a:prstGeom>
          <a:noFill/>
          <a:ln w="19050">
            <a:solidFill>
              <a:srgbClr val="2D7C93"/>
            </a:solidFill>
            <a:prstDash val="solid"/>
          </a:ln>
        </p:spPr>
      </p:sp>
      <p:sp>
        <p:nvSpPr>
          <p:cNvPr id="11" name="decision-a">
            <a:extLst>
              <a:ext uri="{FF2B5EF4-FFF2-40B4-BE49-F238E27FC236}">
                <a16:creationId xmlns:a16="http://schemas.microsoft.com/office/drawing/2014/main" id="{3B296665-8D0A-4CFE-B7A4-1372DB051BD6}"/>
              </a:ext>
            </a:extLst>
          </p:cNvPr>
          <p:cNvSpPr>
            <a:spLocks noGrp="1"/>
          </p:cNvSpPr>
          <p:nvPr/>
        </p:nvSpPr>
        <p:spPr>
          <a:xfrm>
            <a:off x="6429375" y="2333625"/>
            <a:ext cx="0" cy="314325"/>
          </a:xfrm>
          <a:prstGeom prst="line">
            <a:avLst/>
          </a:prstGeom>
          <a:noFill/>
          <a:ln w="13335">
            <a:solidFill>
              <a:srgbClr val="777777"/>
            </a:solidFill>
            <a:prstDash val="solid"/>
          </a:ln>
        </p:spPr>
      </p:sp>
      <p:sp>
        <p:nvSpPr>
          <p:cNvPr id="12" name="decision-b">
            <a:extLst>
              <a:ext uri="{FF2B5EF4-FFF2-40B4-BE49-F238E27FC236}">
                <a16:creationId xmlns:a16="http://schemas.microsoft.com/office/drawing/2014/main" id="{97D8F887-F93E-4F69-94E7-58197FB1B97B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0" cy="314325"/>
          </a:xfrm>
          <a:prstGeom prst="line">
            <a:avLst/>
          </a:prstGeom>
          <a:noFill/>
          <a:ln w="13335">
            <a:solidFill>
              <a:srgbClr val="777777"/>
            </a:solidFill>
            <a:prstDash val="solid"/>
          </a:ln>
        </p:spPr>
      </p:sp>
      <p:sp>
        <p:nvSpPr>
          <p:cNvPr id="13" name="normal-label">
            <a:extLst>
              <a:ext uri="{FF2B5EF4-FFF2-40B4-BE49-F238E27FC236}">
                <a16:creationId xmlns:a16="http://schemas.microsoft.com/office/drawing/2014/main" id="{6D27E30F-4029-414A-931B-BC5C9F6149DB}"/>
              </a:ext>
            </a:extLst>
          </p:cNvPr>
          <p:cNvSpPr>
            <a:spLocks noGrp="1"/>
          </p:cNvSpPr>
          <p:nvPr/>
        </p:nvSpPr>
        <p:spPr>
          <a:xfrm>
            <a:off x="647700" y="1647825"/>
            <a:ext cx="519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普通 LR：重新执行子树内部动作</a:t>
            </a:r>
          </a:p>
        </p:txBody>
      </p:sp>
      <p:sp>
        <p:nvSpPr>
          <p:cNvPr id="14" name="normal-i">
            <a:extLst>
              <a:ext uri="{FF2B5EF4-FFF2-40B4-BE49-F238E27FC236}">
                <a16:creationId xmlns:a16="http://schemas.microsoft.com/office/drawing/2014/main" id="{329361FA-B8E7-41E9-9626-4276ACB79B64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762000" cy="419100"/>
          </a:xfrm>
          <a:prstGeom prst="roundRect">
            <a:avLst>
              <a:gd name="adj" fmla="val 18182"/>
            </a:avLst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状态 I</a:t>
            </a:r>
          </a:p>
        </p:txBody>
      </p:sp>
      <p:sp>
        <p:nvSpPr>
          <p:cNvPr id="15" name="normal-tokens">
            <a:extLst>
              <a:ext uri="{FF2B5EF4-FFF2-40B4-BE49-F238E27FC236}">
                <a16:creationId xmlns:a16="http://schemas.microsoft.com/office/drawing/2014/main" id="{D793E3E6-2E19-4CA8-A2D3-4CB89D945F03}"/>
              </a:ext>
            </a:extLst>
          </p:cNvPr>
          <p:cNvSpPr>
            <a:spLocks noGrp="1"/>
          </p:cNvSpPr>
          <p:nvPr/>
        </p:nvSpPr>
        <p:spPr>
          <a:xfrm>
            <a:off x="2190750" y="2000250"/>
            <a:ext cx="762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238" b="1">
                <a:solidFill>
                  <a:srgbClr val="454545"/>
                </a:solidFill>
              </a:defRPr>
            </a:pPr>
            <a:r>
              <a:rPr sz="1238" b="1">
                <a:solidFill>
                  <a:srgbClr val="454545"/>
                </a:solidFill>
              </a:rPr>
              <a:t>t₁  t₂  …</a:t>
            </a:r>
          </a:p>
        </p:txBody>
      </p:sp>
      <p:sp>
        <p:nvSpPr>
          <p:cNvPr id="16" name="normal-reduce">
            <a:extLst>
              <a:ext uri="{FF2B5EF4-FFF2-40B4-BE49-F238E27FC236}">
                <a16:creationId xmlns:a16="http://schemas.microsoft.com/office/drawing/2014/main" id="{D6531AEB-231A-48FA-92D2-7724FBD3ED0F}"/>
              </a:ext>
            </a:extLst>
          </p:cNvPr>
          <p:cNvSpPr>
            <a:spLocks noGrp="1"/>
          </p:cNvSpPr>
          <p:nvPr/>
        </p:nvSpPr>
        <p:spPr>
          <a:xfrm>
            <a:off x="3524250" y="1905000"/>
            <a:ext cx="1000125" cy="609600"/>
          </a:xfrm>
          <a:prstGeom prst="roundRect">
            <a:avLst>
              <a:gd name="adj" fmla="val 12500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163" b="1">
                <a:solidFill>
                  <a:srgbClr val="C4384D"/>
                </a:solidFill>
              </a:defRPr>
            </a:pPr>
            <a:r>
              <a:rPr sz="1163" b="1">
                <a:solidFill>
                  <a:srgbClr val="C4384D"/>
                </a:solidFill>
              </a:rPr>
              <a:t>多次</a:t>
            </a:r>
          </a:p>
          <a:p>
            <a:pPr algn="ctr">
              <a:buNone/>
              <a:defRPr sz="1163" b="1">
                <a:solidFill>
                  <a:srgbClr val="C4384D"/>
                </a:solidFill>
              </a:defRPr>
            </a:pPr>
            <a:r>
              <a:rPr sz="1163" b="1">
                <a:solidFill>
                  <a:srgbClr val="C4384D"/>
                </a:solidFill>
              </a:rPr>
              <a:t>shift / reduce</a:t>
            </a:r>
          </a:p>
        </p:txBody>
      </p:sp>
      <p:sp>
        <p:nvSpPr>
          <p:cNvPr id="17" name="normal-j">
            <a:extLst>
              <a:ext uri="{FF2B5EF4-FFF2-40B4-BE49-F238E27FC236}">
                <a16:creationId xmlns:a16="http://schemas.microsoft.com/office/drawing/2014/main" id="{A21CEF83-5157-44F7-A10C-767F103FB0AF}"/>
              </a:ext>
            </a:extLst>
          </p:cNvPr>
          <p:cNvSpPr>
            <a:spLocks noGrp="1"/>
          </p:cNvSpPr>
          <p:nvPr/>
        </p:nvSpPr>
        <p:spPr>
          <a:xfrm>
            <a:off x="5095875" y="2000250"/>
            <a:ext cx="762000" cy="419100"/>
          </a:xfrm>
          <a:prstGeom prst="roundRect">
            <a:avLst>
              <a:gd name="adj" fmla="val 18182"/>
            </a:avLst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状态 J</a:t>
            </a:r>
          </a:p>
        </p:txBody>
      </p:sp>
      <p:sp>
        <p:nvSpPr>
          <p:cNvPr id="18" name="reuse-label">
            <a:extLst>
              <a:ext uri="{FF2B5EF4-FFF2-40B4-BE49-F238E27FC236}">
                <a16:creationId xmlns:a16="http://schemas.microsoft.com/office/drawing/2014/main" id="{250D21FD-CA43-4692-AC05-6E384BDE7752}"/>
              </a:ext>
            </a:extLst>
          </p:cNvPr>
          <p:cNvSpPr>
            <a:spLocks noGrp="1"/>
          </p:cNvSpPr>
          <p:nvPr/>
        </p:nvSpPr>
        <p:spPr>
          <a:xfrm>
            <a:off x="647700" y="2915042"/>
            <a:ext cx="519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增量运行时：一次消费旧子树 A</a:t>
            </a:r>
          </a:p>
        </p:txBody>
      </p:sp>
      <p:sp>
        <p:nvSpPr>
          <p:cNvPr id="19" name="reuse-i">
            <a:extLst>
              <a:ext uri="{FF2B5EF4-FFF2-40B4-BE49-F238E27FC236}">
                <a16:creationId xmlns:a16="http://schemas.microsoft.com/office/drawing/2014/main" id="{000EF53A-AEE9-4164-B869-6EFAB5584CDD}"/>
              </a:ext>
            </a:extLst>
          </p:cNvPr>
          <p:cNvSpPr>
            <a:spLocks noGrp="1"/>
          </p:cNvSpPr>
          <p:nvPr/>
        </p:nvSpPr>
        <p:spPr>
          <a:xfrm>
            <a:off x="666750" y="3314700"/>
            <a:ext cx="762000" cy="419100"/>
          </a:xfrm>
          <a:prstGeom prst="roundRect">
            <a:avLst>
              <a:gd name="adj" fmla="val 18182"/>
            </a:avLst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状态 I</a:t>
            </a:r>
          </a:p>
        </p:txBody>
      </p:sp>
      <p:sp>
        <p:nvSpPr>
          <p:cNvPr id="20" name="reuse-node">
            <a:extLst>
              <a:ext uri="{FF2B5EF4-FFF2-40B4-BE49-F238E27FC236}">
                <a16:creationId xmlns:a16="http://schemas.microsoft.com/office/drawing/2014/main" id="{66D778ED-DCDA-4AB6-9BAE-8130BC908531}"/>
              </a:ext>
            </a:extLst>
          </p:cNvPr>
          <p:cNvSpPr>
            <a:spLocks noGrp="1"/>
          </p:cNvSpPr>
          <p:nvPr/>
        </p:nvSpPr>
        <p:spPr>
          <a:xfrm>
            <a:off x="2857500" y="3181350"/>
            <a:ext cx="1571625" cy="685800"/>
          </a:xfrm>
          <a:prstGeom prst="roundRect">
            <a:avLst>
              <a:gd name="adj" fmla="val 11111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旧子树 A</a:t>
            </a:r>
          </a:p>
          <a:p>
            <a:pPr algn="ctr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已完成的 reduce 结果</a:t>
            </a:r>
          </a:p>
        </p:txBody>
      </p:sp>
      <p:sp>
        <p:nvSpPr>
          <p:cNvPr id="21" name="reuse-j">
            <a:extLst>
              <a:ext uri="{FF2B5EF4-FFF2-40B4-BE49-F238E27FC236}">
                <a16:creationId xmlns:a16="http://schemas.microsoft.com/office/drawing/2014/main" id="{5D5D74B1-5667-45E2-8AA5-D64F2DB0569C}"/>
              </a:ext>
            </a:extLst>
          </p:cNvPr>
          <p:cNvSpPr>
            <a:spLocks noGrp="1"/>
          </p:cNvSpPr>
          <p:nvPr/>
        </p:nvSpPr>
        <p:spPr>
          <a:xfrm>
            <a:off x="5095875" y="3314700"/>
            <a:ext cx="762000" cy="419100"/>
          </a:xfrm>
          <a:prstGeom prst="roundRect">
            <a:avLst>
              <a:gd name="adj" fmla="val 18182"/>
            </a:avLst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状态 J</a:t>
            </a:r>
          </a:p>
        </p:txBody>
      </p:sp>
      <p:sp>
        <p:nvSpPr>
          <p:cNvPr id="22" name="decision-title">
            <a:extLst>
              <a:ext uri="{FF2B5EF4-FFF2-40B4-BE49-F238E27FC236}">
                <a16:creationId xmlns:a16="http://schemas.microsoft.com/office/drawing/2014/main" id="{555F6D8F-4FD4-4AD3-AE0A-81707FC46834}"/>
              </a:ext>
            </a:extLst>
          </p:cNvPr>
          <p:cNvSpPr>
            <a:spLocks noGrp="1"/>
          </p:cNvSpPr>
          <p:nvPr/>
        </p:nvSpPr>
        <p:spPr>
          <a:xfrm>
            <a:off x="6191250" y="1628775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454545"/>
                </a:solidFill>
              </a:defRPr>
            </a:pPr>
            <a:r>
              <a:rPr sz="1275" b="1">
                <a:solidFill>
                  <a:srgbClr val="454545"/>
                </a:solidFill>
              </a:rPr>
              <a:t>什么时候可以复用？</a:t>
            </a:r>
          </a:p>
        </p:txBody>
      </p:sp>
      <p:sp>
        <p:nvSpPr>
          <p:cNvPr id="23" name="decision-1">
            <a:extLst>
              <a:ext uri="{FF2B5EF4-FFF2-40B4-BE49-F238E27FC236}">
                <a16:creationId xmlns:a16="http://schemas.microsoft.com/office/drawing/2014/main" id="{B0B48621-AC0E-4752-80B8-7D6771B53E9F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2428875" cy="3810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l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1   旧节点 A 未受编辑影响</a:t>
            </a:r>
          </a:p>
        </p:txBody>
      </p:sp>
      <p:sp>
        <p:nvSpPr>
          <p:cNvPr id="24" name="decision-2">
            <a:extLst>
              <a:ext uri="{FF2B5EF4-FFF2-40B4-BE49-F238E27FC236}">
                <a16:creationId xmlns:a16="http://schemas.microsoft.com/office/drawing/2014/main" id="{ED4DB3EF-051C-4C37-ABEA-F9BEBC2C81FF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2428875" cy="495300"/>
          </a:xfrm>
          <a:prstGeom prst="rect">
            <a:avLst/>
          </a:prstGeom>
          <a:solidFill>
            <a:srgbClr val="F4F5F6"/>
          </a:solidFill>
          <a:ln w="9525">
            <a:solidFill>
              <a:srgbClr val="B8B8B8"/>
            </a:solidFill>
            <a:prstDash val="solid"/>
          </a:ln>
        </p:spPr>
        <p:txBody>
          <a:bodyPr lIns="95250" tIns="76200" rIns="95250" bIns="76200" anchor="ctr"/>
          <a:lstStyle/>
          <a:p>
            <a:pPr algn="l">
              <a:buNone/>
              <a:defRPr sz="1200" b="1">
                <a:solidFill>
                  <a:srgbClr val="454545"/>
                </a:solidFill>
              </a:defRPr>
            </a:pPr>
            <a:r>
              <a:rPr sz="1200" b="1">
                <a:solidFill>
                  <a:srgbClr val="454545"/>
                </a:solidFill>
              </a:rPr>
              <a:t>2   当前 LR 状态可以接受 A</a:t>
            </a:r>
          </a:p>
        </p:txBody>
      </p:sp>
      <p:sp>
        <p:nvSpPr>
          <p:cNvPr id="25" name="decision-3">
            <a:extLst>
              <a:ext uri="{FF2B5EF4-FFF2-40B4-BE49-F238E27FC236}">
                <a16:creationId xmlns:a16="http://schemas.microsoft.com/office/drawing/2014/main" id="{7E44CE26-4F74-45B9-BBCB-0FB3B97646D0}"/>
              </a:ext>
            </a:extLst>
          </p:cNvPr>
          <p:cNvSpPr>
            <a:spLocks noGrp="1"/>
          </p:cNvSpPr>
          <p:nvPr/>
        </p:nvSpPr>
        <p:spPr>
          <a:xfrm>
            <a:off x="6191250" y="3457575"/>
            <a:ext cx="2428875" cy="59055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95250" tIns="76200" rIns="95250" bIns="76200" anchor="ctr"/>
          <a:lstStyle/>
          <a:p>
            <a:pPr algn="l">
              <a:buNone/>
              <a:defRPr sz="1163" b="1">
                <a:solidFill>
                  <a:srgbClr val="2D7C93"/>
                </a:solidFill>
              </a:defRPr>
            </a:pPr>
            <a:r>
              <a:rPr sz="1163" b="1">
                <a:solidFill>
                  <a:srgbClr val="2D7C93"/>
                </a:solidFill>
              </a:rPr>
              <a:t>3   push(A)，跳到 A 的结束位置</a:t>
            </a:r>
          </a:p>
          <a:p>
            <a:pPr algn="l">
              <a:buNone/>
              <a:defRPr sz="1163" b="1">
                <a:solidFill>
                  <a:srgbClr val="2D7C93"/>
                </a:solidFill>
              </a:defRPr>
            </a:pPr>
            <a:r>
              <a:rPr sz="1163" b="1">
                <a:solidFill>
                  <a:srgbClr val="2D7C93"/>
                </a:solidFill>
              </a:rPr>
              <a:t>      并进入 goto(state, A)</a:t>
            </a:r>
          </a:p>
        </p:txBody>
      </p:sp>
      <p:sp>
        <p:nvSpPr>
          <p:cNvPr id="26" name="fallback">
            <a:extLst>
              <a:ext uri="{FF2B5EF4-FFF2-40B4-BE49-F238E27FC236}">
                <a16:creationId xmlns:a16="http://schemas.microsoft.com/office/drawing/2014/main" id="{6B25BE46-3049-456E-B61F-7C6BCCD53513}"/>
              </a:ext>
            </a:extLst>
          </p:cNvPr>
          <p:cNvSpPr>
            <a:spLocks noGrp="1"/>
          </p:cNvSpPr>
          <p:nvPr/>
        </p:nvSpPr>
        <p:spPr>
          <a:xfrm>
            <a:off x="6191250" y="411480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63" b="1">
                <a:solidFill>
                  <a:srgbClr val="C4384D"/>
                </a:solidFill>
              </a:defRPr>
            </a:pPr>
            <a:r>
              <a:rPr sz="1163" b="1">
                <a:solidFill>
                  <a:srgbClr val="C4384D"/>
                </a:solidFill>
              </a:rPr>
              <a:t>条件不满足：继续正常 LR</a:t>
            </a:r>
          </a:p>
        </p:txBody>
      </p:sp>
      <p:sp>
        <p:nvSpPr>
          <p:cNvPr id="27" name="takeaway">
            <a:extLst>
              <a:ext uri="{FF2B5EF4-FFF2-40B4-BE49-F238E27FC236}">
                <a16:creationId xmlns:a16="http://schemas.microsoft.com/office/drawing/2014/main" id="{F759980E-282B-49AD-95A3-C60854BFE5E5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95250" tIns="76200" rIns="95250" bIns="7620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普通 LR 每次消费 Token；增量运行时可以一次消费一棵兼容的旧子树。</a:t>
            </a:r>
          </a:p>
        </p:txBody>
      </p:sp>
      <p:sp>
        <p:nvSpPr>
          <p:cNvPr id="28" name="tree-sitter-reading">
            <a:extLst>
              <a:ext uri="{FF2B5EF4-FFF2-40B4-BE49-F238E27FC236}">
                <a16:creationId xmlns:a16="http://schemas.microsoft.com/office/drawing/2014/main" id="{8F134CBC-A5A6-4C0B-9DB9-33419AAB244F}"/>
              </a:ext>
            </a:extLst>
          </p:cNvPr>
          <p:cNvSpPr>
            <a:spLocks noGrp="1"/>
          </p:cNvSpPr>
          <p:nvPr/>
        </p:nvSpPr>
        <p:spPr>
          <a:xfrm>
            <a:off x="419100" y="5248275"/>
            <a:ext cx="80200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900" b="0">
                <a:solidFill>
                  <a:srgbClr val="2D7C9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D7C93"/>
                </a:solidFill>
                <a:latin typeface="Arial"/>
                <a:ea typeface="Arial"/>
                <a:cs typeface="Arial"/>
              </a:rPr>
              <a:t>扩展阅读：Wagner &amp; Graham, Efficient and Flexible Incremental Parsing, TOPLAS 1998  https://doi.org/10.1145/293677.293678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本讲结论：从 reduce 的上下文到生成的 Parser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9DAD1FF-0708-FB06-41A3-EFFD1902CB65}" type="slidenum">
              <a:t>68</a:t>
            </a:fld>
            <a:endParaRPr/>
          </a:p>
        </p:txBody>
      </p:sp>
      <p:sp>
        <p:nvSpPr>
          <p:cNvPr id="5" name="summary-number-0">
            <a:extLst>
              <a:ext uri="{FF2B5EF4-FFF2-40B4-BE49-F238E27FC236}">
                <a16:creationId xmlns:a16="http://schemas.microsoft.com/office/drawing/2014/main" id="{B74FDC7B-09ED-4A14-B425-71F0A6648D22}"/>
              </a:ext>
            </a:extLst>
          </p:cNvPr>
          <p:cNvSpPr>
            <a:spLocks noGrp="1"/>
          </p:cNvSpPr>
          <p:nvPr/>
        </p:nvSpPr>
        <p:spPr>
          <a:xfrm>
            <a:off x="742950" y="138112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1</a:t>
            </a:r>
          </a:p>
        </p:txBody>
      </p:sp>
      <p:sp>
        <p:nvSpPr>
          <p:cNvPr id="6" name="summary-heading-0">
            <a:extLst>
              <a:ext uri="{FF2B5EF4-FFF2-40B4-BE49-F238E27FC236}">
                <a16:creationId xmlns:a16="http://schemas.microsoft.com/office/drawing/2014/main" id="{78675548-4D8C-4B6D-B401-D85B3CDE75A4}"/>
              </a:ext>
            </a:extLst>
          </p:cNvPr>
          <p:cNvSpPr>
            <a:spLocks noGrp="1"/>
          </p:cNvSpPr>
          <p:nvPr/>
        </p:nvSpPr>
        <p:spPr>
          <a:xfrm>
            <a:off x="1381125" y="13716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SLR(1)</a:t>
            </a:r>
          </a:p>
        </p:txBody>
      </p:sp>
      <p:sp>
        <p:nvSpPr>
          <p:cNvPr id="7" name="summary-detail-0">
            <a:extLst>
              <a:ext uri="{FF2B5EF4-FFF2-40B4-BE49-F238E27FC236}">
                <a16:creationId xmlns:a16="http://schemas.microsoft.com/office/drawing/2014/main" id="{401614CD-30ED-46BE-8858-F87667A3B8F1}"/>
              </a:ext>
            </a:extLst>
          </p:cNvPr>
          <p:cNvSpPr>
            <a:spLocks noGrp="1"/>
          </p:cNvSpPr>
          <p:nvPr/>
        </p:nvSpPr>
        <p:spPr>
          <a:xfrm>
            <a:off x="3238500" y="13716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用 FOLLOW(A) 限制 LR(0) 的无条件 reduce</a:t>
            </a:r>
          </a:p>
        </p:txBody>
      </p:sp>
      <p:sp>
        <p:nvSpPr>
          <p:cNvPr id="8" name="summary-number-1">
            <a:extLst>
              <a:ext uri="{FF2B5EF4-FFF2-40B4-BE49-F238E27FC236}">
                <a16:creationId xmlns:a16="http://schemas.microsoft.com/office/drawing/2014/main" id="{4E757FD0-5BDD-41CA-B806-8FA233A078CD}"/>
              </a:ext>
            </a:extLst>
          </p:cNvPr>
          <p:cNvSpPr>
            <a:spLocks noGrp="1"/>
          </p:cNvSpPr>
          <p:nvPr/>
        </p:nvSpPr>
        <p:spPr>
          <a:xfrm>
            <a:off x="742950" y="197167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2</a:t>
            </a:r>
          </a:p>
        </p:txBody>
      </p:sp>
      <p:sp>
        <p:nvSpPr>
          <p:cNvPr id="9" name="summary-heading-1">
            <a:extLst>
              <a:ext uri="{FF2B5EF4-FFF2-40B4-BE49-F238E27FC236}">
                <a16:creationId xmlns:a16="http://schemas.microsoft.com/office/drawing/2014/main" id="{66E85076-FA3A-4FAF-9419-9C2AEE86E4A3}"/>
              </a:ext>
            </a:extLst>
          </p:cNvPr>
          <p:cNvSpPr>
            <a:spLocks noGrp="1"/>
          </p:cNvSpPr>
          <p:nvPr/>
        </p:nvSpPr>
        <p:spPr>
          <a:xfrm>
            <a:off x="1381125" y="196215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LR(1)</a:t>
            </a:r>
          </a:p>
        </p:txBody>
      </p:sp>
      <p:sp>
        <p:nvSpPr>
          <p:cNvPr id="10" name="summary-detail-1">
            <a:extLst>
              <a:ext uri="{FF2B5EF4-FFF2-40B4-BE49-F238E27FC236}">
                <a16:creationId xmlns:a16="http://schemas.microsoft.com/office/drawing/2014/main" id="{5940BAD9-AF08-4123-9BB5-A9A1F4EEFBB8}"/>
              </a:ext>
            </a:extLst>
          </p:cNvPr>
          <p:cNvSpPr>
            <a:spLocks noGrp="1"/>
          </p:cNvSpPr>
          <p:nvPr/>
        </p:nvSpPr>
        <p:spPr>
          <a:xfrm>
            <a:off x="3238500" y="196215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把 lookahead 放进 item，保留具体出现位置</a:t>
            </a:r>
          </a:p>
        </p:txBody>
      </p:sp>
      <p:sp>
        <p:nvSpPr>
          <p:cNvPr id="11" name="summary-number-2">
            <a:extLst>
              <a:ext uri="{FF2B5EF4-FFF2-40B4-BE49-F238E27FC236}">
                <a16:creationId xmlns:a16="http://schemas.microsoft.com/office/drawing/2014/main" id="{25F4C70F-F304-4F48-9E7B-EB15931DF948}"/>
              </a:ext>
            </a:extLst>
          </p:cNvPr>
          <p:cNvSpPr>
            <a:spLocks noGrp="1"/>
          </p:cNvSpPr>
          <p:nvPr/>
        </p:nvSpPr>
        <p:spPr>
          <a:xfrm>
            <a:off x="742950" y="256222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3</a:t>
            </a:r>
          </a:p>
        </p:txBody>
      </p:sp>
      <p:sp>
        <p:nvSpPr>
          <p:cNvPr id="12" name="summary-heading-2">
            <a:extLst>
              <a:ext uri="{FF2B5EF4-FFF2-40B4-BE49-F238E27FC236}">
                <a16:creationId xmlns:a16="http://schemas.microsoft.com/office/drawing/2014/main" id="{D3422190-004C-4ED4-888D-3144967E376A}"/>
              </a:ext>
            </a:extLst>
          </p:cNvPr>
          <p:cNvSpPr>
            <a:spLocks noGrp="1"/>
          </p:cNvSpPr>
          <p:nvPr/>
        </p:nvSpPr>
        <p:spPr>
          <a:xfrm>
            <a:off x="1381125" y="25527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LALR(1)</a:t>
            </a:r>
          </a:p>
        </p:txBody>
      </p:sp>
      <p:sp>
        <p:nvSpPr>
          <p:cNvPr id="13" name="summary-detail-2">
            <a:extLst>
              <a:ext uri="{FF2B5EF4-FFF2-40B4-BE49-F238E27FC236}">
                <a16:creationId xmlns:a16="http://schemas.microsoft.com/office/drawing/2014/main" id="{C82C2FAE-0D3F-4544-82FA-C62BDC800D42}"/>
              </a:ext>
            </a:extLst>
          </p:cNvPr>
          <p:cNvSpPr>
            <a:spLocks noGrp="1"/>
          </p:cNvSpPr>
          <p:nvPr/>
        </p:nvSpPr>
        <p:spPr>
          <a:xfrm>
            <a:off x="3238500" y="25527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合并识别进度相同的状态，控制状态规模</a:t>
            </a:r>
          </a:p>
        </p:txBody>
      </p:sp>
      <p:sp>
        <p:nvSpPr>
          <p:cNvPr id="14" name="summary-number-3">
            <a:extLst>
              <a:ext uri="{FF2B5EF4-FFF2-40B4-BE49-F238E27FC236}">
                <a16:creationId xmlns:a16="http://schemas.microsoft.com/office/drawing/2014/main" id="{A9741EF2-643B-4174-A974-2A4EEAFA6E3A}"/>
              </a:ext>
            </a:extLst>
          </p:cNvPr>
          <p:cNvSpPr>
            <a:spLocks noGrp="1"/>
          </p:cNvSpPr>
          <p:nvPr/>
        </p:nvSpPr>
        <p:spPr>
          <a:xfrm>
            <a:off x="742950" y="315277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275" b="1">
                <a:solidFill>
                  <a:srgbClr val="C4384D"/>
                </a:solidFill>
              </a:defRPr>
            </a:pPr>
            <a:r>
              <a:rPr sz="1275" b="1">
                <a:solidFill>
                  <a:srgbClr val="C4384D"/>
                </a:solidFill>
              </a:rPr>
              <a:t>4</a:t>
            </a:r>
          </a:p>
        </p:txBody>
      </p:sp>
      <p:sp>
        <p:nvSpPr>
          <p:cNvPr id="15" name="summary-heading-3">
            <a:extLst>
              <a:ext uri="{FF2B5EF4-FFF2-40B4-BE49-F238E27FC236}">
                <a16:creationId xmlns:a16="http://schemas.microsoft.com/office/drawing/2014/main" id="{079B8D1B-A503-45EE-A7AC-AA85FB4FC484}"/>
              </a:ext>
            </a:extLst>
          </p:cNvPr>
          <p:cNvSpPr>
            <a:spLocks noGrp="1"/>
          </p:cNvSpPr>
          <p:nvPr/>
        </p:nvSpPr>
        <p:spPr>
          <a:xfrm>
            <a:off x="1381125" y="314325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C4384D"/>
                </a:solidFill>
              </a:defRPr>
            </a:pPr>
            <a:r>
              <a:rPr sz="1350" b="1">
                <a:solidFill>
                  <a:srgbClr val="C4384D"/>
                </a:solidFill>
              </a:rPr>
              <a:t>Parser generator</a:t>
            </a:r>
          </a:p>
        </p:txBody>
      </p:sp>
      <p:sp>
        <p:nvSpPr>
          <p:cNvPr id="16" name="summary-detail-3">
            <a:extLst>
              <a:ext uri="{FF2B5EF4-FFF2-40B4-BE49-F238E27FC236}">
                <a16:creationId xmlns:a16="http://schemas.microsoft.com/office/drawing/2014/main" id="{8B9F6670-6494-4281-A0C1-13B1A709F685}"/>
              </a:ext>
            </a:extLst>
          </p:cNvPr>
          <p:cNvSpPr>
            <a:spLocks noGrp="1"/>
          </p:cNvSpPr>
          <p:nvPr/>
        </p:nvSpPr>
        <p:spPr>
          <a:xfrm>
            <a:off x="3238500" y="314325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把状态构造、填表和驱动循环自动化</a:t>
            </a:r>
          </a:p>
        </p:txBody>
      </p:sp>
      <p:sp>
        <p:nvSpPr>
          <p:cNvPr id="17" name="summary-number-4">
            <a:extLst>
              <a:ext uri="{FF2B5EF4-FFF2-40B4-BE49-F238E27FC236}">
                <a16:creationId xmlns:a16="http://schemas.microsoft.com/office/drawing/2014/main" id="{B9A3DC8F-3A75-4112-8A45-EB78A01E25ED}"/>
              </a:ext>
            </a:extLst>
          </p:cNvPr>
          <p:cNvSpPr>
            <a:spLocks noGrp="1"/>
          </p:cNvSpPr>
          <p:nvPr/>
        </p:nvSpPr>
        <p:spPr>
          <a:xfrm>
            <a:off x="742950" y="3743325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275" b="1">
                <a:solidFill>
                  <a:srgbClr val="2D7C93"/>
                </a:solidFill>
              </a:defRPr>
            </a:pPr>
            <a:r>
              <a:rPr sz="1275" b="1">
                <a:solidFill>
                  <a:srgbClr val="2D7C93"/>
                </a:solidFill>
              </a:rPr>
              <a:t>5</a:t>
            </a:r>
          </a:p>
        </p:txBody>
      </p:sp>
      <p:sp>
        <p:nvSpPr>
          <p:cNvPr id="18" name="summary-heading-4">
            <a:extLst>
              <a:ext uri="{FF2B5EF4-FFF2-40B4-BE49-F238E27FC236}">
                <a16:creationId xmlns:a16="http://schemas.microsoft.com/office/drawing/2014/main" id="{FE242234-7809-449F-99DC-9638D56459C5}"/>
              </a:ext>
            </a:extLst>
          </p:cNvPr>
          <p:cNvSpPr>
            <a:spLocks noGrp="1"/>
          </p:cNvSpPr>
          <p:nvPr/>
        </p:nvSpPr>
        <p:spPr>
          <a:xfrm>
            <a:off x="1381125" y="3733800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2D7C93"/>
                </a:solidFill>
              </a:defRPr>
            </a:pPr>
            <a:r>
              <a:rPr sz="1350" b="1">
                <a:solidFill>
                  <a:srgbClr val="2D7C93"/>
                </a:solidFill>
              </a:rPr>
              <a:t>现代 Parser</a:t>
            </a:r>
          </a:p>
        </p:txBody>
      </p:sp>
      <p:sp>
        <p:nvSpPr>
          <p:cNvPr id="19" name="summary-detail-4">
            <a:extLst>
              <a:ext uri="{FF2B5EF4-FFF2-40B4-BE49-F238E27FC236}">
                <a16:creationId xmlns:a16="http://schemas.microsoft.com/office/drawing/2014/main" id="{A8C45059-2887-4BB4-846F-BC7B437F20B4}"/>
              </a:ext>
            </a:extLst>
          </p:cNvPr>
          <p:cNvSpPr>
            <a:spLocks noGrp="1"/>
          </p:cNvSpPr>
          <p:nvPr/>
        </p:nvSpPr>
        <p:spPr>
          <a:xfrm>
            <a:off x="3238500" y="3733800"/>
            <a:ext cx="514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13" b="1">
                <a:solidFill>
                  <a:srgbClr val="454545"/>
                </a:solidFill>
              </a:defRPr>
            </a:pPr>
            <a:r>
              <a:rPr sz="1313" b="1">
                <a:solidFill>
                  <a:srgbClr val="454545"/>
                </a:solidFill>
              </a:rPr>
              <a:t>新的使用场景（编辑器）催生新的parsing需求</a:t>
            </a:r>
          </a:p>
        </p:txBody>
      </p:sp>
      <p:sp>
        <p:nvSpPr>
          <p:cNvPr id="20" name="takeaway-u5wbe5cf">
            <a:extLst>
              <a:ext uri="{FF2B5EF4-FFF2-40B4-BE49-F238E27FC236}">
                <a16:creationId xmlns:a16="http://schemas.microsoft.com/office/drawing/2014/main" id="{CF94D5FE-4C13-4BC0-BCDC-0F4F985E1034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8020050" cy="457200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lIns="114300" tIns="95250" rIns="114300" bIns="95250" anchor="ctr"/>
          <a:lstStyle/>
          <a:p>
            <a:pPr algn="ctr">
              <a:buNone/>
              <a:defRPr sz="1313" b="1">
                <a:solidFill>
                  <a:srgbClr val="C4384D"/>
                </a:solidFill>
              </a:defRPr>
            </a:pPr>
            <a:r>
              <a:rPr sz="1313" b="1">
                <a:solidFill>
                  <a:srgbClr val="C4384D"/>
                </a:solidFill>
              </a:rPr>
              <a:t>下一讲：Parser 已经得到程序结构，如何将其具象化并供各编译阶段使用？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4615</Words>
  <Application>Microsoft Macintosh PowerPoint</Application>
  <DocSecurity>0</DocSecurity>
  <PresentationFormat>全屏显示(16:10)</PresentationFormat>
  <Paragraphs>950</Paragraphs>
  <Slides>68</Slides>
  <Notes>68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4" baseType="lpstr">
      <vt:lpstr>DengXian</vt:lpstr>
      <vt:lpstr>微软雅黑</vt:lpstr>
      <vt:lpstr>Aptos Mono</vt:lpstr>
      <vt:lpstr>Arial</vt:lpstr>
      <vt:lpstr>Menlo</vt:lpstr>
      <vt:lpstr>Office 主题​​</vt:lpstr>
      <vt:lpstr>语法分析（四）</vt:lpstr>
      <vt:lpstr>上一讲：LR(0) 把文法编译成自动机和分析表</vt:lpstr>
      <vt:lpstr>上一讲留下的问题：I₃ 为什么不能无条件 reduce？</vt:lpstr>
      <vt:lpstr>问题不在自动机不会识别，而在 reduce 太激进</vt:lpstr>
      <vt:lpstr>上一讲回顾</vt:lpstr>
      <vt:lpstr>本讲主线：逐步增加上下文，但控制状态规模</vt:lpstr>
      <vt:lpstr>第一步：用 FOLLOW 限制 reduce</vt:lpstr>
      <vt:lpstr>先回忆 FOLLOW(A)：A 后面可能紧跟哪些终结符？</vt:lpstr>
      <vt:lpstr>SLR 的规则：A → β · 只在 FOLLOW(A) 上 reduce</vt:lpstr>
      <vt:lpstr>回到 I₃：SLR 把冲突格拆成两个确定动作</vt:lpstr>
      <vt:lpstr>构造 SLR 表：只有 reduce 规则发生变化</vt:lpstr>
      <vt:lpstr>SLR能解决所有冲突问题吗？</vt:lpstr>
      <vt:lpstr>LR(0)：I₀ 读到 left，进入 I₁</vt:lpstr>
      <vt:lpstr>从 LR(0) 到 SLR：冲突格没有被拆开</vt:lpstr>
      <vt:lpstr>第二步：让 item 携带 lookahead</vt:lpstr>
      <vt:lpstr>LR(1) item = LR(0) item + 一个 lookahead</vt:lpstr>
      <vt:lpstr>LR(1) item 记录两个阶段的信息</vt:lpstr>
      <vt:lpstr>LR(1) 的核心：B 完成后会看到什么？</vt:lpstr>
      <vt:lpstr>情况一：β 不能推出 ε</vt:lpstr>
      <vt:lpstr>情况二：β 能推出 ε</vt:lpstr>
      <vt:lpstr>案例：仍沿用上一讲的表达式文法</vt:lpstr>
      <vt:lpstr>先回看 LR(0)：I₀ 只记录识别进度</vt:lpstr>
      <vt:lpstr>LR(1) 的起点：给初始 item 加上 $</vt:lpstr>
      <vt:lpstr>closure 第1步：展开初始 item</vt:lpstr>
      <vt:lpstr>closure 第2步：处理第一个 expr item</vt:lpstr>
      <vt:lpstr>closure 第3步：展开带 $ 的 term</vt:lpstr>
      <vt:lpstr>closure 第4步：重复 item 不再入队</vt:lpstr>
      <vt:lpstr>closure 第5步：展开带 PLUS 的 term</vt:lpstr>
      <vt:lpstr>closure 第6 - 7步：点后是终结符</vt:lpstr>
      <vt:lpstr>工作队列清空：先得到 7 条 LR(1) item</vt:lpstr>
      <vt:lpstr>最后合并：把 lookahead 写成集合</vt:lpstr>
      <vt:lpstr>从 I₀ 读到 INT：goto 得到完成项 I₃</vt:lpstr>
      <vt:lpstr>从 I₀ 识别 term：goto 得到 I₂</vt:lpstr>
      <vt:lpstr>从 I₀ 识别 expr：goto 得到 I₁</vt:lpstr>
      <vt:lpstr>从 I₁ 读到 PLUS：得到 I₄，并对 term 做 closure</vt:lpstr>
      <vt:lpstr>从 I₄ 继续：INT 回到 I₃，term 到达 I₅</vt:lpstr>
      <vt:lpstr>完整 LR(1) 自动机：I₀–I₅</vt:lpstr>
      <vt:lpstr>由完整自动机生成 ACTION / GOTO 表</vt:lpstr>
      <vt:lpstr>作用一：无效输入能更早报错</vt:lpstr>
      <vt:lpstr>作用二：解决赋值文法的冲突</vt:lpstr>
      <vt:lpstr>完整构造算法：与 LR(0) 相同的工作表框架</vt:lpstr>
      <vt:lpstr>LR(1) 更精确，但不保证状态规模不变</vt:lpstr>
      <vt:lpstr>第三步：合并识别进度相同的状态</vt:lpstr>
      <vt:lpstr>回顾：LR(1) = LR(0) + lookahead</vt:lpstr>
      <vt:lpstr>LALR 的核心操作：合并识别进度相同的状态</vt:lpstr>
      <vt:lpstr>合并后，自动机转换仍然一致</vt:lpstr>
      <vt:lpstr>合并并非零代价：lookahead 的并集可能制造新冲突</vt:lpstr>
      <vt:lpstr>总结各算法：执行算法相同，区别在 ACTION / GOTO 表如何生成</vt:lpstr>
      <vt:lpstr>讨论：为什么有 ALL(*)，却很少谈 LR(*)？</vt:lpstr>
      <vt:lpstr>LR 中的冲突与消解</vt:lpstr>
      <vt:lpstr>判断冲突：沿两种动作继续分析</vt:lpstr>
      <vt:lpstr>经典真实歧义：算符优先级没有写进文法</vt:lpstr>
      <vt:lpstr>优先级和结合性可以直接成为冲突处理规则</vt:lpstr>
      <vt:lpstr>Bison：用优先级声明解决冲突</vt:lpstr>
      <vt:lpstr>dangling else：默认 shift 恰好实现“匹配最近 IF”</vt:lpstr>
      <vt:lpstr>Reduce/Reduce conflict</vt:lpstr>
      <vt:lpstr>冲突类型不同，检查方向也不同</vt:lpstr>
      <vt:lpstr>从文法规约到生成的 Parser</vt:lpstr>
      <vt:lpstr>为什么 LR Parser 通常由工具生成？</vt:lpstr>
      <vt:lpstr>Parser generator 内部，就是我们刚刚走过的流程</vt:lpstr>
      <vt:lpstr>生成器的输入是一份可执行的文法规约</vt:lpstr>
      <vt:lpstr>生成器还会检查：这份文法能否确定地工作？</vt:lpstr>
      <vt:lpstr>Parser 不只服务于编译器</vt:lpstr>
      <vt:lpstr>编辑器对 Parser 提出了三项不同要求</vt:lpstr>
      <vt:lpstr>增量解析：复用未变化的旧语法树</vt:lpstr>
      <vt:lpstr>Tree-sitter：先生成 Parser，再解析源码</vt:lpstr>
      <vt:lpstr>关键技术：整棵复用已经解析的旧子树</vt:lpstr>
      <vt:lpstr>本讲结论：从 reduce 的上下文到生成的 Parser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mingyu</cp:lastModifiedBy>
  <cp:revision>1</cp:revision>
  <dcterms:created xsi:type="dcterms:W3CDTF">2026-10-10T03:19:22Z</dcterms:created>
  <dcterms:modified xsi:type="dcterms:W3CDTF">2026-10-10T03:21:31Z</dcterms:modified>
</cp:coreProperties>
</file>