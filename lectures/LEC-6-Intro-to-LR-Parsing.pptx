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5715000" type="screen16x1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2"/>
  </p:normalViewPr>
  <p:slideViewPr>
    <p:cSldViewPr snapToGrid="0">
      <p:cViewPr varScale="1">
        <p:scale>
          <a:sx n="135" d="100"/>
          <a:sy n="135" d="100"/>
        </p:scale>
        <p:origin x="9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B89CF9-F8D8-4CCC-A257-6DE6A370C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buNone/>
              <a:defRPr sz="4400">
                <a:latin typeface="+mj-lt"/>
                <a:ea typeface="+mj-lt"/>
                <a:cs typeface="+mj-lt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489163-420C-40B9-A6B0-7D024352F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204E3C-C592-4BBA-AA67-012927511FD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A0C70A-5066-4CF6-97F0-86AB7C28E3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E361C3-C043-4A6E-BDCE-8DA1E7D90A3B}" type="slidenum">
              <a:t>‹#›</a:t>
            </a:fld>
            <a:endParaRPr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100"/>
            </a:lvl1pPr>
          </a:lstStyle>
          <a:p>
            <a:r>
              <a:t>上海交通大学并行与分布式系统研究所（IPADS@SJTU）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4BB9DF-2129-4B30-A0CB-00B5CCA4D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buNone/>
              <a:defRPr b="1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FB2FD2-58C9-4D2B-B2D7-B77DBB833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buNone/>
              <a:defRPr sz="2400" b="1" i="0">
                <a:latin typeface="+mn-lt"/>
                <a:ea typeface="+mn-lt"/>
                <a:cs typeface="+mn-lt"/>
              </a:defRPr>
            </a:lvl1pPr>
            <a:lvl2pPr>
              <a:lnSpc>
                <a:spcPct val="120000"/>
              </a:lnSpc>
              <a:buNone/>
              <a:defRPr sz="2000" b="0" i="0">
                <a:latin typeface="+mn-lt"/>
                <a:ea typeface="+mn-lt"/>
                <a:cs typeface="+mn-lt"/>
              </a:defRPr>
            </a:lvl2pPr>
            <a:lvl3pPr>
              <a:lnSpc>
                <a:spcPct val="120000"/>
              </a:lnSpc>
              <a:buNone/>
              <a:defRPr sz="2000" b="0" i="0">
                <a:latin typeface="+mn-lt"/>
                <a:ea typeface="+mn-lt"/>
                <a:cs typeface="+mn-lt"/>
              </a:defRPr>
            </a:lvl3pPr>
            <a:lvl4pPr>
              <a:lnSpc>
                <a:spcPct val="120000"/>
              </a:lnSpc>
              <a:buNone/>
              <a:defRPr sz="1800" b="0" i="0">
                <a:latin typeface="+mn-lt"/>
                <a:ea typeface="+mn-lt"/>
                <a:cs typeface="+mn-lt"/>
              </a:defRPr>
            </a:lvl4pPr>
            <a:lvl5pPr>
              <a:lnSpc>
                <a:spcPct val="120000"/>
              </a:lnSpc>
              <a:buNone/>
              <a:defRPr sz="1800" b="0" i="0">
                <a:latin typeface="+mn-lt"/>
                <a:ea typeface="+mn-lt"/>
                <a:cs typeface="+mn-lt"/>
              </a:defRPr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E18343-6F26-4180-9F15-3490C5654A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90225E-4991-43F8-8A4F-7A9DE80097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E361C3-C043-4A6E-BDCE-8DA1E7D90A3B}" type="slidenum">
              <a:t>‹#›</a:t>
            </a:fld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789912-585E-44ED-9A35-D3CD6481964A}"/>
              </a:ext>
            </a:extLst>
          </p:cNvPr>
          <p:cNvSpPr>
            <a:spLocks noGrp="1"/>
          </p:cNvSpPr>
          <p:nvPr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>
            <a:spLocks noGrp="1"/>
          </p:cNvSpPr>
          <p:nvPr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buNone/>
              <a:defRPr sz="1100"/>
            </a:lvl1pPr>
          </a:lstStyle>
          <a:p>
            <a:r>
              <a:t>上海交通大学并行与分布式系统研究所（IPADS@SJTU）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E737EC-50D8-4066-9A5B-B2F2B3261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buNone/>
              <a:defRPr sz="4000" b="1" cap="all">
                <a:latin typeface="+mj-lt"/>
                <a:ea typeface="+mj-lt"/>
                <a:cs typeface="+mj-lt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8D66DC-4DFE-41C3-A681-706615113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354206-11C3-46BD-9C89-5FEA6F6F7C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8C5D61-0DF4-429D-A479-13E085A0AA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E361C3-C043-4A6E-BDCE-8DA1E7D90A3B}" type="slidenum">
              <a:t>‹#›</a:t>
            </a:fld>
            <a:endParaRPr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>
            <a:spLocks noGrp="1"/>
          </p:cNvSpPr>
          <p:nvPr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E3681A-3E02-46ED-85DF-1DEF2F997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36D934-6CA7-459A-B5C1-5CA900321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A96C8E-B259-4316-A5FF-F1EDB1F7850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DengXian"/>
                <a:ea typeface="DengXian"/>
                <a:cs typeface="DengXian"/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B98837-A74E-40F6-88FA-DB372DDABD2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DengXian"/>
                <a:ea typeface="DengXian"/>
                <a:cs typeface="DengXian"/>
              </a:defRPr>
            </a:lvl1pPr>
          </a:lstStyle>
          <a:p>
            <a:fld id="{ADE361C3-C043-4A6E-BDCE-8DA1E7D90A3B}" type="slidenum">
              <a:t>‹#›</a:t>
            </a:fld>
            <a:endParaRPr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ea"/>
              </a:defRPr>
            </a:lvl1pPr>
          </a:lstStyle>
          <a:p>
            <a:pPr algn="ctr">
              <a:buNone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lnSpc>
          <a:spcPct val="120000"/>
        </a:lnSpc>
        <a:spcBef>
          <a:spcPts val="1200"/>
        </a:spcBef>
        <a:buFont typeface="Arial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marL="742950" indent="-285750" algn="l" defTabSz="914400">
        <a:lnSpc>
          <a:spcPct val="120000"/>
        </a:lnSpc>
        <a:spcBef>
          <a:spcPct val="20000"/>
        </a:spcBef>
        <a:buFont typeface="Arial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120000"/>
        </a:lnSpc>
        <a:spcBef>
          <a:spcPct val="20000"/>
        </a:spcBef>
        <a:buFont typeface="Arial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120000"/>
        </a:lnSpc>
        <a:spcBef>
          <a:spcPct val="20000"/>
        </a:spcBef>
        <a:buFont typeface="Arial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120000"/>
        </a:lnSpc>
        <a:spcBef>
          <a:spcPct val="20000"/>
        </a:spcBef>
        <a:buFont typeface="Arial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43050"/>
            <a:ext cx="7772400" cy="781050"/>
          </a:xfrm>
        </p:spPr>
        <p:txBody>
          <a:bodyPr anchor="ctr">
            <a:normAutofit/>
          </a:bodyPr>
          <a:lstStyle/>
          <a:p>
            <a:pPr algn="ctr">
              <a:lnSpc>
                <a:spcPct val="110000"/>
              </a:lnSpc>
              <a:buNone/>
              <a:defRPr sz="3750" b="1">
                <a:solidFill>
                  <a:srgbClr val="C4384D"/>
                </a:solidFill>
              </a:defRPr>
            </a:pPr>
            <a:r>
              <a:rPr sz="3750" b="1">
                <a:solidFill>
                  <a:srgbClr val="C4384D"/>
                </a:solidFill>
              </a:rPr>
              <a:t>语法分析（三）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</a:rPr>
              <a:t>吴明瑜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上海交通大学并行与分布式系统研究所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solidFill>
                  <a:schemeClr val="tx1">
                    <a:lumMod val="50000"/>
                    <a:lumOff val="50000"/>
                  </a:schemeClr>
                </a:solidFill>
              </a:rPr>
              <a:t>https://ipads.se.sjtu.edu.cn/courses/compilers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>
            <a:spLocks noGrp="1"/>
          </p:cNvSpPr>
          <p:nvPr/>
        </p:nvSpPr>
        <p:spPr>
          <a:xfrm>
            <a:off x="467544" y="252559"/>
            <a:ext cx="3600400" cy="504056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0" indent="0" algn="ctr" defTabSz="914400">
              <a:lnSpc>
                <a:spcPct val="120000"/>
              </a:lnSpc>
              <a:spcBef>
                <a:spcPts val="1200"/>
              </a:spcBef>
              <a:buFont typeface="Arial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1pPr>
            <a:lvl2pPr marL="457200" indent="0" algn="ctr" defTabSz="914400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2pPr>
            <a:lvl3pPr marL="914400" indent="0" algn="ctr" defTabSz="914400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3pPr>
            <a:lvl4pPr marL="1371600" indent="0" algn="ctr" defTabSz="914400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4pPr>
            <a:lvl5pPr marL="1828800" indent="0" algn="ctr" defTabSz="914400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5pPr>
            <a:lvl6pPr marL="22860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</a:pPr>
            <a:r>
              <a:rPr sz="140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ea typeface="Arial"/>
                <a:cs typeface="Arial"/>
              </a:rPr>
              <a:t>SE3355 · 编译原理（2026秋）</a:t>
            </a:r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13A0C70A-5066-4CF6-97F0-86AB7C28E3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75FED6-38D0-DE9C-92C0-6E7FA635581C}" type="slidenum">
              <a:rPr/>
              <a:t>1</a:t>
            </a:fld>
            <a:endParaRPr/>
          </a:p>
        </p:txBody>
      </p:sp>
      <p:sp>
        <p:nvSpPr>
          <p:cNvPr id="9" name="cover-subtitle">
            <a:extLst>
              <a:ext uri="{FF2B5EF4-FFF2-40B4-BE49-F238E27FC236}">
                <a16:creationId xmlns:a16="http://schemas.microsoft.com/office/drawing/2014/main" id="{DEC0DC70-C8B2-484D-8642-62AA62F9D626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7772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625" b="1">
                <a:solidFill>
                  <a:srgbClr val="C4384D"/>
                </a:solidFill>
              </a:defRPr>
            </a:pPr>
            <a:r>
              <a:rPr sz="2625" b="1">
                <a:solidFill>
                  <a:srgbClr val="C4384D"/>
                </a:solidFill>
              </a:rPr>
              <a:t>自底向上：从归约到 LR 状态</a:t>
            </a:r>
          </a:p>
        </p:txBody>
      </p:sp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上一讲：Parser 在展开前预测产生式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2598689-54C9-18A7-3A19-ED76AA08988F}" type="slidenum">
              <a:t>2</a:t>
            </a:fld>
            <a:endParaRPr/>
          </a:p>
        </p:txBody>
      </p:sp>
      <p:sp>
        <p:nvSpPr>
          <p:cNvPr id="5" name="subtitle-2">
            <a:extLst>
              <a:ext uri="{FF2B5EF4-FFF2-40B4-BE49-F238E27FC236}">
                <a16:creationId xmlns:a16="http://schemas.microsoft.com/office/drawing/2014/main" id="{962F5B3D-EA3A-4969-9E5D-16E7867F754E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LL(1) 从根节点向下构造 Parse Tree，依靠 current Token、FIRST 和 FOLLOW 做选择。 </a:t>
            </a:r>
          </a:p>
        </p:txBody>
      </p:sp>
      <p:sp>
        <p:nvSpPr>
          <p:cNvPr id="6" name="recap-root">
            <a:extLst>
              <a:ext uri="{FF2B5EF4-FFF2-40B4-BE49-F238E27FC236}">
                <a16:creationId xmlns:a16="http://schemas.microsoft.com/office/drawing/2014/main" id="{3EDCFC18-0131-422C-B257-A1BA902F6AF9}"/>
              </a:ext>
            </a:extLst>
          </p:cNvPr>
          <p:cNvSpPr>
            <a:spLocks noGrp="1"/>
          </p:cNvSpPr>
          <p:nvPr/>
        </p:nvSpPr>
        <p:spPr>
          <a:xfrm>
            <a:off x="3667125" y="1762125"/>
            <a:ext cx="1809750" cy="533400"/>
          </a:xfrm>
          <a:prstGeom prst="roundRect">
            <a:avLst>
              <a:gd name="adj" fmla="val 14286"/>
            </a:avLst>
          </a:prstGeom>
          <a:solidFill>
            <a:srgbClr val="FCEEF0"/>
          </a:solidFill>
          <a:ln w="11430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C4384D"/>
                </a:solidFill>
              </a:defRPr>
            </a:pPr>
            <a:r>
              <a:rPr sz="1500" b="1">
                <a:solidFill>
                  <a:srgbClr val="C4384D"/>
                </a:solidFill>
              </a:rPr>
              <a:t>start</a:t>
            </a:r>
          </a:p>
        </p:txBody>
      </p:sp>
      <p:sp>
        <p:nvSpPr>
          <p:cNvPr id="7" name="recap-e1">
            <a:extLst>
              <a:ext uri="{FF2B5EF4-FFF2-40B4-BE49-F238E27FC236}">
                <a16:creationId xmlns:a16="http://schemas.microsoft.com/office/drawing/2014/main" id="{1433258E-5FDF-4CFF-9DE9-D3D956850736}"/>
              </a:ext>
            </a:extLst>
          </p:cNvPr>
          <p:cNvSpPr>
            <a:spLocks noGrp="1"/>
          </p:cNvSpPr>
          <p:nvPr/>
        </p:nvSpPr>
        <p:spPr>
          <a:xfrm flipH="1">
            <a:off x="2762250" y="2295525"/>
            <a:ext cx="1809750" cy="895350"/>
          </a:xfrm>
          <a:prstGeom prst="line">
            <a:avLst/>
          </a:prstGeom>
          <a:noFill/>
          <a:ln w="14288">
            <a:solidFill>
              <a:srgbClr val="B8B8B8"/>
            </a:solidFill>
            <a:prstDash val="solid"/>
          </a:ln>
        </p:spPr>
      </p:sp>
      <p:sp>
        <p:nvSpPr>
          <p:cNvPr id="8" name="recap-e2">
            <a:extLst>
              <a:ext uri="{FF2B5EF4-FFF2-40B4-BE49-F238E27FC236}">
                <a16:creationId xmlns:a16="http://schemas.microsoft.com/office/drawing/2014/main" id="{7CEFAFE1-898B-45FE-B43A-57D43F9EB2E8}"/>
              </a:ext>
            </a:extLst>
          </p:cNvPr>
          <p:cNvSpPr>
            <a:spLocks noGrp="1"/>
          </p:cNvSpPr>
          <p:nvPr/>
        </p:nvSpPr>
        <p:spPr>
          <a:xfrm>
            <a:off x="4572000" y="2295525"/>
            <a:ext cx="1809750" cy="895350"/>
          </a:xfrm>
          <a:prstGeom prst="line">
            <a:avLst/>
          </a:prstGeom>
          <a:noFill/>
          <a:ln w="14288">
            <a:solidFill>
              <a:srgbClr val="B8B8B8"/>
            </a:solidFill>
            <a:prstDash val="solid"/>
          </a:ln>
        </p:spPr>
      </p:sp>
      <p:sp>
        <p:nvSpPr>
          <p:cNvPr id="9" name="recap-left">
            <a:extLst>
              <a:ext uri="{FF2B5EF4-FFF2-40B4-BE49-F238E27FC236}">
                <a16:creationId xmlns:a16="http://schemas.microsoft.com/office/drawing/2014/main" id="{8EF60A4D-A98A-473E-929A-DD982622DCAC}"/>
              </a:ext>
            </a:extLst>
          </p:cNvPr>
          <p:cNvSpPr>
            <a:spLocks noGrp="1"/>
          </p:cNvSpPr>
          <p:nvPr/>
        </p:nvSpPr>
        <p:spPr>
          <a:xfrm>
            <a:off x="1714500" y="3190875"/>
            <a:ext cx="2095500" cy="590550"/>
          </a:xfrm>
          <a:prstGeom prst="roundRect">
            <a:avLst>
              <a:gd name="adj" fmla="val 12903"/>
            </a:avLst>
          </a:prstGeom>
          <a:solidFill>
            <a:srgbClr val="EAF5F8"/>
          </a:solidFill>
          <a:ln w="11430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</a:defRPr>
            </a:pPr>
            <a:r>
              <a:rPr sz="1200" b="1">
                <a:solidFill>
                  <a:srgbClr val="454545"/>
                </a:solidFill>
              </a:rPr>
              <a:t>选择产生式 A</a:t>
            </a:r>
          </a:p>
        </p:txBody>
      </p:sp>
      <p:sp>
        <p:nvSpPr>
          <p:cNvPr id="10" name="recap-right">
            <a:extLst>
              <a:ext uri="{FF2B5EF4-FFF2-40B4-BE49-F238E27FC236}">
                <a16:creationId xmlns:a16="http://schemas.microsoft.com/office/drawing/2014/main" id="{7358808D-2C5D-45BD-8580-C830CA757CC1}"/>
              </a:ext>
            </a:extLst>
          </p:cNvPr>
          <p:cNvSpPr>
            <a:spLocks noGrp="1"/>
          </p:cNvSpPr>
          <p:nvPr/>
        </p:nvSpPr>
        <p:spPr>
          <a:xfrm>
            <a:off x="5334000" y="3190875"/>
            <a:ext cx="2095500" cy="590550"/>
          </a:xfrm>
          <a:prstGeom prst="roundRect">
            <a:avLst>
              <a:gd name="adj" fmla="val 12903"/>
            </a:avLst>
          </a:prstGeom>
          <a:solidFill>
            <a:srgbClr val="EAF5F8"/>
          </a:solidFill>
          <a:ln w="11430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</a:defRPr>
            </a:pPr>
            <a:r>
              <a:rPr sz="1200" b="1">
                <a:solidFill>
                  <a:srgbClr val="454545"/>
                </a:solidFill>
              </a:rPr>
              <a:t>选择产生式 B</a:t>
            </a:r>
          </a:p>
        </p:txBody>
      </p:sp>
      <p:sp>
        <p:nvSpPr>
          <p:cNvPr id="11" name="recap-current">
            <a:extLst>
              <a:ext uri="{FF2B5EF4-FFF2-40B4-BE49-F238E27FC236}">
                <a16:creationId xmlns:a16="http://schemas.microsoft.com/office/drawing/2014/main" id="{D7DFBC62-D0E0-4121-B291-A2F84B1616F0}"/>
              </a:ext>
            </a:extLst>
          </p:cNvPr>
          <p:cNvSpPr>
            <a:spLocks noGrp="1"/>
          </p:cNvSpPr>
          <p:nvPr/>
        </p:nvSpPr>
        <p:spPr>
          <a:xfrm>
            <a:off x="2667000" y="4604797"/>
            <a:ext cx="3810000" cy="4572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current Token 决定走哪一条分支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构造 Parse Tree 还有另一个方向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202359C0-8A7A-196E-DD58-8E6569619F09}" type="slidenum">
              <a:t>3</a:t>
            </a:fld>
            <a:endParaRPr/>
          </a:p>
        </p:txBody>
      </p:sp>
      <p:sp>
        <p:nvSpPr>
          <p:cNvPr id="5" name="subtitle-3">
            <a:extLst>
              <a:ext uri="{FF2B5EF4-FFF2-40B4-BE49-F238E27FC236}">
                <a16:creationId xmlns:a16="http://schemas.microsoft.com/office/drawing/2014/main" id="{6BBEFA55-E9D0-4B89-A118-F868FC8E6588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同一条推导链：自顶向下正向应用产生式；自底向上反向应用产生式。</a:t>
            </a:r>
          </a:p>
        </p:txBody>
      </p:sp>
      <p:sp>
        <p:nvSpPr>
          <p:cNvPr id="18" name="takeaway-9">
            <a:extLst>
              <a:ext uri="{FF2B5EF4-FFF2-40B4-BE49-F238E27FC236}">
                <a16:creationId xmlns:a16="http://schemas.microsoft.com/office/drawing/2014/main" id="{340D90D6-543D-4835-B8C8-70EDDB43B51C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本讲研究 自底向上分析：先读入足够信息，再决定使用哪条产生式。 </a:t>
            </a:r>
          </a:p>
        </p:txBody>
      </p:sp>
      <p:sp>
        <p:nvSpPr>
          <p:cNvPr id="19" name="td-label">
            <a:extLst>
              <a:ext uri="{FF2B5EF4-FFF2-40B4-BE49-F238E27FC236}">
                <a16:creationId xmlns:a16="http://schemas.microsoft.com/office/drawing/2014/main" id="{38178414-0E35-4C40-BDB0-D1EEEA0CB129}"/>
              </a:ext>
            </a:extLst>
          </p:cNvPr>
          <p:cNvSpPr>
            <a:spLocks noGrp="1"/>
          </p:cNvSpPr>
          <p:nvPr/>
        </p:nvSpPr>
        <p:spPr>
          <a:xfrm>
            <a:off x="857250" y="165735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C4384D"/>
                </a:solidFill>
              </a:defRPr>
            </a:pPr>
            <a:r>
              <a:rPr sz="1575" b="1">
                <a:solidFill>
                  <a:srgbClr val="C4384D"/>
                </a:solidFill>
              </a:rPr>
              <a:t>自顶向下：从根到叶</a:t>
            </a:r>
          </a:p>
        </p:txBody>
      </p:sp>
      <p:sp>
        <p:nvSpPr>
          <p:cNvPr id="20" name="bu-label">
            <a:extLst>
              <a:ext uri="{FF2B5EF4-FFF2-40B4-BE49-F238E27FC236}">
                <a16:creationId xmlns:a16="http://schemas.microsoft.com/office/drawing/2014/main" id="{43D509FC-D714-4DB1-A00E-4DB24CE0AA7A}"/>
              </a:ext>
            </a:extLst>
          </p:cNvPr>
          <p:cNvSpPr>
            <a:spLocks noGrp="1"/>
          </p:cNvSpPr>
          <p:nvPr/>
        </p:nvSpPr>
        <p:spPr>
          <a:xfrm>
            <a:off x="5048250" y="165735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2D7C93"/>
                </a:solidFill>
              </a:defRPr>
            </a:pPr>
            <a:r>
              <a:rPr sz="1575" b="1">
                <a:solidFill>
                  <a:srgbClr val="2D7C93"/>
                </a:solidFill>
              </a:rPr>
              <a:t>自底向上：从叶到根</a:t>
            </a:r>
          </a:p>
        </p:txBody>
      </p:sp>
      <p:sp>
        <p:nvSpPr>
          <p:cNvPr id="21" name="td-stage-0">
            <a:extLst>
              <a:ext uri="{FF2B5EF4-FFF2-40B4-BE49-F238E27FC236}">
                <a16:creationId xmlns:a16="http://schemas.microsoft.com/office/drawing/2014/main" id="{9B6330D0-5E26-42B2-ABC4-4B773E742398}"/>
              </a:ext>
            </a:extLst>
          </p:cNvPr>
          <p:cNvSpPr>
            <a:spLocks noGrp="1"/>
          </p:cNvSpPr>
          <p:nvPr/>
        </p:nvSpPr>
        <p:spPr>
          <a:xfrm>
            <a:off x="1000125" y="2019300"/>
            <a:ext cx="2952750" cy="400050"/>
          </a:xfrm>
          <a:prstGeom prst="roundRect">
            <a:avLst>
              <a:gd name="adj" fmla="val 19048"/>
            </a:avLst>
          </a:prstGeom>
          <a:solidFill>
            <a:srgbClr val="FCEEF0"/>
          </a:solidFill>
          <a:ln w="10478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expr</a:t>
            </a:r>
          </a:p>
        </p:txBody>
      </p:sp>
      <p:sp>
        <p:nvSpPr>
          <p:cNvPr id="22" name="bu-stage-0">
            <a:extLst>
              <a:ext uri="{FF2B5EF4-FFF2-40B4-BE49-F238E27FC236}">
                <a16:creationId xmlns:a16="http://schemas.microsoft.com/office/drawing/2014/main" id="{D0DEB37B-F6E8-4782-98B2-B421EA6792AF}"/>
              </a:ext>
            </a:extLst>
          </p:cNvPr>
          <p:cNvSpPr>
            <a:spLocks noGrp="1"/>
          </p:cNvSpPr>
          <p:nvPr/>
        </p:nvSpPr>
        <p:spPr>
          <a:xfrm>
            <a:off x="5191125" y="2019300"/>
            <a:ext cx="2952750" cy="400050"/>
          </a:xfrm>
          <a:prstGeom prst="roundRect">
            <a:avLst>
              <a:gd name="adj" fmla="val 19048"/>
            </a:avLst>
          </a:prstGeom>
          <a:solidFill>
            <a:srgbClr val="EAF5F8"/>
          </a:solidFill>
          <a:ln w="10478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expr</a:t>
            </a:r>
          </a:p>
        </p:txBody>
      </p:sp>
      <p:sp>
        <p:nvSpPr>
          <p:cNvPr id="23" name="td-arrow-0">
            <a:extLst>
              <a:ext uri="{FF2B5EF4-FFF2-40B4-BE49-F238E27FC236}">
                <a16:creationId xmlns:a16="http://schemas.microsoft.com/office/drawing/2014/main" id="{33934CE6-CBC9-4C18-A5CA-2D8988A75760}"/>
              </a:ext>
            </a:extLst>
          </p:cNvPr>
          <p:cNvSpPr>
            <a:spLocks noGrp="1"/>
          </p:cNvSpPr>
          <p:nvPr/>
        </p:nvSpPr>
        <p:spPr>
          <a:xfrm>
            <a:off x="2209800" y="24193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C4384D"/>
                </a:solidFill>
              </a:defRPr>
            </a:pPr>
            <a:r>
              <a:rPr sz="1650" b="1">
                <a:solidFill>
                  <a:srgbClr val="C4384D"/>
                </a:solidFill>
              </a:rPr>
              <a:t>↓</a:t>
            </a:r>
          </a:p>
        </p:txBody>
      </p:sp>
      <p:sp>
        <p:nvSpPr>
          <p:cNvPr id="24" name="bu-arrow-0">
            <a:extLst>
              <a:ext uri="{FF2B5EF4-FFF2-40B4-BE49-F238E27FC236}">
                <a16:creationId xmlns:a16="http://schemas.microsoft.com/office/drawing/2014/main" id="{58CE63FA-4A2B-4704-909C-3F4CE1F9994D}"/>
              </a:ext>
            </a:extLst>
          </p:cNvPr>
          <p:cNvSpPr>
            <a:spLocks noGrp="1"/>
          </p:cNvSpPr>
          <p:nvPr/>
        </p:nvSpPr>
        <p:spPr>
          <a:xfrm>
            <a:off x="6400800" y="24193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2D7C93"/>
                </a:solidFill>
              </a:defRPr>
            </a:pPr>
            <a:r>
              <a:rPr sz="1650" b="1">
                <a:solidFill>
                  <a:srgbClr val="2D7C93"/>
                </a:solidFill>
              </a:rPr>
              <a:t>↑</a:t>
            </a:r>
          </a:p>
        </p:txBody>
      </p:sp>
      <p:sp>
        <p:nvSpPr>
          <p:cNvPr id="25" name="td-stage-1">
            <a:extLst>
              <a:ext uri="{FF2B5EF4-FFF2-40B4-BE49-F238E27FC236}">
                <a16:creationId xmlns:a16="http://schemas.microsoft.com/office/drawing/2014/main" id="{BEE773B7-BDC4-4B00-B336-F11C3CAC7608}"/>
              </a:ext>
            </a:extLst>
          </p:cNvPr>
          <p:cNvSpPr>
            <a:spLocks noGrp="1"/>
          </p:cNvSpPr>
          <p:nvPr/>
        </p:nvSpPr>
        <p:spPr>
          <a:xfrm>
            <a:off x="1000125" y="2647950"/>
            <a:ext cx="29527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478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PLUS term</a:t>
            </a:r>
          </a:p>
        </p:txBody>
      </p:sp>
      <p:sp>
        <p:nvSpPr>
          <p:cNvPr id="26" name="bu-stage-1">
            <a:extLst>
              <a:ext uri="{FF2B5EF4-FFF2-40B4-BE49-F238E27FC236}">
                <a16:creationId xmlns:a16="http://schemas.microsoft.com/office/drawing/2014/main" id="{0D2A3FFA-AC66-4482-9B49-8CC9D643B13E}"/>
              </a:ext>
            </a:extLst>
          </p:cNvPr>
          <p:cNvSpPr>
            <a:spLocks noGrp="1"/>
          </p:cNvSpPr>
          <p:nvPr/>
        </p:nvSpPr>
        <p:spPr>
          <a:xfrm>
            <a:off x="5191125" y="2647950"/>
            <a:ext cx="29527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478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PLUS term</a:t>
            </a:r>
          </a:p>
        </p:txBody>
      </p:sp>
      <p:sp>
        <p:nvSpPr>
          <p:cNvPr id="27" name="td-arrow-1">
            <a:extLst>
              <a:ext uri="{FF2B5EF4-FFF2-40B4-BE49-F238E27FC236}">
                <a16:creationId xmlns:a16="http://schemas.microsoft.com/office/drawing/2014/main" id="{D7BB13BE-32DA-4D32-9042-066E4B8B8A97}"/>
              </a:ext>
            </a:extLst>
          </p:cNvPr>
          <p:cNvSpPr>
            <a:spLocks noGrp="1"/>
          </p:cNvSpPr>
          <p:nvPr/>
        </p:nvSpPr>
        <p:spPr>
          <a:xfrm>
            <a:off x="2209800" y="30480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C4384D"/>
                </a:solidFill>
              </a:defRPr>
            </a:pPr>
            <a:r>
              <a:rPr sz="1650" b="1">
                <a:solidFill>
                  <a:srgbClr val="C4384D"/>
                </a:solidFill>
              </a:rPr>
              <a:t>↓</a:t>
            </a:r>
          </a:p>
        </p:txBody>
      </p:sp>
      <p:sp>
        <p:nvSpPr>
          <p:cNvPr id="28" name="bu-arrow-1">
            <a:extLst>
              <a:ext uri="{FF2B5EF4-FFF2-40B4-BE49-F238E27FC236}">
                <a16:creationId xmlns:a16="http://schemas.microsoft.com/office/drawing/2014/main" id="{8EE516FA-1B28-424C-8972-22FA545140D6}"/>
              </a:ext>
            </a:extLst>
          </p:cNvPr>
          <p:cNvSpPr>
            <a:spLocks noGrp="1"/>
          </p:cNvSpPr>
          <p:nvPr/>
        </p:nvSpPr>
        <p:spPr>
          <a:xfrm>
            <a:off x="6400800" y="30480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2D7C93"/>
                </a:solidFill>
              </a:defRPr>
            </a:pPr>
            <a:r>
              <a:rPr sz="1650" b="1">
                <a:solidFill>
                  <a:srgbClr val="2D7C93"/>
                </a:solidFill>
              </a:rPr>
              <a:t>↑</a:t>
            </a:r>
          </a:p>
        </p:txBody>
      </p:sp>
      <p:sp>
        <p:nvSpPr>
          <p:cNvPr id="29" name="td-stage-2">
            <a:extLst>
              <a:ext uri="{FF2B5EF4-FFF2-40B4-BE49-F238E27FC236}">
                <a16:creationId xmlns:a16="http://schemas.microsoft.com/office/drawing/2014/main" id="{9A4F8C12-80ED-4F5D-BDD5-213D7CDCA301}"/>
              </a:ext>
            </a:extLst>
          </p:cNvPr>
          <p:cNvSpPr>
            <a:spLocks noGrp="1"/>
          </p:cNvSpPr>
          <p:nvPr/>
        </p:nvSpPr>
        <p:spPr>
          <a:xfrm>
            <a:off x="1000125" y="3276600"/>
            <a:ext cx="29527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478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PLUS term</a:t>
            </a:r>
          </a:p>
        </p:txBody>
      </p:sp>
      <p:sp>
        <p:nvSpPr>
          <p:cNvPr id="30" name="bu-stage-2">
            <a:extLst>
              <a:ext uri="{FF2B5EF4-FFF2-40B4-BE49-F238E27FC236}">
                <a16:creationId xmlns:a16="http://schemas.microsoft.com/office/drawing/2014/main" id="{611A10C3-98BE-49EB-B059-492BF675B865}"/>
              </a:ext>
            </a:extLst>
          </p:cNvPr>
          <p:cNvSpPr>
            <a:spLocks noGrp="1"/>
          </p:cNvSpPr>
          <p:nvPr/>
        </p:nvSpPr>
        <p:spPr>
          <a:xfrm>
            <a:off x="5191125" y="3276600"/>
            <a:ext cx="29527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478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PLUS term</a:t>
            </a:r>
          </a:p>
        </p:txBody>
      </p:sp>
      <p:sp>
        <p:nvSpPr>
          <p:cNvPr id="31" name="td-arrow-2">
            <a:extLst>
              <a:ext uri="{FF2B5EF4-FFF2-40B4-BE49-F238E27FC236}">
                <a16:creationId xmlns:a16="http://schemas.microsoft.com/office/drawing/2014/main" id="{C2D7C819-87A5-4352-9382-286305D2976B}"/>
              </a:ext>
            </a:extLst>
          </p:cNvPr>
          <p:cNvSpPr>
            <a:spLocks noGrp="1"/>
          </p:cNvSpPr>
          <p:nvPr/>
        </p:nvSpPr>
        <p:spPr>
          <a:xfrm>
            <a:off x="2209800" y="3676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C4384D"/>
                </a:solidFill>
              </a:defRPr>
            </a:pPr>
            <a:r>
              <a:rPr sz="1650" b="1">
                <a:solidFill>
                  <a:srgbClr val="C4384D"/>
                </a:solidFill>
              </a:rPr>
              <a:t>↓</a:t>
            </a:r>
          </a:p>
        </p:txBody>
      </p:sp>
      <p:sp>
        <p:nvSpPr>
          <p:cNvPr id="32" name="bu-arrow-2">
            <a:extLst>
              <a:ext uri="{FF2B5EF4-FFF2-40B4-BE49-F238E27FC236}">
                <a16:creationId xmlns:a16="http://schemas.microsoft.com/office/drawing/2014/main" id="{AED8B5C4-E424-4F2F-A3D1-1E1D20F70E6B}"/>
              </a:ext>
            </a:extLst>
          </p:cNvPr>
          <p:cNvSpPr>
            <a:spLocks noGrp="1"/>
          </p:cNvSpPr>
          <p:nvPr/>
        </p:nvSpPr>
        <p:spPr>
          <a:xfrm>
            <a:off x="6400800" y="3676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2D7C93"/>
                </a:solidFill>
              </a:defRPr>
            </a:pPr>
            <a:r>
              <a:rPr sz="1650" b="1">
                <a:solidFill>
                  <a:srgbClr val="2D7C93"/>
                </a:solidFill>
              </a:rPr>
              <a:t>↑</a:t>
            </a:r>
          </a:p>
        </p:txBody>
      </p:sp>
      <p:sp>
        <p:nvSpPr>
          <p:cNvPr id="33" name="td-stage-3">
            <a:extLst>
              <a:ext uri="{FF2B5EF4-FFF2-40B4-BE49-F238E27FC236}">
                <a16:creationId xmlns:a16="http://schemas.microsoft.com/office/drawing/2014/main" id="{FC4CE39B-9151-45C7-B85C-B0A0926CF3BC}"/>
              </a:ext>
            </a:extLst>
          </p:cNvPr>
          <p:cNvSpPr>
            <a:spLocks noGrp="1"/>
          </p:cNvSpPr>
          <p:nvPr/>
        </p:nvSpPr>
        <p:spPr>
          <a:xfrm>
            <a:off x="1000125" y="3905250"/>
            <a:ext cx="29527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478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 PLUS INT</a:t>
            </a:r>
          </a:p>
        </p:txBody>
      </p:sp>
      <p:sp>
        <p:nvSpPr>
          <p:cNvPr id="34" name="bu-stage-3">
            <a:extLst>
              <a:ext uri="{FF2B5EF4-FFF2-40B4-BE49-F238E27FC236}">
                <a16:creationId xmlns:a16="http://schemas.microsoft.com/office/drawing/2014/main" id="{ABE241EE-340D-4260-8766-B1E8E919E0B1}"/>
              </a:ext>
            </a:extLst>
          </p:cNvPr>
          <p:cNvSpPr>
            <a:spLocks noGrp="1"/>
          </p:cNvSpPr>
          <p:nvPr/>
        </p:nvSpPr>
        <p:spPr>
          <a:xfrm>
            <a:off x="5191125" y="3905250"/>
            <a:ext cx="29527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478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 PLUS INT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为什么值得换一个方向？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FD6AB9A-5F9E-5F59-51AB-3C8734130965}" type="slidenum">
              <a:t>4</a:t>
            </a:fld>
            <a:endParaRPr/>
          </a:p>
        </p:txBody>
      </p:sp>
      <p:sp>
        <p:nvSpPr>
          <p:cNvPr id="5" name="subtitle-4">
            <a:extLst>
              <a:ext uri="{FF2B5EF4-FFF2-40B4-BE49-F238E27FC236}">
                <a16:creationId xmlns:a16="http://schemas.microsoft.com/office/drawing/2014/main" id="{DE45A32A-67E2-4EF3-9839-99F1BB1EA540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递归下降必须在进入规则时做选择；自底向上可以把决定推迟到已经看见右侧结构之后。 </a:t>
            </a:r>
          </a:p>
        </p:txBody>
      </p:sp>
      <p:sp>
        <p:nvSpPr>
          <p:cNvPr id="6" name="why-left-label">
            <a:extLst>
              <a:ext uri="{FF2B5EF4-FFF2-40B4-BE49-F238E27FC236}">
                <a16:creationId xmlns:a16="http://schemas.microsoft.com/office/drawing/2014/main" id="{4B03B1F9-C123-4B6C-A642-93925BBF3E1E}"/>
              </a:ext>
            </a:extLst>
          </p:cNvPr>
          <p:cNvSpPr>
            <a:spLocks noGrp="1"/>
          </p:cNvSpPr>
          <p:nvPr/>
        </p:nvSpPr>
        <p:spPr>
          <a:xfrm>
            <a:off x="809625" y="17145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C4384D"/>
                </a:solidFill>
              </a:defRPr>
            </a:pPr>
            <a:r>
              <a:rPr sz="1575" b="1">
                <a:solidFill>
                  <a:srgbClr val="C4384D"/>
                </a:solidFill>
              </a:rPr>
              <a:t>表达式的直观文法</a:t>
            </a:r>
          </a:p>
        </p:txBody>
      </p:sp>
      <p:sp>
        <p:nvSpPr>
          <p:cNvPr id="7" name="why-grammar">
            <a:extLst>
              <a:ext uri="{FF2B5EF4-FFF2-40B4-BE49-F238E27FC236}">
                <a16:creationId xmlns:a16="http://schemas.microsoft.com/office/drawing/2014/main" id="{3FB2E70C-CFCE-4E16-A3C7-482CEB666DF3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3714750" cy="1952625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expr PLUS term</a:t>
            </a:r>
          </a:p>
          <a:p>
            <a:pPr algn="l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| term</a:t>
            </a:r>
          </a:p>
          <a:p>
            <a:endParaRPr sz="1425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INT</a:t>
            </a:r>
          </a:p>
        </p:txBody>
      </p:sp>
      <p:sp>
        <p:nvSpPr>
          <p:cNvPr id="8" name="why-right-label">
            <a:extLst>
              <a:ext uri="{FF2B5EF4-FFF2-40B4-BE49-F238E27FC236}">
                <a16:creationId xmlns:a16="http://schemas.microsoft.com/office/drawing/2014/main" id="{51DC48EA-DC00-4305-8CFD-7E21AB159B96}"/>
              </a:ext>
            </a:extLst>
          </p:cNvPr>
          <p:cNvSpPr>
            <a:spLocks noGrp="1"/>
          </p:cNvSpPr>
          <p:nvPr/>
        </p:nvSpPr>
        <p:spPr>
          <a:xfrm>
            <a:off x="5000625" y="1714500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2D7C93"/>
                </a:solidFill>
              </a:defRPr>
            </a:pPr>
            <a:r>
              <a:rPr sz="1575" b="1">
                <a:solidFill>
                  <a:srgbClr val="2D7C93"/>
                </a:solidFill>
              </a:rPr>
              <a:t>两种处理方式</a:t>
            </a:r>
          </a:p>
        </p:txBody>
      </p:sp>
      <p:sp>
        <p:nvSpPr>
          <p:cNvPr id="9" name="why-ll">
            <a:extLst>
              <a:ext uri="{FF2B5EF4-FFF2-40B4-BE49-F238E27FC236}">
                <a16:creationId xmlns:a16="http://schemas.microsoft.com/office/drawing/2014/main" id="{92D7BF6C-45AB-4C27-94AD-2D335CBA6E0D}"/>
              </a:ext>
            </a:extLst>
          </p:cNvPr>
          <p:cNvSpPr>
            <a:spLocks noGrp="1"/>
          </p:cNvSpPr>
          <p:nvPr/>
        </p:nvSpPr>
        <p:spPr>
          <a:xfrm>
            <a:off x="4953000" y="2095500"/>
            <a:ext cx="352425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0">
                <a:solidFill>
                  <a:srgbClr val="454545"/>
                </a:solidFill>
              </a:defRPr>
            </a:pPr>
            <a:r>
              <a:rPr sz="1313" b="0">
                <a:solidFill>
                  <a:srgbClr val="454545"/>
                </a:solidFill>
              </a:rPr>
              <a:t>递归下降：先消除左递归</a:t>
            </a:r>
          </a:p>
          <a:p>
            <a:pPr algn="ctr">
              <a:buNone/>
              <a:defRPr sz="1313" b="0">
                <a:solidFill>
                  <a:srgbClr val="454545"/>
                </a:solidFill>
              </a:defRPr>
            </a:pPr>
            <a:r>
              <a:rPr sz="1313" b="0">
                <a:solidFill>
                  <a:srgbClr val="454545"/>
                </a:solidFill>
              </a:rPr>
              <a:t>再生成预测式代码</a:t>
            </a:r>
          </a:p>
        </p:txBody>
      </p:sp>
      <p:sp>
        <p:nvSpPr>
          <p:cNvPr id="10" name="why-lr">
            <a:extLst>
              <a:ext uri="{FF2B5EF4-FFF2-40B4-BE49-F238E27FC236}">
                <a16:creationId xmlns:a16="http://schemas.microsoft.com/office/drawing/2014/main" id="{E6994875-4F37-4898-B5DF-F45D19666C39}"/>
              </a:ext>
            </a:extLst>
          </p:cNvPr>
          <p:cNvSpPr>
            <a:spLocks noGrp="1"/>
          </p:cNvSpPr>
          <p:nvPr/>
        </p:nvSpPr>
        <p:spPr>
          <a:xfrm>
            <a:off x="4953000" y="3209925"/>
            <a:ext cx="3524250" cy="8382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2D7C93"/>
                </a:solidFill>
              </a:defRPr>
            </a:pPr>
            <a:r>
              <a:rPr sz="1313" b="1">
                <a:solidFill>
                  <a:srgbClr val="2D7C93"/>
                </a:solidFill>
              </a:rPr>
              <a:t>自底向上：保留左递归</a:t>
            </a:r>
          </a:p>
          <a:p>
            <a:pPr algn="ctr">
              <a:buNone/>
              <a:defRPr sz="1313" b="1">
                <a:solidFill>
                  <a:srgbClr val="2D7C93"/>
                </a:solidFill>
              </a:defRPr>
            </a:pPr>
            <a:r>
              <a:rPr sz="1313" b="1">
                <a:solidFill>
                  <a:srgbClr val="2D7C93"/>
                </a:solidFill>
              </a:rPr>
              <a:t>在读到足够信息后再执行归约</a:t>
            </a:r>
          </a:p>
        </p:txBody>
      </p:sp>
      <p:sp>
        <p:nvSpPr>
          <p:cNvPr id="11" name="takeaway-10">
            <a:extLst>
              <a:ext uri="{FF2B5EF4-FFF2-40B4-BE49-F238E27FC236}">
                <a16:creationId xmlns:a16="http://schemas.microsoft.com/office/drawing/2014/main" id="{94A532C4-3551-4FD7-BC90-024FF11BB91D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把选择时机向后移动，从而巧妙避开左递归问题。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3B45CA-E2CD-0647-25F4-E78A9DEEB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上一讲回顾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F9EC3A-DA66-C8D7-8A46-31BB9E56F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自顶向下语法分析</a:t>
            </a:r>
          </a:p>
          <a:p>
            <a:pPr>
              <a:buFont typeface="Arial"/>
              <a:buChar char="•"/>
            </a:pPr>
            <a:r>
              <a:rPr sz="2000" b="0">
                <a:solidFill>
                  <a:schemeClr val="bg1">
                    <a:lumMod val="65000"/>
                  </a:schemeClr>
                </a:solidFill>
              </a:rPr>
              <a:t>根节点暴力展开（搜索）-&gt; 左递归消除</a:t>
            </a:r>
          </a:p>
          <a:p>
            <a:pPr>
              <a:buFont typeface="Arial"/>
              <a:buChar char="•"/>
            </a:pPr>
            <a:r>
              <a:rPr sz="2000" b="0">
                <a:solidFill>
                  <a:schemeClr val="bg1">
                    <a:lumMod val="65000"/>
                  </a:schemeClr>
                </a:solidFill>
              </a:rPr>
              <a:t>剪枝：排除显然不可能的分支 -&gt; FIRST/FOLLOW</a:t>
            </a:r>
            <a:r>
              <a:rPr sz="2000" b="0"/>
              <a:t> -&gt; PREDICT集合</a:t>
            </a:r>
          </a:p>
          <a:p>
            <a:pPr>
              <a:buFont typeface="Arial"/>
              <a:buChar char="•"/>
            </a:pPr>
            <a:r>
              <a:rPr sz="2000" b="0"/>
              <a:t>LL(1) 文法：把预测变为分析表（查表、跳转、循环往复）</a:t>
            </a:r>
          </a:p>
          <a:p>
            <a:pPr>
              <a:buFont typeface="Arial"/>
              <a:buChar char="•"/>
            </a:pPr>
            <a:r>
              <a:rPr sz="2000" b="0"/>
              <a:t>现代工具：ANTLR4</a:t>
            </a:r>
            <a:r>
              <a:rPr sz="2000"/>
              <a:t>	</a:t>
            </a:r>
            <a:endParaRPr sz="2000" b="0"/>
          </a:p>
          <a:p>
            <a:pPr>
              <a:buFont typeface="Arial"/>
              <a:buChar char="•"/>
            </a:pPr>
            <a:endParaRPr b="0"/>
          </a:p>
          <a:p>
            <a:pPr>
              <a:buFont typeface="Arial"/>
              <a:buChar char="•"/>
            </a:pPr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197D49-1352-5B56-5DEA-A7226E4582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F15020-66A7-620A-7B7A-C05C4312DEAE}" type="slidenum">
              <a:t>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E45E52-C0D4-749E-E3F0-28ACFDD25811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上海交通大学并行与分布式系统研究所（IPADS@SJTU）</a:t>
            </a:r>
          </a:p>
        </p:txBody>
      </p:sp>
    </p:spTree>
    <p:extLst>
      <p:ext uri="{BB962C8B-B14F-4D97-AF65-F5344CB8AC3E}">
        <p14:creationId xmlns:p14="http://schemas.microsoft.com/office/powerpoint/2010/main" val="2243741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本讲目标：学习反向推导，并把它（也）变成一个表驱动 Parser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E5B3003-2C54-13C6-9832-7637201064DE}" type="slidenum">
              <a:t>6</a:t>
            </a:fld>
            <a:endParaRPr/>
          </a:p>
        </p:txBody>
      </p:sp>
      <p:sp>
        <p:nvSpPr>
          <p:cNvPr id="5" name="goal-0">
            <a:extLst>
              <a:ext uri="{FF2B5EF4-FFF2-40B4-BE49-F238E27FC236}">
                <a16:creationId xmlns:a16="http://schemas.microsoft.com/office/drawing/2014/main" id="{577FD91A-0DF3-4340-8254-8C83AAD11E2B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FCEEF0"/>
          </a:solidFill>
          <a:ln w="11430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C4384D"/>
                </a:solidFill>
              </a:defRPr>
            </a:pPr>
            <a:r>
              <a:rPr sz="1500" b="1">
                <a:solidFill>
                  <a:srgbClr val="C4384D"/>
                </a:solidFill>
              </a:rPr>
              <a:t>1</a:t>
            </a:r>
          </a:p>
        </p:txBody>
      </p:sp>
      <p:sp>
        <p:nvSpPr>
          <p:cNvPr id="6" name="goal-h-0">
            <a:extLst>
              <a:ext uri="{FF2B5EF4-FFF2-40B4-BE49-F238E27FC236}">
                <a16:creationId xmlns:a16="http://schemas.microsoft.com/office/drawing/2014/main" id="{FFBC4A8B-2D4F-4B20-9CEC-CF4C164B10A5}"/>
              </a:ext>
            </a:extLst>
          </p:cNvPr>
          <p:cNvSpPr>
            <a:spLocks noGrp="1"/>
          </p:cNvSpPr>
          <p:nvPr/>
        </p:nvSpPr>
        <p:spPr>
          <a:xfrm>
            <a:off x="1476375" y="1638300"/>
            <a:ext cx="2333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454545"/>
                </a:solidFill>
              </a:defRPr>
            </a:pPr>
            <a:r>
              <a:rPr sz="1500" b="1">
                <a:solidFill>
                  <a:srgbClr val="454545"/>
                </a:solidFill>
              </a:rPr>
              <a:t>看懂 shift / reduce</a:t>
            </a:r>
          </a:p>
        </p:txBody>
      </p:sp>
      <p:sp>
        <p:nvSpPr>
          <p:cNvPr id="7" name="goal-b-0">
            <a:extLst>
              <a:ext uri="{FF2B5EF4-FFF2-40B4-BE49-F238E27FC236}">
                <a16:creationId xmlns:a16="http://schemas.microsoft.com/office/drawing/2014/main" id="{A3BA28D1-590C-4FD8-A399-95AB977E0910}"/>
              </a:ext>
            </a:extLst>
          </p:cNvPr>
          <p:cNvSpPr>
            <a:spLocks noGrp="1"/>
          </p:cNvSpPr>
          <p:nvPr/>
        </p:nvSpPr>
        <p:spPr>
          <a:xfrm>
            <a:off x="3905250" y="163830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从 Token 出发，逐步归约出 Parse Tree</a:t>
            </a:r>
          </a:p>
        </p:txBody>
      </p:sp>
      <p:sp>
        <p:nvSpPr>
          <p:cNvPr id="8" name="goal-1">
            <a:extLst>
              <a:ext uri="{FF2B5EF4-FFF2-40B4-BE49-F238E27FC236}">
                <a16:creationId xmlns:a16="http://schemas.microsoft.com/office/drawing/2014/main" id="{32663C8A-B7F9-4943-8B1A-88196E0BC7C4}"/>
              </a:ext>
            </a:extLst>
          </p:cNvPr>
          <p:cNvSpPr>
            <a:spLocks noGrp="1"/>
          </p:cNvSpPr>
          <p:nvPr/>
        </p:nvSpPr>
        <p:spPr>
          <a:xfrm>
            <a:off x="800100" y="24193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FCEEF0"/>
          </a:solidFill>
          <a:ln w="11430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C4384D"/>
                </a:solidFill>
              </a:defRPr>
            </a:pPr>
            <a:r>
              <a:rPr sz="1500" b="1">
                <a:solidFill>
                  <a:srgbClr val="C4384D"/>
                </a:solidFill>
              </a:rPr>
              <a:t>2</a:t>
            </a:r>
          </a:p>
        </p:txBody>
      </p:sp>
      <p:sp>
        <p:nvSpPr>
          <p:cNvPr id="9" name="goal-h-1">
            <a:extLst>
              <a:ext uri="{FF2B5EF4-FFF2-40B4-BE49-F238E27FC236}">
                <a16:creationId xmlns:a16="http://schemas.microsoft.com/office/drawing/2014/main" id="{88AF97EE-6E7A-4B04-84C4-A84055389E75}"/>
              </a:ext>
            </a:extLst>
          </p:cNvPr>
          <p:cNvSpPr>
            <a:spLocks noGrp="1"/>
          </p:cNvSpPr>
          <p:nvPr/>
        </p:nvSpPr>
        <p:spPr>
          <a:xfrm>
            <a:off x="1476375" y="2438400"/>
            <a:ext cx="2333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454545"/>
                </a:solidFill>
              </a:defRPr>
            </a:pPr>
            <a:r>
              <a:rPr sz="1500" b="1">
                <a:solidFill>
                  <a:srgbClr val="454545"/>
                </a:solidFill>
              </a:rPr>
              <a:t>理解 LR item 与状态</a:t>
            </a:r>
          </a:p>
        </p:txBody>
      </p:sp>
      <p:sp>
        <p:nvSpPr>
          <p:cNvPr id="10" name="goal-b-1">
            <a:extLst>
              <a:ext uri="{FF2B5EF4-FFF2-40B4-BE49-F238E27FC236}">
                <a16:creationId xmlns:a16="http://schemas.microsoft.com/office/drawing/2014/main" id="{1CC6AEDC-3F7D-42CA-B1D3-AC1ACEB429F6}"/>
              </a:ext>
            </a:extLst>
          </p:cNvPr>
          <p:cNvSpPr>
            <a:spLocks noGrp="1"/>
          </p:cNvSpPr>
          <p:nvPr/>
        </p:nvSpPr>
        <p:spPr>
          <a:xfrm>
            <a:off x="3905250" y="243840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机械记录每条产生式已经识别到哪里</a:t>
            </a:r>
          </a:p>
        </p:txBody>
      </p:sp>
      <p:sp>
        <p:nvSpPr>
          <p:cNvPr id="11" name="goal-2">
            <a:extLst>
              <a:ext uri="{FF2B5EF4-FFF2-40B4-BE49-F238E27FC236}">
                <a16:creationId xmlns:a16="http://schemas.microsoft.com/office/drawing/2014/main" id="{5AE54659-D264-46B0-B184-8C14F1689F15}"/>
              </a:ext>
            </a:extLst>
          </p:cNvPr>
          <p:cNvSpPr>
            <a:spLocks noGrp="1"/>
          </p:cNvSpPr>
          <p:nvPr/>
        </p:nvSpPr>
        <p:spPr>
          <a:xfrm>
            <a:off x="800100" y="32194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EAF5F8"/>
          </a:solidFill>
          <a:ln w="11430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D7C93"/>
                </a:solidFill>
              </a:defRPr>
            </a:pPr>
            <a:r>
              <a:rPr sz="1500" b="1">
                <a:solidFill>
                  <a:srgbClr val="2D7C93"/>
                </a:solidFill>
              </a:rPr>
              <a:t>3</a:t>
            </a:r>
          </a:p>
        </p:txBody>
      </p:sp>
      <p:sp>
        <p:nvSpPr>
          <p:cNvPr id="12" name="goal-h-2">
            <a:extLst>
              <a:ext uri="{FF2B5EF4-FFF2-40B4-BE49-F238E27FC236}">
                <a16:creationId xmlns:a16="http://schemas.microsoft.com/office/drawing/2014/main" id="{379A27C1-D699-420D-906E-29F708DAF368}"/>
              </a:ext>
            </a:extLst>
          </p:cNvPr>
          <p:cNvSpPr>
            <a:spLocks noGrp="1"/>
          </p:cNvSpPr>
          <p:nvPr/>
        </p:nvSpPr>
        <p:spPr>
          <a:xfrm>
            <a:off x="1476375" y="3238500"/>
            <a:ext cx="2333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454545"/>
                </a:solidFill>
              </a:defRPr>
            </a:pPr>
            <a:r>
              <a:rPr sz="1500" b="1">
                <a:solidFill>
                  <a:srgbClr val="454545"/>
                </a:solidFill>
              </a:rPr>
              <a:t>构造一个 LR(0) 自动机</a:t>
            </a:r>
          </a:p>
        </p:txBody>
      </p:sp>
      <p:sp>
        <p:nvSpPr>
          <p:cNvPr id="13" name="goal-b-2">
            <a:extLst>
              <a:ext uri="{FF2B5EF4-FFF2-40B4-BE49-F238E27FC236}">
                <a16:creationId xmlns:a16="http://schemas.microsoft.com/office/drawing/2014/main" id="{64E15952-A9E8-4F04-9884-6E38AF035CE3}"/>
              </a:ext>
            </a:extLst>
          </p:cNvPr>
          <p:cNvSpPr>
            <a:spLocks noGrp="1"/>
          </p:cNvSpPr>
          <p:nvPr/>
        </p:nvSpPr>
        <p:spPr>
          <a:xfrm>
            <a:off x="3905250" y="323850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用状态回答何时 shift、何时 reduce</a:t>
            </a:r>
          </a:p>
        </p:txBody>
      </p:sp>
      <p:sp>
        <p:nvSpPr>
          <p:cNvPr id="14" name="goal-3">
            <a:extLst>
              <a:ext uri="{FF2B5EF4-FFF2-40B4-BE49-F238E27FC236}">
                <a16:creationId xmlns:a16="http://schemas.microsoft.com/office/drawing/2014/main" id="{17A97110-2A6E-4011-85D2-34D7DF24369A}"/>
              </a:ext>
            </a:extLst>
          </p:cNvPr>
          <p:cNvSpPr>
            <a:spLocks noGrp="1"/>
          </p:cNvSpPr>
          <p:nvPr/>
        </p:nvSpPr>
        <p:spPr>
          <a:xfrm>
            <a:off x="800100" y="40195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EAF5F8"/>
          </a:solidFill>
          <a:ln w="11430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D7C93"/>
                </a:solidFill>
              </a:defRPr>
            </a:pPr>
            <a:r>
              <a:rPr sz="1500" b="1">
                <a:solidFill>
                  <a:srgbClr val="2D7C93"/>
                </a:solidFill>
              </a:rPr>
              <a:t>4</a:t>
            </a:r>
          </a:p>
        </p:txBody>
      </p:sp>
      <p:sp>
        <p:nvSpPr>
          <p:cNvPr id="15" name="goal-h-3">
            <a:extLst>
              <a:ext uri="{FF2B5EF4-FFF2-40B4-BE49-F238E27FC236}">
                <a16:creationId xmlns:a16="http://schemas.microsoft.com/office/drawing/2014/main" id="{4E48CE32-F405-4A61-B010-D591BFEE0E54}"/>
              </a:ext>
            </a:extLst>
          </p:cNvPr>
          <p:cNvSpPr>
            <a:spLocks noGrp="1"/>
          </p:cNvSpPr>
          <p:nvPr/>
        </p:nvSpPr>
        <p:spPr>
          <a:xfrm>
            <a:off x="1476375" y="4038600"/>
            <a:ext cx="2333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454545"/>
                </a:solidFill>
              </a:defRPr>
            </a:pPr>
            <a:r>
              <a:rPr sz="1500" b="1">
                <a:solidFill>
                  <a:srgbClr val="454545"/>
                </a:solidFill>
              </a:rPr>
              <a:t>从自动机生成分析表</a:t>
            </a:r>
          </a:p>
        </p:txBody>
      </p:sp>
      <p:sp>
        <p:nvSpPr>
          <p:cNvPr id="16" name="goal-b-3">
            <a:extLst>
              <a:ext uri="{FF2B5EF4-FFF2-40B4-BE49-F238E27FC236}">
                <a16:creationId xmlns:a16="http://schemas.microsoft.com/office/drawing/2014/main" id="{B6874E53-3925-4A55-88DA-2E99719F6A95}"/>
              </a:ext>
            </a:extLst>
          </p:cNvPr>
          <p:cNvSpPr>
            <a:spLocks noGrp="1"/>
          </p:cNvSpPr>
          <p:nvPr/>
        </p:nvSpPr>
        <p:spPr>
          <a:xfrm>
            <a:off x="3905250" y="403860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让同一套循环执行所有状态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7786"/>
          </a:bodyPr>
          <a:lstStyle/>
          <a:p>
            <a:r>
              <a:rPr>
                <a:latin typeface="Arial"/>
                <a:ea typeface="Arial"/>
                <a:cs typeface="Arial"/>
              </a:rPr>
              <a:t>第一步：从 Token 开始反向推导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2FD04-0E4E-417B-BC59-5D2DFB36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shift / reduce 的基本过程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C630A04-5A25-9E0C-9436-126091DB86B3}" type="slidenum"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6211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贯穿案例：保留左递归的表达式文法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3D7D1C8-AE23-AA48-DF65-C742588DBE47}" type="slidenum">
              <a:t>8</a:t>
            </a:fld>
            <a:endParaRPr/>
          </a:p>
        </p:txBody>
      </p:sp>
      <p:sp>
        <p:nvSpPr>
          <p:cNvPr id="5" name="subtitle-7">
            <a:extLst>
              <a:ext uri="{FF2B5EF4-FFF2-40B4-BE49-F238E27FC236}">
                <a16:creationId xmlns:a16="http://schemas.microsoft.com/office/drawing/2014/main" id="{BEE1184F-3779-4B67-A230-2EFECEFD6C66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终结符仍使用大写名称，非终结符使用小写名称。 </a:t>
            </a:r>
          </a:p>
        </p:txBody>
      </p:sp>
      <p:sp>
        <p:nvSpPr>
          <p:cNvPr id="6" name="run-grammar">
            <a:extLst>
              <a:ext uri="{FF2B5EF4-FFF2-40B4-BE49-F238E27FC236}">
                <a16:creationId xmlns:a16="http://schemas.microsoft.com/office/drawing/2014/main" id="{4CAB27B7-5470-4145-A654-E53DD4C26370}"/>
              </a:ext>
            </a:extLst>
          </p:cNvPr>
          <p:cNvSpPr>
            <a:spLocks noGrp="1"/>
          </p:cNvSpPr>
          <p:nvPr/>
        </p:nvSpPr>
        <p:spPr>
          <a:xfrm>
            <a:off x="762000" y="1762125"/>
            <a:ext cx="3714750" cy="23812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start → expr</a:t>
            </a:r>
          </a:p>
          <a:p>
            <a:endParaRPr sz="1500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5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 → expr PLUS term</a:t>
            </a:r>
          </a:p>
          <a:p>
            <a:pPr algn="l">
              <a:buNone/>
              <a:defRPr sz="15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 | term</a:t>
            </a:r>
          </a:p>
          <a:p>
            <a:endParaRPr sz="1500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5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 → INT</a:t>
            </a:r>
          </a:p>
        </p:txBody>
      </p:sp>
      <p:sp>
        <p:nvSpPr>
          <p:cNvPr id="7" name="run-input">
            <a:extLst>
              <a:ext uri="{FF2B5EF4-FFF2-40B4-BE49-F238E27FC236}">
                <a16:creationId xmlns:a16="http://schemas.microsoft.com/office/drawing/2014/main" id="{3CBFE337-BB46-4EB4-90AF-3528FDF9E70B}"/>
              </a:ext>
            </a:extLst>
          </p:cNvPr>
          <p:cNvSpPr>
            <a:spLocks noGrp="1"/>
          </p:cNvSpPr>
          <p:nvPr/>
        </p:nvSpPr>
        <p:spPr>
          <a:xfrm>
            <a:off x="4953000" y="1762125"/>
            <a:ext cx="3524250" cy="23812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输入</a:t>
            </a:r>
          </a:p>
          <a:p>
            <a:endParaRPr sz="1500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ctr">
              <a:buNone/>
              <a:defRPr sz="15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 PLUS INT</a:t>
            </a:r>
          </a:p>
          <a:p>
            <a:endParaRPr sz="1500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ctr">
              <a:buNone/>
              <a:defRPr sz="15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目标</a:t>
            </a:r>
          </a:p>
          <a:p>
            <a:endParaRPr sz="1500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ctr">
              <a:buNone/>
              <a:defRPr sz="15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start ⇒* INT PLUS INT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自底向上分析是推导的逆过程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BA58DA2A-B818-18A9-29C1-B697728D5BCE}" type="slidenum">
              <a:t>9</a:t>
            </a:fld>
            <a:endParaRPr/>
          </a:p>
        </p:txBody>
      </p:sp>
      <p:sp>
        <p:nvSpPr>
          <p:cNvPr id="5" name="subtitle-8">
            <a:extLst>
              <a:ext uri="{FF2B5EF4-FFF2-40B4-BE49-F238E27FC236}">
                <a16:creationId xmlns:a16="http://schemas.microsoft.com/office/drawing/2014/main" id="{8F5A3920-8028-4C69-933C-402355E7880E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正向推导从 start 展开；Parser 实际执行时从输入反向回到 start。 </a:t>
            </a:r>
          </a:p>
        </p:txBody>
      </p:sp>
      <p:sp>
        <p:nvSpPr>
          <p:cNvPr id="6" name="derive-forward">
            <a:extLst>
              <a:ext uri="{FF2B5EF4-FFF2-40B4-BE49-F238E27FC236}">
                <a16:creationId xmlns:a16="http://schemas.microsoft.com/office/drawing/2014/main" id="{E079873E-545C-42CB-851A-7F2F379F82E3}"/>
              </a:ext>
            </a:extLst>
          </p:cNvPr>
          <p:cNvSpPr>
            <a:spLocks noGrp="1"/>
          </p:cNvSpPr>
          <p:nvPr/>
        </p:nvSpPr>
        <p:spPr>
          <a:xfrm>
            <a:off x="714375" y="1809750"/>
            <a:ext cx="3619500" cy="21907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start</a:t>
            </a:r>
          </a:p>
          <a:p>
            <a:pPr algn="ctr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⇒ expr</a:t>
            </a:r>
          </a:p>
          <a:p>
            <a:pPr algn="ctr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⇒ expr PLUS term</a:t>
            </a:r>
          </a:p>
          <a:p>
            <a:pPr algn="ctr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⇒ term PLUS term</a:t>
            </a:r>
          </a:p>
          <a:p>
            <a:pPr algn="ctr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⇒ INT PLUS INT</a:t>
            </a:r>
          </a:p>
        </p:txBody>
      </p:sp>
      <p:sp>
        <p:nvSpPr>
          <p:cNvPr id="7" name="derive-arrow">
            <a:extLst>
              <a:ext uri="{FF2B5EF4-FFF2-40B4-BE49-F238E27FC236}">
                <a16:creationId xmlns:a16="http://schemas.microsoft.com/office/drawing/2014/main" id="{EB95B95A-FF9C-4BAC-B2C8-4B060797A9E3}"/>
              </a:ext>
            </a:extLst>
          </p:cNvPr>
          <p:cNvSpPr>
            <a:spLocks noGrp="1"/>
          </p:cNvSpPr>
          <p:nvPr/>
        </p:nvSpPr>
        <p:spPr>
          <a:xfrm>
            <a:off x="4343400" y="2571750"/>
            <a:ext cx="47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550" b="1">
                <a:solidFill>
                  <a:srgbClr val="777777"/>
                </a:solidFill>
              </a:defRPr>
            </a:pPr>
            <a:r>
              <a:rPr sz="2550" b="1">
                <a:solidFill>
                  <a:srgbClr val="777777"/>
                </a:solidFill>
              </a:rPr>
              <a:t>⇄</a:t>
            </a:r>
          </a:p>
        </p:txBody>
      </p:sp>
      <p:sp>
        <p:nvSpPr>
          <p:cNvPr id="8" name="derive-backward">
            <a:extLst>
              <a:ext uri="{FF2B5EF4-FFF2-40B4-BE49-F238E27FC236}">
                <a16:creationId xmlns:a16="http://schemas.microsoft.com/office/drawing/2014/main" id="{486A96FB-FC06-4720-BADA-7270A27F5394}"/>
              </a:ext>
            </a:extLst>
          </p:cNvPr>
          <p:cNvSpPr>
            <a:spLocks noGrp="1"/>
          </p:cNvSpPr>
          <p:nvPr/>
        </p:nvSpPr>
        <p:spPr>
          <a:xfrm>
            <a:off x="4810125" y="1809750"/>
            <a:ext cx="3619500" cy="21907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 PLUS INT</a:t>
            </a:r>
          </a:p>
          <a:p>
            <a:pPr algn="ctr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⇐ term PLUS term</a:t>
            </a:r>
          </a:p>
          <a:p>
            <a:pPr algn="ctr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⇐ expr PLUS term</a:t>
            </a:r>
          </a:p>
          <a:p>
            <a:pPr algn="ctr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⇐ expr</a:t>
            </a:r>
          </a:p>
          <a:p>
            <a:pPr algn="ctr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⇐ start</a:t>
            </a:r>
          </a:p>
        </p:txBody>
      </p:sp>
      <p:sp>
        <p:nvSpPr>
          <p:cNvPr id="9" name="takeaway-14">
            <a:extLst>
              <a:ext uri="{FF2B5EF4-FFF2-40B4-BE49-F238E27FC236}">
                <a16:creationId xmlns:a16="http://schemas.microsoft.com/office/drawing/2014/main" id="{3E1BE3AE-8A1D-4CE4-AB15-FE6AC137BB3D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每次 reduce 都是在反向应用一条产生式。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初始状态：栈为空，输入尚未读取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388657AE-30A1-5A7A-6A7F-315D84436430}" type="slidenum">
              <a:t>10</a:t>
            </a:fld>
            <a:endParaRPr/>
          </a:p>
        </p:txBody>
      </p:sp>
      <p:sp>
        <p:nvSpPr>
          <p:cNvPr id="5" name="subtitle-9">
            <a:extLst>
              <a:ext uri="{FF2B5EF4-FFF2-40B4-BE49-F238E27FC236}">
                <a16:creationId xmlns:a16="http://schemas.microsoft.com/office/drawing/2014/main" id="{02D60927-8C05-4CA1-B555-14169B0C456E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Parser 维护“已经处理的前缀”和“还未读取的后缀”。 </a:t>
            </a:r>
          </a:p>
        </p:txBody>
      </p:sp>
      <p:sp>
        <p:nvSpPr>
          <p:cNvPr id="6" name="stack-label-15">
            <a:extLst>
              <a:ext uri="{FF2B5EF4-FFF2-40B4-BE49-F238E27FC236}">
                <a16:creationId xmlns:a16="http://schemas.microsoft.com/office/drawing/2014/main" id="{6FBD38D2-567D-4C75-B435-CF98E8BCE46A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分析栈</a:t>
            </a:r>
          </a:p>
        </p:txBody>
      </p:sp>
      <p:sp>
        <p:nvSpPr>
          <p:cNvPr id="7" name="stack-15-0">
            <a:extLst>
              <a:ext uri="{FF2B5EF4-FFF2-40B4-BE49-F238E27FC236}">
                <a16:creationId xmlns:a16="http://schemas.microsoft.com/office/drawing/2014/main" id="{EF2B2B97-1E64-4CB5-8920-A5BB00DB75A2}"/>
              </a:ext>
            </a:extLst>
          </p:cNvPr>
          <p:cNvSpPr>
            <a:spLocks noGrp="1"/>
          </p:cNvSpPr>
          <p:nvPr/>
        </p:nvSpPr>
        <p:spPr>
          <a:xfrm>
            <a:off x="762000" y="2133600"/>
            <a:ext cx="647700" cy="5143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∅</a:t>
            </a:r>
          </a:p>
        </p:txBody>
      </p:sp>
      <p:sp>
        <p:nvSpPr>
          <p:cNvPr id="8" name="action-15">
            <a:extLst>
              <a:ext uri="{FF2B5EF4-FFF2-40B4-BE49-F238E27FC236}">
                <a16:creationId xmlns:a16="http://schemas.microsoft.com/office/drawing/2014/main" id="{BAE36932-AA49-4C40-800B-04D61F5AF31D}"/>
              </a:ext>
            </a:extLst>
          </p:cNvPr>
          <p:cNvSpPr>
            <a:spLocks noGrp="1"/>
          </p:cNvSpPr>
          <p:nvPr/>
        </p:nvSpPr>
        <p:spPr>
          <a:xfrm>
            <a:off x="5334000" y="1952625"/>
            <a:ext cx="2857500" cy="8572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等待动作</a:t>
            </a:r>
          </a:p>
        </p:txBody>
      </p:sp>
      <p:sp>
        <p:nvSpPr>
          <p:cNvPr id="9" name="input-15-0">
            <a:extLst>
              <a:ext uri="{FF2B5EF4-FFF2-40B4-BE49-F238E27FC236}">
                <a16:creationId xmlns:a16="http://schemas.microsoft.com/office/drawing/2014/main" id="{F660FE29-AA60-4825-B6B1-DCB011593F0B}"/>
              </a:ext>
            </a:extLst>
          </p:cNvPr>
          <p:cNvSpPr>
            <a:spLocks noGrp="1"/>
          </p:cNvSpPr>
          <p:nvPr/>
        </p:nvSpPr>
        <p:spPr>
          <a:xfrm>
            <a:off x="2381250" y="4048125"/>
            <a:ext cx="1066800" cy="41910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0" name="input-15-1">
            <a:extLst>
              <a:ext uri="{FF2B5EF4-FFF2-40B4-BE49-F238E27FC236}">
                <a16:creationId xmlns:a16="http://schemas.microsoft.com/office/drawing/2014/main" id="{9FA4B2DA-10BD-4F8A-B865-5C7F8D90572D}"/>
              </a:ext>
            </a:extLst>
          </p:cNvPr>
          <p:cNvSpPr>
            <a:spLocks noGrp="1"/>
          </p:cNvSpPr>
          <p:nvPr/>
        </p:nvSpPr>
        <p:spPr>
          <a:xfrm>
            <a:off x="3448050" y="4048125"/>
            <a:ext cx="11620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PLUS</a:t>
            </a:r>
          </a:p>
        </p:txBody>
      </p:sp>
      <p:sp>
        <p:nvSpPr>
          <p:cNvPr id="11" name="input-15-2">
            <a:extLst>
              <a:ext uri="{FF2B5EF4-FFF2-40B4-BE49-F238E27FC236}">
                <a16:creationId xmlns:a16="http://schemas.microsoft.com/office/drawing/2014/main" id="{0A58324A-2471-4262-ACE7-D730078C3AC9}"/>
              </a:ext>
            </a:extLst>
          </p:cNvPr>
          <p:cNvSpPr>
            <a:spLocks noGrp="1"/>
          </p:cNvSpPr>
          <p:nvPr/>
        </p:nvSpPr>
        <p:spPr>
          <a:xfrm>
            <a:off x="4610100" y="4048125"/>
            <a:ext cx="10668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3" name="input-label-15">
            <a:extLst>
              <a:ext uri="{FF2B5EF4-FFF2-40B4-BE49-F238E27FC236}">
                <a16:creationId xmlns:a16="http://schemas.microsoft.com/office/drawing/2014/main" id="{5F6F463A-F4F0-4BAE-B5BD-50780761E0F6}"/>
              </a:ext>
            </a:extLst>
          </p:cNvPr>
          <p:cNvSpPr>
            <a:spLocks noGrp="1"/>
          </p:cNvSpPr>
          <p:nvPr/>
        </p:nvSpPr>
        <p:spPr>
          <a:xfrm>
            <a:off x="762000" y="4086225"/>
            <a:ext cx="1476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剩余输入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步骤 1：shift INT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B7BEEEC-A170-5376-2B6E-CB54687B0CB1}" type="slidenum">
              <a:t>11</a:t>
            </a:fld>
            <a:endParaRPr/>
          </a:p>
        </p:txBody>
      </p:sp>
      <p:sp>
        <p:nvSpPr>
          <p:cNvPr id="5" name="subtitle-10">
            <a:extLst>
              <a:ext uri="{FF2B5EF4-FFF2-40B4-BE49-F238E27FC236}">
                <a16:creationId xmlns:a16="http://schemas.microsoft.com/office/drawing/2014/main" id="{6D2FFC40-990B-4D3E-A9AE-C5241E2323A1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shift：把当前 Token 推入栈，并把输入位置向右移动一格。 </a:t>
            </a:r>
          </a:p>
        </p:txBody>
      </p:sp>
      <p:sp>
        <p:nvSpPr>
          <p:cNvPr id="6" name="stack-label-16">
            <a:extLst>
              <a:ext uri="{FF2B5EF4-FFF2-40B4-BE49-F238E27FC236}">
                <a16:creationId xmlns:a16="http://schemas.microsoft.com/office/drawing/2014/main" id="{32BEF2B7-9393-4839-83BF-95E4B8B91184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分析栈</a:t>
            </a:r>
          </a:p>
        </p:txBody>
      </p:sp>
      <p:sp>
        <p:nvSpPr>
          <p:cNvPr id="7" name="stack-16-0">
            <a:extLst>
              <a:ext uri="{FF2B5EF4-FFF2-40B4-BE49-F238E27FC236}">
                <a16:creationId xmlns:a16="http://schemas.microsoft.com/office/drawing/2014/main" id="{A7FD98EB-DC5C-43E2-B53B-A588C2076BBA}"/>
              </a:ext>
            </a:extLst>
          </p:cNvPr>
          <p:cNvSpPr>
            <a:spLocks noGrp="1"/>
          </p:cNvSpPr>
          <p:nvPr/>
        </p:nvSpPr>
        <p:spPr>
          <a:xfrm>
            <a:off x="762000" y="2133600"/>
            <a:ext cx="657225" cy="5143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8" name="action-16">
            <a:extLst>
              <a:ext uri="{FF2B5EF4-FFF2-40B4-BE49-F238E27FC236}">
                <a16:creationId xmlns:a16="http://schemas.microsoft.com/office/drawing/2014/main" id="{B7E80E3A-ABD0-4822-A850-4B0F506C83DB}"/>
              </a:ext>
            </a:extLst>
          </p:cNvPr>
          <p:cNvSpPr>
            <a:spLocks noGrp="1"/>
          </p:cNvSpPr>
          <p:nvPr/>
        </p:nvSpPr>
        <p:spPr>
          <a:xfrm>
            <a:off x="5334000" y="1952625"/>
            <a:ext cx="2857500" cy="8572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shift INT</a:t>
            </a:r>
          </a:p>
        </p:txBody>
      </p:sp>
      <p:sp>
        <p:nvSpPr>
          <p:cNvPr id="9" name="input-16-0">
            <a:extLst>
              <a:ext uri="{FF2B5EF4-FFF2-40B4-BE49-F238E27FC236}">
                <a16:creationId xmlns:a16="http://schemas.microsoft.com/office/drawing/2014/main" id="{5021BA9B-B350-4CE8-81C8-115388EE094C}"/>
              </a:ext>
            </a:extLst>
          </p:cNvPr>
          <p:cNvSpPr>
            <a:spLocks noGrp="1"/>
          </p:cNvSpPr>
          <p:nvPr/>
        </p:nvSpPr>
        <p:spPr>
          <a:xfrm>
            <a:off x="2381250" y="4048125"/>
            <a:ext cx="10668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0" name="input-16-1">
            <a:extLst>
              <a:ext uri="{FF2B5EF4-FFF2-40B4-BE49-F238E27FC236}">
                <a16:creationId xmlns:a16="http://schemas.microsoft.com/office/drawing/2014/main" id="{7EB15C08-BD2F-4B00-B01A-A2971C819D6F}"/>
              </a:ext>
            </a:extLst>
          </p:cNvPr>
          <p:cNvSpPr>
            <a:spLocks noGrp="1"/>
          </p:cNvSpPr>
          <p:nvPr/>
        </p:nvSpPr>
        <p:spPr>
          <a:xfrm>
            <a:off x="3448050" y="4048125"/>
            <a:ext cx="1162050" cy="41910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PLUS</a:t>
            </a:r>
          </a:p>
        </p:txBody>
      </p:sp>
      <p:sp>
        <p:nvSpPr>
          <p:cNvPr id="11" name="input-16-2">
            <a:extLst>
              <a:ext uri="{FF2B5EF4-FFF2-40B4-BE49-F238E27FC236}">
                <a16:creationId xmlns:a16="http://schemas.microsoft.com/office/drawing/2014/main" id="{B708B10F-C467-42E9-A430-E261BD6B1BDF}"/>
              </a:ext>
            </a:extLst>
          </p:cNvPr>
          <p:cNvSpPr>
            <a:spLocks noGrp="1"/>
          </p:cNvSpPr>
          <p:nvPr/>
        </p:nvSpPr>
        <p:spPr>
          <a:xfrm>
            <a:off x="4610100" y="4048125"/>
            <a:ext cx="10668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3" name="input-label-16">
            <a:extLst>
              <a:ext uri="{FF2B5EF4-FFF2-40B4-BE49-F238E27FC236}">
                <a16:creationId xmlns:a16="http://schemas.microsoft.com/office/drawing/2014/main" id="{ECD2A380-01A5-4937-A624-985D1C60A5F3}"/>
              </a:ext>
            </a:extLst>
          </p:cNvPr>
          <p:cNvSpPr>
            <a:spLocks noGrp="1"/>
          </p:cNvSpPr>
          <p:nvPr/>
        </p:nvSpPr>
        <p:spPr>
          <a:xfrm>
            <a:off x="762000" y="4086225"/>
            <a:ext cx="1476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剩余输入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步骤 2：reduce term → INT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30394428-F1DC-E5F6-DB0C-7DE31F3D8A23}" type="slidenum">
              <a:t>12</a:t>
            </a:fld>
            <a:endParaRPr/>
          </a:p>
        </p:txBody>
      </p:sp>
      <p:sp>
        <p:nvSpPr>
          <p:cNvPr id="5" name="subtitle-11">
            <a:extLst>
              <a:ext uri="{FF2B5EF4-FFF2-40B4-BE49-F238E27FC236}">
                <a16:creationId xmlns:a16="http://schemas.microsoft.com/office/drawing/2014/main" id="{CC85DCA0-F809-402B-B1F8-175D6E791BB9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栈顶 INT 匹配产生式右侧；弹出 INT，再压入左侧非终结符 term。 </a:t>
            </a:r>
          </a:p>
        </p:txBody>
      </p:sp>
      <p:sp>
        <p:nvSpPr>
          <p:cNvPr id="6" name="stack-label-17">
            <a:extLst>
              <a:ext uri="{FF2B5EF4-FFF2-40B4-BE49-F238E27FC236}">
                <a16:creationId xmlns:a16="http://schemas.microsoft.com/office/drawing/2014/main" id="{69E8C72F-C6AB-4438-BDD9-A0A406A6E871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分析栈</a:t>
            </a:r>
          </a:p>
        </p:txBody>
      </p:sp>
      <p:sp>
        <p:nvSpPr>
          <p:cNvPr id="7" name="stack-17-0">
            <a:extLst>
              <a:ext uri="{FF2B5EF4-FFF2-40B4-BE49-F238E27FC236}">
                <a16:creationId xmlns:a16="http://schemas.microsoft.com/office/drawing/2014/main" id="{90F1E88B-D7ED-4BE0-8555-9184EC87A319}"/>
              </a:ext>
            </a:extLst>
          </p:cNvPr>
          <p:cNvSpPr>
            <a:spLocks noGrp="1"/>
          </p:cNvSpPr>
          <p:nvPr/>
        </p:nvSpPr>
        <p:spPr>
          <a:xfrm>
            <a:off x="762000" y="2133600"/>
            <a:ext cx="781050" cy="5143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term</a:t>
            </a:r>
          </a:p>
        </p:txBody>
      </p:sp>
      <p:sp>
        <p:nvSpPr>
          <p:cNvPr id="8" name="action-17">
            <a:extLst>
              <a:ext uri="{FF2B5EF4-FFF2-40B4-BE49-F238E27FC236}">
                <a16:creationId xmlns:a16="http://schemas.microsoft.com/office/drawing/2014/main" id="{8027889E-D1D0-4429-8DCB-52F85CC34239}"/>
              </a:ext>
            </a:extLst>
          </p:cNvPr>
          <p:cNvSpPr>
            <a:spLocks noGrp="1"/>
          </p:cNvSpPr>
          <p:nvPr/>
        </p:nvSpPr>
        <p:spPr>
          <a:xfrm>
            <a:off x="5334000" y="1952625"/>
            <a:ext cx="2857500" cy="8572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reduce</a:t>
            </a:r>
          </a:p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term → INT</a:t>
            </a:r>
          </a:p>
        </p:txBody>
      </p:sp>
      <p:sp>
        <p:nvSpPr>
          <p:cNvPr id="9" name="input-17-0">
            <a:extLst>
              <a:ext uri="{FF2B5EF4-FFF2-40B4-BE49-F238E27FC236}">
                <a16:creationId xmlns:a16="http://schemas.microsoft.com/office/drawing/2014/main" id="{4C71E8B3-0DE9-42E2-9F59-DA7738A9B064}"/>
              </a:ext>
            </a:extLst>
          </p:cNvPr>
          <p:cNvSpPr>
            <a:spLocks noGrp="1"/>
          </p:cNvSpPr>
          <p:nvPr/>
        </p:nvSpPr>
        <p:spPr>
          <a:xfrm>
            <a:off x="2381250" y="4048125"/>
            <a:ext cx="10668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0" name="input-17-1">
            <a:extLst>
              <a:ext uri="{FF2B5EF4-FFF2-40B4-BE49-F238E27FC236}">
                <a16:creationId xmlns:a16="http://schemas.microsoft.com/office/drawing/2014/main" id="{9E4852FD-F70A-41A9-925C-1384859B881C}"/>
              </a:ext>
            </a:extLst>
          </p:cNvPr>
          <p:cNvSpPr>
            <a:spLocks noGrp="1"/>
          </p:cNvSpPr>
          <p:nvPr/>
        </p:nvSpPr>
        <p:spPr>
          <a:xfrm>
            <a:off x="3448050" y="4048125"/>
            <a:ext cx="1162050" cy="41910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PLUS</a:t>
            </a:r>
          </a:p>
        </p:txBody>
      </p:sp>
      <p:sp>
        <p:nvSpPr>
          <p:cNvPr id="11" name="input-17-2">
            <a:extLst>
              <a:ext uri="{FF2B5EF4-FFF2-40B4-BE49-F238E27FC236}">
                <a16:creationId xmlns:a16="http://schemas.microsoft.com/office/drawing/2014/main" id="{17AC9AF1-E6C7-473F-9999-1C6838F1AF60}"/>
              </a:ext>
            </a:extLst>
          </p:cNvPr>
          <p:cNvSpPr>
            <a:spLocks noGrp="1"/>
          </p:cNvSpPr>
          <p:nvPr/>
        </p:nvSpPr>
        <p:spPr>
          <a:xfrm>
            <a:off x="4610100" y="4048125"/>
            <a:ext cx="10668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3" name="input-label-17">
            <a:extLst>
              <a:ext uri="{FF2B5EF4-FFF2-40B4-BE49-F238E27FC236}">
                <a16:creationId xmlns:a16="http://schemas.microsoft.com/office/drawing/2014/main" id="{01096DD7-3BA2-456A-8295-F5D59265A032}"/>
              </a:ext>
            </a:extLst>
          </p:cNvPr>
          <p:cNvSpPr>
            <a:spLocks noGrp="1"/>
          </p:cNvSpPr>
          <p:nvPr/>
        </p:nvSpPr>
        <p:spPr>
          <a:xfrm>
            <a:off x="762000" y="4086225"/>
            <a:ext cx="1476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剩余输入</a:t>
            </a:r>
          </a:p>
        </p:txBody>
      </p:sp>
      <p:sp>
        <p:nvSpPr>
          <p:cNvPr id="14" name="step2-note">
            <a:extLst>
              <a:ext uri="{FF2B5EF4-FFF2-40B4-BE49-F238E27FC236}">
                <a16:creationId xmlns:a16="http://schemas.microsoft.com/office/drawing/2014/main" id="{23A53DA8-7B35-4209-B6CC-79A04EF9F1F8}"/>
              </a:ext>
            </a:extLst>
          </p:cNvPr>
          <p:cNvSpPr>
            <a:spLocks noGrp="1"/>
          </p:cNvSpPr>
          <p:nvPr/>
        </p:nvSpPr>
        <p:spPr>
          <a:xfrm>
            <a:off x="1143000" y="3143250"/>
            <a:ext cx="685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2D7C93"/>
                </a:solidFill>
              </a:defRPr>
            </a:pPr>
            <a:r>
              <a:rPr sz="1500" b="1">
                <a:solidFill>
                  <a:srgbClr val="2D7C93"/>
                </a:solidFill>
              </a:rPr>
              <a:t>INT 被识别为一个完整的 term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步骤 3：reduce expr → term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DB16885-0D3F-A391-B669-3211DB3B26E8}" type="slidenum">
              <a:t>13</a:t>
            </a:fld>
            <a:endParaRPr/>
          </a:p>
        </p:txBody>
      </p:sp>
      <p:sp>
        <p:nvSpPr>
          <p:cNvPr id="5" name="subtitle-12">
            <a:extLst>
              <a:ext uri="{FF2B5EF4-FFF2-40B4-BE49-F238E27FC236}">
                <a16:creationId xmlns:a16="http://schemas.microsoft.com/office/drawing/2014/main" id="{DE15D9F9-6C6C-4EDE-8612-ABC57EB4FC16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栈顶 term 又匹配另一条产生式右侧，因此可以继续向上归约。 </a:t>
            </a:r>
          </a:p>
        </p:txBody>
      </p:sp>
      <p:sp>
        <p:nvSpPr>
          <p:cNvPr id="6" name="stack-label-18">
            <a:extLst>
              <a:ext uri="{FF2B5EF4-FFF2-40B4-BE49-F238E27FC236}">
                <a16:creationId xmlns:a16="http://schemas.microsoft.com/office/drawing/2014/main" id="{48F98C73-9D90-4842-AA6B-A219B16110D9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分析栈</a:t>
            </a:r>
          </a:p>
        </p:txBody>
      </p:sp>
      <p:sp>
        <p:nvSpPr>
          <p:cNvPr id="7" name="stack-18-0">
            <a:extLst>
              <a:ext uri="{FF2B5EF4-FFF2-40B4-BE49-F238E27FC236}">
                <a16:creationId xmlns:a16="http://schemas.microsoft.com/office/drawing/2014/main" id="{75D059FC-77EE-4075-AA67-9EAC180E0ADB}"/>
              </a:ext>
            </a:extLst>
          </p:cNvPr>
          <p:cNvSpPr>
            <a:spLocks noGrp="1"/>
          </p:cNvSpPr>
          <p:nvPr/>
        </p:nvSpPr>
        <p:spPr>
          <a:xfrm>
            <a:off x="762000" y="2133600"/>
            <a:ext cx="781050" cy="5143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expr</a:t>
            </a:r>
          </a:p>
        </p:txBody>
      </p:sp>
      <p:sp>
        <p:nvSpPr>
          <p:cNvPr id="8" name="action-18">
            <a:extLst>
              <a:ext uri="{FF2B5EF4-FFF2-40B4-BE49-F238E27FC236}">
                <a16:creationId xmlns:a16="http://schemas.microsoft.com/office/drawing/2014/main" id="{0EC32DA5-B507-4276-A5EF-81D6A723E951}"/>
              </a:ext>
            </a:extLst>
          </p:cNvPr>
          <p:cNvSpPr>
            <a:spLocks noGrp="1"/>
          </p:cNvSpPr>
          <p:nvPr/>
        </p:nvSpPr>
        <p:spPr>
          <a:xfrm>
            <a:off x="5334000" y="1952625"/>
            <a:ext cx="2857500" cy="8572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reduce</a:t>
            </a:r>
          </a:p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expr → term</a:t>
            </a:r>
          </a:p>
        </p:txBody>
      </p:sp>
      <p:sp>
        <p:nvSpPr>
          <p:cNvPr id="9" name="input-18-0">
            <a:extLst>
              <a:ext uri="{FF2B5EF4-FFF2-40B4-BE49-F238E27FC236}">
                <a16:creationId xmlns:a16="http://schemas.microsoft.com/office/drawing/2014/main" id="{8C8FA80B-1905-4749-8CA5-B4C84EAED080}"/>
              </a:ext>
            </a:extLst>
          </p:cNvPr>
          <p:cNvSpPr>
            <a:spLocks noGrp="1"/>
          </p:cNvSpPr>
          <p:nvPr/>
        </p:nvSpPr>
        <p:spPr>
          <a:xfrm>
            <a:off x="2381250" y="4048125"/>
            <a:ext cx="10668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0" name="input-18-1">
            <a:extLst>
              <a:ext uri="{FF2B5EF4-FFF2-40B4-BE49-F238E27FC236}">
                <a16:creationId xmlns:a16="http://schemas.microsoft.com/office/drawing/2014/main" id="{648965BF-7EBD-4221-A601-1BC0425CBE59}"/>
              </a:ext>
            </a:extLst>
          </p:cNvPr>
          <p:cNvSpPr>
            <a:spLocks noGrp="1"/>
          </p:cNvSpPr>
          <p:nvPr/>
        </p:nvSpPr>
        <p:spPr>
          <a:xfrm>
            <a:off x="3448050" y="4048125"/>
            <a:ext cx="1162050" cy="41910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PLUS</a:t>
            </a:r>
          </a:p>
        </p:txBody>
      </p:sp>
      <p:sp>
        <p:nvSpPr>
          <p:cNvPr id="11" name="input-18-2">
            <a:extLst>
              <a:ext uri="{FF2B5EF4-FFF2-40B4-BE49-F238E27FC236}">
                <a16:creationId xmlns:a16="http://schemas.microsoft.com/office/drawing/2014/main" id="{2A79167B-CA55-4A09-9803-C63D8C24590D}"/>
              </a:ext>
            </a:extLst>
          </p:cNvPr>
          <p:cNvSpPr>
            <a:spLocks noGrp="1"/>
          </p:cNvSpPr>
          <p:nvPr/>
        </p:nvSpPr>
        <p:spPr>
          <a:xfrm>
            <a:off x="4610100" y="4048125"/>
            <a:ext cx="10668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3" name="input-label-18">
            <a:extLst>
              <a:ext uri="{FF2B5EF4-FFF2-40B4-BE49-F238E27FC236}">
                <a16:creationId xmlns:a16="http://schemas.microsoft.com/office/drawing/2014/main" id="{FA97D8EF-8BC1-427C-B0A3-B348AB2576E6}"/>
              </a:ext>
            </a:extLst>
          </p:cNvPr>
          <p:cNvSpPr>
            <a:spLocks noGrp="1"/>
          </p:cNvSpPr>
          <p:nvPr/>
        </p:nvSpPr>
        <p:spPr>
          <a:xfrm>
            <a:off x="762000" y="4086225"/>
            <a:ext cx="1476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剩余输入</a:t>
            </a:r>
          </a:p>
        </p:txBody>
      </p:sp>
      <p:sp>
        <p:nvSpPr>
          <p:cNvPr id="14" name="step3-note">
            <a:extLst>
              <a:ext uri="{FF2B5EF4-FFF2-40B4-BE49-F238E27FC236}">
                <a16:creationId xmlns:a16="http://schemas.microsoft.com/office/drawing/2014/main" id="{50A0EC30-6D37-47C6-A726-0E4306BFF985}"/>
              </a:ext>
            </a:extLst>
          </p:cNvPr>
          <p:cNvSpPr>
            <a:spLocks noGrp="1"/>
          </p:cNvSpPr>
          <p:nvPr/>
        </p:nvSpPr>
        <p:spPr>
          <a:xfrm>
            <a:off x="1143000" y="3143250"/>
            <a:ext cx="685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2D7C93"/>
                </a:solidFill>
              </a:defRPr>
            </a:pPr>
            <a:r>
              <a:rPr sz="1500" b="1">
                <a:solidFill>
                  <a:srgbClr val="2D7C93"/>
                </a:solidFill>
              </a:rPr>
              <a:t>当前输入前缀 INT 已经形成一个 expr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步骤 4：shift PLUS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2DD23107-4986-8758-3A93-3D74F35908CC}" type="slidenum">
              <a:t>14</a:t>
            </a:fld>
            <a:endParaRPr/>
          </a:p>
        </p:txBody>
      </p:sp>
      <p:sp>
        <p:nvSpPr>
          <p:cNvPr id="5" name="subtitle-13">
            <a:extLst>
              <a:ext uri="{FF2B5EF4-FFF2-40B4-BE49-F238E27FC236}">
                <a16:creationId xmlns:a16="http://schemas.microsoft.com/office/drawing/2014/main" id="{DA9D6D4F-ECE2-4E84-9A51-9B2469863942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此时不能完成更大的产生式；先读入 PLUS，等待右侧 term 出现。 </a:t>
            </a:r>
          </a:p>
        </p:txBody>
      </p:sp>
      <p:sp>
        <p:nvSpPr>
          <p:cNvPr id="6" name="stack-label-19">
            <a:extLst>
              <a:ext uri="{FF2B5EF4-FFF2-40B4-BE49-F238E27FC236}">
                <a16:creationId xmlns:a16="http://schemas.microsoft.com/office/drawing/2014/main" id="{C931E114-B72B-48D2-9B51-DD7C1D6448FC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分析栈</a:t>
            </a:r>
          </a:p>
        </p:txBody>
      </p:sp>
      <p:sp>
        <p:nvSpPr>
          <p:cNvPr id="7" name="stack-19-0">
            <a:extLst>
              <a:ext uri="{FF2B5EF4-FFF2-40B4-BE49-F238E27FC236}">
                <a16:creationId xmlns:a16="http://schemas.microsoft.com/office/drawing/2014/main" id="{A649B4E2-1D49-4B48-9787-A0AB836C7517}"/>
              </a:ext>
            </a:extLst>
          </p:cNvPr>
          <p:cNvSpPr>
            <a:spLocks noGrp="1"/>
          </p:cNvSpPr>
          <p:nvPr/>
        </p:nvSpPr>
        <p:spPr>
          <a:xfrm>
            <a:off x="762000" y="2133600"/>
            <a:ext cx="781050" cy="5143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</a:t>
            </a:r>
          </a:p>
        </p:txBody>
      </p:sp>
      <p:sp>
        <p:nvSpPr>
          <p:cNvPr id="8" name="stack-19-1">
            <a:extLst>
              <a:ext uri="{FF2B5EF4-FFF2-40B4-BE49-F238E27FC236}">
                <a16:creationId xmlns:a16="http://schemas.microsoft.com/office/drawing/2014/main" id="{E5B5DB13-F0EC-4F79-A890-9976AE7EEB4B}"/>
              </a:ext>
            </a:extLst>
          </p:cNvPr>
          <p:cNvSpPr>
            <a:spLocks noGrp="1"/>
          </p:cNvSpPr>
          <p:nvPr/>
        </p:nvSpPr>
        <p:spPr>
          <a:xfrm>
            <a:off x="1543050" y="2133600"/>
            <a:ext cx="781050" cy="5143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PLUS</a:t>
            </a:r>
          </a:p>
        </p:txBody>
      </p:sp>
      <p:sp>
        <p:nvSpPr>
          <p:cNvPr id="9" name="action-19">
            <a:extLst>
              <a:ext uri="{FF2B5EF4-FFF2-40B4-BE49-F238E27FC236}">
                <a16:creationId xmlns:a16="http://schemas.microsoft.com/office/drawing/2014/main" id="{0D392C04-65EE-4792-925C-EE9AF894B7A4}"/>
              </a:ext>
            </a:extLst>
          </p:cNvPr>
          <p:cNvSpPr>
            <a:spLocks noGrp="1"/>
          </p:cNvSpPr>
          <p:nvPr/>
        </p:nvSpPr>
        <p:spPr>
          <a:xfrm>
            <a:off x="5334000" y="1952625"/>
            <a:ext cx="2857500" cy="8572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shift PLUS</a:t>
            </a:r>
          </a:p>
        </p:txBody>
      </p:sp>
      <p:sp>
        <p:nvSpPr>
          <p:cNvPr id="10" name="input-19-0">
            <a:extLst>
              <a:ext uri="{FF2B5EF4-FFF2-40B4-BE49-F238E27FC236}">
                <a16:creationId xmlns:a16="http://schemas.microsoft.com/office/drawing/2014/main" id="{861862CA-7F92-4D50-92D0-8F2BDA0DFF2C}"/>
              </a:ext>
            </a:extLst>
          </p:cNvPr>
          <p:cNvSpPr>
            <a:spLocks noGrp="1"/>
          </p:cNvSpPr>
          <p:nvPr/>
        </p:nvSpPr>
        <p:spPr>
          <a:xfrm>
            <a:off x="2381250" y="4048125"/>
            <a:ext cx="10668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1" name="input-19-1">
            <a:extLst>
              <a:ext uri="{FF2B5EF4-FFF2-40B4-BE49-F238E27FC236}">
                <a16:creationId xmlns:a16="http://schemas.microsoft.com/office/drawing/2014/main" id="{EC08C6DB-1FC9-4644-B698-D8802A3392C2}"/>
              </a:ext>
            </a:extLst>
          </p:cNvPr>
          <p:cNvSpPr>
            <a:spLocks noGrp="1"/>
          </p:cNvSpPr>
          <p:nvPr/>
        </p:nvSpPr>
        <p:spPr>
          <a:xfrm>
            <a:off x="3448050" y="4048125"/>
            <a:ext cx="11620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PLUS</a:t>
            </a:r>
          </a:p>
        </p:txBody>
      </p:sp>
      <p:sp>
        <p:nvSpPr>
          <p:cNvPr id="12" name="input-19-2">
            <a:extLst>
              <a:ext uri="{FF2B5EF4-FFF2-40B4-BE49-F238E27FC236}">
                <a16:creationId xmlns:a16="http://schemas.microsoft.com/office/drawing/2014/main" id="{6A04FE1E-0909-4DAC-92AF-C7988CBBF494}"/>
              </a:ext>
            </a:extLst>
          </p:cNvPr>
          <p:cNvSpPr>
            <a:spLocks noGrp="1"/>
          </p:cNvSpPr>
          <p:nvPr/>
        </p:nvSpPr>
        <p:spPr>
          <a:xfrm>
            <a:off x="4610100" y="4048125"/>
            <a:ext cx="1066800" cy="41910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4" name="input-label-19">
            <a:extLst>
              <a:ext uri="{FF2B5EF4-FFF2-40B4-BE49-F238E27FC236}">
                <a16:creationId xmlns:a16="http://schemas.microsoft.com/office/drawing/2014/main" id="{817B3148-E4C9-44EF-B89D-3A1AABDA4D9C}"/>
              </a:ext>
            </a:extLst>
          </p:cNvPr>
          <p:cNvSpPr>
            <a:spLocks noGrp="1"/>
          </p:cNvSpPr>
          <p:nvPr/>
        </p:nvSpPr>
        <p:spPr>
          <a:xfrm>
            <a:off x="762000" y="4086225"/>
            <a:ext cx="1476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剩余输入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步骤 5：shift INT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327921A4-25C4-3DB4-06B1-32693CEE2241}" type="slidenum">
              <a:t>15</a:t>
            </a:fld>
            <a:endParaRPr/>
          </a:p>
        </p:txBody>
      </p:sp>
      <p:sp>
        <p:nvSpPr>
          <p:cNvPr id="5" name="subtitle-14">
            <a:extLst>
              <a:ext uri="{FF2B5EF4-FFF2-40B4-BE49-F238E27FC236}">
                <a16:creationId xmlns:a16="http://schemas.microsoft.com/office/drawing/2014/main" id="{3009A7F8-34C8-4692-A9B3-E6E94B05D28D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继续读入 INT，栈顶开始形成产生式 expr PLUS term 的最后一部分。 </a:t>
            </a:r>
          </a:p>
        </p:txBody>
      </p:sp>
      <p:sp>
        <p:nvSpPr>
          <p:cNvPr id="6" name="stack-label-20">
            <a:extLst>
              <a:ext uri="{FF2B5EF4-FFF2-40B4-BE49-F238E27FC236}">
                <a16:creationId xmlns:a16="http://schemas.microsoft.com/office/drawing/2014/main" id="{14BA39FD-91AA-4CD9-9979-EAB3AD26892A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分析栈</a:t>
            </a:r>
          </a:p>
        </p:txBody>
      </p:sp>
      <p:sp>
        <p:nvSpPr>
          <p:cNvPr id="7" name="stack-20-0">
            <a:extLst>
              <a:ext uri="{FF2B5EF4-FFF2-40B4-BE49-F238E27FC236}">
                <a16:creationId xmlns:a16="http://schemas.microsoft.com/office/drawing/2014/main" id="{EFE03338-23D6-4E4C-81B9-412762C514AE}"/>
              </a:ext>
            </a:extLst>
          </p:cNvPr>
          <p:cNvSpPr>
            <a:spLocks noGrp="1"/>
          </p:cNvSpPr>
          <p:nvPr/>
        </p:nvSpPr>
        <p:spPr>
          <a:xfrm>
            <a:off x="762000" y="2133600"/>
            <a:ext cx="781050" cy="5143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</a:t>
            </a:r>
          </a:p>
        </p:txBody>
      </p:sp>
      <p:sp>
        <p:nvSpPr>
          <p:cNvPr id="8" name="stack-20-1">
            <a:extLst>
              <a:ext uri="{FF2B5EF4-FFF2-40B4-BE49-F238E27FC236}">
                <a16:creationId xmlns:a16="http://schemas.microsoft.com/office/drawing/2014/main" id="{2435E51A-D38B-4865-AC00-0F7A4DA0A32F}"/>
              </a:ext>
            </a:extLst>
          </p:cNvPr>
          <p:cNvSpPr>
            <a:spLocks noGrp="1"/>
          </p:cNvSpPr>
          <p:nvPr/>
        </p:nvSpPr>
        <p:spPr>
          <a:xfrm>
            <a:off x="1543050" y="2133600"/>
            <a:ext cx="781050" cy="5143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PLUS</a:t>
            </a:r>
          </a:p>
        </p:txBody>
      </p:sp>
      <p:sp>
        <p:nvSpPr>
          <p:cNvPr id="9" name="stack-20-2">
            <a:extLst>
              <a:ext uri="{FF2B5EF4-FFF2-40B4-BE49-F238E27FC236}">
                <a16:creationId xmlns:a16="http://schemas.microsoft.com/office/drawing/2014/main" id="{55CD46A4-A1C6-4851-83F2-73AAE2F82E68}"/>
              </a:ext>
            </a:extLst>
          </p:cNvPr>
          <p:cNvSpPr>
            <a:spLocks noGrp="1"/>
          </p:cNvSpPr>
          <p:nvPr/>
        </p:nvSpPr>
        <p:spPr>
          <a:xfrm>
            <a:off x="2324100" y="2133600"/>
            <a:ext cx="657225" cy="5143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0" name="action-20">
            <a:extLst>
              <a:ext uri="{FF2B5EF4-FFF2-40B4-BE49-F238E27FC236}">
                <a16:creationId xmlns:a16="http://schemas.microsoft.com/office/drawing/2014/main" id="{17C504DC-EA5B-40BB-9E49-38FA056C5CFC}"/>
              </a:ext>
            </a:extLst>
          </p:cNvPr>
          <p:cNvSpPr>
            <a:spLocks noGrp="1"/>
          </p:cNvSpPr>
          <p:nvPr/>
        </p:nvSpPr>
        <p:spPr>
          <a:xfrm>
            <a:off x="5334000" y="1952625"/>
            <a:ext cx="2857500" cy="8572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shift INT</a:t>
            </a:r>
          </a:p>
        </p:txBody>
      </p:sp>
      <p:sp>
        <p:nvSpPr>
          <p:cNvPr id="11" name="input-20-0">
            <a:extLst>
              <a:ext uri="{FF2B5EF4-FFF2-40B4-BE49-F238E27FC236}">
                <a16:creationId xmlns:a16="http://schemas.microsoft.com/office/drawing/2014/main" id="{7C0191C0-441F-4E11-A57A-D3A39A71146B}"/>
              </a:ext>
            </a:extLst>
          </p:cNvPr>
          <p:cNvSpPr>
            <a:spLocks noGrp="1"/>
          </p:cNvSpPr>
          <p:nvPr/>
        </p:nvSpPr>
        <p:spPr>
          <a:xfrm>
            <a:off x="2381250" y="4048125"/>
            <a:ext cx="10668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2" name="input-20-1">
            <a:extLst>
              <a:ext uri="{FF2B5EF4-FFF2-40B4-BE49-F238E27FC236}">
                <a16:creationId xmlns:a16="http://schemas.microsoft.com/office/drawing/2014/main" id="{568639E4-E24D-41F2-B111-4E6A17A26A1D}"/>
              </a:ext>
            </a:extLst>
          </p:cNvPr>
          <p:cNvSpPr>
            <a:spLocks noGrp="1"/>
          </p:cNvSpPr>
          <p:nvPr/>
        </p:nvSpPr>
        <p:spPr>
          <a:xfrm>
            <a:off x="3448050" y="4048125"/>
            <a:ext cx="11620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PLUS</a:t>
            </a:r>
          </a:p>
        </p:txBody>
      </p:sp>
      <p:sp>
        <p:nvSpPr>
          <p:cNvPr id="13" name="input-20-2">
            <a:extLst>
              <a:ext uri="{FF2B5EF4-FFF2-40B4-BE49-F238E27FC236}">
                <a16:creationId xmlns:a16="http://schemas.microsoft.com/office/drawing/2014/main" id="{83F37211-DD69-4A9A-AC92-DB1C0267CA13}"/>
              </a:ext>
            </a:extLst>
          </p:cNvPr>
          <p:cNvSpPr>
            <a:spLocks noGrp="1"/>
          </p:cNvSpPr>
          <p:nvPr/>
        </p:nvSpPr>
        <p:spPr>
          <a:xfrm>
            <a:off x="4610100" y="4048125"/>
            <a:ext cx="10668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5" name="input-label-20">
            <a:extLst>
              <a:ext uri="{FF2B5EF4-FFF2-40B4-BE49-F238E27FC236}">
                <a16:creationId xmlns:a16="http://schemas.microsoft.com/office/drawing/2014/main" id="{02BE3EA1-1AB3-4C97-8D2C-20A5D4E80487}"/>
              </a:ext>
            </a:extLst>
          </p:cNvPr>
          <p:cNvSpPr>
            <a:spLocks noGrp="1"/>
          </p:cNvSpPr>
          <p:nvPr/>
        </p:nvSpPr>
        <p:spPr>
          <a:xfrm>
            <a:off x="762000" y="4086225"/>
            <a:ext cx="1476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剩余输入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步骤 6：reduce term → INT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A83FA91-883A-0168-8075-96CEB9DCA3C2}" type="slidenum">
              <a:t>16</a:t>
            </a:fld>
            <a:endParaRPr/>
          </a:p>
        </p:txBody>
      </p:sp>
      <p:sp>
        <p:nvSpPr>
          <p:cNvPr id="5" name="subtitle-15">
            <a:extLst>
              <a:ext uri="{FF2B5EF4-FFF2-40B4-BE49-F238E27FC236}">
                <a16:creationId xmlns:a16="http://schemas.microsoft.com/office/drawing/2014/main" id="{213E62C0-EF88-416D-BB72-7C6B7AA66C4A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最右侧 INT 先归约为 term。 </a:t>
            </a:r>
          </a:p>
        </p:txBody>
      </p:sp>
      <p:sp>
        <p:nvSpPr>
          <p:cNvPr id="6" name="stack-label-21">
            <a:extLst>
              <a:ext uri="{FF2B5EF4-FFF2-40B4-BE49-F238E27FC236}">
                <a16:creationId xmlns:a16="http://schemas.microsoft.com/office/drawing/2014/main" id="{D8AA620A-B526-42D9-A4DD-159DED67F1CF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分析栈</a:t>
            </a:r>
          </a:p>
        </p:txBody>
      </p:sp>
      <p:sp>
        <p:nvSpPr>
          <p:cNvPr id="7" name="stack-21-0">
            <a:extLst>
              <a:ext uri="{FF2B5EF4-FFF2-40B4-BE49-F238E27FC236}">
                <a16:creationId xmlns:a16="http://schemas.microsoft.com/office/drawing/2014/main" id="{8B879A1E-35C7-449A-BC8A-2494C3506F74}"/>
              </a:ext>
            </a:extLst>
          </p:cNvPr>
          <p:cNvSpPr>
            <a:spLocks noGrp="1"/>
          </p:cNvSpPr>
          <p:nvPr/>
        </p:nvSpPr>
        <p:spPr>
          <a:xfrm>
            <a:off x="762000" y="2133600"/>
            <a:ext cx="781050" cy="5143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</a:t>
            </a:r>
          </a:p>
        </p:txBody>
      </p:sp>
      <p:sp>
        <p:nvSpPr>
          <p:cNvPr id="8" name="stack-21-1">
            <a:extLst>
              <a:ext uri="{FF2B5EF4-FFF2-40B4-BE49-F238E27FC236}">
                <a16:creationId xmlns:a16="http://schemas.microsoft.com/office/drawing/2014/main" id="{9D0E5A19-A0A3-4785-BA8D-99EE461C72A1}"/>
              </a:ext>
            </a:extLst>
          </p:cNvPr>
          <p:cNvSpPr>
            <a:spLocks noGrp="1"/>
          </p:cNvSpPr>
          <p:nvPr/>
        </p:nvSpPr>
        <p:spPr>
          <a:xfrm>
            <a:off x="1543050" y="2133600"/>
            <a:ext cx="781050" cy="5143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PLUS</a:t>
            </a:r>
          </a:p>
        </p:txBody>
      </p:sp>
      <p:sp>
        <p:nvSpPr>
          <p:cNvPr id="9" name="stack-21-2">
            <a:extLst>
              <a:ext uri="{FF2B5EF4-FFF2-40B4-BE49-F238E27FC236}">
                <a16:creationId xmlns:a16="http://schemas.microsoft.com/office/drawing/2014/main" id="{87E169D7-C589-4BCD-9886-A46BCA7E89C8}"/>
              </a:ext>
            </a:extLst>
          </p:cNvPr>
          <p:cNvSpPr>
            <a:spLocks noGrp="1"/>
          </p:cNvSpPr>
          <p:nvPr/>
        </p:nvSpPr>
        <p:spPr>
          <a:xfrm>
            <a:off x="2324100" y="2133600"/>
            <a:ext cx="781050" cy="5143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term</a:t>
            </a:r>
          </a:p>
        </p:txBody>
      </p:sp>
      <p:sp>
        <p:nvSpPr>
          <p:cNvPr id="10" name="action-21">
            <a:extLst>
              <a:ext uri="{FF2B5EF4-FFF2-40B4-BE49-F238E27FC236}">
                <a16:creationId xmlns:a16="http://schemas.microsoft.com/office/drawing/2014/main" id="{3876877C-3F4C-472A-AD7F-BD7B8BE74F1C}"/>
              </a:ext>
            </a:extLst>
          </p:cNvPr>
          <p:cNvSpPr>
            <a:spLocks noGrp="1"/>
          </p:cNvSpPr>
          <p:nvPr/>
        </p:nvSpPr>
        <p:spPr>
          <a:xfrm>
            <a:off x="5334000" y="1952625"/>
            <a:ext cx="2857500" cy="8572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reduce</a:t>
            </a:r>
          </a:p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term → INT</a:t>
            </a:r>
          </a:p>
        </p:txBody>
      </p:sp>
      <p:sp>
        <p:nvSpPr>
          <p:cNvPr id="11" name="input-21-0">
            <a:extLst>
              <a:ext uri="{FF2B5EF4-FFF2-40B4-BE49-F238E27FC236}">
                <a16:creationId xmlns:a16="http://schemas.microsoft.com/office/drawing/2014/main" id="{93427A29-99E1-43EE-A192-12F599CBB1A5}"/>
              </a:ext>
            </a:extLst>
          </p:cNvPr>
          <p:cNvSpPr>
            <a:spLocks noGrp="1"/>
          </p:cNvSpPr>
          <p:nvPr/>
        </p:nvSpPr>
        <p:spPr>
          <a:xfrm>
            <a:off x="2381250" y="4048125"/>
            <a:ext cx="10668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2" name="input-21-1">
            <a:extLst>
              <a:ext uri="{FF2B5EF4-FFF2-40B4-BE49-F238E27FC236}">
                <a16:creationId xmlns:a16="http://schemas.microsoft.com/office/drawing/2014/main" id="{3122F1E9-CEFA-4501-8961-BACB5526B96E}"/>
              </a:ext>
            </a:extLst>
          </p:cNvPr>
          <p:cNvSpPr>
            <a:spLocks noGrp="1"/>
          </p:cNvSpPr>
          <p:nvPr/>
        </p:nvSpPr>
        <p:spPr>
          <a:xfrm>
            <a:off x="3448050" y="4048125"/>
            <a:ext cx="11620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PLUS</a:t>
            </a:r>
          </a:p>
        </p:txBody>
      </p:sp>
      <p:sp>
        <p:nvSpPr>
          <p:cNvPr id="13" name="input-21-2">
            <a:extLst>
              <a:ext uri="{FF2B5EF4-FFF2-40B4-BE49-F238E27FC236}">
                <a16:creationId xmlns:a16="http://schemas.microsoft.com/office/drawing/2014/main" id="{5204687D-F60E-432F-AB28-0FC77F782446}"/>
              </a:ext>
            </a:extLst>
          </p:cNvPr>
          <p:cNvSpPr>
            <a:spLocks noGrp="1"/>
          </p:cNvSpPr>
          <p:nvPr/>
        </p:nvSpPr>
        <p:spPr>
          <a:xfrm>
            <a:off x="4610100" y="4048125"/>
            <a:ext cx="10668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5" name="input-label-21">
            <a:extLst>
              <a:ext uri="{FF2B5EF4-FFF2-40B4-BE49-F238E27FC236}">
                <a16:creationId xmlns:a16="http://schemas.microsoft.com/office/drawing/2014/main" id="{2DA052B6-D455-462F-A791-F257EF297C7A}"/>
              </a:ext>
            </a:extLst>
          </p:cNvPr>
          <p:cNvSpPr>
            <a:spLocks noGrp="1"/>
          </p:cNvSpPr>
          <p:nvPr/>
        </p:nvSpPr>
        <p:spPr>
          <a:xfrm>
            <a:off x="762000" y="4086225"/>
            <a:ext cx="1476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剩余输入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4472"/>
          </a:bodyPr>
          <a:lstStyle/>
          <a:p>
            <a:r>
              <a:rPr>
                <a:latin typeface="Arial"/>
                <a:ea typeface="Arial"/>
                <a:cs typeface="Arial"/>
              </a:rPr>
              <a:t>步骤 7：reduce expr → expr PLUS term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C9C7607-4BA3-B4DC-A00F-2E67A9FCFF7E}" type="slidenum">
              <a:t>17</a:t>
            </a:fld>
            <a:endParaRPr/>
          </a:p>
        </p:txBody>
      </p:sp>
      <p:sp>
        <p:nvSpPr>
          <p:cNvPr id="5" name="subtitle-16">
            <a:extLst>
              <a:ext uri="{FF2B5EF4-FFF2-40B4-BE49-F238E27FC236}">
                <a16:creationId xmlns:a16="http://schemas.microsoft.com/office/drawing/2014/main" id="{33592B91-EB5B-4801-9C7B-61278C77F3E1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栈顶三个符号完整匹配产生式右侧，可以一起归约为 expr。 </a:t>
            </a:r>
          </a:p>
        </p:txBody>
      </p:sp>
      <p:sp>
        <p:nvSpPr>
          <p:cNvPr id="6" name="stack-label-22">
            <a:extLst>
              <a:ext uri="{FF2B5EF4-FFF2-40B4-BE49-F238E27FC236}">
                <a16:creationId xmlns:a16="http://schemas.microsoft.com/office/drawing/2014/main" id="{CD70A523-2683-428A-9E30-7047AF49547E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分析栈</a:t>
            </a:r>
          </a:p>
        </p:txBody>
      </p:sp>
      <p:sp>
        <p:nvSpPr>
          <p:cNvPr id="7" name="stack-22-0">
            <a:extLst>
              <a:ext uri="{FF2B5EF4-FFF2-40B4-BE49-F238E27FC236}">
                <a16:creationId xmlns:a16="http://schemas.microsoft.com/office/drawing/2014/main" id="{057DF1CE-2C0B-4FB8-9344-AA005A1754B6}"/>
              </a:ext>
            </a:extLst>
          </p:cNvPr>
          <p:cNvSpPr>
            <a:spLocks noGrp="1"/>
          </p:cNvSpPr>
          <p:nvPr/>
        </p:nvSpPr>
        <p:spPr>
          <a:xfrm>
            <a:off x="762000" y="2133600"/>
            <a:ext cx="781050" cy="5143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expr</a:t>
            </a:r>
          </a:p>
        </p:txBody>
      </p:sp>
      <p:sp>
        <p:nvSpPr>
          <p:cNvPr id="8" name="action-22">
            <a:extLst>
              <a:ext uri="{FF2B5EF4-FFF2-40B4-BE49-F238E27FC236}">
                <a16:creationId xmlns:a16="http://schemas.microsoft.com/office/drawing/2014/main" id="{13063001-FD37-4295-93FD-D1244E90D899}"/>
              </a:ext>
            </a:extLst>
          </p:cNvPr>
          <p:cNvSpPr>
            <a:spLocks noGrp="1"/>
          </p:cNvSpPr>
          <p:nvPr/>
        </p:nvSpPr>
        <p:spPr>
          <a:xfrm>
            <a:off x="5334000" y="1952625"/>
            <a:ext cx="2857500" cy="8572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reduce</a:t>
            </a:r>
          </a:p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expr → expr PLUS term</a:t>
            </a:r>
          </a:p>
        </p:txBody>
      </p:sp>
      <p:sp>
        <p:nvSpPr>
          <p:cNvPr id="9" name="input-22-0">
            <a:extLst>
              <a:ext uri="{FF2B5EF4-FFF2-40B4-BE49-F238E27FC236}">
                <a16:creationId xmlns:a16="http://schemas.microsoft.com/office/drawing/2014/main" id="{2A18AD20-D79C-40BD-97AD-86A305E87705}"/>
              </a:ext>
            </a:extLst>
          </p:cNvPr>
          <p:cNvSpPr>
            <a:spLocks noGrp="1"/>
          </p:cNvSpPr>
          <p:nvPr/>
        </p:nvSpPr>
        <p:spPr>
          <a:xfrm>
            <a:off x="2381250" y="4048125"/>
            <a:ext cx="10668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0" name="input-22-1">
            <a:extLst>
              <a:ext uri="{FF2B5EF4-FFF2-40B4-BE49-F238E27FC236}">
                <a16:creationId xmlns:a16="http://schemas.microsoft.com/office/drawing/2014/main" id="{FCE31049-7CBF-4922-9666-F656B3355F32}"/>
              </a:ext>
            </a:extLst>
          </p:cNvPr>
          <p:cNvSpPr>
            <a:spLocks noGrp="1"/>
          </p:cNvSpPr>
          <p:nvPr/>
        </p:nvSpPr>
        <p:spPr>
          <a:xfrm>
            <a:off x="3448050" y="4048125"/>
            <a:ext cx="11620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PLUS</a:t>
            </a:r>
          </a:p>
        </p:txBody>
      </p:sp>
      <p:sp>
        <p:nvSpPr>
          <p:cNvPr id="11" name="input-22-2">
            <a:extLst>
              <a:ext uri="{FF2B5EF4-FFF2-40B4-BE49-F238E27FC236}">
                <a16:creationId xmlns:a16="http://schemas.microsoft.com/office/drawing/2014/main" id="{B470479C-D574-444E-8F2D-7E3A4784C717}"/>
              </a:ext>
            </a:extLst>
          </p:cNvPr>
          <p:cNvSpPr>
            <a:spLocks noGrp="1"/>
          </p:cNvSpPr>
          <p:nvPr/>
        </p:nvSpPr>
        <p:spPr>
          <a:xfrm>
            <a:off x="4610100" y="4048125"/>
            <a:ext cx="10668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3" name="input-label-22">
            <a:extLst>
              <a:ext uri="{FF2B5EF4-FFF2-40B4-BE49-F238E27FC236}">
                <a16:creationId xmlns:a16="http://schemas.microsoft.com/office/drawing/2014/main" id="{56D51C21-9DD6-4939-986A-7653EE86F925}"/>
              </a:ext>
            </a:extLst>
          </p:cNvPr>
          <p:cNvSpPr>
            <a:spLocks noGrp="1"/>
          </p:cNvSpPr>
          <p:nvPr/>
        </p:nvSpPr>
        <p:spPr>
          <a:xfrm>
            <a:off x="762000" y="4086225"/>
            <a:ext cx="1476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剩余输入</a:t>
            </a:r>
          </a:p>
        </p:txBody>
      </p:sp>
      <p:sp>
        <p:nvSpPr>
          <p:cNvPr id="14" name="step7-note">
            <a:extLst>
              <a:ext uri="{FF2B5EF4-FFF2-40B4-BE49-F238E27FC236}">
                <a16:creationId xmlns:a16="http://schemas.microsoft.com/office/drawing/2014/main" id="{F28EFB2C-F336-4F9C-958E-CF4654C438EB}"/>
              </a:ext>
            </a:extLst>
          </p:cNvPr>
          <p:cNvSpPr>
            <a:spLocks noGrp="1"/>
          </p:cNvSpPr>
          <p:nvPr/>
        </p:nvSpPr>
        <p:spPr>
          <a:xfrm>
            <a:off x="1143000" y="3143250"/>
            <a:ext cx="685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2D7C93"/>
                </a:solidFill>
              </a:defRPr>
            </a:pPr>
            <a:r>
              <a:rPr sz="1500" b="1">
                <a:solidFill>
                  <a:srgbClr val="2D7C93"/>
                </a:solidFill>
              </a:rPr>
              <a:t>INT PLUS INT 已经形成一个完整的 expr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步骤 8：输入耗尽，执行 accept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90F7333B-44AC-F7E9-D49D-FE92F45E0477}" type="slidenum">
              <a:t>18</a:t>
            </a:fld>
            <a:endParaRPr/>
          </a:p>
        </p:txBody>
      </p:sp>
      <p:sp>
        <p:nvSpPr>
          <p:cNvPr id="5" name="subtitle-17">
            <a:extLst>
              <a:ext uri="{FF2B5EF4-FFF2-40B4-BE49-F238E27FC236}">
                <a16:creationId xmlns:a16="http://schemas.microsoft.com/office/drawing/2014/main" id="{1F5313EF-4F35-4AFA-A503-802580CA3CDC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栈中的 expr 已经完成 start → expr；输入已经耗尽，解析成功。 </a:t>
            </a:r>
          </a:p>
        </p:txBody>
      </p:sp>
      <p:sp>
        <p:nvSpPr>
          <p:cNvPr id="6" name="stack-label-23">
            <a:extLst>
              <a:ext uri="{FF2B5EF4-FFF2-40B4-BE49-F238E27FC236}">
                <a16:creationId xmlns:a16="http://schemas.microsoft.com/office/drawing/2014/main" id="{820CE395-29EE-4EC6-B95A-95CD5D745781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分析栈</a:t>
            </a:r>
          </a:p>
        </p:txBody>
      </p:sp>
      <p:sp>
        <p:nvSpPr>
          <p:cNvPr id="7" name="stack-23-0">
            <a:extLst>
              <a:ext uri="{FF2B5EF4-FFF2-40B4-BE49-F238E27FC236}">
                <a16:creationId xmlns:a16="http://schemas.microsoft.com/office/drawing/2014/main" id="{DB46A606-54FD-4742-B32A-6AA06F7966C1}"/>
              </a:ext>
            </a:extLst>
          </p:cNvPr>
          <p:cNvSpPr>
            <a:spLocks noGrp="1"/>
          </p:cNvSpPr>
          <p:nvPr/>
        </p:nvSpPr>
        <p:spPr>
          <a:xfrm>
            <a:off x="762000" y="2133600"/>
            <a:ext cx="781050" cy="5143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expr</a:t>
            </a:r>
          </a:p>
        </p:txBody>
      </p:sp>
      <p:sp>
        <p:nvSpPr>
          <p:cNvPr id="8" name="action-23">
            <a:extLst>
              <a:ext uri="{FF2B5EF4-FFF2-40B4-BE49-F238E27FC236}">
                <a16:creationId xmlns:a16="http://schemas.microsoft.com/office/drawing/2014/main" id="{ABF4EF67-C9B9-4446-951E-216B39E865BC}"/>
              </a:ext>
            </a:extLst>
          </p:cNvPr>
          <p:cNvSpPr>
            <a:spLocks noGrp="1"/>
          </p:cNvSpPr>
          <p:nvPr/>
        </p:nvSpPr>
        <p:spPr>
          <a:xfrm>
            <a:off x="5334000" y="1952625"/>
            <a:ext cx="2857500" cy="8572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accept</a:t>
            </a:r>
          </a:p>
        </p:txBody>
      </p:sp>
      <p:sp>
        <p:nvSpPr>
          <p:cNvPr id="9" name="input-23-0">
            <a:extLst>
              <a:ext uri="{FF2B5EF4-FFF2-40B4-BE49-F238E27FC236}">
                <a16:creationId xmlns:a16="http://schemas.microsoft.com/office/drawing/2014/main" id="{7FD1F75E-F60D-4A68-88D9-D8D54ADAA976}"/>
              </a:ext>
            </a:extLst>
          </p:cNvPr>
          <p:cNvSpPr>
            <a:spLocks noGrp="1"/>
          </p:cNvSpPr>
          <p:nvPr/>
        </p:nvSpPr>
        <p:spPr>
          <a:xfrm>
            <a:off x="2381250" y="4048125"/>
            <a:ext cx="10668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0" name="input-23-1">
            <a:extLst>
              <a:ext uri="{FF2B5EF4-FFF2-40B4-BE49-F238E27FC236}">
                <a16:creationId xmlns:a16="http://schemas.microsoft.com/office/drawing/2014/main" id="{C7ADC8BB-A246-4887-910F-7BA5E525C7AD}"/>
              </a:ext>
            </a:extLst>
          </p:cNvPr>
          <p:cNvSpPr>
            <a:spLocks noGrp="1"/>
          </p:cNvSpPr>
          <p:nvPr/>
        </p:nvSpPr>
        <p:spPr>
          <a:xfrm>
            <a:off x="3448050" y="4048125"/>
            <a:ext cx="11620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PLUS</a:t>
            </a:r>
          </a:p>
        </p:txBody>
      </p:sp>
      <p:sp>
        <p:nvSpPr>
          <p:cNvPr id="11" name="input-23-2">
            <a:extLst>
              <a:ext uri="{FF2B5EF4-FFF2-40B4-BE49-F238E27FC236}">
                <a16:creationId xmlns:a16="http://schemas.microsoft.com/office/drawing/2014/main" id="{9E671F34-C4A2-49B1-A684-BD37B9C9DD47}"/>
              </a:ext>
            </a:extLst>
          </p:cNvPr>
          <p:cNvSpPr>
            <a:spLocks noGrp="1"/>
          </p:cNvSpPr>
          <p:nvPr/>
        </p:nvSpPr>
        <p:spPr>
          <a:xfrm>
            <a:off x="4610100" y="4048125"/>
            <a:ext cx="10668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3" name="input-label-23">
            <a:extLst>
              <a:ext uri="{FF2B5EF4-FFF2-40B4-BE49-F238E27FC236}">
                <a16:creationId xmlns:a16="http://schemas.microsoft.com/office/drawing/2014/main" id="{BE028F67-1B93-4166-9A5E-186DE216AC09}"/>
              </a:ext>
            </a:extLst>
          </p:cNvPr>
          <p:cNvSpPr>
            <a:spLocks noGrp="1"/>
          </p:cNvSpPr>
          <p:nvPr/>
        </p:nvSpPr>
        <p:spPr>
          <a:xfrm>
            <a:off x="762000" y="4086225"/>
            <a:ext cx="1476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剩余输入</a:t>
            </a:r>
          </a:p>
        </p:txBody>
      </p:sp>
      <p:sp>
        <p:nvSpPr>
          <p:cNvPr id="14" name="takeaway-23">
            <a:extLst>
              <a:ext uri="{FF2B5EF4-FFF2-40B4-BE49-F238E27FC236}">
                <a16:creationId xmlns:a16="http://schemas.microsoft.com/office/drawing/2014/main" id="{95AD19B7-C0CD-4873-8B93-6F48B6D1B3C8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Parse Tree 不是一次性猜出来的，而是在一次次 reduce 中从下向上形成。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622"/>
          </a:bodyPr>
          <a:lstStyle/>
          <a:p>
            <a:r>
              <a:rPr>
                <a:latin typeface="Arial"/>
                <a:ea typeface="Arial"/>
                <a:cs typeface="Arial"/>
              </a:rPr>
              <a:t>把全过程固定成三列：栈、剩余输入、动作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B1C6C81E-38B9-7560-621D-5A151A79DF9B}" type="slidenum">
              <a:t>19</a:t>
            </a:fld>
            <a:endParaRPr/>
          </a:p>
        </p:txBody>
      </p:sp>
      <p:sp>
        <p:nvSpPr>
          <p:cNvPr id="5" name="trace-0-0">
            <a:extLst>
              <a:ext uri="{FF2B5EF4-FFF2-40B4-BE49-F238E27FC236}">
                <a16:creationId xmlns:a16="http://schemas.microsoft.com/office/drawing/2014/main" id="{BB39BC43-1D1B-4FD6-8F96-CCD83A417A7B}"/>
              </a:ext>
            </a:extLst>
          </p:cNvPr>
          <p:cNvSpPr>
            <a:spLocks noGrp="1"/>
          </p:cNvSpPr>
          <p:nvPr/>
        </p:nvSpPr>
        <p:spPr>
          <a:xfrm>
            <a:off x="809625" y="1619250"/>
            <a:ext cx="2905125" cy="38100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栈</a:t>
            </a:r>
          </a:p>
        </p:txBody>
      </p:sp>
      <p:sp>
        <p:nvSpPr>
          <p:cNvPr id="6" name="trace-0-1">
            <a:extLst>
              <a:ext uri="{FF2B5EF4-FFF2-40B4-BE49-F238E27FC236}">
                <a16:creationId xmlns:a16="http://schemas.microsoft.com/office/drawing/2014/main" id="{1CFED203-F36C-424E-A502-DE8846797DEC}"/>
              </a:ext>
            </a:extLst>
          </p:cNvPr>
          <p:cNvSpPr>
            <a:spLocks noGrp="1"/>
          </p:cNvSpPr>
          <p:nvPr/>
        </p:nvSpPr>
        <p:spPr>
          <a:xfrm>
            <a:off x="3714750" y="1619250"/>
            <a:ext cx="2762250" cy="38100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剩余输入</a:t>
            </a:r>
          </a:p>
        </p:txBody>
      </p:sp>
      <p:sp>
        <p:nvSpPr>
          <p:cNvPr id="7" name="trace-0-2">
            <a:extLst>
              <a:ext uri="{FF2B5EF4-FFF2-40B4-BE49-F238E27FC236}">
                <a16:creationId xmlns:a16="http://schemas.microsoft.com/office/drawing/2014/main" id="{1DDCD848-69F8-4E5B-96F3-FDCD42B5548F}"/>
              </a:ext>
            </a:extLst>
          </p:cNvPr>
          <p:cNvSpPr>
            <a:spLocks noGrp="1"/>
          </p:cNvSpPr>
          <p:nvPr/>
        </p:nvSpPr>
        <p:spPr>
          <a:xfrm>
            <a:off x="6477000" y="1619250"/>
            <a:ext cx="2286000" cy="38100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动作</a:t>
            </a:r>
          </a:p>
        </p:txBody>
      </p:sp>
      <p:sp>
        <p:nvSpPr>
          <p:cNvPr id="8" name="trace-1-0">
            <a:extLst>
              <a:ext uri="{FF2B5EF4-FFF2-40B4-BE49-F238E27FC236}">
                <a16:creationId xmlns:a16="http://schemas.microsoft.com/office/drawing/2014/main" id="{D58D0711-24CE-49F0-BC85-AF27546B6E95}"/>
              </a:ext>
            </a:extLst>
          </p:cNvPr>
          <p:cNvSpPr>
            <a:spLocks noGrp="1"/>
          </p:cNvSpPr>
          <p:nvPr/>
        </p:nvSpPr>
        <p:spPr>
          <a:xfrm>
            <a:off x="809625" y="2000250"/>
            <a:ext cx="2905125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∅</a:t>
            </a:r>
          </a:p>
        </p:txBody>
      </p:sp>
      <p:sp>
        <p:nvSpPr>
          <p:cNvPr id="9" name="trace-1-1">
            <a:extLst>
              <a:ext uri="{FF2B5EF4-FFF2-40B4-BE49-F238E27FC236}">
                <a16:creationId xmlns:a16="http://schemas.microsoft.com/office/drawing/2014/main" id="{465E54EE-4EFA-41CA-B48E-7D1BA7A361F4}"/>
              </a:ext>
            </a:extLst>
          </p:cNvPr>
          <p:cNvSpPr>
            <a:spLocks noGrp="1"/>
          </p:cNvSpPr>
          <p:nvPr/>
        </p:nvSpPr>
        <p:spPr>
          <a:xfrm>
            <a:off x="3714750" y="2000250"/>
            <a:ext cx="2762250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 PLUS INT</a:t>
            </a:r>
          </a:p>
        </p:txBody>
      </p:sp>
      <p:sp>
        <p:nvSpPr>
          <p:cNvPr id="10" name="trace-1-2">
            <a:extLst>
              <a:ext uri="{FF2B5EF4-FFF2-40B4-BE49-F238E27FC236}">
                <a16:creationId xmlns:a16="http://schemas.microsoft.com/office/drawing/2014/main" id="{EA0935EF-FD44-44FC-B926-0A54BAA6AFEB}"/>
              </a:ext>
            </a:extLst>
          </p:cNvPr>
          <p:cNvSpPr>
            <a:spLocks noGrp="1"/>
          </p:cNvSpPr>
          <p:nvPr/>
        </p:nvSpPr>
        <p:spPr>
          <a:xfrm>
            <a:off x="6477000" y="2000250"/>
            <a:ext cx="2286000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shift INT</a:t>
            </a:r>
          </a:p>
        </p:txBody>
      </p:sp>
      <p:sp>
        <p:nvSpPr>
          <p:cNvPr id="11" name="trace-2-0">
            <a:extLst>
              <a:ext uri="{FF2B5EF4-FFF2-40B4-BE49-F238E27FC236}">
                <a16:creationId xmlns:a16="http://schemas.microsoft.com/office/drawing/2014/main" id="{AA2032F9-9CF7-44AE-B79C-57732C2BA0DD}"/>
              </a:ext>
            </a:extLst>
          </p:cNvPr>
          <p:cNvSpPr>
            <a:spLocks noGrp="1"/>
          </p:cNvSpPr>
          <p:nvPr/>
        </p:nvSpPr>
        <p:spPr>
          <a:xfrm>
            <a:off x="809625" y="2381250"/>
            <a:ext cx="2905125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2" name="trace-2-1">
            <a:extLst>
              <a:ext uri="{FF2B5EF4-FFF2-40B4-BE49-F238E27FC236}">
                <a16:creationId xmlns:a16="http://schemas.microsoft.com/office/drawing/2014/main" id="{CB250907-641B-455C-861D-01D13E090A02}"/>
              </a:ext>
            </a:extLst>
          </p:cNvPr>
          <p:cNvSpPr>
            <a:spLocks noGrp="1"/>
          </p:cNvSpPr>
          <p:nvPr/>
        </p:nvSpPr>
        <p:spPr>
          <a:xfrm>
            <a:off x="3714750" y="2381250"/>
            <a:ext cx="2762250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PLUS INT</a:t>
            </a:r>
          </a:p>
        </p:txBody>
      </p:sp>
      <p:sp>
        <p:nvSpPr>
          <p:cNvPr id="13" name="trace-2-2">
            <a:extLst>
              <a:ext uri="{FF2B5EF4-FFF2-40B4-BE49-F238E27FC236}">
                <a16:creationId xmlns:a16="http://schemas.microsoft.com/office/drawing/2014/main" id="{DBADB26F-DAD1-4DEC-9C4D-2A1A33A84945}"/>
              </a:ext>
            </a:extLst>
          </p:cNvPr>
          <p:cNvSpPr>
            <a:spLocks noGrp="1"/>
          </p:cNvSpPr>
          <p:nvPr/>
        </p:nvSpPr>
        <p:spPr>
          <a:xfrm>
            <a:off x="6477000" y="2381250"/>
            <a:ext cx="2286000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reduce term → INT</a:t>
            </a:r>
          </a:p>
        </p:txBody>
      </p:sp>
      <p:sp>
        <p:nvSpPr>
          <p:cNvPr id="14" name="trace-3-0">
            <a:extLst>
              <a:ext uri="{FF2B5EF4-FFF2-40B4-BE49-F238E27FC236}">
                <a16:creationId xmlns:a16="http://schemas.microsoft.com/office/drawing/2014/main" id="{542CE286-40C4-4ADC-AB86-2396DD0828C0}"/>
              </a:ext>
            </a:extLst>
          </p:cNvPr>
          <p:cNvSpPr>
            <a:spLocks noGrp="1"/>
          </p:cNvSpPr>
          <p:nvPr/>
        </p:nvSpPr>
        <p:spPr>
          <a:xfrm>
            <a:off x="809625" y="2762250"/>
            <a:ext cx="2905125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</a:t>
            </a:r>
          </a:p>
        </p:txBody>
      </p:sp>
      <p:sp>
        <p:nvSpPr>
          <p:cNvPr id="15" name="trace-3-1">
            <a:extLst>
              <a:ext uri="{FF2B5EF4-FFF2-40B4-BE49-F238E27FC236}">
                <a16:creationId xmlns:a16="http://schemas.microsoft.com/office/drawing/2014/main" id="{4C65F603-4A31-463D-AA90-11B284C58520}"/>
              </a:ext>
            </a:extLst>
          </p:cNvPr>
          <p:cNvSpPr>
            <a:spLocks noGrp="1"/>
          </p:cNvSpPr>
          <p:nvPr/>
        </p:nvSpPr>
        <p:spPr>
          <a:xfrm>
            <a:off x="3714750" y="2762250"/>
            <a:ext cx="2762250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PLUS INT</a:t>
            </a:r>
          </a:p>
        </p:txBody>
      </p:sp>
      <p:sp>
        <p:nvSpPr>
          <p:cNvPr id="16" name="trace-3-2">
            <a:extLst>
              <a:ext uri="{FF2B5EF4-FFF2-40B4-BE49-F238E27FC236}">
                <a16:creationId xmlns:a16="http://schemas.microsoft.com/office/drawing/2014/main" id="{FD5B94DC-EF8E-44FE-B151-F97650EA97BD}"/>
              </a:ext>
            </a:extLst>
          </p:cNvPr>
          <p:cNvSpPr>
            <a:spLocks noGrp="1"/>
          </p:cNvSpPr>
          <p:nvPr/>
        </p:nvSpPr>
        <p:spPr>
          <a:xfrm>
            <a:off x="6477000" y="2762250"/>
            <a:ext cx="2286000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reduce expr → term</a:t>
            </a:r>
          </a:p>
        </p:txBody>
      </p:sp>
      <p:sp>
        <p:nvSpPr>
          <p:cNvPr id="17" name="trace-4-0">
            <a:extLst>
              <a:ext uri="{FF2B5EF4-FFF2-40B4-BE49-F238E27FC236}">
                <a16:creationId xmlns:a16="http://schemas.microsoft.com/office/drawing/2014/main" id="{3505D834-4966-4B8F-A261-85035049203E}"/>
              </a:ext>
            </a:extLst>
          </p:cNvPr>
          <p:cNvSpPr>
            <a:spLocks noGrp="1"/>
          </p:cNvSpPr>
          <p:nvPr/>
        </p:nvSpPr>
        <p:spPr>
          <a:xfrm>
            <a:off x="809625" y="3143250"/>
            <a:ext cx="2905125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</a:t>
            </a:r>
          </a:p>
        </p:txBody>
      </p:sp>
      <p:sp>
        <p:nvSpPr>
          <p:cNvPr id="18" name="trace-4-1">
            <a:extLst>
              <a:ext uri="{FF2B5EF4-FFF2-40B4-BE49-F238E27FC236}">
                <a16:creationId xmlns:a16="http://schemas.microsoft.com/office/drawing/2014/main" id="{71DB0E9C-D279-458B-9F14-AE70A05A73B6}"/>
              </a:ext>
            </a:extLst>
          </p:cNvPr>
          <p:cNvSpPr>
            <a:spLocks noGrp="1"/>
          </p:cNvSpPr>
          <p:nvPr/>
        </p:nvSpPr>
        <p:spPr>
          <a:xfrm>
            <a:off x="3714750" y="3143250"/>
            <a:ext cx="2762250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PLUS INT</a:t>
            </a:r>
          </a:p>
        </p:txBody>
      </p:sp>
      <p:sp>
        <p:nvSpPr>
          <p:cNvPr id="19" name="trace-4-2">
            <a:extLst>
              <a:ext uri="{FF2B5EF4-FFF2-40B4-BE49-F238E27FC236}">
                <a16:creationId xmlns:a16="http://schemas.microsoft.com/office/drawing/2014/main" id="{C79E858A-FD92-4C35-A05E-CAC95ABA68FB}"/>
              </a:ext>
            </a:extLst>
          </p:cNvPr>
          <p:cNvSpPr>
            <a:spLocks noGrp="1"/>
          </p:cNvSpPr>
          <p:nvPr/>
        </p:nvSpPr>
        <p:spPr>
          <a:xfrm>
            <a:off x="6477000" y="3143250"/>
            <a:ext cx="2286000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shift PLUS</a:t>
            </a:r>
          </a:p>
        </p:txBody>
      </p:sp>
      <p:sp>
        <p:nvSpPr>
          <p:cNvPr id="20" name="trace-5-0">
            <a:extLst>
              <a:ext uri="{FF2B5EF4-FFF2-40B4-BE49-F238E27FC236}">
                <a16:creationId xmlns:a16="http://schemas.microsoft.com/office/drawing/2014/main" id="{273D2499-4CE4-40BF-B2A7-6F60D111984A}"/>
              </a:ext>
            </a:extLst>
          </p:cNvPr>
          <p:cNvSpPr>
            <a:spLocks noGrp="1"/>
          </p:cNvSpPr>
          <p:nvPr/>
        </p:nvSpPr>
        <p:spPr>
          <a:xfrm>
            <a:off x="809625" y="3524250"/>
            <a:ext cx="2905125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PLUS</a:t>
            </a:r>
          </a:p>
        </p:txBody>
      </p:sp>
      <p:sp>
        <p:nvSpPr>
          <p:cNvPr id="21" name="trace-5-1">
            <a:extLst>
              <a:ext uri="{FF2B5EF4-FFF2-40B4-BE49-F238E27FC236}">
                <a16:creationId xmlns:a16="http://schemas.microsoft.com/office/drawing/2014/main" id="{F62E32B4-56F2-42CB-B73B-3951F13F1BC6}"/>
              </a:ext>
            </a:extLst>
          </p:cNvPr>
          <p:cNvSpPr>
            <a:spLocks noGrp="1"/>
          </p:cNvSpPr>
          <p:nvPr/>
        </p:nvSpPr>
        <p:spPr>
          <a:xfrm>
            <a:off x="3714750" y="3524250"/>
            <a:ext cx="2762250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22" name="trace-5-2">
            <a:extLst>
              <a:ext uri="{FF2B5EF4-FFF2-40B4-BE49-F238E27FC236}">
                <a16:creationId xmlns:a16="http://schemas.microsoft.com/office/drawing/2014/main" id="{C2C7475A-294C-4F98-B25F-1D4D553CDAFB}"/>
              </a:ext>
            </a:extLst>
          </p:cNvPr>
          <p:cNvSpPr>
            <a:spLocks noGrp="1"/>
          </p:cNvSpPr>
          <p:nvPr/>
        </p:nvSpPr>
        <p:spPr>
          <a:xfrm>
            <a:off x="6477000" y="3524250"/>
            <a:ext cx="2286000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shift INT</a:t>
            </a:r>
          </a:p>
        </p:txBody>
      </p:sp>
      <p:sp>
        <p:nvSpPr>
          <p:cNvPr id="23" name="trace-6-0">
            <a:extLst>
              <a:ext uri="{FF2B5EF4-FFF2-40B4-BE49-F238E27FC236}">
                <a16:creationId xmlns:a16="http://schemas.microsoft.com/office/drawing/2014/main" id="{4267C520-2C0E-48FB-BDEC-51759CAF8446}"/>
              </a:ext>
            </a:extLst>
          </p:cNvPr>
          <p:cNvSpPr>
            <a:spLocks noGrp="1"/>
          </p:cNvSpPr>
          <p:nvPr/>
        </p:nvSpPr>
        <p:spPr>
          <a:xfrm>
            <a:off x="809625" y="3905250"/>
            <a:ext cx="2905125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PLUS INT</a:t>
            </a:r>
          </a:p>
        </p:txBody>
      </p:sp>
      <p:sp>
        <p:nvSpPr>
          <p:cNvPr id="24" name="trace-6-1">
            <a:extLst>
              <a:ext uri="{FF2B5EF4-FFF2-40B4-BE49-F238E27FC236}">
                <a16:creationId xmlns:a16="http://schemas.microsoft.com/office/drawing/2014/main" id="{08550A81-F96D-45EA-A3B0-50FDD6355C8B}"/>
              </a:ext>
            </a:extLst>
          </p:cNvPr>
          <p:cNvSpPr>
            <a:spLocks noGrp="1"/>
          </p:cNvSpPr>
          <p:nvPr/>
        </p:nvSpPr>
        <p:spPr>
          <a:xfrm>
            <a:off x="3714750" y="3905250"/>
            <a:ext cx="2762250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endParaRPr/>
          </a:p>
        </p:txBody>
      </p:sp>
      <p:sp>
        <p:nvSpPr>
          <p:cNvPr id="25" name="trace-6-2">
            <a:extLst>
              <a:ext uri="{FF2B5EF4-FFF2-40B4-BE49-F238E27FC236}">
                <a16:creationId xmlns:a16="http://schemas.microsoft.com/office/drawing/2014/main" id="{A494B9F8-FCA4-4E0B-BD4A-57128C26E906}"/>
              </a:ext>
            </a:extLst>
          </p:cNvPr>
          <p:cNvSpPr>
            <a:spLocks noGrp="1"/>
          </p:cNvSpPr>
          <p:nvPr/>
        </p:nvSpPr>
        <p:spPr>
          <a:xfrm>
            <a:off x="6477000" y="3905250"/>
            <a:ext cx="2286000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reduce term → INT</a:t>
            </a:r>
          </a:p>
        </p:txBody>
      </p:sp>
      <p:sp>
        <p:nvSpPr>
          <p:cNvPr id="26" name="trace-7-0">
            <a:extLst>
              <a:ext uri="{FF2B5EF4-FFF2-40B4-BE49-F238E27FC236}">
                <a16:creationId xmlns:a16="http://schemas.microsoft.com/office/drawing/2014/main" id="{9DA7C7E0-3A59-4015-A9D9-FCF088973562}"/>
              </a:ext>
            </a:extLst>
          </p:cNvPr>
          <p:cNvSpPr>
            <a:spLocks noGrp="1"/>
          </p:cNvSpPr>
          <p:nvPr/>
        </p:nvSpPr>
        <p:spPr>
          <a:xfrm>
            <a:off x="809625" y="4286250"/>
            <a:ext cx="2905125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PLUS term</a:t>
            </a:r>
          </a:p>
        </p:txBody>
      </p:sp>
      <p:sp>
        <p:nvSpPr>
          <p:cNvPr id="27" name="trace-7-1">
            <a:extLst>
              <a:ext uri="{FF2B5EF4-FFF2-40B4-BE49-F238E27FC236}">
                <a16:creationId xmlns:a16="http://schemas.microsoft.com/office/drawing/2014/main" id="{E184D351-B3DB-4FC2-8F4F-98F5D2AD0B06}"/>
              </a:ext>
            </a:extLst>
          </p:cNvPr>
          <p:cNvSpPr>
            <a:spLocks noGrp="1"/>
          </p:cNvSpPr>
          <p:nvPr/>
        </p:nvSpPr>
        <p:spPr>
          <a:xfrm>
            <a:off x="3714750" y="4286250"/>
            <a:ext cx="2762250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endParaRPr/>
          </a:p>
        </p:txBody>
      </p:sp>
      <p:sp>
        <p:nvSpPr>
          <p:cNvPr id="28" name="trace-7-2">
            <a:extLst>
              <a:ext uri="{FF2B5EF4-FFF2-40B4-BE49-F238E27FC236}">
                <a16:creationId xmlns:a16="http://schemas.microsoft.com/office/drawing/2014/main" id="{86A27681-B10D-44FF-9034-E3459EEDE807}"/>
              </a:ext>
            </a:extLst>
          </p:cNvPr>
          <p:cNvSpPr>
            <a:spLocks noGrp="1"/>
          </p:cNvSpPr>
          <p:nvPr/>
        </p:nvSpPr>
        <p:spPr>
          <a:xfrm>
            <a:off x="6477000" y="4286250"/>
            <a:ext cx="2286000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reduce expr → expr PLUS term</a:t>
            </a:r>
          </a:p>
        </p:txBody>
      </p:sp>
      <p:sp>
        <p:nvSpPr>
          <p:cNvPr id="29" name="trace-8-0">
            <a:extLst>
              <a:ext uri="{FF2B5EF4-FFF2-40B4-BE49-F238E27FC236}">
                <a16:creationId xmlns:a16="http://schemas.microsoft.com/office/drawing/2014/main" id="{1F64035E-91A2-49DE-A221-838118380664}"/>
              </a:ext>
            </a:extLst>
          </p:cNvPr>
          <p:cNvSpPr>
            <a:spLocks noGrp="1"/>
          </p:cNvSpPr>
          <p:nvPr/>
        </p:nvSpPr>
        <p:spPr>
          <a:xfrm>
            <a:off x="809625" y="4667250"/>
            <a:ext cx="2905125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</a:t>
            </a:r>
          </a:p>
        </p:txBody>
      </p:sp>
      <p:sp>
        <p:nvSpPr>
          <p:cNvPr id="30" name="trace-8-1">
            <a:extLst>
              <a:ext uri="{FF2B5EF4-FFF2-40B4-BE49-F238E27FC236}">
                <a16:creationId xmlns:a16="http://schemas.microsoft.com/office/drawing/2014/main" id="{C71248B8-4D28-4369-857F-6708B600C59E}"/>
              </a:ext>
            </a:extLst>
          </p:cNvPr>
          <p:cNvSpPr>
            <a:spLocks noGrp="1"/>
          </p:cNvSpPr>
          <p:nvPr/>
        </p:nvSpPr>
        <p:spPr>
          <a:xfrm>
            <a:off x="3714750" y="4667250"/>
            <a:ext cx="2762250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endParaRPr/>
          </a:p>
        </p:txBody>
      </p:sp>
      <p:sp>
        <p:nvSpPr>
          <p:cNvPr id="31" name="trace-8-2">
            <a:extLst>
              <a:ext uri="{FF2B5EF4-FFF2-40B4-BE49-F238E27FC236}">
                <a16:creationId xmlns:a16="http://schemas.microsoft.com/office/drawing/2014/main" id="{47AFF617-AD11-4066-B0D5-8A1CBAB48464}"/>
              </a:ext>
            </a:extLst>
          </p:cNvPr>
          <p:cNvSpPr>
            <a:spLocks noGrp="1"/>
          </p:cNvSpPr>
          <p:nvPr/>
        </p:nvSpPr>
        <p:spPr>
          <a:xfrm>
            <a:off x="6477000" y="4667250"/>
            <a:ext cx="2286000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0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C4384D"/>
                </a:solidFill>
                <a:latin typeface="Menlo"/>
                <a:ea typeface="Menlo"/>
                <a:cs typeface="Menlo"/>
              </a:rPr>
              <a:t>accept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观察：归约过程正好把最右推导倒着走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CCF91274-D221-1BB4-3BF9-836E3AD31EBE}" type="slidenum">
              <a:t>20</a:t>
            </a:fld>
            <a:endParaRPr/>
          </a:p>
        </p:txBody>
      </p:sp>
      <p:sp>
        <p:nvSpPr>
          <p:cNvPr id="5" name="observation-subtitle">
            <a:extLst>
              <a:ext uri="{FF2B5EF4-FFF2-40B4-BE49-F238E27FC236}">
                <a16:creationId xmlns:a16="http://schemas.microsoft.com/office/drawing/2014/main" id="{CD61B0CD-D80D-4A7C-B6E2-1C118E747A0B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把刚才每一步的“栈 + 剩余输入”连起来，再和最右推导对照：</a:t>
            </a:r>
          </a:p>
        </p:txBody>
      </p:sp>
      <p:sp>
        <p:nvSpPr>
          <p:cNvPr id="6" name="rightmost-label">
            <a:extLst>
              <a:ext uri="{FF2B5EF4-FFF2-40B4-BE49-F238E27FC236}">
                <a16:creationId xmlns:a16="http://schemas.microsoft.com/office/drawing/2014/main" id="{5129E287-DE4D-44B4-A464-CA58A36BB64D}"/>
              </a:ext>
            </a:extLst>
          </p:cNvPr>
          <p:cNvSpPr>
            <a:spLocks noGrp="1"/>
          </p:cNvSpPr>
          <p:nvPr/>
        </p:nvSpPr>
        <p:spPr>
          <a:xfrm>
            <a:off x="704850" y="1762125"/>
            <a:ext cx="7734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最右推导：每次展开最右侧的非终结符</a:t>
            </a:r>
          </a:p>
        </p:txBody>
      </p:sp>
      <p:sp>
        <p:nvSpPr>
          <p:cNvPr id="7" name="rightmost-stage-0">
            <a:extLst>
              <a:ext uri="{FF2B5EF4-FFF2-40B4-BE49-F238E27FC236}">
                <a16:creationId xmlns:a16="http://schemas.microsoft.com/office/drawing/2014/main" id="{0DCB3995-CA40-4D3E-B442-AB0A9CF4A163}"/>
              </a:ext>
            </a:extLst>
          </p:cNvPr>
          <p:cNvSpPr>
            <a:spLocks noGrp="1"/>
          </p:cNvSpPr>
          <p:nvPr/>
        </p:nvSpPr>
        <p:spPr>
          <a:xfrm>
            <a:off x="571500" y="2162175"/>
            <a:ext cx="1276350" cy="514350"/>
          </a:xfrm>
          <a:prstGeom prst="roundRect">
            <a:avLst>
              <a:gd name="adj" fmla="val 14815"/>
            </a:avLst>
          </a:prstGeom>
          <a:solidFill>
            <a:srgbClr val="FCEEF0"/>
          </a:solidFill>
          <a:ln w="10478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088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expr</a:t>
            </a:r>
          </a:p>
        </p:txBody>
      </p:sp>
      <p:sp>
        <p:nvSpPr>
          <p:cNvPr id="8" name="rightmost-arrow-0">
            <a:extLst>
              <a:ext uri="{FF2B5EF4-FFF2-40B4-BE49-F238E27FC236}">
                <a16:creationId xmlns:a16="http://schemas.microsoft.com/office/drawing/2014/main" id="{CDF78F0E-F41A-4CF9-91D6-1BC4F2C61284}"/>
              </a:ext>
            </a:extLst>
          </p:cNvPr>
          <p:cNvSpPr>
            <a:spLocks noGrp="1"/>
          </p:cNvSpPr>
          <p:nvPr/>
        </p:nvSpPr>
        <p:spPr>
          <a:xfrm>
            <a:off x="1866900" y="2276475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→</a:t>
            </a:r>
          </a:p>
        </p:txBody>
      </p:sp>
      <p:sp>
        <p:nvSpPr>
          <p:cNvPr id="9" name="rightmost-stage-1">
            <a:extLst>
              <a:ext uri="{FF2B5EF4-FFF2-40B4-BE49-F238E27FC236}">
                <a16:creationId xmlns:a16="http://schemas.microsoft.com/office/drawing/2014/main" id="{46944C0D-7B27-4BC6-B45A-9ED782F93F0F}"/>
              </a:ext>
            </a:extLst>
          </p:cNvPr>
          <p:cNvSpPr>
            <a:spLocks noGrp="1"/>
          </p:cNvSpPr>
          <p:nvPr/>
        </p:nvSpPr>
        <p:spPr>
          <a:xfrm>
            <a:off x="2038350" y="2162175"/>
            <a:ext cx="16954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478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PLUS term</a:t>
            </a:r>
          </a:p>
        </p:txBody>
      </p:sp>
      <p:sp>
        <p:nvSpPr>
          <p:cNvPr id="10" name="rightmost-arrow-1">
            <a:extLst>
              <a:ext uri="{FF2B5EF4-FFF2-40B4-BE49-F238E27FC236}">
                <a16:creationId xmlns:a16="http://schemas.microsoft.com/office/drawing/2014/main" id="{48B808D1-1C32-44EC-9043-DCB6B32D0EE8}"/>
              </a:ext>
            </a:extLst>
          </p:cNvPr>
          <p:cNvSpPr>
            <a:spLocks noGrp="1"/>
          </p:cNvSpPr>
          <p:nvPr/>
        </p:nvSpPr>
        <p:spPr>
          <a:xfrm>
            <a:off x="3752850" y="2276475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→</a:t>
            </a:r>
          </a:p>
        </p:txBody>
      </p:sp>
      <p:sp>
        <p:nvSpPr>
          <p:cNvPr id="11" name="rightmost-stage-2">
            <a:extLst>
              <a:ext uri="{FF2B5EF4-FFF2-40B4-BE49-F238E27FC236}">
                <a16:creationId xmlns:a16="http://schemas.microsoft.com/office/drawing/2014/main" id="{1A994F5E-C36B-4C92-B3A3-99E2E349C398}"/>
              </a:ext>
            </a:extLst>
          </p:cNvPr>
          <p:cNvSpPr>
            <a:spLocks noGrp="1"/>
          </p:cNvSpPr>
          <p:nvPr/>
        </p:nvSpPr>
        <p:spPr>
          <a:xfrm>
            <a:off x="3924300" y="2162175"/>
            <a:ext cx="15049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478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PLUS INT</a:t>
            </a:r>
          </a:p>
        </p:txBody>
      </p:sp>
      <p:sp>
        <p:nvSpPr>
          <p:cNvPr id="12" name="rightmost-arrow-2">
            <a:extLst>
              <a:ext uri="{FF2B5EF4-FFF2-40B4-BE49-F238E27FC236}">
                <a16:creationId xmlns:a16="http://schemas.microsoft.com/office/drawing/2014/main" id="{F98E169C-70F9-4374-8559-E0A17F05C1EC}"/>
              </a:ext>
            </a:extLst>
          </p:cNvPr>
          <p:cNvSpPr>
            <a:spLocks noGrp="1"/>
          </p:cNvSpPr>
          <p:nvPr/>
        </p:nvSpPr>
        <p:spPr>
          <a:xfrm>
            <a:off x="5448300" y="2276475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→</a:t>
            </a:r>
          </a:p>
        </p:txBody>
      </p:sp>
      <p:sp>
        <p:nvSpPr>
          <p:cNvPr id="13" name="rightmost-stage-3">
            <a:extLst>
              <a:ext uri="{FF2B5EF4-FFF2-40B4-BE49-F238E27FC236}">
                <a16:creationId xmlns:a16="http://schemas.microsoft.com/office/drawing/2014/main" id="{77C0E778-F69D-401B-BA52-28EA8BFA16BF}"/>
              </a:ext>
            </a:extLst>
          </p:cNvPr>
          <p:cNvSpPr>
            <a:spLocks noGrp="1"/>
          </p:cNvSpPr>
          <p:nvPr/>
        </p:nvSpPr>
        <p:spPr>
          <a:xfrm>
            <a:off x="5619750" y="2162175"/>
            <a:ext cx="15049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478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PLUS INT</a:t>
            </a:r>
          </a:p>
        </p:txBody>
      </p:sp>
      <p:sp>
        <p:nvSpPr>
          <p:cNvPr id="14" name="rightmost-arrow-3">
            <a:extLst>
              <a:ext uri="{FF2B5EF4-FFF2-40B4-BE49-F238E27FC236}">
                <a16:creationId xmlns:a16="http://schemas.microsoft.com/office/drawing/2014/main" id="{E5BE5537-5794-4660-80A7-1216AB9EA20B}"/>
              </a:ext>
            </a:extLst>
          </p:cNvPr>
          <p:cNvSpPr>
            <a:spLocks noGrp="1"/>
          </p:cNvSpPr>
          <p:nvPr/>
        </p:nvSpPr>
        <p:spPr>
          <a:xfrm>
            <a:off x="7143750" y="2276475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→</a:t>
            </a:r>
          </a:p>
        </p:txBody>
      </p:sp>
      <p:sp>
        <p:nvSpPr>
          <p:cNvPr id="15" name="rightmost-stage-4">
            <a:extLst>
              <a:ext uri="{FF2B5EF4-FFF2-40B4-BE49-F238E27FC236}">
                <a16:creationId xmlns:a16="http://schemas.microsoft.com/office/drawing/2014/main" id="{89B6458A-94AD-4BEC-AEE9-92E60E74EB39}"/>
              </a:ext>
            </a:extLst>
          </p:cNvPr>
          <p:cNvSpPr>
            <a:spLocks noGrp="1"/>
          </p:cNvSpPr>
          <p:nvPr/>
        </p:nvSpPr>
        <p:spPr>
          <a:xfrm>
            <a:off x="7315200" y="2162175"/>
            <a:ext cx="12763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478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 PLUS INT</a:t>
            </a:r>
          </a:p>
        </p:txBody>
      </p:sp>
      <p:sp>
        <p:nvSpPr>
          <p:cNvPr id="16" name="bottomup-label">
            <a:extLst>
              <a:ext uri="{FF2B5EF4-FFF2-40B4-BE49-F238E27FC236}">
                <a16:creationId xmlns:a16="http://schemas.microsoft.com/office/drawing/2014/main" id="{48731736-19E4-4782-816B-6654011C1768}"/>
              </a:ext>
            </a:extLst>
          </p:cNvPr>
          <p:cNvSpPr>
            <a:spLocks noGrp="1"/>
          </p:cNvSpPr>
          <p:nvPr/>
        </p:nvSpPr>
        <p:spPr>
          <a:xfrm>
            <a:off x="704850" y="3190875"/>
            <a:ext cx="7734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自底向上：只看 reduce 后的整体串</a:t>
            </a:r>
          </a:p>
        </p:txBody>
      </p:sp>
      <p:sp>
        <p:nvSpPr>
          <p:cNvPr id="17" name="bottomup-stage-0">
            <a:extLst>
              <a:ext uri="{FF2B5EF4-FFF2-40B4-BE49-F238E27FC236}">
                <a16:creationId xmlns:a16="http://schemas.microsoft.com/office/drawing/2014/main" id="{2E37FD77-8E30-4844-B598-9665396A2757}"/>
              </a:ext>
            </a:extLst>
          </p:cNvPr>
          <p:cNvSpPr>
            <a:spLocks noGrp="1"/>
          </p:cNvSpPr>
          <p:nvPr/>
        </p:nvSpPr>
        <p:spPr>
          <a:xfrm>
            <a:off x="571500" y="3590925"/>
            <a:ext cx="12763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478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 PLUS INT</a:t>
            </a:r>
          </a:p>
        </p:txBody>
      </p:sp>
      <p:sp>
        <p:nvSpPr>
          <p:cNvPr id="18" name="bottomup-arrow-0">
            <a:extLst>
              <a:ext uri="{FF2B5EF4-FFF2-40B4-BE49-F238E27FC236}">
                <a16:creationId xmlns:a16="http://schemas.microsoft.com/office/drawing/2014/main" id="{6B72BD29-0EDD-4626-AA14-6DA88C47CBA8}"/>
              </a:ext>
            </a:extLst>
          </p:cNvPr>
          <p:cNvSpPr>
            <a:spLocks noGrp="1"/>
          </p:cNvSpPr>
          <p:nvPr/>
        </p:nvSpPr>
        <p:spPr>
          <a:xfrm>
            <a:off x="1866900" y="3705225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→</a:t>
            </a:r>
          </a:p>
        </p:txBody>
      </p:sp>
      <p:sp>
        <p:nvSpPr>
          <p:cNvPr id="19" name="bottomup-stage-1">
            <a:extLst>
              <a:ext uri="{FF2B5EF4-FFF2-40B4-BE49-F238E27FC236}">
                <a16:creationId xmlns:a16="http://schemas.microsoft.com/office/drawing/2014/main" id="{834219D1-2E8A-4FFB-ABC1-8FC1C2CFFC3E}"/>
              </a:ext>
            </a:extLst>
          </p:cNvPr>
          <p:cNvSpPr>
            <a:spLocks noGrp="1"/>
          </p:cNvSpPr>
          <p:nvPr/>
        </p:nvSpPr>
        <p:spPr>
          <a:xfrm>
            <a:off x="2038350" y="3590925"/>
            <a:ext cx="16954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478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PLUS INT</a:t>
            </a:r>
          </a:p>
        </p:txBody>
      </p:sp>
      <p:sp>
        <p:nvSpPr>
          <p:cNvPr id="20" name="bottomup-arrow-1">
            <a:extLst>
              <a:ext uri="{FF2B5EF4-FFF2-40B4-BE49-F238E27FC236}">
                <a16:creationId xmlns:a16="http://schemas.microsoft.com/office/drawing/2014/main" id="{E366FE8A-AA54-4909-A40F-DE74880C6B75}"/>
              </a:ext>
            </a:extLst>
          </p:cNvPr>
          <p:cNvSpPr>
            <a:spLocks noGrp="1"/>
          </p:cNvSpPr>
          <p:nvPr/>
        </p:nvSpPr>
        <p:spPr>
          <a:xfrm>
            <a:off x="3752850" y="3705225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→</a:t>
            </a:r>
          </a:p>
        </p:txBody>
      </p:sp>
      <p:sp>
        <p:nvSpPr>
          <p:cNvPr id="21" name="bottomup-stage-2">
            <a:extLst>
              <a:ext uri="{FF2B5EF4-FFF2-40B4-BE49-F238E27FC236}">
                <a16:creationId xmlns:a16="http://schemas.microsoft.com/office/drawing/2014/main" id="{B11F3C19-E530-49FC-9E81-3EDAB1325073}"/>
              </a:ext>
            </a:extLst>
          </p:cNvPr>
          <p:cNvSpPr>
            <a:spLocks noGrp="1"/>
          </p:cNvSpPr>
          <p:nvPr/>
        </p:nvSpPr>
        <p:spPr>
          <a:xfrm>
            <a:off x="3924300" y="3590925"/>
            <a:ext cx="15049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478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PLUS INT</a:t>
            </a:r>
          </a:p>
        </p:txBody>
      </p:sp>
      <p:sp>
        <p:nvSpPr>
          <p:cNvPr id="22" name="bottomup-arrow-2">
            <a:extLst>
              <a:ext uri="{FF2B5EF4-FFF2-40B4-BE49-F238E27FC236}">
                <a16:creationId xmlns:a16="http://schemas.microsoft.com/office/drawing/2014/main" id="{154EF333-FC48-445D-B900-1538BA7BAF75}"/>
              </a:ext>
            </a:extLst>
          </p:cNvPr>
          <p:cNvSpPr>
            <a:spLocks noGrp="1"/>
          </p:cNvSpPr>
          <p:nvPr/>
        </p:nvSpPr>
        <p:spPr>
          <a:xfrm>
            <a:off x="5448300" y="3705225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→</a:t>
            </a:r>
          </a:p>
        </p:txBody>
      </p:sp>
      <p:sp>
        <p:nvSpPr>
          <p:cNvPr id="23" name="bottomup-stage-3">
            <a:extLst>
              <a:ext uri="{FF2B5EF4-FFF2-40B4-BE49-F238E27FC236}">
                <a16:creationId xmlns:a16="http://schemas.microsoft.com/office/drawing/2014/main" id="{55940701-1125-429C-86C8-47FD0605EC90}"/>
              </a:ext>
            </a:extLst>
          </p:cNvPr>
          <p:cNvSpPr>
            <a:spLocks noGrp="1"/>
          </p:cNvSpPr>
          <p:nvPr/>
        </p:nvSpPr>
        <p:spPr>
          <a:xfrm>
            <a:off x="5619750" y="3590925"/>
            <a:ext cx="15049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478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PLUS term</a:t>
            </a:r>
          </a:p>
        </p:txBody>
      </p:sp>
      <p:sp>
        <p:nvSpPr>
          <p:cNvPr id="24" name="bottomup-arrow-3">
            <a:extLst>
              <a:ext uri="{FF2B5EF4-FFF2-40B4-BE49-F238E27FC236}">
                <a16:creationId xmlns:a16="http://schemas.microsoft.com/office/drawing/2014/main" id="{A9824126-824A-4B22-ACA4-D1BB0DC56070}"/>
              </a:ext>
            </a:extLst>
          </p:cNvPr>
          <p:cNvSpPr>
            <a:spLocks noGrp="1"/>
          </p:cNvSpPr>
          <p:nvPr/>
        </p:nvSpPr>
        <p:spPr>
          <a:xfrm>
            <a:off x="7143750" y="3705225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→</a:t>
            </a:r>
          </a:p>
        </p:txBody>
      </p:sp>
      <p:sp>
        <p:nvSpPr>
          <p:cNvPr id="25" name="bottomup-stage-4">
            <a:extLst>
              <a:ext uri="{FF2B5EF4-FFF2-40B4-BE49-F238E27FC236}">
                <a16:creationId xmlns:a16="http://schemas.microsoft.com/office/drawing/2014/main" id="{990B2FC4-215C-416A-905C-3B66284156D3}"/>
              </a:ext>
            </a:extLst>
          </p:cNvPr>
          <p:cNvSpPr>
            <a:spLocks noGrp="1"/>
          </p:cNvSpPr>
          <p:nvPr/>
        </p:nvSpPr>
        <p:spPr>
          <a:xfrm>
            <a:off x="7315200" y="3590925"/>
            <a:ext cx="1276350" cy="514350"/>
          </a:xfrm>
          <a:prstGeom prst="roundRect">
            <a:avLst>
              <a:gd name="adj" fmla="val 14815"/>
            </a:avLst>
          </a:prstGeom>
          <a:solidFill>
            <a:srgbClr val="EAF5F8"/>
          </a:solidFill>
          <a:ln w="10478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088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expr</a:t>
            </a:r>
          </a:p>
        </p:txBody>
      </p:sp>
      <p:sp>
        <p:nvSpPr>
          <p:cNvPr id="26" name="rightmost-takeaway">
            <a:extLst>
              <a:ext uri="{FF2B5EF4-FFF2-40B4-BE49-F238E27FC236}">
                <a16:creationId xmlns:a16="http://schemas.microsoft.com/office/drawing/2014/main" id="{163ED102-8282-445C-8EA6-BBAB527F10DD}"/>
              </a:ext>
            </a:extLst>
          </p:cNvPr>
          <p:cNvSpPr>
            <a:spLocks noGrp="1"/>
          </p:cNvSpPr>
          <p:nvPr/>
        </p:nvSpPr>
        <p:spPr>
          <a:xfrm>
            <a:off x="647700" y="4762500"/>
            <a:ext cx="8020050" cy="457200"/>
          </a:xfrm>
          <a:prstGeom prst="rect">
            <a:avLst/>
          </a:prstGeom>
          <a:solidFill>
            <a:srgbClr val="FCEEF0"/>
          </a:solidFill>
          <a:ln w="7620">
            <a:solidFill>
              <a:srgbClr val="F2C8C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C4384D"/>
                </a:solidFill>
              </a:defRPr>
            </a:pPr>
            <a:r>
              <a:rPr sz="1238" b="1">
                <a:solidFill>
                  <a:srgbClr val="C4384D"/>
                </a:solidFill>
              </a:rPr>
              <a:t>shift 只移动栈与输入的分界线；每次 reduce 都“撤销”最右推导的一步。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Shift / reduce：parser 只需要两种核心动作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CCF91274-D221-1BB4-3BF9-836E3AD31EBE}" type="slidenum">
              <a:t>21</a:t>
            </a:fld>
            <a:endParaRPr/>
          </a:p>
        </p:txBody>
      </p:sp>
      <p:sp>
        <p:nvSpPr>
          <p:cNvPr id="5" name="shift-label">
            <a:extLst>
              <a:ext uri="{FF2B5EF4-FFF2-40B4-BE49-F238E27FC236}">
                <a16:creationId xmlns:a16="http://schemas.microsoft.com/office/drawing/2014/main" id="{420EA626-BDFA-499A-90E7-D48BCF878432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C4384D"/>
                </a:solidFill>
              </a:defRPr>
            </a:pPr>
            <a:r>
              <a:rPr sz="1650" b="1">
                <a:solidFill>
                  <a:srgbClr val="C4384D"/>
                </a:solidFill>
              </a:rPr>
              <a:t>Shift：继续积累证据</a:t>
            </a:r>
          </a:p>
        </p:txBody>
      </p:sp>
      <p:sp>
        <p:nvSpPr>
          <p:cNvPr id="6" name="shift-box">
            <a:extLst>
              <a:ext uri="{FF2B5EF4-FFF2-40B4-BE49-F238E27FC236}">
                <a16:creationId xmlns:a16="http://schemas.microsoft.com/office/drawing/2014/main" id="{2F205301-89F9-45B2-BC2E-41700082E8DB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3714750" cy="18097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0">
                <a:solidFill>
                  <a:srgbClr val="454545"/>
                </a:solidFill>
              </a:defRPr>
            </a:pPr>
            <a:r>
              <a:rPr sz="1500" b="0">
                <a:solidFill>
                  <a:srgbClr val="454545"/>
                </a:solidFill>
              </a:rPr>
              <a:t>读取当前 Token</a:t>
            </a:r>
          </a:p>
          <a:p>
            <a:pPr algn="ctr">
              <a:buNone/>
              <a:defRPr sz="1500" b="0">
                <a:solidFill>
                  <a:srgbClr val="454545"/>
                </a:solidFill>
              </a:defRPr>
            </a:pPr>
            <a:r>
              <a:rPr sz="1500" b="0">
                <a:solidFill>
                  <a:srgbClr val="454545"/>
                </a:solidFill>
              </a:rPr>
              <a:t>压入分析栈</a:t>
            </a:r>
          </a:p>
          <a:p>
            <a:pPr algn="ctr">
              <a:buNone/>
              <a:defRPr sz="1500" b="0">
                <a:solidFill>
                  <a:srgbClr val="454545"/>
                </a:solidFill>
              </a:defRPr>
            </a:pPr>
            <a:r>
              <a:rPr sz="1500" b="0">
                <a:solidFill>
                  <a:srgbClr val="454545"/>
                </a:solidFill>
              </a:rPr>
              <a:t>输入位置前进一步</a:t>
            </a:r>
          </a:p>
        </p:txBody>
      </p:sp>
      <p:sp>
        <p:nvSpPr>
          <p:cNvPr id="7" name="reduce-label">
            <a:extLst>
              <a:ext uri="{FF2B5EF4-FFF2-40B4-BE49-F238E27FC236}">
                <a16:creationId xmlns:a16="http://schemas.microsoft.com/office/drawing/2014/main" id="{BFD4E028-4257-46FC-BBB0-53D89C343A24}"/>
              </a:ext>
            </a:extLst>
          </p:cNvPr>
          <p:cNvSpPr>
            <a:spLocks noGrp="1"/>
          </p:cNvSpPr>
          <p:nvPr/>
        </p:nvSpPr>
        <p:spPr>
          <a:xfrm>
            <a:off x="5095875" y="17145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2D7C93"/>
                </a:solidFill>
              </a:defRPr>
            </a:pPr>
            <a:r>
              <a:rPr sz="1650" b="1">
                <a:solidFill>
                  <a:srgbClr val="2D7C93"/>
                </a:solidFill>
              </a:rPr>
              <a:t>Reduce：确认一个结构</a:t>
            </a:r>
          </a:p>
        </p:txBody>
      </p:sp>
      <p:sp>
        <p:nvSpPr>
          <p:cNvPr id="8" name="reduce-box">
            <a:extLst>
              <a:ext uri="{FF2B5EF4-FFF2-40B4-BE49-F238E27FC236}">
                <a16:creationId xmlns:a16="http://schemas.microsoft.com/office/drawing/2014/main" id="{2F9B1540-2306-41DB-AB71-F8062F7B4367}"/>
              </a:ext>
            </a:extLst>
          </p:cNvPr>
          <p:cNvSpPr>
            <a:spLocks noGrp="1"/>
          </p:cNvSpPr>
          <p:nvPr/>
        </p:nvSpPr>
        <p:spPr>
          <a:xfrm>
            <a:off x="4953000" y="2143125"/>
            <a:ext cx="3714750" cy="18097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0">
                <a:solidFill>
                  <a:srgbClr val="454545"/>
                </a:solidFill>
              </a:defRPr>
            </a:pPr>
            <a:r>
              <a:rPr sz="1500" b="0">
                <a:solidFill>
                  <a:srgbClr val="454545"/>
                </a:solidFill>
              </a:rPr>
              <a:t>匹配产生式右侧 β</a:t>
            </a:r>
          </a:p>
          <a:p>
            <a:pPr algn="ctr">
              <a:buNone/>
              <a:defRPr sz="1500" b="0">
                <a:solidFill>
                  <a:srgbClr val="454545"/>
                </a:solidFill>
              </a:defRPr>
            </a:pPr>
            <a:r>
              <a:rPr sz="1500" b="0">
                <a:solidFill>
                  <a:srgbClr val="454545"/>
                </a:solidFill>
              </a:rPr>
              <a:t>弹出 β</a:t>
            </a:r>
          </a:p>
          <a:p>
            <a:pPr algn="ctr">
              <a:buNone/>
              <a:defRPr sz="1500" b="0">
                <a:solidFill>
                  <a:srgbClr val="454545"/>
                </a:solidFill>
              </a:defRPr>
            </a:pPr>
            <a:r>
              <a:rPr sz="1500" b="0">
                <a:solidFill>
                  <a:srgbClr val="454545"/>
                </a:solidFill>
              </a:rPr>
              <a:t>压入左侧非终结符 A</a:t>
            </a:r>
          </a:p>
        </p:txBody>
      </p:sp>
      <p:sp>
        <p:nvSpPr>
          <p:cNvPr id="9" name="takeaway-25">
            <a:extLst>
              <a:ext uri="{FF2B5EF4-FFF2-40B4-BE49-F238E27FC236}">
                <a16:creationId xmlns:a16="http://schemas.microsoft.com/office/drawing/2014/main" id="{5E020C13-B8C9-47AC-9EE7-4958711DB957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reduce A → β，就是把已经识别出的 β 命名为 A。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哪一段可以被 reduce？它必须是当前“句柄”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44E025A-983C-6D44-79C6-4612AACD43FC}" type="slidenum">
              <a:t>22</a:t>
            </a:fld>
            <a:endParaRPr/>
          </a:p>
        </p:txBody>
      </p:sp>
      <p:sp>
        <p:nvSpPr>
          <p:cNvPr id="5" name="subtitle-20">
            <a:extLst>
              <a:ext uri="{FF2B5EF4-FFF2-40B4-BE49-F238E27FC236}">
                <a16:creationId xmlns:a16="http://schemas.microsoft.com/office/drawing/2014/main" id="{99930F4B-67B5-4FA1-8551-313298824608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沿着刚才的逆过程，每一步需要被 reduce 的产生式右侧的内容，被称为当前句柄（handle）。</a:t>
            </a:r>
          </a:p>
        </p:txBody>
      </p:sp>
      <p:sp>
        <p:nvSpPr>
          <p:cNvPr id="6" name="handle-stack">
            <a:extLst>
              <a:ext uri="{FF2B5EF4-FFF2-40B4-BE49-F238E27FC236}">
                <a16:creationId xmlns:a16="http://schemas.microsoft.com/office/drawing/2014/main" id="{FCF8A769-13AB-4922-ACD9-427732A9BBFE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7620000" cy="9525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 PLUS  term</a:t>
            </a:r>
          </a:p>
        </p:txBody>
      </p:sp>
      <p:sp>
        <p:nvSpPr>
          <p:cNvPr id="7" name="handle-mark">
            <a:extLst>
              <a:ext uri="{FF2B5EF4-FFF2-40B4-BE49-F238E27FC236}">
                <a16:creationId xmlns:a16="http://schemas.microsoft.com/office/drawing/2014/main" id="{D5A7CD23-76FA-4C1A-9F75-64FC7DE1005C}"/>
              </a:ext>
            </a:extLst>
          </p:cNvPr>
          <p:cNvSpPr>
            <a:spLocks noGrp="1"/>
          </p:cNvSpPr>
          <p:nvPr/>
        </p:nvSpPr>
        <p:spPr>
          <a:xfrm>
            <a:off x="2381250" y="3000375"/>
            <a:ext cx="4381500" cy="57150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C4384D"/>
                </a:solidFill>
              </a:defRPr>
            </a:pPr>
            <a:r>
              <a:rPr sz="1500" b="1">
                <a:solidFill>
                  <a:srgbClr val="C4384D"/>
                </a:solidFill>
              </a:rPr>
              <a:t>句柄：expr PLUS term</a:t>
            </a:r>
          </a:p>
        </p:txBody>
      </p:sp>
      <p:sp>
        <p:nvSpPr>
          <p:cNvPr id="8" name="handle-reduce">
            <a:extLst>
              <a:ext uri="{FF2B5EF4-FFF2-40B4-BE49-F238E27FC236}">
                <a16:creationId xmlns:a16="http://schemas.microsoft.com/office/drawing/2014/main" id="{CCF023CF-2581-4BA0-8854-AF41373BFB59}"/>
              </a:ext>
            </a:extLst>
          </p:cNvPr>
          <p:cNvSpPr>
            <a:spLocks noGrp="1"/>
          </p:cNvSpPr>
          <p:nvPr/>
        </p:nvSpPr>
        <p:spPr>
          <a:xfrm>
            <a:off x="1809750" y="3857625"/>
            <a:ext cx="5524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2D7C93"/>
                </a:solidFill>
              </a:defRPr>
            </a:pPr>
            <a:r>
              <a:rPr sz="1650" b="1">
                <a:solidFill>
                  <a:srgbClr val="2D7C93"/>
                </a:solidFill>
              </a:rPr>
              <a:t>reduce expr → expr PLUS term</a:t>
            </a:r>
          </a:p>
        </p:txBody>
      </p:sp>
      <p:sp>
        <p:nvSpPr>
          <p:cNvPr id="9" name="takeaway-26">
            <a:extLst>
              <a:ext uri="{FF2B5EF4-FFF2-40B4-BE49-F238E27FC236}">
                <a16:creationId xmlns:a16="http://schemas.microsoft.com/office/drawing/2014/main" id="{1FD96A4E-DDC8-4834-8A07-9DA09286AB8B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reduce 本身很机械，那真正的难点是什么呢？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1643"/>
          </a:bodyPr>
          <a:lstStyle/>
          <a:p>
            <a:r>
              <a:rPr>
                <a:latin typeface="Arial"/>
                <a:ea typeface="Arial"/>
                <a:cs typeface="Arial"/>
              </a:rPr>
              <a:t>真正的问题：此刻该 shift，还是 reduce？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F6DF2BE2-2DFA-1C03-677D-BDC2260D6D92}" type="slidenum">
              <a:t>23</a:t>
            </a:fld>
            <a:endParaRPr/>
          </a:p>
        </p:txBody>
      </p:sp>
      <p:sp>
        <p:nvSpPr>
          <p:cNvPr id="5" name="subtitle-21">
            <a:extLst>
              <a:ext uri="{FF2B5EF4-FFF2-40B4-BE49-F238E27FC236}">
                <a16:creationId xmlns:a16="http://schemas.microsoft.com/office/drawing/2014/main" id="{8552E604-9A44-48B2-8EE1-91DC2992E44D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刚才的动作序列是我们提前写好的；Parser 必须根据当前栈与输入自行决定。 </a:t>
            </a:r>
          </a:p>
        </p:txBody>
      </p:sp>
      <p:sp>
        <p:nvSpPr>
          <p:cNvPr id="6" name="decision">
            <a:extLst>
              <a:ext uri="{FF2B5EF4-FFF2-40B4-BE49-F238E27FC236}">
                <a16:creationId xmlns:a16="http://schemas.microsoft.com/office/drawing/2014/main" id="{8FD43DBC-8A87-4F8D-B869-DD32EE6A44B0}"/>
              </a:ext>
            </a:extLst>
          </p:cNvPr>
          <p:cNvSpPr>
            <a:spLocks noGrp="1"/>
          </p:cNvSpPr>
          <p:nvPr/>
        </p:nvSpPr>
        <p:spPr>
          <a:xfrm>
            <a:off x="809625" y="1952625"/>
            <a:ext cx="7524750" cy="904875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STACK:  expr PLUS        INPUT: INT</a:t>
            </a:r>
          </a:p>
        </p:txBody>
      </p:sp>
      <p:sp>
        <p:nvSpPr>
          <p:cNvPr id="7" name="decision-shift">
            <a:extLst>
              <a:ext uri="{FF2B5EF4-FFF2-40B4-BE49-F238E27FC236}">
                <a16:creationId xmlns:a16="http://schemas.microsoft.com/office/drawing/2014/main" id="{A6F3255D-1BD3-4043-AF20-12F834EA661C}"/>
              </a:ext>
            </a:extLst>
          </p:cNvPr>
          <p:cNvSpPr>
            <a:spLocks noGrp="1"/>
          </p:cNvSpPr>
          <p:nvPr/>
        </p:nvSpPr>
        <p:spPr>
          <a:xfrm>
            <a:off x="1095375" y="3286125"/>
            <a:ext cx="3000375" cy="7810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shift INT？</a:t>
            </a:r>
          </a:p>
          <a:p>
            <a:pPr algn="ctr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继续读取输入</a:t>
            </a:r>
          </a:p>
        </p:txBody>
      </p:sp>
      <p:sp>
        <p:nvSpPr>
          <p:cNvPr id="8" name="decision-reduce">
            <a:extLst>
              <a:ext uri="{FF2B5EF4-FFF2-40B4-BE49-F238E27FC236}">
                <a16:creationId xmlns:a16="http://schemas.microsoft.com/office/drawing/2014/main" id="{C512C711-E6D0-4395-AFDD-8A32E04F5A78}"/>
              </a:ext>
            </a:extLst>
          </p:cNvPr>
          <p:cNvSpPr>
            <a:spLocks noGrp="1"/>
          </p:cNvSpPr>
          <p:nvPr/>
        </p:nvSpPr>
        <p:spPr>
          <a:xfrm>
            <a:off x="5048250" y="3286125"/>
            <a:ext cx="3000375" cy="7810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reduce？</a:t>
            </a:r>
          </a:p>
          <a:p>
            <a:pPr algn="ctr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如果是，使用哪条产生式？</a:t>
            </a:r>
          </a:p>
        </p:txBody>
      </p:sp>
      <p:sp>
        <p:nvSpPr>
          <p:cNvPr id="9" name="takeaway-27">
            <a:extLst>
              <a:ext uri="{FF2B5EF4-FFF2-40B4-BE49-F238E27FC236}">
                <a16:creationId xmlns:a16="http://schemas.microsoft.com/office/drawing/2014/main" id="{DBA8ADD9-A75C-43C9-B14C-B1658286AE1B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需要一种有限状态的描述方法，概括栈顶前缀已经匹配到每条产生式的哪个位置。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1660"/>
          </a:bodyPr>
          <a:lstStyle/>
          <a:p>
            <a:r>
              <a:rPr>
                <a:latin typeface="Arial"/>
                <a:ea typeface="Arial"/>
                <a:cs typeface="Arial"/>
              </a:rPr>
              <a:t>第二步：把“识别到哪里”编码为状态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2FD04-0E4E-417B-BC59-5D2DFB36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LR item 与自动机构造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0BB18BA8-60F4-C50D-CD9B-1BB87D3E8506}" type="slidenum"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62114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LR item：在产生式右侧放一个点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4E99CEF-AF55-BA3C-ADF8-4E52E186DD8F}" type="slidenum">
              <a:t>25</a:t>
            </a:fld>
            <a:endParaRPr/>
          </a:p>
        </p:txBody>
      </p:sp>
      <p:sp>
        <p:nvSpPr>
          <p:cNvPr id="5" name="subtitle-23">
            <a:extLst>
              <a:ext uri="{FF2B5EF4-FFF2-40B4-BE49-F238E27FC236}">
                <a16:creationId xmlns:a16="http://schemas.microsoft.com/office/drawing/2014/main" id="{EDAA1CBB-404C-4235-8313-1A8BCBD8696E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点左边已经被识别；点右边是未来期望识别到的符号。 </a:t>
            </a:r>
          </a:p>
        </p:txBody>
      </p:sp>
      <p:sp>
        <p:nvSpPr>
          <p:cNvPr id="6" name="item-code">
            <a:extLst>
              <a:ext uri="{FF2B5EF4-FFF2-40B4-BE49-F238E27FC236}">
                <a16:creationId xmlns:a16="http://schemas.microsoft.com/office/drawing/2014/main" id="{C0E376A0-CA2C-4D24-90FA-63E0B72B8146}"/>
              </a:ext>
            </a:extLst>
          </p:cNvPr>
          <p:cNvSpPr>
            <a:spLocks noGrp="1"/>
          </p:cNvSpPr>
          <p:nvPr/>
        </p:nvSpPr>
        <p:spPr>
          <a:xfrm>
            <a:off x="1428750" y="2000250"/>
            <a:ext cx="6286500" cy="8572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expr PLUS · term</a:t>
            </a:r>
          </a:p>
        </p:txBody>
      </p:sp>
      <p:sp>
        <p:nvSpPr>
          <p:cNvPr id="7" name="item-left">
            <a:extLst>
              <a:ext uri="{FF2B5EF4-FFF2-40B4-BE49-F238E27FC236}">
                <a16:creationId xmlns:a16="http://schemas.microsoft.com/office/drawing/2014/main" id="{C88897C3-4BB1-4444-8D51-CAD6AECF1F72}"/>
              </a:ext>
            </a:extLst>
          </p:cNvPr>
          <p:cNvSpPr>
            <a:spLocks noGrp="1"/>
          </p:cNvSpPr>
          <p:nvPr/>
        </p:nvSpPr>
        <p:spPr>
          <a:xfrm>
            <a:off x="1095375" y="3238500"/>
            <a:ext cx="3333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C4384D"/>
                </a:solidFill>
              </a:defRPr>
            </a:pPr>
            <a:r>
              <a:rPr sz="1500" b="1">
                <a:solidFill>
                  <a:srgbClr val="C4384D"/>
                </a:solidFill>
              </a:rPr>
              <a:t>已经识别</a:t>
            </a:r>
          </a:p>
          <a:p>
            <a:pPr algn="ctr">
              <a:buNone/>
              <a:defRPr sz="1500" b="1">
                <a:solidFill>
                  <a:srgbClr val="C4384D"/>
                </a:solidFill>
              </a:defRPr>
            </a:pPr>
            <a:r>
              <a:rPr sz="1500" b="1">
                <a:solidFill>
                  <a:srgbClr val="C4384D"/>
                </a:solidFill>
              </a:rPr>
              <a:t>expr PLUS</a:t>
            </a:r>
          </a:p>
        </p:txBody>
      </p:sp>
      <p:sp>
        <p:nvSpPr>
          <p:cNvPr id="8" name="item-right">
            <a:extLst>
              <a:ext uri="{FF2B5EF4-FFF2-40B4-BE49-F238E27FC236}">
                <a16:creationId xmlns:a16="http://schemas.microsoft.com/office/drawing/2014/main" id="{FCF3DA95-7A39-49E1-A695-902EF4186D80}"/>
              </a:ext>
            </a:extLst>
          </p:cNvPr>
          <p:cNvSpPr>
            <a:spLocks noGrp="1"/>
          </p:cNvSpPr>
          <p:nvPr/>
        </p:nvSpPr>
        <p:spPr>
          <a:xfrm>
            <a:off x="4714875" y="3238500"/>
            <a:ext cx="3333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2D7C93"/>
                </a:solidFill>
              </a:defRPr>
            </a:pPr>
            <a:r>
              <a:rPr sz="1500" b="1">
                <a:solidFill>
                  <a:srgbClr val="2D7C93"/>
                </a:solidFill>
              </a:rPr>
              <a:t>下一步期望</a:t>
            </a:r>
          </a:p>
          <a:p>
            <a:pPr algn="ctr">
              <a:buNone/>
              <a:defRPr sz="1500" b="1">
                <a:solidFill>
                  <a:srgbClr val="2D7C93"/>
                </a:solidFill>
              </a:defRPr>
            </a:pPr>
            <a:r>
              <a:rPr sz="1500" b="1">
                <a:solidFill>
                  <a:srgbClr val="2D7C93"/>
                </a:solidFill>
              </a:rPr>
              <a:t>term</a:t>
            </a:r>
          </a:p>
        </p:txBody>
      </p:sp>
      <p:sp>
        <p:nvSpPr>
          <p:cNvPr id="9" name="takeaway-29">
            <a:extLst>
              <a:ext uri="{FF2B5EF4-FFF2-40B4-BE49-F238E27FC236}">
                <a16:creationId xmlns:a16="http://schemas.microsoft.com/office/drawing/2014/main" id="{8B439E61-9C67-4D01-B58D-58E61AD42FE1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item 不是新的语法规则，而是 Parser 对识别进度的记录。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同一条产生式，对应多个识别位置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A59AF09-D197-0193-A7DE-FAAF0B691058}" type="slidenum">
              <a:t>26</a:t>
            </a:fld>
            <a:endParaRPr/>
          </a:p>
        </p:txBody>
      </p:sp>
      <p:sp>
        <p:nvSpPr>
          <p:cNvPr id="5" name="item-0">
            <a:extLst>
              <a:ext uri="{FF2B5EF4-FFF2-40B4-BE49-F238E27FC236}">
                <a16:creationId xmlns:a16="http://schemas.microsoft.com/office/drawing/2014/main" id="{A4CB053B-E2EE-45B9-BDD3-0AF5F11957F6}"/>
              </a:ext>
            </a:extLst>
          </p:cNvPr>
          <p:cNvSpPr>
            <a:spLocks noGrp="1"/>
          </p:cNvSpPr>
          <p:nvPr/>
        </p:nvSpPr>
        <p:spPr>
          <a:xfrm>
            <a:off x="762000" y="1571625"/>
            <a:ext cx="4476750" cy="5524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· expr PLUS term</a:t>
            </a:r>
          </a:p>
        </p:txBody>
      </p:sp>
      <p:sp>
        <p:nvSpPr>
          <p:cNvPr id="6" name="item-note-0">
            <a:extLst>
              <a:ext uri="{FF2B5EF4-FFF2-40B4-BE49-F238E27FC236}">
                <a16:creationId xmlns:a16="http://schemas.microsoft.com/office/drawing/2014/main" id="{7FB2BCEE-F543-4ABF-A6E1-E8A8256EBE63}"/>
              </a:ext>
            </a:extLst>
          </p:cNvPr>
          <p:cNvSpPr>
            <a:spLocks noGrp="1"/>
          </p:cNvSpPr>
          <p:nvPr/>
        </p:nvSpPr>
        <p:spPr>
          <a:xfrm>
            <a:off x="5572125" y="1628775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13" b="0">
                <a:solidFill>
                  <a:srgbClr val="454545"/>
                </a:solidFill>
              </a:defRPr>
            </a:pPr>
            <a:r>
              <a:rPr sz="1313" b="0">
                <a:solidFill>
                  <a:srgbClr val="454545"/>
                </a:solidFill>
              </a:rPr>
              <a:t>尚未识别任何符号</a:t>
            </a:r>
          </a:p>
        </p:txBody>
      </p:sp>
      <p:sp>
        <p:nvSpPr>
          <p:cNvPr id="7" name="item-1">
            <a:extLst>
              <a:ext uri="{FF2B5EF4-FFF2-40B4-BE49-F238E27FC236}">
                <a16:creationId xmlns:a16="http://schemas.microsoft.com/office/drawing/2014/main" id="{822863ED-F35A-45E4-B469-958747BE1A4D}"/>
              </a:ext>
            </a:extLst>
          </p:cNvPr>
          <p:cNvSpPr>
            <a:spLocks noGrp="1"/>
          </p:cNvSpPr>
          <p:nvPr/>
        </p:nvSpPr>
        <p:spPr>
          <a:xfrm>
            <a:off x="762000" y="2352675"/>
            <a:ext cx="4476750" cy="5524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expr · PLUS term</a:t>
            </a:r>
          </a:p>
        </p:txBody>
      </p:sp>
      <p:sp>
        <p:nvSpPr>
          <p:cNvPr id="8" name="item-note-1">
            <a:extLst>
              <a:ext uri="{FF2B5EF4-FFF2-40B4-BE49-F238E27FC236}">
                <a16:creationId xmlns:a16="http://schemas.microsoft.com/office/drawing/2014/main" id="{495637E9-A904-4F48-AA2C-959491657C96}"/>
              </a:ext>
            </a:extLst>
          </p:cNvPr>
          <p:cNvSpPr>
            <a:spLocks noGrp="1"/>
          </p:cNvSpPr>
          <p:nvPr/>
        </p:nvSpPr>
        <p:spPr>
          <a:xfrm>
            <a:off x="5572125" y="2409825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13" b="0">
                <a:solidFill>
                  <a:srgbClr val="454545"/>
                </a:solidFill>
              </a:defRPr>
            </a:pPr>
            <a:r>
              <a:rPr sz="1313" b="0">
                <a:solidFill>
                  <a:srgbClr val="454545"/>
                </a:solidFill>
              </a:rPr>
              <a:t>已经识别 expr</a:t>
            </a:r>
          </a:p>
        </p:txBody>
      </p:sp>
      <p:sp>
        <p:nvSpPr>
          <p:cNvPr id="9" name="item-2">
            <a:extLst>
              <a:ext uri="{FF2B5EF4-FFF2-40B4-BE49-F238E27FC236}">
                <a16:creationId xmlns:a16="http://schemas.microsoft.com/office/drawing/2014/main" id="{8C5D13BC-82F4-4AD5-9161-A4A187AA4A72}"/>
              </a:ext>
            </a:extLst>
          </p:cNvPr>
          <p:cNvSpPr>
            <a:spLocks noGrp="1"/>
          </p:cNvSpPr>
          <p:nvPr/>
        </p:nvSpPr>
        <p:spPr>
          <a:xfrm>
            <a:off x="762000" y="3133725"/>
            <a:ext cx="4476750" cy="5524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expr PLUS · term</a:t>
            </a:r>
          </a:p>
        </p:txBody>
      </p:sp>
      <p:sp>
        <p:nvSpPr>
          <p:cNvPr id="10" name="item-note-2">
            <a:extLst>
              <a:ext uri="{FF2B5EF4-FFF2-40B4-BE49-F238E27FC236}">
                <a16:creationId xmlns:a16="http://schemas.microsoft.com/office/drawing/2014/main" id="{BCEB6FE4-2526-4B3B-A30B-510A45FD7FCA}"/>
              </a:ext>
            </a:extLst>
          </p:cNvPr>
          <p:cNvSpPr>
            <a:spLocks noGrp="1"/>
          </p:cNvSpPr>
          <p:nvPr/>
        </p:nvSpPr>
        <p:spPr>
          <a:xfrm>
            <a:off x="5572125" y="3190875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13" b="0">
                <a:solidFill>
                  <a:srgbClr val="454545"/>
                </a:solidFill>
              </a:defRPr>
            </a:pPr>
            <a:r>
              <a:rPr sz="1313" b="0">
                <a:solidFill>
                  <a:srgbClr val="454545"/>
                </a:solidFill>
              </a:rPr>
              <a:t>已经识别 expr PLUS</a:t>
            </a:r>
          </a:p>
        </p:txBody>
      </p:sp>
      <p:sp>
        <p:nvSpPr>
          <p:cNvPr id="11" name="item-3">
            <a:extLst>
              <a:ext uri="{FF2B5EF4-FFF2-40B4-BE49-F238E27FC236}">
                <a16:creationId xmlns:a16="http://schemas.microsoft.com/office/drawing/2014/main" id="{B7FFE2D8-71E4-42E7-9467-9954C661732D}"/>
              </a:ext>
            </a:extLst>
          </p:cNvPr>
          <p:cNvSpPr>
            <a:spLocks noGrp="1"/>
          </p:cNvSpPr>
          <p:nvPr/>
        </p:nvSpPr>
        <p:spPr>
          <a:xfrm>
            <a:off x="762000" y="3914775"/>
            <a:ext cx="4476750" cy="5524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expr PLUS term ·</a:t>
            </a:r>
          </a:p>
        </p:txBody>
      </p:sp>
      <p:sp>
        <p:nvSpPr>
          <p:cNvPr id="12" name="item-note-3">
            <a:extLst>
              <a:ext uri="{FF2B5EF4-FFF2-40B4-BE49-F238E27FC236}">
                <a16:creationId xmlns:a16="http://schemas.microsoft.com/office/drawing/2014/main" id="{1615DCDA-4EAF-4393-B03F-50FE9CDAB1F6}"/>
              </a:ext>
            </a:extLst>
          </p:cNvPr>
          <p:cNvSpPr>
            <a:spLocks noGrp="1"/>
          </p:cNvSpPr>
          <p:nvPr/>
        </p:nvSpPr>
        <p:spPr>
          <a:xfrm>
            <a:off x="5572125" y="3971925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右侧完成，可以 reduce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一个状态为什么包含多个 item？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F3AE1AE4-D79E-94D6-E825-3FC6C21A77D2}" type="slidenum">
              <a:t>27</a:t>
            </a:fld>
            <a:endParaRPr/>
          </a:p>
        </p:txBody>
      </p:sp>
      <p:sp>
        <p:nvSpPr>
          <p:cNvPr id="5" name="subtitle-25">
            <a:extLst>
              <a:ext uri="{FF2B5EF4-FFF2-40B4-BE49-F238E27FC236}">
                <a16:creationId xmlns:a16="http://schemas.microsoft.com/office/drawing/2014/main" id="{E8EC6C6C-84AA-41A4-A7CE-56645F2520F3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同一输入前缀可能同时符合多条产生式的开头；Parser 必须保留所有可能进展。 </a:t>
            </a:r>
          </a:p>
        </p:txBody>
      </p:sp>
      <p:sp>
        <p:nvSpPr>
          <p:cNvPr id="6" name="multi-state-box">
            <a:extLst>
              <a:ext uri="{FF2B5EF4-FFF2-40B4-BE49-F238E27FC236}">
                <a16:creationId xmlns:a16="http://schemas.microsoft.com/office/drawing/2014/main" id="{6467561C-0307-4CDC-92B9-3A684A53DE89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3429000" cy="1314450"/>
          </a:xfrm>
          <a:prstGeom prst="roundRect">
            <a:avLst>
              <a:gd name="adj" fmla="val 5797"/>
            </a:avLst>
          </a:prstGeom>
          <a:solidFill>
            <a:srgbClr val="FCEEF0"/>
          </a:solidFill>
          <a:ln w="12383">
            <a:solidFill>
              <a:srgbClr val="C4384D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7" name="multi-state-title">
            <a:extLst>
              <a:ext uri="{FF2B5EF4-FFF2-40B4-BE49-F238E27FC236}">
                <a16:creationId xmlns:a16="http://schemas.microsoft.com/office/drawing/2014/main" id="{427F2041-60D0-4C50-8416-6F39ED1B56FD}"/>
              </a:ext>
            </a:extLst>
          </p:cNvPr>
          <p:cNvSpPr>
            <a:spLocks noGrp="1"/>
          </p:cNvSpPr>
          <p:nvPr/>
        </p:nvSpPr>
        <p:spPr>
          <a:xfrm>
            <a:off x="1162050" y="1885950"/>
            <a:ext cx="320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I₀</a:t>
            </a:r>
          </a:p>
        </p:txBody>
      </p:sp>
      <p:sp>
        <p:nvSpPr>
          <p:cNvPr id="8" name="multi-state-items">
            <a:extLst>
              <a:ext uri="{FF2B5EF4-FFF2-40B4-BE49-F238E27FC236}">
                <a16:creationId xmlns:a16="http://schemas.microsoft.com/office/drawing/2014/main" id="{E044AC88-FF86-4BBA-B31F-D77C00B51A36}"/>
              </a:ext>
            </a:extLst>
          </p:cNvPr>
          <p:cNvSpPr>
            <a:spLocks noGrp="1"/>
          </p:cNvSpPr>
          <p:nvPr/>
        </p:nvSpPr>
        <p:spPr>
          <a:xfrm>
            <a:off x="1181100" y="2171700"/>
            <a:ext cx="31623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start → · expr</a:t>
            </a:r>
          </a:p>
          <a:p>
            <a:pPr algn="l">
              <a:buNone/>
              <a:defRPr sz="120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 → · expr PLUS term</a:t>
            </a:r>
          </a:p>
          <a:p>
            <a:pPr algn="l">
              <a:buNone/>
              <a:defRPr sz="120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 → · term</a:t>
            </a:r>
          </a:p>
          <a:p>
            <a:pPr algn="l">
              <a:buNone/>
              <a:defRPr sz="120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 → · INT</a:t>
            </a:r>
          </a:p>
        </p:txBody>
      </p:sp>
      <p:sp>
        <p:nvSpPr>
          <p:cNvPr id="9" name="multi-explain">
            <a:extLst>
              <a:ext uri="{FF2B5EF4-FFF2-40B4-BE49-F238E27FC236}">
                <a16:creationId xmlns:a16="http://schemas.microsoft.com/office/drawing/2014/main" id="{E9E03E2B-35E2-4F9D-AE3F-DBDC1E9A147A}"/>
              </a:ext>
            </a:extLst>
          </p:cNvPr>
          <p:cNvSpPr>
            <a:spLocks noGrp="1"/>
          </p:cNvSpPr>
          <p:nvPr/>
        </p:nvSpPr>
        <p:spPr>
          <a:xfrm>
            <a:off x="5095875" y="1905000"/>
            <a:ext cx="314325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>
                <a:solidFill>
                  <a:srgbClr val="454545"/>
                </a:solidFill>
              </a:defRPr>
            </a:pPr>
            <a:r>
              <a:rPr sz="1425">
                <a:solidFill>
                  <a:srgbClr val="454545"/>
                </a:solidFill>
              </a:rPr>
              <a:t>刚开始还不知道最终会使用哪条产生式。</a:t>
            </a:r>
          </a:p>
          <a:p>
            <a:endParaRPr sz="1425">
              <a:solidFill>
                <a:srgbClr val="454545"/>
              </a:solidFill>
            </a:endParaRPr>
          </a:p>
          <a:p>
            <a:pPr algn="l">
              <a:buNone/>
              <a:defRPr sz="1425">
                <a:solidFill>
                  <a:srgbClr val="454545"/>
                </a:solidFill>
              </a:defRPr>
            </a:pPr>
            <a:r>
              <a:rPr sz="1425">
                <a:solidFill>
                  <a:srgbClr val="454545"/>
                </a:solidFill>
              </a:rPr>
              <a:t>这些 item 共同描述：</a:t>
            </a:r>
          </a:p>
          <a:p>
            <a:pPr algn="l">
              <a:buNone/>
              <a:defRPr sz="1425">
                <a:solidFill>
                  <a:srgbClr val="454545"/>
                </a:solidFill>
              </a:defRPr>
            </a:pPr>
            <a:r>
              <a:rPr sz="1425">
                <a:solidFill>
                  <a:srgbClr val="454545"/>
                </a:solidFill>
              </a:rPr>
              <a:t>“从 start 开始，现在可能期望的符号为：expr、term 或 INT。”</a:t>
            </a:r>
          </a:p>
        </p:txBody>
      </p:sp>
      <p:sp>
        <p:nvSpPr>
          <p:cNvPr id="10" name="takeaway-31">
            <a:extLst>
              <a:ext uri="{FF2B5EF4-FFF2-40B4-BE49-F238E27FC236}">
                <a16:creationId xmlns:a16="http://schemas.microsoft.com/office/drawing/2014/main" id="{599BDE4A-4564-43F1-B8F0-278C6C4ACEC9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LR 状态是 item 的集合，不一定是单独一条产生式。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closure：把“期望的非终结符”继续展开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5AB55966-FA28-BC73-EA9E-53DF014DF033}" type="slidenum">
              <a:t>28</a:t>
            </a:fld>
            <a:endParaRPr/>
          </a:p>
        </p:txBody>
      </p:sp>
      <p:sp>
        <p:nvSpPr>
          <p:cNvPr id="5" name="subtitle-26">
            <a:extLst>
              <a:ext uri="{FF2B5EF4-FFF2-40B4-BE49-F238E27FC236}">
                <a16:creationId xmlns:a16="http://schemas.microsoft.com/office/drawing/2014/main" id="{E4F330FC-1369-4447-8FDA-1ED5632F1150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如果点后面是非终结符 A，就加入所有 A → · γ，并重复直到不再增加 item。 </a:t>
            </a:r>
          </a:p>
        </p:txBody>
      </p:sp>
      <p:sp>
        <p:nvSpPr>
          <p:cNvPr id="6" name="closure-seed">
            <a:extLst>
              <a:ext uri="{FF2B5EF4-FFF2-40B4-BE49-F238E27FC236}">
                <a16:creationId xmlns:a16="http://schemas.microsoft.com/office/drawing/2014/main" id="{47F743D8-9248-4F8B-B889-5F2FA1DC74F0}"/>
              </a:ext>
            </a:extLst>
          </p:cNvPr>
          <p:cNvSpPr>
            <a:spLocks noGrp="1"/>
          </p:cNvSpPr>
          <p:nvPr/>
        </p:nvSpPr>
        <p:spPr>
          <a:xfrm>
            <a:off x="647700" y="2257425"/>
            <a:ext cx="3238500" cy="6667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start → · expr</a:t>
            </a:r>
          </a:p>
        </p:txBody>
      </p:sp>
      <p:sp>
        <p:nvSpPr>
          <p:cNvPr id="7" name="closure-arrow">
            <a:extLst>
              <a:ext uri="{FF2B5EF4-FFF2-40B4-BE49-F238E27FC236}">
                <a16:creationId xmlns:a16="http://schemas.microsoft.com/office/drawing/2014/main" id="{99C03C24-14B4-4449-A9FC-2E58879ABAF1}"/>
              </a:ext>
            </a:extLst>
          </p:cNvPr>
          <p:cNvSpPr>
            <a:spLocks noGrp="1"/>
          </p:cNvSpPr>
          <p:nvPr/>
        </p:nvSpPr>
        <p:spPr>
          <a:xfrm>
            <a:off x="3981450" y="2352675"/>
            <a:ext cx="904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777777"/>
                </a:solidFill>
              </a:defRPr>
            </a:pPr>
            <a:r>
              <a:rPr sz="1350" b="1">
                <a:solidFill>
                  <a:srgbClr val="777777"/>
                </a:solidFill>
              </a:rPr>
              <a:t>closure</a:t>
            </a:r>
          </a:p>
        </p:txBody>
      </p:sp>
      <p:sp>
        <p:nvSpPr>
          <p:cNvPr id="8" name="closure-arr">
            <a:extLst>
              <a:ext uri="{FF2B5EF4-FFF2-40B4-BE49-F238E27FC236}">
                <a16:creationId xmlns:a16="http://schemas.microsoft.com/office/drawing/2014/main" id="{9AA447BC-F1B4-4A5E-9B8D-365841CDE356}"/>
              </a:ext>
            </a:extLst>
          </p:cNvPr>
          <p:cNvSpPr>
            <a:spLocks noGrp="1"/>
          </p:cNvSpPr>
          <p:nvPr/>
        </p:nvSpPr>
        <p:spPr>
          <a:xfrm>
            <a:off x="4243387" y="2486025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>
                <a:solidFill>
                  <a:srgbClr val="777777"/>
                </a:solidFill>
              </a:defRPr>
            </a:pPr>
            <a:r>
              <a:rPr sz="2100">
                <a:solidFill>
                  <a:srgbClr val="777777"/>
                </a:solidFill>
              </a:rPr>
              <a:t>→</a:t>
            </a:r>
          </a:p>
        </p:txBody>
      </p:sp>
      <p:sp>
        <p:nvSpPr>
          <p:cNvPr id="9" name="closure-result-box">
            <a:extLst>
              <a:ext uri="{FF2B5EF4-FFF2-40B4-BE49-F238E27FC236}">
                <a16:creationId xmlns:a16="http://schemas.microsoft.com/office/drawing/2014/main" id="{69026614-D57B-4667-BAC5-93EBDF0D7931}"/>
              </a:ext>
            </a:extLst>
          </p:cNvPr>
          <p:cNvSpPr>
            <a:spLocks noGrp="1"/>
          </p:cNvSpPr>
          <p:nvPr/>
        </p:nvSpPr>
        <p:spPr>
          <a:xfrm>
            <a:off x="5029200" y="2019300"/>
            <a:ext cx="3286125" cy="1314450"/>
          </a:xfrm>
          <a:prstGeom prst="roundRect">
            <a:avLst>
              <a:gd name="adj" fmla="val 5797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0" name="closure-result-title">
            <a:extLst>
              <a:ext uri="{FF2B5EF4-FFF2-40B4-BE49-F238E27FC236}">
                <a16:creationId xmlns:a16="http://schemas.microsoft.com/office/drawing/2014/main" id="{F241F6CD-95D6-4C6B-AFA2-D5FACCF3D429}"/>
              </a:ext>
            </a:extLst>
          </p:cNvPr>
          <p:cNvSpPr>
            <a:spLocks noGrp="1"/>
          </p:cNvSpPr>
          <p:nvPr/>
        </p:nvSpPr>
        <p:spPr>
          <a:xfrm>
            <a:off x="5143500" y="2095500"/>
            <a:ext cx="30575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I₀</a:t>
            </a:r>
          </a:p>
        </p:txBody>
      </p:sp>
      <p:sp>
        <p:nvSpPr>
          <p:cNvPr id="11" name="closure-result-items">
            <a:extLst>
              <a:ext uri="{FF2B5EF4-FFF2-40B4-BE49-F238E27FC236}">
                <a16:creationId xmlns:a16="http://schemas.microsoft.com/office/drawing/2014/main" id="{F48F2E12-E761-45DB-91FC-73B9E2FB3BF5}"/>
              </a:ext>
            </a:extLst>
          </p:cNvPr>
          <p:cNvSpPr>
            <a:spLocks noGrp="1"/>
          </p:cNvSpPr>
          <p:nvPr/>
        </p:nvSpPr>
        <p:spPr>
          <a:xfrm>
            <a:off x="5162550" y="2381250"/>
            <a:ext cx="30194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start → · expr</a:t>
            </a:r>
          </a:p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 → · expr PLUS term</a:t>
            </a:r>
          </a:p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 → · term</a:t>
            </a:r>
          </a:p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 → · INT</a:t>
            </a:r>
          </a:p>
        </p:txBody>
      </p:sp>
      <p:sp>
        <p:nvSpPr>
          <p:cNvPr id="12" name="takeaway-32">
            <a:extLst>
              <a:ext uri="{FF2B5EF4-FFF2-40B4-BE49-F238E27FC236}">
                <a16:creationId xmlns:a16="http://schemas.microsoft.com/office/drawing/2014/main" id="{94D230D7-5E55-4410-873E-D9E269C54776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如果是非终结符，那下个期望输入也可能是非终结符导出的结果，因此用closure展开。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4374"/>
          </a:bodyPr>
          <a:lstStyle/>
          <a:p>
            <a:r>
              <a:rPr>
                <a:latin typeface="Arial"/>
                <a:ea typeface="Arial"/>
                <a:cs typeface="Arial"/>
              </a:rPr>
              <a:t>goto(I, X)：识别一个符号后，点向右移动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02F15020-66A7-620A-7B7A-C05C4312DEAE}" type="slidenum">
              <a:t>29</a:t>
            </a:fld>
            <a:endParaRPr/>
          </a:p>
        </p:txBody>
      </p:sp>
      <p:sp>
        <p:nvSpPr>
          <p:cNvPr id="5" name="subtitle-27">
            <a:extLst>
              <a:ext uri="{FF2B5EF4-FFF2-40B4-BE49-F238E27FC236}">
                <a16:creationId xmlns:a16="http://schemas.microsoft.com/office/drawing/2014/main" id="{F0F11380-7F38-4EA0-93E0-9AE58A3FDD69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从状态 I 中找出点后面是 X 的 item，跨过 X，再对结果做 closure。 </a:t>
            </a:r>
          </a:p>
        </p:txBody>
      </p:sp>
      <p:sp>
        <p:nvSpPr>
          <p:cNvPr id="6" name="goto-before">
            <a:extLst>
              <a:ext uri="{FF2B5EF4-FFF2-40B4-BE49-F238E27FC236}">
                <a16:creationId xmlns:a16="http://schemas.microsoft.com/office/drawing/2014/main" id="{F90C8D36-1083-4A4A-A598-F29A55ACBC4E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3143250" cy="12382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· INT</a:t>
            </a:r>
          </a:p>
          <a:p>
            <a:endParaRPr sz="1425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ctr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· term</a:t>
            </a:r>
          </a:p>
        </p:txBody>
      </p:sp>
      <p:sp>
        <p:nvSpPr>
          <p:cNvPr id="7" name="goto-arrow">
            <a:extLst>
              <a:ext uri="{FF2B5EF4-FFF2-40B4-BE49-F238E27FC236}">
                <a16:creationId xmlns:a16="http://schemas.microsoft.com/office/drawing/2014/main" id="{179F4A3C-64B6-4855-AAFA-240008632DA3}"/>
              </a:ext>
            </a:extLst>
          </p:cNvPr>
          <p:cNvSpPr>
            <a:spLocks noGrp="1"/>
          </p:cNvSpPr>
          <p:nvPr/>
        </p:nvSpPr>
        <p:spPr>
          <a:xfrm>
            <a:off x="4000500" y="2286000"/>
            <a:ext cx="1143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777777"/>
                </a:solidFill>
              </a:defRPr>
            </a:pPr>
            <a:r>
              <a:rPr sz="1350" b="1">
                <a:solidFill>
                  <a:srgbClr val="777777"/>
                </a:solidFill>
              </a:rPr>
              <a:t>读到 INT</a:t>
            </a:r>
          </a:p>
          <a:p>
            <a:pPr algn="ctr">
              <a:buNone/>
              <a:defRPr sz="1350" b="1">
                <a:solidFill>
                  <a:srgbClr val="777777"/>
                </a:solidFill>
              </a:defRPr>
            </a:pPr>
            <a:r>
              <a:rPr sz="1350" b="1">
                <a:solidFill>
                  <a:srgbClr val="777777"/>
                </a:solidFill>
              </a:rPr>
              <a:t>→</a:t>
            </a:r>
          </a:p>
        </p:txBody>
      </p:sp>
      <p:sp>
        <p:nvSpPr>
          <p:cNvPr id="8" name="goto-after">
            <a:extLst>
              <a:ext uri="{FF2B5EF4-FFF2-40B4-BE49-F238E27FC236}">
                <a16:creationId xmlns:a16="http://schemas.microsoft.com/office/drawing/2014/main" id="{33348842-68C1-4F3A-82D3-C63BC253DF3E}"/>
              </a:ext>
            </a:extLst>
          </p:cNvPr>
          <p:cNvSpPr>
            <a:spLocks noGrp="1"/>
          </p:cNvSpPr>
          <p:nvPr/>
        </p:nvSpPr>
        <p:spPr>
          <a:xfrm>
            <a:off x="5238750" y="1952625"/>
            <a:ext cx="3143250" cy="12382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INT ·</a:t>
            </a:r>
          </a:p>
        </p:txBody>
      </p:sp>
      <p:sp>
        <p:nvSpPr>
          <p:cNvPr id="9" name="takeaway-33">
            <a:extLst>
              <a:ext uri="{FF2B5EF4-FFF2-40B4-BE49-F238E27FC236}">
                <a16:creationId xmlns:a16="http://schemas.microsoft.com/office/drawing/2014/main" id="{DE77EEC1-2763-42BF-947B-ED2D69A7AB5B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goto 生成的通常是另一个“状态”（是不是很熟悉）。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构造 I₀：从 start → · expr 做 closure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68AD4375-9F50-F53A-6F9F-DD8473067C05}" type="slidenum">
              <a:t>30</a:t>
            </a:fld>
            <a:endParaRPr/>
          </a:p>
        </p:txBody>
      </p:sp>
      <p:sp>
        <p:nvSpPr>
          <p:cNvPr id="5" name="i0-box">
            <a:extLst>
              <a:ext uri="{FF2B5EF4-FFF2-40B4-BE49-F238E27FC236}">
                <a16:creationId xmlns:a16="http://schemas.microsoft.com/office/drawing/2014/main" id="{EAFF3E2E-1AA0-48F6-AA80-7FBB2EC35A9A}"/>
              </a:ext>
            </a:extLst>
          </p:cNvPr>
          <p:cNvSpPr>
            <a:spLocks noGrp="1"/>
          </p:cNvSpPr>
          <p:nvPr/>
        </p:nvSpPr>
        <p:spPr>
          <a:xfrm>
            <a:off x="2809875" y="1666875"/>
            <a:ext cx="3524250" cy="1314450"/>
          </a:xfrm>
          <a:prstGeom prst="roundRect">
            <a:avLst>
              <a:gd name="adj" fmla="val 5797"/>
            </a:avLst>
          </a:prstGeom>
          <a:solidFill>
            <a:srgbClr val="FCEEF0"/>
          </a:solidFill>
          <a:ln w="12383">
            <a:solidFill>
              <a:srgbClr val="C4384D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6" name="i0-title">
            <a:extLst>
              <a:ext uri="{FF2B5EF4-FFF2-40B4-BE49-F238E27FC236}">
                <a16:creationId xmlns:a16="http://schemas.microsoft.com/office/drawing/2014/main" id="{AE4BD94E-DDF5-4728-9D35-DE06C02EE329}"/>
              </a:ext>
            </a:extLst>
          </p:cNvPr>
          <p:cNvSpPr>
            <a:spLocks noGrp="1"/>
          </p:cNvSpPr>
          <p:nvPr/>
        </p:nvSpPr>
        <p:spPr>
          <a:xfrm>
            <a:off x="2924175" y="1743075"/>
            <a:ext cx="3295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I₀</a:t>
            </a:r>
          </a:p>
        </p:txBody>
      </p:sp>
      <p:sp>
        <p:nvSpPr>
          <p:cNvPr id="7" name="i0-items">
            <a:extLst>
              <a:ext uri="{FF2B5EF4-FFF2-40B4-BE49-F238E27FC236}">
                <a16:creationId xmlns:a16="http://schemas.microsoft.com/office/drawing/2014/main" id="{56C31C7A-C5D5-400E-BBBC-DC424D478164}"/>
              </a:ext>
            </a:extLst>
          </p:cNvPr>
          <p:cNvSpPr>
            <a:spLocks noGrp="1"/>
          </p:cNvSpPr>
          <p:nvPr/>
        </p:nvSpPr>
        <p:spPr>
          <a:xfrm>
            <a:off x="2943225" y="2028825"/>
            <a:ext cx="32575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start → · expr</a:t>
            </a:r>
          </a:p>
          <a:p>
            <a:pPr algn="l">
              <a:buNone/>
              <a:defRPr sz="1275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 → · expr PLUS term</a:t>
            </a:r>
          </a:p>
          <a:p>
            <a:pPr algn="l">
              <a:buNone/>
              <a:defRPr sz="1275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 → · term</a:t>
            </a:r>
          </a:p>
          <a:p>
            <a:pPr algn="l">
              <a:buNone/>
              <a:defRPr sz="1275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 → · INT</a:t>
            </a:r>
          </a:p>
        </p:txBody>
      </p:sp>
      <p:sp>
        <p:nvSpPr>
          <p:cNvPr id="8" name="i0-question">
            <a:extLst>
              <a:ext uri="{FF2B5EF4-FFF2-40B4-BE49-F238E27FC236}">
                <a16:creationId xmlns:a16="http://schemas.microsoft.com/office/drawing/2014/main" id="{A7FAF86D-4685-4051-BCA4-CF972A9C9977}"/>
              </a:ext>
            </a:extLst>
          </p:cNvPr>
          <p:cNvSpPr>
            <a:spLocks noGrp="1"/>
          </p:cNvSpPr>
          <p:nvPr/>
        </p:nvSpPr>
        <p:spPr>
          <a:xfrm>
            <a:off x="1619250" y="40005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2D7C93"/>
                </a:solidFill>
              </a:defRPr>
            </a:pPr>
            <a:r>
              <a:rPr sz="1575" b="1">
                <a:solidFill>
                  <a:srgbClr val="2D7C93"/>
                </a:solidFill>
              </a:rPr>
              <a:t>点后面可能出现：expr、term、INT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从 I₀ 读到 INT：得到完成项 I₃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1680313-6E64-04FF-399A-57B7CADE95A9}" type="slidenum">
              <a:t>31</a:t>
            </a:fld>
            <a:endParaRPr/>
          </a:p>
        </p:txBody>
      </p:sp>
      <p:sp>
        <p:nvSpPr>
          <p:cNvPr id="5" name="i0-int-edge">
            <a:extLst>
              <a:ext uri="{FF2B5EF4-FFF2-40B4-BE49-F238E27FC236}">
                <a16:creationId xmlns:a16="http://schemas.microsoft.com/office/drawing/2014/main" id="{CA592FBD-AE42-48BE-A945-1FB67F5A1E9B}"/>
              </a:ext>
            </a:extLst>
          </p:cNvPr>
          <p:cNvSpPr>
            <a:spLocks noGrp="1"/>
          </p:cNvSpPr>
          <p:nvPr/>
        </p:nvSpPr>
        <p:spPr>
          <a:xfrm>
            <a:off x="4000500" y="2743200"/>
            <a:ext cx="1809750" cy="0"/>
          </a:xfrm>
          <a:prstGeom prst="line">
            <a:avLst/>
          </a:prstGeom>
          <a:noFill/>
          <a:ln w="19050">
            <a:solidFill>
              <a:srgbClr val="2D7C93"/>
            </a:solidFill>
            <a:prstDash val="solid"/>
          </a:ln>
        </p:spPr>
      </p:sp>
      <p:sp>
        <p:nvSpPr>
          <p:cNvPr id="6" name="i0-left-box">
            <a:extLst>
              <a:ext uri="{FF2B5EF4-FFF2-40B4-BE49-F238E27FC236}">
                <a16:creationId xmlns:a16="http://schemas.microsoft.com/office/drawing/2014/main" id="{374FE1BC-C220-4A37-93EE-4F3B5720DB3E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2952750" cy="1314450"/>
          </a:xfrm>
          <a:prstGeom prst="roundRect">
            <a:avLst>
              <a:gd name="adj" fmla="val 5797"/>
            </a:avLst>
          </a:prstGeom>
          <a:solidFill>
            <a:srgbClr val="FCEEF0"/>
          </a:solidFill>
          <a:ln w="12383">
            <a:solidFill>
              <a:srgbClr val="C4384D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7" name="i0-left-title">
            <a:extLst>
              <a:ext uri="{FF2B5EF4-FFF2-40B4-BE49-F238E27FC236}">
                <a16:creationId xmlns:a16="http://schemas.microsoft.com/office/drawing/2014/main" id="{12E3C30C-2EDA-4167-A690-5E412E7DCA48}"/>
              </a:ext>
            </a:extLst>
          </p:cNvPr>
          <p:cNvSpPr>
            <a:spLocks noGrp="1"/>
          </p:cNvSpPr>
          <p:nvPr/>
        </p:nvSpPr>
        <p:spPr>
          <a:xfrm>
            <a:off x="1162050" y="1790700"/>
            <a:ext cx="2724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I₀</a:t>
            </a:r>
          </a:p>
        </p:txBody>
      </p:sp>
      <p:sp>
        <p:nvSpPr>
          <p:cNvPr id="8" name="i0-left-items">
            <a:extLst>
              <a:ext uri="{FF2B5EF4-FFF2-40B4-BE49-F238E27FC236}">
                <a16:creationId xmlns:a16="http://schemas.microsoft.com/office/drawing/2014/main" id="{D3C753ED-47C0-4107-AA0D-B882DE66D75F}"/>
              </a:ext>
            </a:extLst>
          </p:cNvPr>
          <p:cNvSpPr>
            <a:spLocks noGrp="1"/>
          </p:cNvSpPr>
          <p:nvPr/>
        </p:nvSpPr>
        <p:spPr>
          <a:xfrm>
            <a:off x="1181100" y="2076450"/>
            <a:ext cx="26860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start → · expr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· expr PLUS term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· term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· INT</a:t>
            </a:r>
          </a:p>
        </p:txBody>
      </p:sp>
      <p:sp>
        <p:nvSpPr>
          <p:cNvPr id="9" name="i3-right-box">
            <a:extLst>
              <a:ext uri="{FF2B5EF4-FFF2-40B4-BE49-F238E27FC236}">
                <a16:creationId xmlns:a16="http://schemas.microsoft.com/office/drawing/2014/main" id="{47858D47-9AD4-45EA-B793-56663617FCCF}"/>
              </a:ext>
            </a:extLst>
          </p:cNvPr>
          <p:cNvSpPr>
            <a:spLocks noGrp="1"/>
          </p:cNvSpPr>
          <p:nvPr/>
        </p:nvSpPr>
        <p:spPr>
          <a:xfrm>
            <a:off x="5810250" y="2190750"/>
            <a:ext cx="2381250" cy="628650"/>
          </a:xfrm>
          <a:prstGeom prst="roundRect">
            <a:avLst>
              <a:gd name="adj" fmla="val 12121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0" name="i3-right-title">
            <a:extLst>
              <a:ext uri="{FF2B5EF4-FFF2-40B4-BE49-F238E27FC236}">
                <a16:creationId xmlns:a16="http://schemas.microsoft.com/office/drawing/2014/main" id="{96ED278B-1DC7-44C9-85B2-AFF154DE9E18}"/>
              </a:ext>
            </a:extLst>
          </p:cNvPr>
          <p:cNvSpPr>
            <a:spLocks noGrp="1"/>
          </p:cNvSpPr>
          <p:nvPr/>
        </p:nvSpPr>
        <p:spPr>
          <a:xfrm>
            <a:off x="5924550" y="2266950"/>
            <a:ext cx="2152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I₃</a:t>
            </a:r>
          </a:p>
        </p:txBody>
      </p:sp>
      <p:sp>
        <p:nvSpPr>
          <p:cNvPr id="11" name="i3-right-items">
            <a:extLst>
              <a:ext uri="{FF2B5EF4-FFF2-40B4-BE49-F238E27FC236}">
                <a16:creationId xmlns:a16="http://schemas.microsoft.com/office/drawing/2014/main" id="{E26DFE71-E0B2-403C-A9F7-E4878B8C8306}"/>
              </a:ext>
            </a:extLst>
          </p:cNvPr>
          <p:cNvSpPr>
            <a:spLocks noGrp="1"/>
          </p:cNvSpPr>
          <p:nvPr/>
        </p:nvSpPr>
        <p:spPr>
          <a:xfrm>
            <a:off x="5943600" y="2552700"/>
            <a:ext cx="2114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INT ·</a:t>
            </a:r>
          </a:p>
        </p:txBody>
      </p:sp>
      <p:sp>
        <p:nvSpPr>
          <p:cNvPr id="12" name="i0-int-label">
            <a:extLst>
              <a:ext uri="{FF2B5EF4-FFF2-40B4-BE49-F238E27FC236}">
                <a16:creationId xmlns:a16="http://schemas.microsoft.com/office/drawing/2014/main" id="{D3BB900A-AB32-4C38-88B3-361BF017F4D6}"/>
              </a:ext>
            </a:extLst>
          </p:cNvPr>
          <p:cNvSpPr>
            <a:spLocks noGrp="1"/>
          </p:cNvSpPr>
          <p:nvPr/>
        </p:nvSpPr>
        <p:spPr>
          <a:xfrm>
            <a:off x="4333875" y="2333625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INT</a:t>
            </a:r>
          </a:p>
        </p:txBody>
      </p:sp>
      <p:sp>
        <p:nvSpPr>
          <p:cNvPr id="13" name="takeaway-35">
            <a:extLst>
              <a:ext uri="{FF2B5EF4-FFF2-40B4-BE49-F238E27FC236}">
                <a16:creationId xmlns:a16="http://schemas.microsoft.com/office/drawing/2014/main" id="{19D506A9-878E-4A1B-8888-BD79B31D4FC8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I₃ 中点已到末尾：term → INT 已经可以归约。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从 I₀ 识别 term：得到 I₂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5FEBBBCE-9E16-527A-0EE3-E5839422D847}" type="slidenum">
              <a:t>32</a:t>
            </a:fld>
            <a:endParaRPr/>
          </a:p>
        </p:txBody>
      </p:sp>
      <p:sp>
        <p:nvSpPr>
          <p:cNvPr id="5" name="i0-term-edge">
            <a:extLst>
              <a:ext uri="{FF2B5EF4-FFF2-40B4-BE49-F238E27FC236}">
                <a16:creationId xmlns:a16="http://schemas.microsoft.com/office/drawing/2014/main" id="{59D0F480-E1CC-4C63-BFF8-B321FA768E15}"/>
              </a:ext>
            </a:extLst>
          </p:cNvPr>
          <p:cNvSpPr>
            <a:spLocks noGrp="1"/>
          </p:cNvSpPr>
          <p:nvPr/>
        </p:nvSpPr>
        <p:spPr>
          <a:xfrm>
            <a:off x="4000500" y="2743200"/>
            <a:ext cx="1809750" cy="0"/>
          </a:xfrm>
          <a:prstGeom prst="line">
            <a:avLst/>
          </a:prstGeom>
          <a:noFill/>
          <a:ln w="19050">
            <a:solidFill>
              <a:srgbClr val="2D7C93"/>
            </a:solidFill>
            <a:prstDash val="solid"/>
          </a:ln>
        </p:spPr>
      </p:sp>
      <p:sp>
        <p:nvSpPr>
          <p:cNvPr id="6" name="i0-left2-box">
            <a:extLst>
              <a:ext uri="{FF2B5EF4-FFF2-40B4-BE49-F238E27FC236}">
                <a16:creationId xmlns:a16="http://schemas.microsoft.com/office/drawing/2014/main" id="{3317FD2C-297C-49AC-BDE9-4DE8571E0327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2952750" cy="1314450"/>
          </a:xfrm>
          <a:prstGeom prst="roundRect">
            <a:avLst>
              <a:gd name="adj" fmla="val 5797"/>
            </a:avLst>
          </a:prstGeom>
          <a:solidFill>
            <a:srgbClr val="FCEEF0"/>
          </a:solidFill>
          <a:ln w="12383">
            <a:solidFill>
              <a:srgbClr val="C4384D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7" name="i0-left2-title">
            <a:extLst>
              <a:ext uri="{FF2B5EF4-FFF2-40B4-BE49-F238E27FC236}">
                <a16:creationId xmlns:a16="http://schemas.microsoft.com/office/drawing/2014/main" id="{7B4531B9-D795-4FDF-B763-644A6C64DCDC}"/>
              </a:ext>
            </a:extLst>
          </p:cNvPr>
          <p:cNvSpPr>
            <a:spLocks noGrp="1"/>
          </p:cNvSpPr>
          <p:nvPr/>
        </p:nvSpPr>
        <p:spPr>
          <a:xfrm>
            <a:off x="1162050" y="1790700"/>
            <a:ext cx="2724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I₀</a:t>
            </a:r>
          </a:p>
        </p:txBody>
      </p:sp>
      <p:sp>
        <p:nvSpPr>
          <p:cNvPr id="8" name="i0-left2-items">
            <a:extLst>
              <a:ext uri="{FF2B5EF4-FFF2-40B4-BE49-F238E27FC236}">
                <a16:creationId xmlns:a16="http://schemas.microsoft.com/office/drawing/2014/main" id="{D8D11E19-1C53-4998-9BB2-515BE8F9F2B5}"/>
              </a:ext>
            </a:extLst>
          </p:cNvPr>
          <p:cNvSpPr>
            <a:spLocks noGrp="1"/>
          </p:cNvSpPr>
          <p:nvPr/>
        </p:nvSpPr>
        <p:spPr>
          <a:xfrm>
            <a:off x="1181100" y="2076450"/>
            <a:ext cx="26860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start → · expr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· expr PLUS term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· term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· INT</a:t>
            </a:r>
          </a:p>
        </p:txBody>
      </p:sp>
      <p:sp>
        <p:nvSpPr>
          <p:cNvPr id="9" name="i2-right-box">
            <a:extLst>
              <a:ext uri="{FF2B5EF4-FFF2-40B4-BE49-F238E27FC236}">
                <a16:creationId xmlns:a16="http://schemas.microsoft.com/office/drawing/2014/main" id="{B91CF518-6AA6-4984-B788-B2E8EEA0AD24}"/>
              </a:ext>
            </a:extLst>
          </p:cNvPr>
          <p:cNvSpPr>
            <a:spLocks noGrp="1"/>
          </p:cNvSpPr>
          <p:nvPr/>
        </p:nvSpPr>
        <p:spPr>
          <a:xfrm>
            <a:off x="5810250" y="2190750"/>
            <a:ext cx="2381250" cy="628650"/>
          </a:xfrm>
          <a:prstGeom prst="roundRect">
            <a:avLst>
              <a:gd name="adj" fmla="val 12121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0" name="i2-right-title">
            <a:extLst>
              <a:ext uri="{FF2B5EF4-FFF2-40B4-BE49-F238E27FC236}">
                <a16:creationId xmlns:a16="http://schemas.microsoft.com/office/drawing/2014/main" id="{09F742CC-127B-4297-8CE8-9003B54A8F27}"/>
              </a:ext>
            </a:extLst>
          </p:cNvPr>
          <p:cNvSpPr>
            <a:spLocks noGrp="1"/>
          </p:cNvSpPr>
          <p:nvPr/>
        </p:nvSpPr>
        <p:spPr>
          <a:xfrm>
            <a:off x="5924550" y="2266950"/>
            <a:ext cx="2152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I₂</a:t>
            </a:r>
          </a:p>
        </p:txBody>
      </p:sp>
      <p:sp>
        <p:nvSpPr>
          <p:cNvPr id="11" name="i2-right-items">
            <a:extLst>
              <a:ext uri="{FF2B5EF4-FFF2-40B4-BE49-F238E27FC236}">
                <a16:creationId xmlns:a16="http://schemas.microsoft.com/office/drawing/2014/main" id="{7F2FACE3-DDBB-4CC2-9BA8-DF01D5981A62}"/>
              </a:ext>
            </a:extLst>
          </p:cNvPr>
          <p:cNvSpPr>
            <a:spLocks noGrp="1"/>
          </p:cNvSpPr>
          <p:nvPr/>
        </p:nvSpPr>
        <p:spPr>
          <a:xfrm>
            <a:off x="5943600" y="2552700"/>
            <a:ext cx="2114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term ·</a:t>
            </a:r>
          </a:p>
        </p:txBody>
      </p:sp>
      <p:sp>
        <p:nvSpPr>
          <p:cNvPr id="12" name="i0-term-label">
            <a:extLst>
              <a:ext uri="{FF2B5EF4-FFF2-40B4-BE49-F238E27FC236}">
                <a16:creationId xmlns:a16="http://schemas.microsoft.com/office/drawing/2014/main" id="{63219DC2-6449-4FFF-A172-A1F153B614B4}"/>
              </a:ext>
            </a:extLst>
          </p:cNvPr>
          <p:cNvSpPr>
            <a:spLocks noGrp="1"/>
          </p:cNvSpPr>
          <p:nvPr/>
        </p:nvSpPr>
        <p:spPr>
          <a:xfrm>
            <a:off x="4333875" y="2333625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term</a:t>
            </a:r>
          </a:p>
        </p:txBody>
      </p:sp>
      <p:sp>
        <p:nvSpPr>
          <p:cNvPr id="13" name="takeaway-36">
            <a:extLst>
              <a:ext uri="{FF2B5EF4-FFF2-40B4-BE49-F238E27FC236}">
                <a16:creationId xmlns:a16="http://schemas.microsoft.com/office/drawing/2014/main" id="{DB1F7BDA-B452-43C0-8325-A9E59C672396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I₂ 表示 expr → term 的右侧已经完成。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从 I₀ 识别 expr：得到 I₁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172A7C5-A0CC-7B36-F236-345181E6AD72}" type="slidenum">
              <a:t>33</a:t>
            </a:fld>
            <a:endParaRPr/>
          </a:p>
        </p:txBody>
      </p:sp>
      <p:sp>
        <p:nvSpPr>
          <p:cNvPr id="5" name="i0-expr-edge">
            <a:extLst>
              <a:ext uri="{FF2B5EF4-FFF2-40B4-BE49-F238E27FC236}">
                <a16:creationId xmlns:a16="http://schemas.microsoft.com/office/drawing/2014/main" id="{87F2AB5F-0C89-4322-A137-461C6E66516F}"/>
              </a:ext>
            </a:extLst>
          </p:cNvPr>
          <p:cNvSpPr>
            <a:spLocks noGrp="1"/>
          </p:cNvSpPr>
          <p:nvPr/>
        </p:nvSpPr>
        <p:spPr>
          <a:xfrm>
            <a:off x="4000500" y="2743200"/>
            <a:ext cx="1809750" cy="0"/>
          </a:xfrm>
          <a:prstGeom prst="line">
            <a:avLst/>
          </a:prstGeom>
          <a:noFill/>
          <a:ln w="19050">
            <a:solidFill>
              <a:srgbClr val="2D7C93"/>
            </a:solidFill>
            <a:prstDash val="solid"/>
          </a:ln>
        </p:spPr>
      </p:sp>
      <p:sp>
        <p:nvSpPr>
          <p:cNvPr id="6" name="i0-left3-box">
            <a:extLst>
              <a:ext uri="{FF2B5EF4-FFF2-40B4-BE49-F238E27FC236}">
                <a16:creationId xmlns:a16="http://schemas.microsoft.com/office/drawing/2014/main" id="{9C365861-21BC-49D9-A29E-3F296A551BE2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2952750" cy="1314450"/>
          </a:xfrm>
          <a:prstGeom prst="roundRect">
            <a:avLst>
              <a:gd name="adj" fmla="val 5797"/>
            </a:avLst>
          </a:prstGeom>
          <a:solidFill>
            <a:srgbClr val="FCEEF0"/>
          </a:solidFill>
          <a:ln w="12383">
            <a:solidFill>
              <a:srgbClr val="C4384D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7" name="i0-left3-title">
            <a:extLst>
              <a:ext uri="{FF2B5EF4-FFF2-40B4-BE49-F238E27FC236}">
                <a16:creationId xmlns:a16="http://schemas.microsoft.com/office/drawing/2014/main" id="{60EEEF82-4D7D-4C90-AC73-8FFDF6CCD96B}"/>
              </a:ext>
            </a:extLst>
          </p:cNvPr>
          <p:cNvSpPr>
            <a:spLocks noGrp="1"/>
          </p:cNvSpPr>
          <p:nvPr/>
        </p:nvSpPr>
        <p:spPr>
          <a:xfrm>
            <a:off x="1162050" y="1790700"/>
            <a:ext cx="2724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I₀</a:t>
            </a:r>
          </a:p>
        </p:txBody>
      </p:sp>
      <p:sp>
        <p:nvSpPr>
          <p:cNvPr id="8" name="i0-left3-items">
            <a:extLst>
              <a:ext uri="{FF2B5EF4-FFF2-40B4-BE49-F238E27FC236}">
                <a16:creationId xmlns:a16="http://schemas.microsoft.com/office/drawing/2014/main" id="{668D9D7F-A230-4AB5-9475-87CDCDB4EAB8}"/>
              </a:ext>
            </a:extLst>
          </p:cNvPr>
          <p:cNvSpPr>
            <a:spLocks noGrp="1"/>
          </p:cNvSpPr>
          <p:nvPr/>
        </p:nvSpPr>
        <p:spPr>
          <a:xfrm>
            <a:off x="1181100" y="2076450"/>
            <a:ext cx="26860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start → · expr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· expr PLUS term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· term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· INT</a:t>
            </a:r>
          </a:p>
        </p:txBody>
      </p:sp>
      <p:sp>
        <p:nvSpPr>
          <p:cNvPr id="9" name="i1-right-box">
            <a:extLst>
              <a:ext uri="{FF2B5EF4-FFF2-40B4-BE49-F238E27FC236}">
                <a16:creationId xmlns:a16="http://schemas.microsoft.com/office/drawing/2014/main" id="{61B4E0D0-A53C-4B37-B5E2-F2B36D72A2BF}"/>
              </a:ext>
            </a:extLst>
          </p:cNvPr>
          <p:cNvSpPr>
            <a:spLocks noGrp="1"/>
          </p:cNvSpPr>
          <p:nvPr/>
        </p:nvSpPr>
        <p:spPr>
          <a:xfrm>
            <a:off x="5667375" y="1952625"/>
            <a:ext cx="2714625" cy="857250"/>
          </a:xfrm>
          <a:prstGeom prst="roundRect">
            <a:avLst>
              <a:gd name="adj" fmla="val 8889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0" name="i1-right-title">
            <a:extLst>
              <a:ext uri="{FF2B5EF4-FFF2-40B4-BE49-F238E27FC236}">
                <a16:creationId xmlns:a16="http://schemas.microsoft.com/office/drawing/2014/main" id="{DE265A09-A54B-4EAF-B7B6-BD15A77288A9}"/>
              </a:ext>
            </a:extLst>
          </p:cNvPr>
          <p:cNvSpPr>
            <a:spLocks noGrp="1"/>
          </p:cNvSpPr>
          <p:nvPr/>
        </p:nvSpPr>
        <p:spPr>
          <a:xfrm>
            <a:off x="5781675" y="2028825"/>
            <a:ext cx="24860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I₁</a:t>
            </a:r>
          </a:p>
        </p:txBody>
      </p:sp>
      <p:sp>
        <p:nvSpPr>
          <p:cNvPr id="11" name="i1-right-items">
            <a:extLst>
              <a:ext uri="{FF2B5EF4-FFF2-40B4-BE49-F238E27FC236}">
                <a16:creationId xmlns:a16="http://schemas.microsoft.com/office/drawing/2014/main" id="{9E35A043-0E46-464B-A35B-E8BCB55C377E}"/>
              </a:ext>
            </a:extLst>
          </p:cNvPr>
          <p:cNvSpPr>
            <a:spLocks noGrp="1"/>
          </p:cNvSpPr>
          <p:nvPr/>
        </p:nvSpPr>
        <p:spPr>
          <a:xfrm>
            <a:off x="5800725" y="2314575"/>
            <a:ext cx="2447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start → expr ·</a:t>
            </a:r>
          </a:p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expr · PLUS term</a:t>
            </a:r>
          </a:p>
        </p:txBody>
      </p:sp>
      <p:sp>
        <p:nvSpPr>
          <p:cNvPr id="12" name="i0-expr-label">
            <a:extLst>
              <a:ext uri="{FF2B5EF4-FFF2-40B4-BE49-F238E27FC236}">
                <a16:creationId xmlns:a16="http://schemas.microsoft.com/office/drawing/2014/main" id="{2B59FA55-AB60-4471-92A9-4DABDC95D69E}"/>
              </a:ext>
            </a:extLst>
          </p:cNvPr>
          <p:cNvSpPr>
            <a:spLocks noGrp="1"/>
          </p:cNvSpPr>
          <p:nvPr/>
        </p:nvSpPr>
        <p:spPr>
          <a:xfrm>
            <a:off x="4333875" y="2333625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expr</a:t>
            </a:r>
          </a:p>
        </p:txBody>
      </p:sp>
      <p:sp>
        <p:nvSpPr>
          <p:cNvPr id="13" name="takeaway-37">
            <a:extLst>
              <a:ext uri="{FF2B5EF4-FFF2-40B4-BE49-F238E27FC236}">
                <a16:creationId xmlns:a16="http://schemas.microsoft.com/office/drawing/2014/main" id="{F799941C-4C62-41B9-90A4-2D0092A92827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I₁ 同时知道：整个 start 可以结束，也可能继续读取 PLUS。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9809"/>
          </a:bodyPr>
          <a:lstStyle/>
          <a:p>
            <a:r>
              <a:rPr>
                <a:latin typeface="Arial"/>
                <a:ea typeface="Arial"/>
                <a:cs typeface="Arial"/>
              </a:rPr>
              <a:t>从 I₁ 读到 PLUS：得到 I₄，并展开 term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66C3428B-053E-6B4E-39FF-75B44F3F33F6}" type="slidenum">
              <a:t>34</a:t>
            </a:fld>
            <a:endParaRPr/>
          </a:p>
        </p:txBody>
      </p:sp>
      <p:sp>
        <p:nvSpPr>
          <p:cNvPr id="5" name="i1-plus-edge">
            <a:extLst>
              <a:ext uri="{FF2B5EF4-FFF2-40B4-BE49-F238E27FC236}">
                <a16:creationId xmlns:a16="http://schemas.microsoft.com/office/drawing/2014/main" id="{96E576EF-D396-4949-A94B-BAF4B298EC64}"/>
              </a:ext>
            </a:extLst>
          </p:cNvPr>
          <p:cNvSpPr>
            <a:spLocks noGrp="1"/>
          </p:cNvSpPr>
          <p:nvPr/>
        </p:nvSpPr>
        <p:spPr>
          <a:xfrm>
            <a:off x="3857625" y="2686050"/>
            <a:ext cx="1857375" cy="0"/>
          </a:xfrm>
          <a:prstGeom prst="line">
            <a:avLst/>
          </a:prstGeom>
          <a:noFill/>
          <a:ln w="19050">
            <a:solidFill>
              <a:srgbClr val="2D7C93"/>
            </a:solidFill>
            <a:prstDash val="solid"/>
          </a:ln>
        </p:spPr>
      </p:sp>
      <p:sp>
        <p:nvSpPr>
          <p:cNvPr id="6" name="i1-left-box">
            <a:extLst>
              <a:ext uri="{FF2B5EF4-FFF2-40B4-BE49-F238E27FC236}">
                <a16:creationId xmlns:a16="http://schemas.microsoft.com/office/drawing/2014/main" id="{E00589B1-816D-4452-9EB1-4E0188175D48}"/>
              </a:ext>
            </a:extLst>
          </p:cNvPr>
          <p:cNvSpPr>
            <a:spLocks noGrp="1"/>
          </p:cNvSpPr>
          <p:nvPr/>
        </p:nvSpPr>
        <p:spPr>
          <a:xfrm>
            <a:off x="952500" y="2000250"/>
            <a:ext cx="2905125" cy="857250"/>
          </a:xfrm>
          <a:prstGeom prst="roundRect">
            <a:avLst>
              <a:gd name="adj" fmla="val 8889"/>
            </a:avLst>
          </a:prstGeom>
          <a:solidFill>
            <a:srgbClr val="FCEEF0"/>
          </a:solidFill>
          <a:ln w="12383">
            <a:solidFill>
              <a:srgbClr val="C4384D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7" name="i1-left-title">
            <a:extLst>
              <a:ext uri="{FF2B5EF4-FFF2-40B4-BE49-F238E27FC236}">
                <a16:creationId xmlns:a16="http://schemas.microsoft.com/office/drawing/2014/main" id="{382334FC-881A-4E44-B6A1-AE3D75DAC0D0}"/>
              </a:ext>
            </a:extLst>
          </p:cNvPr>
          <p:cNvSpPr>
            <a:spLocks noGrp="1"/>
          </p:cNvSpPr>
          <p:nvPr/>
        </p:nvSpPr>
        <p:spPr>
          <a:xfrm>
            <a:off x="1066800" y="2076450"/>
            <a:ext cx="26765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I₁</a:t>
            </a:r>
          </a:p>
        </p:txBody>
      </p:sp>
      <p:sp>
        <p:nvSpPr>
          <p:cNvPr id="8" name="i1-left-items">
            <a:extLst>
              <a:ext uri="{FF2B5EF4-FFF2-40B4-BE49-F238E27FC236}">
                <a16:creationId xmlns:a16="http://schemas.microsoft.com/office/drawing/2014/main" id="{45C0F759-620F-4609-BD0B-C86F42DAC86F}"/>
              </a:ext>
            </a:extLst>
          </p:cNvPr>
          <p:cNvSpPr>
            <a:spLocks noGrp="1"/>
          </p:cNvSpPr>
          <p:nvPr/>
        </p:nvSpPr>
        <p:spPr>
          <a:xfrm>
            <a:off x="1085850" y="2362200"/>
            <a:ext cx="26384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start → expr ·</a:t>
            </a:r>
          </a:p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expr · PLUS term</a:t>
            </a:r>
          </a:p>
        </p:txBody>
      </p:sp>
      <p:sp>
        <p:nvSpPr>
          <p:cNvPr id="9" name="i4-right-box">
            <a:extLst>
              <a:ext uri="{FF2B5EF4-FFF2-40B4-BE49-F238E27FC236}">
                <a16:creationId xmlns:a16="http://schemas.microsoft.com/office/drawing/2014/main" id="{EC09C081-2D69-457C-BB75-633EB50F73D3}"/>
              </a:ext>
            </a:extLst>
          </p:cNvPr>
          <p:cNvSpPr>
            <a:spLocks noGrp="1"/>
          </p:cNvSpPr>
          <p:nvPr/>
        </p:nvSpPr>
        <p:spPr>
          <a:xfrm>
            <a:off x="5715000" y="2000250"/>
            <a:ext cx="2714625" cy="857250"/>
          </a:xfrm>
          <a:prstGeom prst="roundRect">
            <a:avLst>
              <a:gd name="adj" fmla="val 8889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0" name="i4-right-title">
            <a:extLst>
              <a:ext uri="{FF2B5EF4-FFF2-40B4-BE49-F238E27FC236}">
                <a16:creationId xmlns:a16="http://schemas.microsoft.com/office/drawing/2014/main" id="{FEC09073-DFB2-4453-B6E9-48A930DE3596}"/>
              </a:ext>
            </a:extLst>
          </p:cNvPr>
          <p:cNvSpPr>
            <a:spLocks noGrp="1"/>
          </p:cNvSpPr>
          <p:nvPr/>
        </p:nvSpPr>
        <p:spPr>
          <a:xfrm>
            <a:off x="5829300" y="2076450"/>
            <a:ext cx="24860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I₄</a:t>
            </a:r>
          </a:p>
        </p:txBody>
      </p:sp>
      <p:sp>
        <p:nvSpPr>
          <p:cNvPr id="11" name="i4-right-items">
            <a:extLst>
              <a:ext uri="{FF2B5EF4-FFF2-40B4-BE49-F238E27FC236}">
                <a16:creationId xmlns:a16="http://schemas.microsoft.com/office/drawing/2014/main" id="{37746C6E-9E10-494A-A108-43121E99961F}"/>
              </a:ext>
            </a:extLst>
          </p:cNvPr>
          <p:cNvSpPr>
            <a:spLocks noGrp="1"/>
          </p:cNvSpPr>
          <p:nvPr/>
        </p:nvSpPr>
        <p:spPr>
          <a:xfrm>
            <a:off x="5848350" y="2362200"/>
            <a:ext cx="2447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expr PLUS · term</a:t>
            </a:r>
          </a:p>
          <a:p>
            <a:pPr algn="l">
              <a:buNone/>
              <a:defRPr sz="1125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· INT</a:t>
            </a:r>
          </a:p>
        </p:txBody>
      </p:sp>
      <p:sp>
        <p:nvSpPr>
          <p:cNvPr id="12" name="i1-plus-label">
            <a:extLst>
              <a:ext uri="{FF2B5EF4-FFF2-40B4-BE49-F238E27FC236}">
                <a16:creationId xmlns:a16="http://schemas.microsoft.com/office/drawing/2014/main" id="{B2BAB946-B4BE-4779-AFB2-9208148BF213}"/>
              </a:ext>
            </a:extLst>
          </p:cNvPr>
          <p:cNvSpPr>
            <a:spLocks noGrp="1"/>
          </p:cNvSpPr>
          <p:nvPr/>
        </p:nvSpPr>
        <p:spPr>
          <a:xfrm>
            <a:off x="4238625" y="2286000"/>
            <a:ext cx="104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PLUS</a:t>
            </a:r>
          </a:p>
        </p:txBody>
      </p:sp>
      <p:sp>
        <p:nvSpPr>
          <p:cNvPr id="13" name="takeaway-38">
            <a:extLst>
              <a:ext uri="{FF2B5EF4-FFF2-40B4-BE49-F238E27FC236}">
                <a16:creationId xmlns:a16="http://schemas.microsoft.com/office/drawing/2014/main" id="{5B06756D-D53C-480B-8DC6-0B906BB64050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点后期待 term，因此 closure 自动加入 term → · INT。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从 I₄ 继续：INT 回到 I₃，term 到达 I₅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59F9B2FD-F323-2D0A-D581-D6E61055F9A8}" type="slidenum">
              <a:t>35</a:t>
            </a:fld>
            <a:endParaRPr/>
          </a:p>
        </p:txBody>
      </p:sp>
      <p:sp>
        <p:nvSpPr>
          <p:cNvPr id="5" name="i4-int-edge">
            <a:extLst>
              <a:ext uri="{FF2B5EF4-FFF2-40B4-BE49-F238E27FC236}">
                <a16:creationId xmlns:a16="http://schemas.microsoft.com/office/drawing/2014/main" id="{9488C469-BAF9-4628-97FD-9C4C48B574B6}"/>
              </a:ext>
            </a:extLst>
          </p:cNvPr>
          <p:cNvSpPr>
            <a:spLocks noGrp="1"/>
          </p:cNvSpPr>
          <p:nvPr/>
        </p:nvSpPr>
        <p:spPr>
          <a:xfrm flipH="1">
            <a:off x="4000500" y="2000250"/>
            <a:ext cx="1905000" cy="666750"/>
          </a:xfrm>
          <a:prstGeom prst="line">
            <a:avLst/>
          </a:prstGeom>
          <a:noFill/>
          <a:ln w="19050">
            <a:solidFill>
              <a:srgbClr val="2D7C93"/>
            </a:solidFill>
            <a:prstDash val="solid"/>
          </a:ln>
        </p:spPr>
      </p:sp>
      <p:sp>
        <p:nvSpPr>
          <p:cNvPr id="6" name="i4-term-edge">
            <a:extLst>
              <a:ext uri="{FF2B5EF4-FFF2-40B4-BE49-F238E27FC236}">
                <a16:creationId xmlns:a16="http://schemas.microsoft.com/office/drawing/2014/main" id="{DE001279-E4C9-4317-8E34-F45D740F5C97}"/>
              </a:ext>
            </a:extLst>
          </p:cNvPr>
          <p:cNvSpPr>
            <a:spLocks noGrp="1"/>
          </p:cNvSpPr>
          <p:nvPr/>
        </p:nvSpPr>
        <p:spPr>
          <a:xfrm>
            <a:off x="4000500" y="2857500"/>
            <a:ext cx="1905000" cy="809625"/>
          </a:xfrm>
          <a:prstGeom prst="line">
            <a:avLst/>
          </a:prstGeom>
          <a:noFill/>
          <a:ln w="19050">
            <a:solidFill>
              <a:srgbClr val="2D7C93"/>
            </a:solidFill>
            <a:prstDash val="solid"/>
          </a:ln>
        </p:spPr>
      </p:sp>
      <p:sp>
        <p:nvSpPr>
          <p:cNvPr id="7" name="i4-left2-box">
            <a:extLst>
              <a:ext uri="{FF2B5EF4-FFF2-40B4-BE49-F238E27FC236}">
                <a16:creationId xmlns:a16="http://schemas.microsoft.com/office/drawing/2014/main" id="{AC8BCB9A-B2FE-40B8-ADF2-9F517A56B6D3}"/>
              </a:ext>
            </a:extLst>
          </p:cNvPr>
          <p:cNvSpPr>
            <a:spLocks noGrp="1"/>
          </p:cNvSpPr>
          <p:nvPr/>
        </p:nvSpPr>
        <p:spPr>
          <a:xfrm>
            <a:off x="1000125" y="2095500"/>
            <a:ext cx="3000375" cy="857250"/>
          </a:xfrm>
          <a:prstGeom prst="roundRect">
            <a:avLst>
              <a:gd name="adj" fmla="val 8889"/>
            </a:avLst>
          </a:prstGeom>
          <a:solidFill>
            <a:srgbClr val="FCEEF0"/>
          </a:solidFill>
          <a:ln w="12383">
            <a:solidFill>
              <a:srgbClr val="C4384D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8" name="i4-left2-title">
            <a:extLst>
              <a:ext uri="{FF2B5EF4-FFF2-40B4-BE49-F238E27FC236}">
                <a16:creationId xmlns:a16="http://schemas.microsoft.com/office/drawing/2014/main" id="{75F63864-703C-4320-816A-FA759051DCD1}"/>
              </a:ext>
            </a:extLst>
          </p:cNvPr>
          <p:cNvSpPr>
            <a:spLocks noGrp="1"/>
          </p:cNvSpPr>
          <p:nvPr/>
        </p:nvSpPr>
        <p:spPr>
          <a:xfrm>
            <a:off x="1114425" y="2171700"/>
            <a:ext cx="27717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I₄</a:t>
            </a:r>
          </a:p>
        </p:txBody>
      </p:sp>
      <p:sp>
        <p:nvSpPr>
          <p:cNvPr id="9" name="i4-left2-items">
            <a:extLst>
              <a:ext uri="{FF2B5EF4-FFF2-40B4-BE49-F238E27FC236}">
                <a16:creationId xmlns:a16="http://schemas.microsoft.com/office/drawing/2014/main" id="{D783F86C-1CBF-4D71-B67C-006BB8AA75AE}"/>
              </a:ext>
            </a:extLst>
          </p:cNvPr>
          <p:cNvSpPr>
            <a:spLocks noGrp="1"/>
          </p:cNvSpPr>
          <p:nvPr/>
        </p:nvSpPr>
        <p:spPr>
          <a:xfrm>
            <a:off x="1133475" y="2457450"/>
            <a:ext cx="27336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expr PLUS · term</a:t>
            </a:r>
          </a:p>
          <a:p>
            <a:pPr algn="l">
              <a:buNone/>
              <a:defRPr sz="1125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· INT</a:t>
            </a:r>
          </a:p>
        </p:txBody>
      </p:sp>
      <p:sp>
        <p:nvSpPr>
          <p:cNvPr id="10" name="i3-top-box">
            <a:extLst>
              <a:ext uri="{FF2B5EF4-FFF2-40B4-BE49-F238E27FC236}">
                <a16:creationId xmlns:a16="http://schemas.microsoft.com/office/drawing/2014/main" id="{FC9ABEBF-3E02-4BC3-B5AF-DFB2A3DD4176}"/>
              </a:ext>
            </a:extLst>
          </p:cNvPr>
          <p:cNvSpPr>
            <a:spLocks noGrp="1"/>
          </p:cNvSpPr>
          <p:nvPr/>
        </p:nvSpPr>
        <p:spPr>
          <a:xfrm>
            <a:off x="5905500" y="1476375"/>
            <a:ext cx="2333625" cy="628650"/>
          </a:xfrm>
          <a:prstGeom prst="roundRect">
            <a:avLst>
              <a:gd name="adj" fmla="val 12121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" name="i3-top-title">
            <a:extLst>
              <a:ext uri="{FF2B5EF4-FFF2-40B4-BE49-F238E27FC236}">
                <a16:creationId xmlns:a16="http://schemas.microsoft.com/office/drawing/2014/main" id="{E12623BC-4A9A-4812-B441-D470A9138D96}"/>
              </a:ext>
            </a:extLst>
          </p:cNvPr>
          <p:cNvSpPr>
            <a:spLocks noGrp="1"/>
          </p:cNvSpPr>
          <p:nvPr/>
        </p:nvSpPr>
        <p:spPr>
          <a:xfrm>
            <a:off x="6019800" y="1552575"/>
            <a:ext cx="21050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I₃</a:t>
            </a:r>
          </a:p>
        </p:txBody>
      </p:sp>
      <p:sp>
        <p:nvSpPr>
          <p:cNvPr id="12" name="i3-top-items">
            <a:extLst>
              <a:ext uri="{FF2B5EF4-FFF2-40B4-BE49-F238E27FC236}">
                <a16:creationId xmlns:a16="http://schemas.microsoft.com/office/drawing/2014/main" id="{E003021E-A554-4342-965A-C07398F3B123}"/>
              </a:ext>
            </a:extLst>
          </p:cNvPr>
          <p:cNvSpPr>
            <a:spLocks noGrp="1"/>
          </p:cNvSpPr>
          <p:nvPr/>
        </p:nvSpPr>
        <p:spPr>
          <a:xfrm>
            <a:off x="6038850" y="1838325"/>
            <a:ext cx="20669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INT ·</a:t>
            </a:r>
          </a:p>
        </p:txBody>
      </p:sp>
      <p:sp>
        <p:nvSpPr>
          <p:cNvPr id="13" name="i5-bottom-box">
            <a:extLst>
              <a:ext uri="{FF2B5EF4-FFF2-40B4-BE49-F238E27FC236}">
                <a16:creationId xmlns:a16="http://schemas.microsoft.com/office/drawing/2014/main" id="{157AE081-551A-462A-B309-AB16CE602393}"/>
              </a:ext>
            </a:extLst>
          </p:cNvPr>
          <p:cNvSpPr>
            <a:spLocks noGrp="1"/>
          </p:cNvSpPr>
          <p:nvPr/>
        </p:nvSpPr>
        <p:spPr>
          <a:xfrm>
            <a:off x="5905500" y="3333750"/>
            <a:ext cx="2333625" cy="628650"/>
          </a:xfrm>
          <a:prstGeom prst="roundRect">
            <a:avLst>
              <a:gd name="adj" fmla="val 12121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" name="i5-bottom-title">
            <a:extLst>
              <a:ext uri="{FF2B5EF4-FFF2-40B4-BE49-F238E27FC236}">
                <a16:creationId xmlns:a16="http://schemas.microsoft.com/office/drawing/2014/main" id="{7A094F44-FD58-445C-A492-63FA3294E89C}"/>
              </a:ext>
            </a:extLst>
          </p:cNvPr>
          <p:cNvSpPr>
            <a:spLocks noGrp="1"/>
          </p:cNvSpPr>
          <p:nvPr/>
        </p:nvSpPr>
        <p:spPr>
          <a:xfrm>
            <a:off x="6019800" y="3409950"/>
            <a:ext cx="21050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I₅</a:t>
            </a:r>
          </a:p>
        </p:txBody>
      </p:sp>
      <p:sp>
        <p:nvSpPr>
          <p:cNvPr id="15" name="i5-bottom-items">
            <a:extLst>
              <a:ext uri="{FF2B5EF4-FFF2-40B4-BE49-F238E27FC236}">
                <a16:creationId xmlns:a16="http://schemas.microsoft.com/office/drawing/2014/main" id="{A10576C6-D6C7-4995-AD16-8D49F9008465}"/>
              </a:ext>
            </a:extLst>
          </p:cNvPr>
          <p:cNvSpPr>
            <a:spLocks noGrp="1"/>
          </p:cNvSpPr>
          <p:nvPr/>
        </p:nvSpPr>
        <p:spPr>
          <a:xfrm>
            <a:off x="5905500" y="3695700"/>
            <a:ext cx="2333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expr PLUS term  ·</a:t>
            </a:r>
          </a:p>
        </p:txBody>
      </p:sp>
      <p:sp>
        <p:nvSpPr>
          <p:cNvPr id="16" name="i4-int-label">
            <a:extLst>
              <a:ext uri="{FF2B5EF4-FFF2-40B4-BE49-F238E27FC236}">
                <a16:creationId xmlns:a16="http://schemas.microsoft.com/office/drawing/2014/main" id="{5095257F-BD44-454B-8523-C695233C40DC}"/>
              </a:ext>
            </a:extLst>
          </p:cNvPr>
          <p:cNvSpPr>
            <a:spLocks noGrp="1"/>
          </p:cNvSpPr>
          <p:nvPr/>
        </p:nvSpPr>
        <p:spPr>
          <a:xfrm>
            <a:off x="4714875" y="1952625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INT</a:t>
            </a:r>
          </a:p>
        </p:txBody>
      </p:sp>
      <p:sp>
        <p:nvSpPr>
          <p:cNvPr id="17" name="i4-term-label">
            <a:extLst>
              <a:ext uri="{FF2B5EF4-FFF2-40B4-BE49-F238E27FC236}">
                <a16:creationId xmlns:a16="http://schemas.microsoft.com/office/drawing/2014/main" id="{404CBB3F-716C-49DD-814F-6FBE72934EED}"/>
              </a:ext>
            </a:extLst>
          </p:cNvPr>
          <p:cNvSpPr>
            <a:spLocks noGrp="1"/>
          </p:cNvSpPr>
          <p:nvPr/>
        </p:nvSpPr>
        <p:spPr>
          <a:xfrm>
            <a:off x="4572000" y="34290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term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完整 LR(0) 自动机：状态记录识别进度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6C2EC43-E3B9-C9B0-67FF-5447EB7F3925}" type="slidenum">
              <a:t>36</a:t>
            </a:fld>
            <a:endParaRPr/>
          </a:p>
        </p:txBody>
      </p:sp>
      <p:sp>
        <p:nvSpPr>
          <p:cNvPr id="5" name="subtitle-34">
            <a:extLst>
              <a:ext uri="{FF2B5EF4-FFF2-40B4-BE49-F238E27FC236}">
                <a16:creationId xmlns:a16="http://schemas.microsoft.com/office/drawing/2014/main" id="{A58E1C9A-52D1-4E66-BA2C-4F6C9BC35EA1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边上的符号表示“识别这个符号后进入哪个状态”。 </a:t>
            </a:r>
          </a:p>
        </p:txBody>
      </p:sp>
      <p:sp>
        <p:nvSpPr>
          <p:cNvPr id="6" name="dfa-e0-int">
            <a:extLst>
              <a:ext uri="{FF2B5EF4-FFF2-40B4-BE49-F238E27FC236}">
                <a16:creationId xmlns:a16="http://schemas.microsoft.com/office/drawing/2014/main" id="{E4B8F43E-A934-4FA2-8CF3-64BA5FC843E6}"/>
              </a:ext>
            </a:extLst>
          </p:cNvPr>
          <p:cNvSpPr>
            <a:spLocks noGrp="1"/>
          </p:cNvSpPr>
          <p:nvPr/>
        </p:nvSpPr>
        <p:spPr>
          <a:xfrm>
            <a:off x="2333625" y="3762906"/>
            <a:ext cx="952500" cy="809625"/>
          </a:xfrm>
          <a:prstGeom prst="line">
            <a:avLst/>
          </a:prstGeom>
          <a:noFill/>
          <a:ln w="14288">
            <a:solidFill>
              <a:srgbClr val="2D7C93"/>
            </a:solidFill>
            <a:prstDash val="solid"/>
          </a:ln>
        </p:spPr>
      </p:sp>
      <p:sp>
        <p:nvSpPr>
          <p:cNvPr id="7" name="dfa-e0-term">
            <a:extLst>
              <a:ext uri="{FF2B5EF4-FFF2-40B4-BE49-F238E27FC236}">
                <a16:creationId xmlns:a16="http://schemas.microsoft.com/office/drawing/2014/main" id="{ED9793AB-7FB1-4D30-ADAB-CB80456310C8}"/>
              </a:ext>
            </a:extLst>
          </p:cNvPr>
          <p:cNvSpPr>
            <a:spLocks noGrp="1"/>
          </p:cNvSpPr>
          <p:nvPr/>
        </p:nvSpPr>
        <p:spPr>
          <a:xfrm>
            <a:off x="2762250" y="3381906"/>
            <a:ext cx="1047750" cy="0"/>
          </a:xfrm>
          <a:prstGeom prst="line">
            <a:avLst/>
          </a:prstGeom>
          <a:noFill/>
          <a:ln w="14288">
            <a:solidFill>
              <a:srgbClr val="2D7C93"/>
            </a:solidFill>
            <a:prstDash val="solid"/>
          </a:ln>
        </p:spPr>
      </p:sp>
      <p:sp>
        <p:nvSpPr>
          <p:cNvPr id="8" name="dfa-e0-expr">
            <a:extLst>
              <a:ext uri="{FF2B5EF4-FFF2-40B4-BE49-F238E27FC236}">
                <a16:creationId xmlns:a16="http://schemas.microsoft.com/office/drawing/2014/main" id="{2713B4ED-FD03-4EB8-82CF-14168F42AA94}"/>
              </a:ext>
            </a:extLst>
          </p:cNvPr>
          <p:cNvSpPr>
            <a:spLocks noGrp="1"/>
          </p:cNvSpPr>
          <p:nvPr/>
        </p:nvSpPr>
        <p:spPr>
          <a:xfrm flipH="1">
            <a:off x="2333625" y="2429406"/>
            <a:ext cx="1285875" cy="476250"/>
          </a:xfrm>
          <a:prstGeom prst="line">
            <a:avLst/>
          </a:prstGeom>
          <a:noFill/>
          <a:ln w="14288">
            <a:solidFill>
              <a:srgbClr val="2D7C93"/>
            </a:solidFill>
            <a:prstDash val="solid"/>
          </a:ln>
        </p:spPr>
      </p:sp>
      <p:sp>
        <p:nvSpPr>
          <p:cNvPr id="9" name="dfa-e1-plus">
            <a:extLst>
              <a:ext uri="{FF2B5EF4-FFF2-40B4-BE49-F238E27FC236}">
                <a16:creationId xmlns:a16="http://schemas.microsoft.com/office/drawing/2014/main" id="{5F1C3A88-ED61-410A-B924-35DC83E251B7}"/>
              </a:ext>
            </a:extLst>
          </p:cNvPr>
          <p:cNvSpPr>
            <a:spLocks noGrp="1"/>
          </p:cNvSpPr>
          <p:nvPr/>
        </p:nvSpPr>
        <p:spPr>
          <a:xfrm>
            <a:off x="5334000" y="2477031"/>
            <a:ext cx="1143000" cy="523875"/>
          </a:xfrm>
          <a:prstGeom prst="line">
            <a:avLst/>
          </a:prstGeom>
          <a:noFill/>
          <a:ln w="14288">
            <a:solidFill>
              <a:srgbClr val="2D7C93"/>
            </a:solidFill>
            <a:prstDash val="solid"/>
          </a:ln>
        </p:spPr>
      </p:sp>
      <p:sp>
        <p:nvSpPr>
          <p:cNvPr id="10" name="dfa-e4-int">
            <a:extLst>
              <a:ext uri="{FF2B5EF4-FFF2-40B4-BE49-F238E27FC236}">
                <a16:creationId xmlns:a16="http://schemas.microsoft.com/office/drawing/2014/main" id="{0F1BDEA5-9DD7-4590-B0A9-764971CD4EC4}"/>
              </a:ext>
            </a:extLst>
          </p:cNvPr>
          <p:cNvSpPr>
            <a:spLocks noGrp="1"/>
          </p:cNvSpPr>
          <p:nvPr/>
        </p:nvSpPr>
        <p:spPr>
          <a:xfrm flipH="1">
            <a:off x="4762500" y="3762906"/>
            <a:ext cx="2238375" cy="904875"/>
          </a:xfrm>
          <a:prstGeom prst="line">
            <a:avLst/>
          </a:prstGeom>
          <a:noFill/>
          <a:ln w="14288">
            <a:solidFill>
              <a:srgbClr val="2D7C93"/>
            </a:solidFill>
            <a:prstDash val="solid"/>
          </a:ln>
        </p:spPr>
      </p:sp>
      <p:sp>
        <p:nvSpPr>
          <p:cNvPr id="11" name="dfa-e4-term">
            <a:extLst>
              <a:ext uri="{FF2B5EF4-FFF2-40B4-BE49-F238E27FC236}">
                <a16:creationId xmlns:a16="http://schemas.microsoft.com/office/drawing/2014/main" id="{584E0C95-3EC7-4F26-A105-A390292D4FC8}"/>
              </a:ext>
            </a:extLst>
          </p:cNvPr>
          <p:cNvSpPr>
            <a:spLocks noGrp="1"/>
          </p:cNvSpPr>
          <p:nvPr/>
        </p:nvSpPr>
        <p:spPr>
          <a:xfrm>
            <a:off x="7715250" y="3762906"/>
            <a:ext cx="95250" cy="714375"/>
          </a:xfrm>
          <a:prstGeom prst="line">
            <a:avLst/>
          </a:prstGeom>
          <a:noFill/>
          <a:ln w="14288">
            <a:solidFill>
              <a:srgbClr val="2D7C93"/>
            </a:solidFill>
            <a:prstDash val="solid"/>
          </a:ln>
        </p:spPr>
      </p:sp>
      <p:sp>
        <p:nvSpPr>
          <p:cNvPr id="12" name="dfa-i0-box">
            <a:extLst>
              <a:ext uri="{FF2B5EF4-FFF2-40B4-BE49-F238E27FC236}">
                <a16:creationId xmlns:a16="http://schemas.microsoft.com/office/drawing/2014/main" id="{7E1B3F90-0048-48EE-A7A4-0AD291156369}"/>
              </a:ext>
            </a:extLst>
          </p:cNvPr>
          <p:cNvSpPr>
            <a:spLocks noGrp="1"/>
          </p:cNvSpPr>
          <p:nvPr/>
        </p:nvSpPr>
        <p:spPr>
          <a:xfrm>
            <a:off x="666750" y="2524656"/>
            <a:ext cx="2095500" cy="1314450"/>
          </a:xfrm>
          <a:prstGeom prst="roundRect">
            <a:avLst>
              <a:gd name="adj" fmla="val 5797"/>
            </a:avLst>
          </a:prstGeom>
          <a:solidFill>
            <a:srgbClr val="FCEEF0"/>
          </a:solidFill>
          <a:ln w="12383">
            <a:solidFill>
              <a:srgbClr val="C4384D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" name="dfa-i0-title">
            <a:extLst>
              <a:ext uri="{FF2B5EF4-FFF2-40B4-BE49-F238E27FC236}">
                <a16:creationId xmlns:a16="http://schemas.microsoft.com/office/drawing/2014/main" id="{1F320D02-ECAF-41E4-AEBE-0A05FED765EB}"/>
              </a:ext>
            </a:extLst>
          </p:cNvPr>
          <p:cNvSpPr>
            <a:spLocks noGrp="1"/>
          </p:cNvSpPr>
          <p:nvPr/>
        </p:nvSpPr>
        <p:spPr>
          <a:xfrm>
            <a:off x="781050" y="2600856"/>
            <a:ext cx="1866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I₀</a:t>
            </a:r>
          </a:p>
        </p:txBody>
      </p:sp>
      <p:sp>
        <p:nvSpPr>
          <p:cNvPr id="14" name="dfa-i0-items">
            <a:extLst>
              <a:ext uri="{FF2B5EF4-FFF2-40B4-BE49-F238E27FC236}">
                <a16:creationId xmlns:a16="http://schemas.microsoft.com/office/drawing/2014/main" id="{2A0BB6FD-4A2E-4656-AAE5-94BBB67F615C}"/>
              </a:ext>
            </a:extLst>
          </p:cNvPr>
          <p:cNvSpPr>
            <a:spLocks noGrp="1"/>
          </p:cNvSpPr>
          <p:nvPr/>
        </p:nvSpPr>
        <p:spPr>
          <a:xfrm>
            <a:off x="800100" y="2886606"/>
            <a:ext cx="18288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4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40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start → · expr</a:t>
            </a:r>
          </a:p>
          <a:p>
            <a:pPr algn="l">
              <a:buNone/>
              <a:defRPr sz="84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4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· expr PLUS term</a:t>
            </a:r>
          </a:p>
          <a:p>
            <a:pPr algn="l">
              <a:buNone/>
              <a:defRPr sz="84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4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· term</a:t>
            </a:r>
          </a:p>
          <a:p>
            <a:pPr algn="l">
              <a:buNone/>
              <a:defRPr sz="84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4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· INT</a:t>
            </a:r>
          </a:p>
        </p:txBody>
      </p:sp>
      <p:sp>
        <p:nvSpPr>
          <p:cNvPr id="15" name="dfa-i1-box">
            <a:extLst>
              <a:ext uri="{FF2B5EF4-FFF2-40B4-BE49-F238E27FC236}">
                <a16:creationId xmlns:a16="http://schemas.microsoft.com/office/drawing/2014/main" id="{F8406323-AE00-4C1C-8008-C4FD0C7F1D53}"/>
              </a:ext>
            </a:extLst>
          </p:cNvPr>
          <p:cNvSpPr>
            <a:spLocks noGrp="1"/>
          </p:cNvSpPr>
          <p:nvPr/>
        </p:nvSpPr>
        <p:spPr>
          <a:xfrm>
            <a:off x="3619500" y="1905531"/>
            <a:ext cx="17145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6" name="dfa-i1-title">
            <a:extLst>
              <a:ext uri="{FF2B5EF4-FFF2-40B4-BE49-F238E27FC236}">
                <a16:creationId xmlns:a16="http://schemas.microsoft.com/office/drawing/2014/main" id="{41521268-E611-4217-BAEC-493383E9D668}"/>
              </a:ext>
            </a:extLst>
          </p:cNvPr>
          <p:cNvSpPr>
            <a:spLocks noGrp="1"/>
          </p:cNvSpPr>
          <p:nvPr/>
        </p:nvSpPr>
        <p:spPr>
          <a:xfrm>
            <a:off x="3733800" y="1981731"/>
            <a:ext cx="1485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I₁</a:t>
            </a:r>
          </a:p>
        </p:txBody>
      </p:sp>
      <p:sp>
        <p:nvSpPr>
          <p:cNvPr id="17" name="dfa-i1-items">
            <a:extLst>
              <a:ext uri="{FF2B5EF4-FFF2-40B4-BE49-F238E27FC236}">
                <a16:creationId xmlns:a16="http://schemas.microsoft.com/office/drawing/2014/main" id="{DD52AA2F-9397-46FD-8FBC-AD09012F58E2}"/>
              </a:ext>
            </a:extLst>
          </p:cNvPr>
          <p:cNvSpPr>
            <a:spLocks noGrp="1"/>
          </p:cNvSpPr>
          <p:nvPr/>
        </p:nvSpPr>
        <p:spPr>
          <a:xfrm>
            <a:off x="3752850" y="2267481"/>
            <a:ext cx="1447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7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788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start → expr ·</a:t>
            </a:r>
          </a:p>
          <a:p>
            <a:pPr algn="l">
              <a:buNone/>
              <a:defRPr sz="7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788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expr · PLUS term</a:t>
            </a:r>
          </a:p>
        </p:txBody>
      </p:sp>
      <p:sp>
        <p:nvSpPr>
          <p:cNvPr id="18" name="dfa-i2-box">
            <a:extLst>
              <a:ext uri="{FF2B5EF4-FFF2-40B4-BE49-F238E27FC236}">
                <a16:creationId xmlns:a16="http://schemas.microsoft.com/office/drawing/2014/main" id="{F889AB0D-2105-4142-B5F0-39759612CBF3}"/>
              </a:ext>
            </a:extLst>
          </p:cNvPr>
          <p:cNvSpPr>
            <a:spLocks noGrp="1"/>
          </p:cNvSpPr>
          <p:nvPr/>
        </p:nvSpPr>
        <p:spPr>
          <a:xfrm>
            <a:off x="3810000" y="3048531"/>
            <a:ext cx="16192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9" name="dfa-i2-title">
            <a:extLst>
              <a:ext uri="{FF2B5EF4-FFF2-40B4-BE49-F238E27FC236}">
                <a16:creationId xmlns:a16="http://schemas.microsoft.com/office/drawing/2014/main" id="{F3ACC162-416D-4483-B7C7-8748F95A16B9}"/>
              </a:ext>
            </a:extLst>
          </p:cNvPr>
          <p:cNvSpPr>
            <a:spLocks noGrp="1"/>
          </p:cNvSpPr>
          <p:nvPr/>
        </p:nvSpPr>
        <p:spPr>
          <a:xfrm>
            <a:off x="3924300" y="3124731"/>
            <a:ext cx="1390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I₂</a:t>
            </a:r>
          </a:p>
        </p:txBody>
      </p:sp>
      <p:sp>
        <p:nvSpPr>
          <p:cNvPr id="20" name="dfa-i2-items">
            <a:extLst>
              <a:ext uri="{FF2B5EF4-FFF2-40B4-BE49-F238E27FC236}">
                <a16:creationId xmlns:a16="http://schemas.microsoft.com/office/drawing/2014/main" id="{FF6675D7-934E-446D-82C3-82B56028FA15}"/>
              </a:ext>
            </a:extLst>
          </p:cNvPr>
          <p:cNvSpPr>
            <a:spLocks noGrp="1"/>
          </p:cNvSpPr>
          <p:nvPr/>
        </p:nvSpPr>
        <p:spPr>
          <a:xfrm>
            <a:off x="3943350" y="3410481"/>
            <a:ext cx="1352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term ·</a:t>
            </a:r>
          </a:p>
        </p:txBody>
      </p:sp>
      <p:sp>
        <p:nvSpPr>
          <p:cNvPr id="21" name="dfa-i3-box">
            <a:extLst>
              <a:ext uri="{FF2B5EF4-FFF2-40B4-BE49-F238E27FC236}">
                <a16:creationId xmlns:a16="http://schemas.microsoft.com/office/drawing/2014/main" id="{F663CC4E-A907-4B45-96B5-C32A2CAC88C7}"/>
              </a:ext>
            </a:extLst>
          </p:cNvPr>
          <p:cNvSpPr>
            <a:spLocks noGrp="1"/>
          </p:cNvSpPr>
          <p:nvPr/>
        </p:nvSpPr>
        <p:spPr>
          <a:xfrm>
            <a:off x="3286125" y="4382031"/>
            <a:ext cx="16192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2" name="dfa-i3-title">
            <a:extLst>
              <a:ext uri="{FF2B5EF4-FFF2-40B4-BE49-F238E27FC236}">
                <a16:creationId xmlns:a16="http://schemas.microsoft.com/office/drawing/2014/main" id="{5A9777AC-DB07-4E40-84B9-E0F2CA9947CE}"/>
              </a:ext>
            </a:extLst>
          </p:cNvPr>
          <p:cNvSpPr>
            <a:spLocks noGrp="1"/>
          </p:cNvSpPr>
          <p:nvPr/>
        </p:nvSpPr>
        <p:spPr>
          <a:xfrm>
            <a:off x="3400425" y="4458231"/>
            <a:ext cx="1390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I₃</a:t>
            </a:r>
          </a:p>
        </p:txBody>
      </p:sp>
      <p:sp>
        <p:nvSpPr>
          <p:cNvPr id="23" name="dfa-i3-items">
            <a:extLst>
              <a:ext uri="{FF2B5EF4-FFF2-40B4-BE49-F238E27FC236}">
                <a16:creationId xmlns:a16="http://schemas.microsoft.com/office/drawing/2014/main" id="{D8F6662F-CDAD-42A9-B94A-D5AB5E8ED0B8}"/>
              </a:ext>
            </a:extLst>
          </p:cNvPr>
          <p:cNvSpPr>
            <a:spLocks noGrp="1"/>
          </p:cNvSpPr>
          <p:nvPr/>
        </p:nvSpPr>
        <p:spPr>
          <a:xfrm>
            <a:off x="3419475" y="4743981"/>
            <a:ext cx="1352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INT ·</a:t>
            </a:r>
          </a:p>
        </p:txBody>
      </p:sp>
      <p:sp>
        <p:nvSpPr>
          <p:cNvPr id="24" name="dfa-i4-box">
            <a:extLst>
              <a:ext uri="{FF2B5EF4-FFF2-40B4-BE49-F238E27FC236}">
                <a16:creationId xmlns:a16="http://schemas.microsoft.com/office/drawing/2014/main" id="{25C93374-9A57-4E17-AB42-B18CB56DB091}"/>
              </a:ext>
            </a:extLst>
          </p:cNvPr>
          <p:cNvSpPr>
            <a:spLocks noGrp="1"/>
          </p:cNvSpPr>
          <p:nvPr/>
        </p:nvSpPr>
        <p:spPr>
          <a:xfrm>
            <a:off x="6477000" y="2905656"/>
            <a:ext cx="1952625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5" name="dfa-i4-title">
            <a:extLst>
              <a:ext uri="{FF2B5EF4-FFF2-40B4-BE49-F238E27FC236}">
                <a16:creationId xmlns:a16="http://schemas.microsoft.com/office/drawing/2014/main" id="{9C9939C6-462E-4188-98B7-68A0A37BECB7}"/>
              </a:ext>
            </a:extLst>
          </p:cNvPr>
          <p:cNvSpPr>
            <a:spLocks noGrp="1"/>
          </p:cNvSpPr>
          <p:nvPr/>
        </p:nvSpPr>
        <p:spPr>
          <a:xfrm>
            <a:off x="6591300" y="2981856"/>
            <a:ext cx="17240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I₄</a:t>
            </a:r>
          </a:p>
        </p:txBody>
      </p:sp>
      <p:sp>
        <p:nvSpPr>
          <p:cNvPr id="26" name="dfa-i4-items">
            <a:extLst>
              <a:ext uri="{FF2B5EF4-FFF2-40B4-BE49-F238E27FC236}">
                <a16:creationId xmlns:a16="http://schemas.microsoft.com/office/drawing/2014/main" id="{D4C789F5-E23F-4EB0-84DC-F15F66FDA368}"/>
              </a:ext>
            </a:extLst>
          </p:cNvPr>
          <p:cNvSpPr>
            <a:spLocks noGrp="1"/>
          </p:cNvSpPr>
          <p:nvPr/>
        </p:nvSpPr>
        <p:spPr>
          <a:xfrm>
            <a:off x="6610350" y="3267606"/>
            <a:ext cx="1685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7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788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expr PLUS · term</a:t>
            </a:r>
          </a:p>
          <a:p>
            <a:pPr algn="l">
              <a:buNone/>
              <a:defRPr sz="7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788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· INT</a:t>
            </a:r>
          </a:p>
        </p:txBody>
      </p:sp>
      <p:sp>
        <p:nvSpPr>
          <p:cNvPr id="27" name="dfa-i5-box">
            <a:extLst>
              <a:ext uri="{FF2B5EF4-FFF2-40B4-BE49-F238E27FC236}">
                <a16:creationId xmlns:a16="http://schemas.microsoft.com/office/drawing/2014/main" id="{D1FA0928-9B9C-4ABE-BAA4-6F125993BC7E}"/>
              </a:ext>
            </a:extLst>
          </p:cNvPr>
          <p:cNvSpPr>
            <a:spLocks noGrp="1"/>
          </p:cNvSpPr>
          <p:nvPr/>
        </p:nvSpPr>
        <p:spPr>
          <a:xfrm>
            <a:off x="7096125" y="4286781"/>
            <a:ext cx="18097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8" name="dfa-i5-title">
            <a:extLst>
              <a:ext uri="{FF2B5EF4-FFF2-40B4-BE49-F238E27FC236}">
                <a16:creationId xmlns:a16="http://schemas.microsoft.com/office/drawing/2014/main" id="{F9100931-BD07-44BF-9095-BAD0FF354446}"/>
              </a:ext>
            </a:extLst>
          </p:cNvPr>
          <p:cNvSpPr>
            <a:spLocks noGrp="1"/>
          </p:cNvSpPr>
          <p:nvPr/>
        </p:nvSpPr>
        <p:spPr>
          <a:xfrm>
            <a:off x="7210425" y="4362981"/>
            <a:ext cx="1581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I₅</a:t>
            </a:r>
          </a:p>
        </p:txBody>
      </p:sp>
      <p:sp>
        <p:nvSpPr>
          <p:cNvPr id="29" name="dfa-i5-items">
            <a:extLst>
              <a:ext uri="{FF2B5EF4-FFF2-40B4-BE49-F238E27FC236}">
                <a16:creationId xmlns:a16="http://schemas.microsoft.com/office/drawing/2014/main" id="{88F5A359-4966-4726-BD35-3921D512BDD5}"/>
              </a:ext>
            </a:extLst>
          </p:cNvPr>
          <p:cNvSpPr>
            <a:spLocks noGrp="1"/>
          </p:cNvSpPr>
          <p:nvPr/>
        </p:nvSpPr>
        <p:spPr>
          <a:xfrm>
            <a:off x="7230063" y="4648731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7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788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expr PLUS term ·</a:t>
            </a:r>
          </a:p>
        </p:txBody>
      </p:sp>
      <p:sp>
        <p:nvSpPr>
          <p:cNvPr id="30" name="dfa-l0-int">
            <a:extLst>
              <a:ext uri="{FF2B5EF4-FFF2-40B4-BE49-F238E27FC236}">
                <a16:creationId xmlns:a16="http://schemas.microsoft.com/office/drawing/2014/main" id="{36F83BC1-2185-452A-8E0A-07E0495BBF2F}"/>
              </a:ext>
            </a:extLst>
          </p:cNvPr>
          <p:cNvSpPr>
            <a:spLocks noGrp="1"/>
          </p:cNvSpPr>
          <p:nvPr/>
        </p:nvSpPr>
        <p:spPr>
          <a:xfrm>
            <a:off x="2762250" y="4020081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2D7C93"/>
                </a:solidFill>
              </a:defRPr>
            </a:pPr>
            <a:r>
              <a:rPr sz="975" b="1">
                <a:solidFill>
                  <a:srgbClr val="2D7C93"/>
                </a:solidFill>
              </a:rPr>
              <a:t>INT</a:t>
            </a:r>
          </a:p>
        </p:txBody>
      </p:sp>
      <p:sp>
        <p:nvSpPr>
          <p:cNvPr id="31" name="dfa-l0-term">
            <a:extLst>
              <a:ext uri="{FF2B5EF4-FFF2-40B4-BE49-F238E27FC236}">
                <a16:creationId xmlns:a16="http://schemas.microsoft.com/office/drawing/2014/main" id="{CD16EA6D-8612-4628-A8B0-79FB72655BF2}"/>
              </a:ext>
            </a:extLst>
          </p:cNvPr>
          <p:cNvSpPr>
            <a:spLocks noGrp="1"/>
          </p:cNvSpPr>
          <p:nvPr/>
        </p:nvSpPr>
        <p:spPr>
          <a:xfrm>
            <a:off x="3048000" y="3115206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2D7C93"/>
                </a:solidFill>
              </a:defRPr>
            </a:pPr>
            <a:r>
              <a:rPr sz="975" b="1">
                <a:solidFill>
                  <a:srgbClr val="2D7C93"/>
                </a:solidFill>
              </a:rPr>
              <a:t>term</a:t>
            </a:r>
          </a:p>
        </p:txBody>
      </p:sp>
      <p:sp>
        <p:nvSpPr>
          <p:cNvPr id="32" name="dfa-l0-expr">
            <a:extLst>
              <a:ext uri="{FF2B5EF4-FFF2-40B4-BE49-F238E27FC236}">
                <a16:creationId xmlns:a16="http://schemas.microsoft.com/office/drawing/2014/main" id="{9CB168C0-27D0-4B6A-963F-DF14B0DA1BC8}"/>
              </a:ext>
            </a:extLst>
          </p:cNvPr>
          <p:cNvSpPr>
            <a:spLocks noGrp="1"/>
          </p:cNvSpPr>
          <p:nvPr/>
        </p:nvSpPr>
        <p:spPr>
          <a:xfrm>
            <a:off x="2828729" y="2392188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2D7C93"/>
                </a:solidFill>
              </a:defRPr>
            </a:pPr>
            <a:r>
              <a:rPr sz="975" b="1">
                <a:solidFill>
                  <a:srgbClr val="2D7C93"/>
                </a:solidFill>
              </a:rPr>
              <a:t>expr</a:t>
            </a:r>
          </a:p>
        </p:txBody>
      </p:sp>
      <p:sp>
        <p:nvSpPr>
          <p:cNvPr id="33" name="dfa-l1-plus">
            <a:extLst>
              <a:ext uri="{FF2B5EF4-FFF2-40B4-BE49-F238E27FC236}">
                <a16:creationId xmlns:a16="http://schemas.microsoft.com/office/drawing/2014/main" id="{235BAB37-C554-4BA4-9DEC-EE7C75980F5C}"/>
              </a:ext>
            </a:extLst>
          </p:cNvPr>
          <p:cNvSpPr>
            <a:spLocks noGrp="1"/>
          </p:cNvSpPr>
          <p:nvPr/>
        </p:nvSpPr>
        <p:spPr>
          <a:xfrm>
            <a:off x="5619750" y="2477031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2D7C93"/>
                </a:solidFill>
              </a:defRPr>
            </a:pPr>
            <a:r>
              <a:rPr sz="975" b="1">
                <a:solidFill>
                  <a:srgbClr val="2D7C93"/>
                </a:solidFill>
              </a:rPr>
              <a:t>PLUS</a:t>
            </a:r>
          </a:p>
        </p:txBody>
      </p:sp>
      <p:sp>
        <p:nvSpPr>
          <p:cNvPr id="34" name="dfa-l4-int">
            <a:extLst>
              <a:ext uri="{FF2B5EF4-FFF2-40B4-BE49-F238E27FC236}">
                <a16:creationId xmlns:a16="http://schemas.microsoft.com/office/drawing/2014/main" id="{B69DBA92-EEB7-45D9-9A42-D411A25211C1}"/>
              </a:ext>
            </a:extLst>
          </p:cNvPr>
          <p:cNvSpPr>
            <a:spLocks noGrp="1"/>
          </p:cNvSpPr>
          <p:nvPr/>
        </p:nvSpPr>
        <p:spPr>
          <a:xfrm>
            <a:off x="5476875" y="4001031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2D7C93"/>
                </a:solidFill>
              </a:defRPr>
            </a:pPr>
            <a:r>
              <a:rPr sz="975" b="1">
                <a:solidFill>
                  <a:srgbClr val="2D7C93"/>
                </a:solidFill>
              </a:rPr>
              <a:t>INT</a:t>
            </a:r>
          </a:p>
        </p:txBody>
      </p:sp>
      <p:sp>
        <p:nvSpPr>
          <p:cNvPr id="35" name="dfa-l4-term">
            <a:extLst>
              <a:ext uri="{FF2B5EF4-FFF2-40B4-BE49-F238E27FC236}">
                <a16:creationId xmlns:a16="http://schemas.microsoft.com/office/drawing/2014/main" id="{8AD7CFAB-BA97-4F2A-B191-921062E007ED}"/>
              </a:ext>
            </a:extLst>
          </p:cNvPr>
          <p:cNvSpPr>
            <a:spLocks noGrp="1"/>
          </p:cNvSpPr>
          <p:nvPr/>
        </p:nvSpPr>
        <p:spPr>
          <a:xfrm>
            <a:off x="7858125" y="3858156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2D7C93"/>
                </a:solidFill>
              </a:defRPr>
            </a:pPr>
            <a:r>
              <a:rPr sz="975" b="1">
                <a:solidFill>
                  <a:srgbClr val="2D7C93"/>
                </a:solidFill>
              </a:rPr>
              <a:t>term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状态是对“已识别前缀”的机械编码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A4FA566-8B12-6DD2-DDB5-FA6393938FB6}" type="slidenum">
              <a:t>37</a:t>
            </a:fld>
            <a:endParaRPr/>
          </a:p>
        </p:txBody>
      </p:sp>
      <p:sp>
        <p:nvSpPr>
          <p:cNvPr id="5" name="state-meaning-0-0">
            <a:extLst>
              <a:ext uri="{FF2B5EF4-FFF2-40B4-BE49-F238E27FC236}">
                <a16:creationId xmlns:a16="http://schemas.microsoft.com/office/drawing/2014/main" id="{92C38971-8C81-4FB6-9376-B3EAB84B249D}"/>
              </a:ext>
            </a:extLst>
          </p:cNvPr>
          <p:cNvSpPr>
            <a:spLocks noGrp="1"/>
          </p:cNvSpPr>
          <p:nvPr/>
        </p:nvSpPr>
        <p:spPr>
          <a:xfrm>
            <a:off x="857250" y="1619250"/>
            <a:ext cx="1000125" cy="523875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状态</a:t>
            </a:r>
          </a:p>
        </p:txBody>
      </p:sp>
      <p:sp>
        <p:nvSpPr>
          <p:cNvPr id="6" name="state-meaning-0-1">
            <a:extLst>
              <a:ext uri="{FF2B5EF4-FFF2-40B4-BE49-F238E27FC236}">
                <a16:creationId xmlns:a16="http://schemas.microsoft.com/office/drawing/2014/main" id="{BC9057A2-611B-4589-A135-1DE40A895134}"/>
              </a:ext>
            </a:extLst>
          </p:cNvPr>
          <p:cNvSpPr>
            <a:spLocks noGrp="1"/>
          </p:cNvSpPr>
          <p:nvPr/>
        </p:nvSpPr>
        <p:spPr>
          <a:xfrm>
            <a:off x="1857375" y="1619250"/>
            <a:ext cx="3333750" cy="523875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88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核心 item</a:t>
            </a:r>
          </a:p>
        </p:txBody>
      </p:sp>
      <p:sp>
        <p:nvSpPr>
          <p:cNvPr id="7" name="state-meaning-0-2">
            <a:extLst>
              <a:ext uri="{FF2B5EF4-FFF2-40B4-BE49-F238E27FC236}">
                <a16:creationId xmlns:a16="http://schemas.microsoft.com/office/drawing/2014/main" id="{338EA65D-C0A0-4642-8266-2DF686EEEC40}"/>
              </a:ext>
            </a:extLst>
          </p:cNvPr>
          <p:cNvSpPr>
            <a:spLocks noGrp="1"/>
          </p:cNvSpPr>
          <p:nvPr/>
        </p:nvSpPr>
        <p:spPr>
          <a:xfrm>
            <a:off x="5191125" y="1619250"/>
            <a:ext cx="3524250" cy="523875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88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Parser 已经知道什么</a:t>
            </a:r>
          </a:p>
        </p:txBody>
      </p:sp>
      <p:sp>
        <p:nvSpPr>
          <p:cNvPr id="8" name="state-meaning-1-0">
            <a:extLst>
              <a:ext uri="{FF2B5EF4-FFF2-40B4-BE49-F238E27FC236}">
                <a16:creationId xmlns:a16="http://schemas.microsoft.com/office/drawing/2014/main" id="{CE7E28EC-6382-4394-B103-1606CBA56713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1000125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I₀</a:t>
            </a:r>
          </a:p>
        </p:txBody>
      </p:sp>
      <p:sp>
        <p:nvSpPr>
          <p:cNvPr id="9" name="state-meaning-1-1">
            <a:extLst>
              <a:ext uri="{FF2B5EF4-FFF2-40B4-BE49-F238E27FC236}">
                <a16:creationId xmlns:a16="http://schemas.microsoft.com/office/drawing/2014/main" id="{421269E2-78EB-4891-8503-9D4B6E6F42F3}"/>
              </a:ext>
            </a:extLst>
          </p:cNvPr>
          <p:cNvSpPr>
            <a:spLocks noGrp="1"/>
          </p:cNvSpPr>
          <p:nvPr/>
        </p:nvSpPr>
        <p:spPr>
          <a:xfrm>
            <a:off x="1857375" y="2143125"/>
            <a:ext cx="3333750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start → · expr</a:t>
            </a:r>
          </a:p>
        </p:txBody>
      </p:sp>
      <p:sp>
        <p:nvSpPr>
          <p:cNvPr id="10" name="state-meaning-1-2">
            <a:extLst>
              <a:ext uri="{FF2B5EF4-FFF2-40B4-BE49-F238E27FC236}">
                <a16:creationId xmlns:a16="http://schemas.microsoft.com/office/drawing/2014/main" id="{683DAA67-382F-43A6-86AE-48D53B7301DA}"/>
              </a:ext>
            </a:extLst>
          </p:cNvPr>
          <p:cNvSpPr>
            <a:spLocks noGrp="1"/>
          </p:cNvSpPr>
          <p:nvPr/>
        </p:nvSpPr>
        <p:spPr>
          <a:xfrm>
            <a:off x="5191125" y="2143125"/>
            <a:ext cx="3524250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尚未识别表达式</a:t>
            </a:r>
          </a:p>
        </p:txBody>
      </p:sp>
      <p:sp>
        <p:nvSpPr>
          <p:cNvPr id="11" name="state-meaning-2-0">
            <a:extLst>
              <a:ext uri="{FF2B5EF4-FFF2-40B4-BE49-F238E27FC236}">
                <a16:creationId xmlns:a16="http://schemas.microsoft.com/office/drawing/2014/main" id="{CE22FAC6-4E26-4CBB-BFA2-80077E8F4EFC}"/>
              </a:ext>
            </a:extLst>
          </p:cNvPr>
          <p:cNvSpPr>
            <a:spLocks noGrp="1"/>
          </p:cNvSpPr>
          <p:nvPr/>
        </p:nvSpPr>
        <p:spPr>
          <a:xfrm>
            <a:off x="857250" y="2667000"/>
            <a:ext cx="1000125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I₁</a:t>
            </a:r>
          </a:p>
        </p:txBody>
      </p:sp>
      <p:sp>
        <p:nvSpPr>
          <p:cNvPr id="12" name="state-meaning-2-1">
            <a:extLst>
              <a:ext uri="{FF2B5EF4-FFF2-40B4-BE49-F238E27FC236}">
                <a16:creationId xmlns:a16="http://schemas.microsoft.com/office/drawing/2014/main" id="{0B5C83FE-2111-4CB5-A1FC-BBB40AD99C12}"/>
              </a:ext>
            </a:extLst>
          </p:cNvPr>
          <p:cNvSpPr>
            <a:spLocks noGrp="1"/>
          </p:cNvSpPr>
          <p:nvPr/>
        </p:nvSpPr>
        <p:spPr>
          <a:xfrm>
            <a:off x="1857375" y="2667000"/>
            <a:ext cx="3333750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expr · PLUS term</a:t>
            </a:r>
          </a:p>
        </p:txBody>
      </p:sp>
      <p:sp>
        <p:nvSpPr>
          <p:cNvPr id="13" name="state-meaning-2-2">
            <a:extLst>
              <a:ext uri="{FF2B5EF4-FFF2-40B4-BE49-F238E27FC236}">
                <a16:creationId xmlns:a16="http://schemas.microsoft.com/office/drawing/2014/main" id="{A6A98A99-CE9B-4E33-A982-B66A6165883E}"/>
              </a:ext>
            </a:extLst>
          </p:cNvPr>
          <p:cNvSpPr>
            <a:spLocks noGrp="1"/>
          </p:cNvSpPr>
          <p:nvPr/>
        </p:nvSpPr>
        <p:spPr>
          <a:xfrm>
            <a:off x="5191125" y="2667000"/>
            <a:ext cx="3524250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已有 expr；可能结束或继续 PLUS</a:t>
            </a:r>
          </a:p>
        </p:txBody>
      </p:sp>
      <p:sp>
        <p:nvSpPr>
          <p:cNvPr id="14" name="state-meaning-3-0">
            <a:extLst>
              <a:ext uri="{FF2B5EF4-FFF2-40B4-BE49-F238E27FC236}">
                <a16:creationId xmlns:a16="http://schemas.microsoft.com/office/drawing/2014/main" id="{73583060-5341-4275-9E57-1C3CE8DC03E6}"/>
              </a:ext>
            </a:extLst>
          </p:cNvPr>
          <p:cNvSpPr>
            <a:spLocks noGrp="1"/>
          </p:cNvSpPr>
          <p:nvPr/>
        </p:nvSpPr>
        <p:spPr>
          <a:xfrm>
            <a:off x="857250" y="3190875"/>
            <a:ext cx="1000125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I₃</a:t>
            </a:r>
          </a:p>
        </p:txBody>
      </p:sp>
      <p:sp>
        <p:nvSpPr>
          <p:cNvPr id="15" name="state-meaning-3-1">
            <a:extLst>
              <a:ext uri="{FF2B5EF4-FFF2-40B4-BE49-F238E27FC236}">
                <a16:creationId xmlns:a16="http://schemas.microsoft.com/office/drawing/2014/main" id="{7A55C423-7A24-4C29-9FF9-E619B038A9C6}"/>
              </a:ext>
            </a:extLst>
          </p:cNvPr>
          <p:cNvSpPr>
            <a:spLocks noGrp="1"/>
          </p:cNvSpPr>
          <p:nvPr/>
        </p:nvSpPr>
        <p:spPr>
          <a:xfrm>
            <a:off x="1857375" y="3190875"/>
            <a:ext cx="3333750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INT ·</a:t>
            </a:r>
          </a:p>
        </p:txBody>
      </p:sp>
      <p:sp>
        <p:nvSpPr>
          <p:cNvPr id="16" name="state-meaning-3-2">
            <a:extLst>
              <a:ext uri="{FF2B5EF4-FFF2-40B4-BE49-F238E27FC236}">
                <a16:creationId xmlns:a16="http://schemas.microsoft.com/office/drawing/2014/main" id="{7384DF8A-B252-46ED-ACD4-5CCAC29A8269}"/>
              </a:ext>
            </a:extLst>
          </p:cNvPr>
          <p:cNvSpPr>
            <a:spLocks noGrp="1"/>
          </p:cNvSpPr>
          <p:nvPr/>
        </p:nvSpPr>
        <p:spPr>
          <a:xfrm>
            <a:off x="5191125" y="3190875"/>
            <a:ext cx="3524250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 已形成完整 term</a:t>
            </a:r>
          </a:p>
        </p:txBody>
      </p:sp>
      <p:sp>
        <p:nvSpPr>
          <p:cNvPr id="17" name="state-meaning-4-0">
            <a:extLst>
              <a:ext uri="{FF2B5EF4-FFF2-40B4-BE49-F238E27FC236}">
                <a16:creationId xmlns:a16="http://schemas.microsoft.com/office/drawing/2014/main" id="{51905D8B-FF54-41FF-AD39-3B863C6CF6A1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1000125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I₄</a:t>
            </a:r>
          </a:p>
        </p:txBody>
      </p:sp>
      <p:sp>
        <p:nvSpPr>
          <p:cNvPr id="18" name="state-meaning-4-1">
            <a:extLst>
              <a:ext uri="{FF2B5EF4-FFF2-40B4-BE49-F238E27FC236}">
                <a16:creationId xmlns:a16="http://schemas.microsoft.com/office/drawing/2014/main" id="{5D6BBC8C-7868-41E9-B538-7004BF11034B}"/>
              </a:ext>
            </a:extLst>
          </p:cNvPr>
          <p:cNvSpPr>
            <a:spLocks noGrp="1"/>
          </p:cNvSpPr>
          <p:nvPr/>
        </p:nvSpPr>
        <p:spPr>
          <a:xfrm>
            <a:off x="1857375" y="3714750"/>
            <a:ext cx="3333750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expr PLUS · term</a:t>
            </a:r>
          </a:p>
        </p:txBody>
      </p:sp>
      <p:sp>
        <p:nvSpPr>
          <p:cNvPr id="19" name="state-meaning-4-2">
            <a:extLst>
              <a:ext uri="{FF2B5EF4-FFF2-40B4-BE49-F238E27FC236}">
                <a16:creationId xmlns:a16="http://schemas.microsoft.com/office/drawing/2014/main" id="{0673ABA5-1280-46F2-83C2-DB1A75326166}"/>
              </a:ext>
            </a:extLst>
          </p:cNvPr>
          <p:cNvSpPr>
            <a:spLocks noGrp="1"/>
          </p:cNvSpPr>
          <p:nvPr/>
        </p:nvSpPr>
        <p:spPr>
          <a:xfrm>
            <a:off x="5191125" y="3714750"/>
            <a:ext cx="3524250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已有 expr PLUS；正在等待 term</a:t>
            </a:r>
          </a:p>
        </p:txBody>
      </p:sp>
      <p:sp>
        <p:nvSpPr>
          <p:cNvPr id="20" name="state-meaning-5-0">
            <a:extLst>
              <a:ext uri="{FF2B5EF4-FFF2-40B4-BE49-F238E27FC236}">
                <a16:creationId xmlns:a16="http://schemas.microsoft.com/office/drawing/2014/main" id="{2BD72063-94EE-4EDE-B847-BB95AE8C80F5}"/>
              </a:ext>
            </a:extLst>
          </p:cNvPr>
          <p:cNvSpPr>
            <a:spLocks noGrp="1"/>
          </p:cNvSpPr>
          <p:nvPr/>
        </p:nvSpPr>
        <p:spPr>
          <a:xfrm>
            <a:off x="857250" y="4238625"/>
            <a:ext cx="1000125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I₅</a:t>
            </a:r>
          </a:p>
        </p:txBody>
      </p:sp>
      <p:sp>
        <p:nvSpPr>
          <p:cNvPr id="21" name="state-meaning-5-1">
            <a:extLst>
              <a:ext uri="{FF2B5EF4-FFF2-40B4-BE49-F238E27FC236}">
                <a16:creationId xmlns:a16="http://schemas.microsoft.com/office/drawing/2014/main" id="{7A4F6BC4-CC62-4AA7-ADF9-DADB753735D1}"/>
              </a:ext>
            </a:extLst>
          </p:cNvPr>
          <p:cNvSpPr>
            <a:spLocks noGrp="1"/>
          </p:cNvSpPr>
          <p:nvPr/>
        </p:nvSpPr>
        <p:spPr>
          <a:xfrm>
            <a:off x="1857375" y="4238625"/>
            <a:ext cx="3333750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expr PLUS term ·</a:t>
            </a:r>
          </a:p>
        </p:txBody>
      </p:sp>
      <p:sp>
        <p:nvSpPr>
          <p:cNvPr id="22" name="state-meaning-5-2">
            <a:extLst>
              <a:ext uri="{FF2B5EF4-FFF2-40B4-BE49-F238E27FC236}">
                <a16:creationId xmlns:a16="http://schemas.microsoft.com/office/drawing/2014/main" id="{70BA8218-D863-405D-9AE1-F8C84AC954FB}"/>
              </a:ext>
            </a:extLst>
          </p:cNvPr>
          <p:cNvSpPr>
            <a:spLocks noGrp="1"/>
          </p:cNvSpPr>
          <p:nvPr/>
        </p:nvSpPr>
        <p:spPr>
          <a:xfrm>
            <a:off x="5191125" y="4238625"/>
            <a:ext cx="3524250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完整右侧已出现，可以 reduce</a:t>
            </a:r>
          </a:p>
        </p:txBody>
      </p:sp>
      <p:sp>
        <p:nvSpPr>
          <p:cNvPr id="23" name="takeaway-41">
            <a:extLst>
              <a:ext uri="{FF2B5EF4-FFF2-40B4-BE49-F238E27FC236}">
                <a16:creationId xmlns:a16="http://schemas.microsoft.com/office/drawing/2014/main" id="{F16AE4DB-7971-4EB8-8312-860799F4BF69}"/>
              </a:ext>
            </a:extLst>
          </p:cNvPr>
          <p:cNvSpPr>
            <a:spLocks noGrp="1"/>
          </p:cNvSpPr>
          <p:nvPr/>
        </p:nvSpPr>
        <p:spPr>
          <a:xfrm>
            <a:off x="647700" y="4991897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自动机把“栈顶长什么样”压缩成一个有限状态编号。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8429"/>
          </a:bodyPr>
          <a:lstStyle/>
          <a:p>
            <a:r>
              <a:rPr>
                <a:latin typeface="Arial"/>
                <a:ea typeface="Arial"/>
                <a:cs typeface="Arial"/>
              </a:rPr>
              <a:t>第三步：实现LR(0)自动机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2FD04-0E4E-417B-BC59-5D2DFB36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ACTION / GOTO 与表驱动解析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39A338D-B192-3127-EB9A-53A2665A0BB7}" type="slidenum"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62114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先做一张朴素的状态转移表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D334276-4C85-190E-BA41-5CA1CBB04E4E}" type="slidenum">
              <a:t>39</a:t>
            </a:fld>
            <a:endParaRPr/>
          </a:p>
        </p:txBody>
      </p:sp>
      <p:sp>
        <p:nvSpPr>
          <p:cNvPr id="5" name="subtitle-38">
            <a:extLst>
              <a:ext uri="{FF2B5EF4-FFF2-40B4-BE49-F238E27FC236}">
                <a16:creationId xmlns:a16="http://schemas.microsoft.com/office/drawing/2014/main" id="{2AAD5D98-061A-4C02-9901-2C2C4E304C50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照搬自动机的思路：当前状态 + Token → 下一状态。</a:t>
            </a:r>
          </a:p>
        </p:txBody>
      </p:sp>
      <p:sp>
        <p:nvSpPr>
          <p:cNvPr id="6" name="naive-edge-0">
            <a:extLst>
              <a:ext uri="{FF2B5EF4-FFF2-40B4-BE49-F238E27FC236}">
                <a16:creationId xmlns:a16="http://schemas.microsoft.com/office/drawing/2014/main" id="{724CA58E-D0EE-4AFD-893D-78AB370C5226}"/>
              </a:ext>
            </a:extLst>
          </p:cNvPr>
          <p:cNvSpPr>
            <a:spLocks noGrp="1"/>
          </p:cNvSpPr>
          <p:nvPr/>
        </p:nvSpPr>
        <p:spPr>
          <a:xfrm>
            <a:off x="1952625" y="2286000"/>
            <a:ext cx="1524000" cy="0"/>
          </a:xfrm>
          <a:prstGeom prst="line">
            <a:avLst/>
          </a:prstGeom>
          <a:noFill/>
          <a:ln w="14288">
            <a:solidFill>
              <a:srgbClr val="2D7C93"/>
            </a:solidFill>
            <a:prstDash val="solid"/>
          </a:ln>
        </p:spPr>
      </p:sp>
      <p:sp>
        <p:nvSpPr>
          <p:cNvPr id="7" name="naive-edge-1">
            <a:extLst>
              <a:ext uri="{FF2B5EF4-FFF2-40B4-BE49-F238E27FC236}">
                <a16:creationId xmlns:a16="http://schemas.microsoft.com/office/drawing/2014/main" id="{BDB59126-AD5A-49F8-BA93-0723EA288B63}"/>
              </a:ext>
            </a:extLst>
          </p:cNvPr>
          <p:cNvSpPr>
            <a:spLocks noGrp="1"/>
          </p:cNvSpPr>
          <p:nvPr/>
        </p:nvSpPr>
        <p:spPr>
          <a:xfrm>
            <a:off x="1952625" y="3190875"/>
            <a:ext cx="1524000" cy="0"/>
          </a:xfrm>
          <a:prstGeom prst="line">
            <a:avLst/>
          </a:prstGeom>
          <a:noFill/>
          <a:ln w="14288">
            <a:solidFill>
              <a:srgbClr val="2D7C93"/>
            </a:solidFill>
            <a:prstDash val="solid"/>
          </a:ln>
        </p:spPr>
      </p:sp>
      <p:sp>
        <p:nvSpPr>
          <p:cNvPr id="8" name="naive-edge-2">
            <a:extLst>
              <a:ext uri="{FF2B5EF4-FFF2-40B4-BE49-F238E27FC236}">
                <a16:creationId xmlns:a16="http://schemas.microsoft.com/office/drawing/2014/main" id="{9A4FBF8B-8A04-455F-B67A-C861D9CAC19C}"/>
              </a:ext>
            </a:extLst>
          </p:cNvPr>
          <p:cNvSpPr>
            <a:spLocks noGrp="1"/>
          </p:cNvSpPr>
          <p:nvPr/>
        </p:nvSpPr>
        <p:spPr>
          <a:xfrm>
            <a:off x="1952625" y="4095750"/>
            <a:ext cx="1524000" cy="0"/>
          </a:xfrm>
          <a:prstGeom prst="line">
            <a:avLst/>
          </a:prstGeom>
          <a:noFill/>
          <a:ln w="14288">
            <a:solidFill>
              <a:srgbClr val="2D7C93"/>
            </a:solidFill>
            <a:prstDash val="solid"/>
          </a:ln>
        </p:spPr>
      </p:sp>
      <p:sp>
        <p:nvSpPr>
          <p:cNvPr id="9" name="naive-i0-box">
            <a:extLst>
              <a:ext uri="{FF2B5EF4-FFF2-40B4-BE49-F238E27FC236}">
                <a16:creationId xmlns:a16="http://schemas.microsoft.com/office/drawing/2014/main" id="{20A40669-37D7-4789-A29F-80947A801939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1190625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0" name="naive-i0-label">
            <a:extLst>
              <a:ext uri="{FF2B5EF4-FFF2-40B4-BE49-F238E27FC236}">
                <a16:creationId xmlns:a16="http://schemas.microsoft.com/office/drawing/2014/main" id="{A7781BDA-D4B6-4B08-8FF2-1495B0225F69}"/>
              </a:ext>
            </a:extLst>
          </p:cNvPr>
          <p:cNvSpPr>
            <a:spLocks noGrp="1"/>
          </p:cNvSpPr>
          <p:nvPr/>
        </p:nvSpPr>
        <p:spPr>
          <a:xfrm>
            <a:off x="857250" y="2028825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I₀</a:t>
            </a:r>
          </a:p>
        </p:txBody>
      </p:sp>
      <p:sp>
        <p:nvSpPr>
          <p:cNvPr id="11" name="naive-i3a-box">
            <a:extLst>
              <a:ext uri="{FF2B5EF4-FFF2-40B4-BE49-F238E27FC236}">
                <a16:creationId xmlns:a16="http://schemas.microsoft.com/office/drawing/2014/main" id="{39D35282-3038-4EB0-9050-F0A07A30B33E}"/>
              </a:ext>
            </a:extLst>
          </p:cNvPr>
          <p:cNvSpPr>
            <a:spLocks noGrp="1"/>
          </p:cNvSpPr>
          <p:nvPr/>
        </p:nvSpPr>
        <p:spPr>
          <a:xfrm>
            <a:off x="3476625" y="1952625"/>
            <a:ext cx="1190625" cy="647700"/>
          </a:xfrm>
          <a:prstGeom prst="roundRect">
            <a:avLst>
              <a:gd name="adj" fmla="val 11765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" name="naive-i3a-label">
            <a:extLst>
              <a:ext uri="{FF2B5EF4-FFF2-40B4-BE49-F238E27FC236}">
                <a16:creationId xmlns:a16="http://schemas.microsoft.com/office/drawing/2014/main" id="{9209E5EF-9865-4A70-BFBC-206606C58820}"/>
              </a:ext>
            </a:extLst>
          </p:cNvPr>
          <p:cNvSpPr>
            <a:spLocks noGrp="1"/>
          </p:cNvSpPr>
          <p:nvPr/>
        </p:nvSpPr>
        <p:spPr>
          <a:xfrm>
            <a:off x="3571875" y="2028825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I₃</a:t>
            </a:r>
          </a:p>
        </p:txBody>
      </p:sp>
      <p:sp>
        <p:nvSpPr>
          <p:cNvPr id="13" name="naive-i1-box">
            <a:extLst>
              <a:ext uri="{FF2B5EF4-FFF2-40B4-BE49-F238E27FC236}">
                <a16:creationId xmlns:a16="http://schemas.microsoft.com/office/drawing/2014/main" id="{CF82874A-DA22-4FFC-8DD1-ABA44C0D9329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1190625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" name="naive-i1-label">
            <a:extLst>
              <a:ext uri="{FF2B5EF4-FFF2-40B4-BE49-F238E27FC236}">
                <a16:creationId xmlns:a16="http://schemas.microsoft.com/office/drawing/2014/main" id="{A1979D40-FD5F-4B5D-B429-E3CD96E72450}"/>
              </a:ext>
            </a:extLst>
          </p:cNvPr>
          <p:cNvSpPr>
            <a:spLocks noGrp="1"/>
          </p:cNvSpPr>
          <p:nvPr/>
        </p:nvSpPr>
        <p:spPr>
          <a:xfrm>
            <a:off x="857250" y="293370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I₁</a:t>
            </a:r>
          </a:p>
        </p:txBody>
      </p:sp>
      <p:sp>
        <p:nvSpPr>
          <p:cNvPr id="15" name="naive-i4-box">
            <a:extLst>
              <a:ext uri="{FF2B5EF4-FFF2-40B4-BE49-F238E27FC236}">
                <a16:creationId xmlns:a16="http://schemas.microsoft.com/office/drawing/2014/main" id="{B0523E87-B2E9-41AC-8131-28E165CD9BE1}"/>
              </a:ext>
            </a:extLst>
          </p:cNvPr>
          <p:cNvSpPr>
            <a:spLocks noGrp="1"/>
          </p:cNvSpPr>
          <p:nvPr/>
        </p:nvSpPr>
        <p:spPr>
          <a:xfrm>
            <a:off x="3476625" y="2857500"/>
            <a:ext cx="1190625" cy="647700"/>
          </a:xfrm>
          <a:prstGeom prst="roundRect">
            <a:avLst>
              <a:gd name="adj" fmla="val 11765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6" name="naive-i4-label">
            <a:extLst>
              <a:ext uri="{FF2B5EF4-FFF2-40B4-BE49-F238E27FC236}">
                <a16:creationId xmlns:a16="http://schemas.microsoft.com/office/drawing/2014/main" id="{683F9C2D-BA8C-43AB-92AE-0217603361E2}"/>
              </a:ext>
            </a:extLst>
          </p:cNvPr>
          <p:cNvSpPr>
            <a:spLocks noGrp="1"/>
          </p:cNvSpPr>
          <p:nvPr/>
        </p:nvSpPr>
        <p:spPr>
          <a:xfrm>
            <a:off x="3571875" y="293370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I₄</a:t>
            </a:r>
          </a:p>
        </p:txBody>
      </p:sp>
      <p:sp>
        <p:nvSpPr>
          <p:cNvPr id="17" name="naive-i4b-box">
            <a:extLst>
              <a:ext uri="{FF2B5EF4-FFF2-40B4-BE49-F238E27FC236}">
                <a16:creationId xmlns:a16="http://schemas.microsoft.com/office/drawing/2014/main" id="{6858A6AA-A46D-4CBD-9F2D-623EFA535CD2}"/>
              </a:ext>
            </a:extLst>
          </p:cNvPr>
          <p:cNvSpPr>
            <a:spLocks noGrp="1"/>
          </p:cNvSpPr>
          <p:nvPr/>
        </p:nvSpPr>
        <p:spPr>
          <a:xfrm>
            <a:off x="762000" y="3762375"/>
            <a:ext cx="1190625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8" name="naive-i4b-label">
            <a:extLst>
              <a:ext uri="{FF2B5EF4-FFF2-40B4-BE49-F238E27FC236}">
                <a16:creationId xmlns:a16="http://schemas.microsoft.com/office/drawing/2014/main" id="{8A7EEDD6-B3B9-46A8-9D55-0A548D0610F5}"/>
              </a:ext>
            </a:extLst>
          </p:cNvPr>
          <p:cNvSpPr>
            <a:spLocks noGrp="1"/>
          </p:cNvSpPr>
          <p:nvPr/>
        </p:nvSpPr>
        <p:spPr>
          <a:xfrm>
            <a:off x="857250" y="3838575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I₄</a:t>
            </a:r>
          </a:p>
        </p:txBody>
      </p:sp>
      <p:sp>
        <p:nvSpPr>
          <p:cNvPr id="19" name="naive-i3b-box">
            <a:extLst>
              <a:ext uri="{FF2B5EF4-FFF2-40B4-BE49-F238E27FC236}">
                <a16:creationId xmlns:a16="http://schemas.microsoft.com/office/drawing/2014/main" id="{6C4B42C4-7BA2-4855-BC5E-31888C0F2264}"/>
              </a:ext>
            </a:extLst>
          </p:cNvPr>
          <p:cNvSpPr>
            <a:spLocks noGrp="1"/>
          </p:cNvSpPr>
          <p:nvPr/>
        </p:nvSpPr>
        <p:spPr>
          <a:xfrm>
            <a:off x="3476625" y="3762375"/>
            <a:ext cx="1190625" cy="647700"/>
          </a:xfrm>
          <a:prstGeom prst="roundRect">
            <a:avLst>
              <a:gd name="adj" fmla="val 11765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0" name="naive-i3b-label">
            <a:extLst>
              <a:ext uri="{FF2B5EF4-FFF2-40B4-BE49-F238E27FC236}">
                <a16:creationId xmlns:a16="http://schemas.microsoft.com/office/drawing/2014/main" id="{27B006D8-AD9B-44B2-96A8-553323E08DB1}"/>
              </a:ext>
            </a:extLst>
          </p:cNvPr>
          <p:cNvSpPr>
            <a:spLocks noGrp="1"/>
          </p:cNvSpPr>
          <p:nvPr/>
        </p:nvSpPr>
        <p:spPr>
          <a:xfrm>
            <a:off x="3571875" y="3838575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I₃</a:t>
            </a:r>
          </a:p>
        </p:txBody>
      </p:sp>
      <p:sp>
        <p:nvSpPr>
          <p:cNvPr id="21" name="naive-label-int0">
            <a:extLst>
              <a:ext uri="{FF2B5EF4-FFF2-40B4-BE49-F238E27FC236}">
                <a16:creationId xmlns:a16="http://schemas.microsoft.com/office/drawing/2014/main" id="{A63BFBE7-C32D-4365-B7EA-35A6EADA38F8}"/>
              </a:ext>
            </a:extLst>
          </p:cNvPr>
          <p:cNvSpPr>
            <a:spLocks noGrp="1"/>
          </p:cNvSpPr>
          <p:nvPr/>
        </p:nvSpPr>
        <p:spPr>
          <a:xfrm>
            <a:off x="2476500" y="2009775"/>
            <a:ext cx="552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22" name="naive-label-plus">
            <a:extLst>
              <a:ext uri="{FF2B5EF4-FFF2-40B4-BE49-F238E27FC236}">
                <a16:creationId xmlns:a16="http://schemas.microsoft.com/office/drawing/2014/main" id="{B2F50D57-3347-4DA2-B401-45BC01E691B9}"/>
              </a:ext>
            </a:extLst>
          </p:cNvPr>
          <p:cNvSpPr>
            <a:spLocks noGrp="1"/>
          </p:cNvSpPr>
          <p:nvPr/>
        </p:nvSpPr>
        <p:spPr>
          <a:xfrm>
            <a:off x="2400300" y="2914650"/>
            <a:ext cx="704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PLUS</a:t>
            </a:r>
          </a:p>
        </p:txBody>
      </p:sp>
      <p:sp>
        <p:nvSpPr>
          <p:cNvPr id="23" name="naive-label-int4">
            <a:extLst>
              <a:ext uri="{FF2B5EF4-FFF2-40B4-BE49-F238E27FC236}">
                <a16:creationId xmlns:a16="http://schemas.microsoft.com/office/drawing/2014/main" id="{8B243EA1-DC5C-4F81-A12F-06099B0C4FCB}"/>
              </a:ext>
            </a:extLst>
          </p:cNvPr>
          <p:cNvSpPr>
            <a:spLocks noGrp="1"/>
          </p:cNvSpPr>
          <p:nvPr/>
        </p:nvSpPr>
        <p:spPr>
          <a:xfrm>
            <a:off x="2476500" y="3819525"/>
            <a:ext cx="552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24" name="naive-table-0-0">
            <a:extLst>
              <a:ext uri="{FF2B5EF4-FFF2-40B4-BE49-F238E27FC236}">
                <a16:creationId xmlns:a16="http://schemas.microsoft.com/office/drawing/2014/main" id="{20F8ECDA-6097-4B04-9A82-6973A508A8C6}"/>
              </a:ext>
            </a:extLst>
          </p:cNvPr>
          <p:cNvSpPr>
            <a:spLocks noGrp="1"/>
          </p:cNvSpPr>
          <p:nvPr/>
        </p:nvSpPr>
        <p:spPr>
          <a:xfrm>
            <a:off x="5429250" y="1952625"/>
            <a:ext cx="914400" cy="55245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state</a:t>
            </a:r>
          </a:p>
        </p:txBody>
      </p:sp>
      <p:sp>
        <p:nvSpPr>
          <p:cNvPr id="25" name="naive-table-0-1">
            <a:extLst>
              <a:ext uri="{FF2B5EF4-FFF2-40B4-BE49-F238E27FC236}">
                <a16:creationId xmlns:a16="http://schemas.microsoft.com/office/drawing/2014/main" id="{EA906536-06A7-48F5-9581-00F37099B535}"/>
              </a:ext>
            </a:extLst>
          </p:cNvPr>
          <p:cNvSpPr>
            <a:spLocks noGrp="1"/>
          </p:cNvSpPr>
          <p:nvPr/>
        </p:nvSpPr>
        <p:spPr>
          <a:xfrm>
            <a:off x="6343650" y="1952625"/>
            <a:ext cx="914400" cy="55245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26" name="naive-table-0-2">
            <a:extLst>
              <a:ext uri="{FF2B5EF4-FFF2-40B4-BE49-F238E27FC236}">
                <a16:creationId xmlns:a16="http://schemas.microsoft.com/office/drawing/2014/main" id="{B61B62A4-3D3D-49FD-8C86-515C654D3BE8}"/>
              </a:ext>
            </a:extLst>
          </p:cNvPr>
          <p:cNvSpPr>
            <a:spLocks noGrp="1"/>
          </p:cNvSpPr>
          <p:nvPr/>
        </p:nvSpPr>
        <p:spPr>
          <a:xfrm>
            <a:off x="7258050" y="1952625"/>
            <a:ext cx="914400" cy="55245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PLUS</a:t>
            </a:r>
          </a:p>
        </p:txBody>
      </p:sp>
      <p:sp>
        <p:nvSpPr>
          <p:cNvPr id="27" name="naive-table-0-3">
            <a:extLst>
              <a:ext uri="{FF2B5EF4-FFF2-40B4-BE49-F238E27FC236}">
                <a16:creationId xmlns:a16="http://schemas.microsoft.com/office/drawing/2014/main" id="{4ADBD544-FFC3-4EFE-88C9-0D02883D883D}"/>
              </a:ext>
            </a:extLst>
          </p:cNvPr>
          <p:cNvSpPr>
            <a:spLocks noGrp="1"/>
          </p:cNvSpPr>
          <p:nvPr/>
        </p:nvSpPr>
        <p:spPr>
          <a:xfrm>
            <a:off x="8172450" y="1952625"/>
            <a:ext cx="781050" cy="55245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$</a:t>
            </a:r>
          </a:p>
        </p:txBody>
      </p:sp>
      <p:sp>
        <p:nvSpPr>
          <p:cNvPr id="28" name="naive-table-1-0">
            <a:extLst>
              <a:ext uri="{FF2B5EF4-FFF2-40B4-BE49-F238E27FC236}">
                <a16:creationId xmlns:a16="http://schemas.microsoft.com/office/drawing/2014/main" id="{20FF0731-77A0-4636-83A1-9FF659B74F1C}"/>
              </a:ext>
            </a:extLst>
          </p:cNvPr>
          <p:cNvSpPr>
            <a:spLocks noGrp="1"/>
          </p:cNvSpPr>
          <p:nvPr/>
        </p:nvSpPr>
        <p:spPr>
          <a:xfrm>
            <a:off x="5429250" y="2505075"/>
            <a:ext cx="9144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I₀</a:t>
            </a:r>
          </a:p>
        </p:txBody>
      </p:sp>
      <p:sp>
        <p:nvSpPr>
          <p:cNvPr id="29" name="naive-table-1-1">
            <a:extLst>
              <a:ext uri="{FF2B5EF4-FFF2-40B4-BE49-F238E27FC236}">
                <a16:creationId xmlns:a16="http://schemas.microsoft.com/office/drawing/2014/main" id="{34646E1D-5CCA-423E-8E47-BDDA2AA95EB8}"/>
              </a:ext>
            </a:extLst>
          </p:cNvPr>
          <p:cNvSpPr>
            <a:spLocks noGrp="1"/>
          </p:cNvSpPr>
          <p:nvPr/>
        </p:nvSpPr>
        <p:spPr>
          <a:xfrm>
            <a:off x="6343650" y="2505075"/>
            <a:ext cx="9144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I₃</a:t>
            </a:r>
          </a:p>
        </p:txBody>
      </p:sp>
      <p:sp>
        <p:nvSpPr>
          <p:cNvPr id="30" name="naive-table-1-2">
            <a:extLst>
              <a:ext uri="{FF2B5EF4-FFF2-40B4-BE49-F238E27FC236}">
                <a16:creationId xmlns:a16="http://schemas.microsoft.com/office/drawing/2014/main" id="{DC54350F-1BA0-4C51-87EE-221033052C96}"/>
              </a:ext>
            </a:extLst>
          </p:cNvPr>
          <p:cNvSpPr>
            <a:spLocks noGrp="1"/>
          </p:cNvSpPr>
          <p:nvPr/>
        </p:nvSpPr>
        <p:spPr>
          <a:xfrm>
            <a:off x="7258050" y="2505075"/>
            <a:ext cx="9144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1" name="naive-table-1-3">
            <a:extLst>
              <a:ext uri="{FF2B5EF4-FFF2-40B4-BE49-F238E27FC236}">
                <a16:creationId xmlns:a16="http://schemas.microsoft.com/office/drawing/2014/main" id="{3352E1A3-3161-4FB2-9C6D-6E6601FB0F65}"/>
              </a:ext>
            </a:extLst>
          </p:cNvPr>
          <p:cNvSpPr>
            <a:spLocks noGrp="1"/>
          </p:cNvSpPr>
          <p:nvPr/>
        </p:nvSpPr>
        <p:spPr>
          <a:xfrm>
            <a:off x="8172450" y="2505075"/>
            <a:ext cx="7810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2" name="naive-table-2-0">
            <a:extLst>
              <a:ext uri="{FF2B5EF4-FFF2-40B4-BE49-F238E27FC236}">
                <a16:creationId xmlns:a16="http://schemas.microsoft.com/office/drawing/2014/main" id="{DBEF68D7-CE83-4D12-90BF-549351B8F3F9}"/>
              </a:ext>
            </a:extLst>
          </p:cNvPr>
          <p:cNvSpPr>
            <a:spLocks noGrp="1"/>
          </p:cNvSpPr>
          <p:nvPr/>
        </p:nvSpPr>
        <p:spPr>
          <a:xfrm>
            <a:off x="5429250" y="3057525"/>
            <a:ext cx="9144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I₁</a:t>
            </a:r>
          </a:p>
        </p:txBody>
      </p:sp>
      <p:sp>
        <p:nvSpPr>
          <p:cNvPr id="33" name="naive-table-2-1">
            <a:extLst>
              <a:ext uri="{FF2B5EF4-FFF2-40B4-BE49-F238E27FC236}">
                <a16:creationId xmlns:a16="http://schemas.microsoft.com/office/drawing/2014/main" id="{18407B2A-C453-4C1C-B749-C1519473FA6F}"/>
              </a:ext>
            </a:extLst>
          </p:cNvPr>
          <p:cNvSpPr>
            <a:spLocks noGrp="1"/>
          </p:cNvSpPr>
          <p:nvPr/>
        </p:nvSpPr>
        <p:spPr>
          <a:xfrm>
            <a:off x="6343650" y="3057525"/>
            <a:ext cx="9144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4" name="naive-table-2-2">
            <a:extLst>
              <a:ext uri="{FF2B5EF4-FFF2-40B4-BE49-F238E27FC236}">
                <a16:creationId xmlns:a16="http://schemas.microsoft.com/office/drawing/2014/main" id="{8B088692-5B6F-48B1-BE97-C307D1FF586A}"/>
              </a:ext>
            </a:extLst>
          </p:cNvPr>
          <p:cNvSpPr>
            <a:spLocks noGrp="1"/>
          </p:cNvSpPr>
          <p:nvPr/>
        </p:nvSpPr>
        <p:spPr>
          <a:xfrm>
            <a:off x="7258050" y="3057525"/>
            <a:ext cx="9144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I₄</a:t>
            </a:r>
          </a:p>
        </p:txBody>
      </p:sp>
      <p:sp>
        <p:nvSpPr>
          <p:cNvPr id="35" name="naive-table-2-3">
            <a:extLst>
              <a:ext uri="{FF2B5EF4-FFF2-40B4-BE49-F238E27FC236}">
                <a16:creationId xmlns:a16="http://schemas.microsoft.com/office/drawing/2014/main" id="{DB7AB3AF-0336-42B7-9060-DA752F9AF584}"/>
              </a:ext>
            </a:extLst>
          </p:cNvPr>
          <p:cNvSpPr>
            <a:spLocks noGrp="1"/>
          </p:cNvSpPr>
          <p:nvPr/>
        </p:nvSpPr>
        <p:spPr>
          <a:xfrm>
            <a:off x="8172450" y="3057525"/>
            <a:ext cx="7810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6" name="naive-table-3-0">
            <a:extLst>
              <a:ext uri="{FF2B5EF4-FFF2-40B4-BE49-F238E27FC236}">
                <a16:creationId xmlns:a16="http://schemas.microsoft.com/office/drawing/2014/main" id="{29BDF0E0-9AC1-483A-A714-19DB41F9202D}"/>
              </a:ext>
            </a:extLst>
          </p:cNvPr>
          <p:cNvSpPr>
            <a:spLocks noGrp="1"/>
          </p:cNvSpPr>
          <p:nvPr/>
        </p:nvSpPr>
        <p:spPr>
          <a:xfrm>
            <a:off x="5429250" y="3609975"/>
            <a:ext cx="9144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I₄</a:t>
            </a:r>
          </a:p>
        </p:txBody>
      </p:sp>
      <p:sp>
        <p:nvSpPr>
          <p:cNvPr id="37" name="naive-table-3-1">
            <a:extLst>
              <a:ext uri="{FF2B5EF4-FFF2-40B4-BE49-F238E27FC236}">
                <a16:creationId xmlns:a16="http://schemas.microsoft.com/office/drawing/2014/main" id="{BD38A598-FAA4-4D6C-9AC5-4240CD775E13}"/>
              </a:ext>
            </a:extLst>
          </p:cNvPr>
          <p:cNvSpPr>
            <a:spLocks noGrp="1"/>
          </p:cNvSpPr>
          <p:nvPr/>
        </p:nvSpPr>
        <p:spPr>
          <a:xfrm>
            <a:off x="6343650" y="3609975"/>
            <a:ext cx="9144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I₃</a:t>
            </a:r>
          </a:p>
        </p:txBody>
      </p:sp>
      <p:sp>
        <p:nvSpPr>
          <p:cNvPr id="38" name="naive-table-3-2">
            <a:extLst>
              <a:ext uri="{FF2B5EF4-FFF2-40B4-BE49-F238E27FC236}">
                <a16:creationId xmlns:a16="http://schemas.microsoft.com/office/drawing/2014/main" id="{D54E935B-BEC5-4372-8995-E7E0883D226D}"/>
              </a:ext>
            </a:extLst>
          </p:cNvPr>
          <p:cNvSpPr>
            <a:spLocks noGrp="1"/>
          </p:cNvSpPr>
          <p:nvPr/>
        </p:nvSpPr>
        <p:spPr>
          <a:xfrm>
            <a:off x="7258050" y="3609975"/>
            <a:ext cx="9144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9" name="naive-table-3-3">
            <a:extLst>
              <a:ext uri="{FF2B5EF4-FFF2-40B4-BE49-F238E27FC236}">
                <a16:creationId xmlns:a16="http://schemas.microsoft.com/office/drawing/2014/main" id="{7249E787-55BB-4407-87E5-D3E5A3FBE4CB}"/>
              </a:ext>
            </a:extLst>
          </p:cNvPr>
          <p:cNvSpPr>
            <a:spLocks noGrp="1"/>
          </p:cNvSpPr>
          <p:nvPr/>
        </p:nvSpPr>
        <p:spPr>
          <a:xfrm>
            <a:off x="8172450" y="3609975"/>
            <a:ext cx="7810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40" name="naive-table-caption">
            <a:extLst>
              <a:ext uri="{FF2B5EF4-FFF2-40B4-BE49-F238E27FC236}">
                <a16:creationId xmlns:a16="http://schemas.microsoft.com/office/drawing/2014/main" id="{F1403566-DC8B-4884-B2EA-274D27CA90A2}"/>
              </a:ext>
            </a:extLst>
          </p:cNvPr>
          <p:cNvSpPr>
            <a:spLocks noGrp="1"/>
          </p:cNvSpPr>
          <p:nvPr/>
        </p:nvSpPr>
        <p:spPr>
          <a:xfrm>
            <a:off x="5429250" y="425767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63">
                <a:solidFill>
                  <a:srgbClr val="777777"/>
                </a:solidFill>
              </a:defRPr>
            </a:pPr>
            <a:r>
              <a:rPr sz="1163">
                <a:solidFill>
                  <a:srgbClr val="777777"/>
                </a:solidFill>
              </a:rPr>
              <a:t>先只记录：读到 Token 后进入哪个状态</a:t>
            </a:r>
          </a:p>
        </p:txBody>
      </p:sp>
      <p:sp>
        <p:nvSpPr>
          <p:cNvPr id="41" name="takeaway-38">
            <a:extLst>
              <a:ext uri="{FF2B5EF4-FFF2-40B4-BE49-F238E27FC236}">
                <a16:creationId xmlns:a16="http://schemas.microsoft.com/office/drawing/2014/main" id="{75B8544E-E2A8-4C1D-9E8F-1EA81F6A5C31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只要照这张表不断跳转，LR Parser 是否就完成了？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问题：没有转换边，不一定是语法错误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55A7F00-3259-A23D-D734-A322A9F9DD63}" type="slidenum">
              <a:t>40</a:t>
            </a:fld>
            <a:endParaRPr/>
          </a:p>
        </p:txBody>
      </p:sp>
      <p:sp>
        <p:nvSpPr>
          <p:cNvPr id="5" name="subtitle-39">
            <a:extLst>
              <a:ext uri="{FF2B5EF4-FFF2-40B4-BE49-F238E27FC236}">
                <a16:creationId xmlns:a16="http://schemas.microsoft.com/office/drawing/2014/main" id="{A3E0F95B-8213-40D2-8B10-E43414F9E440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当前状态是 I₃、当前 Token 是 PLUS；朴素状态转移表中没有对应的下一状态。</a:t>
            </a:r>
          </a:p>
        </p:txBody>
      </p:sp>
      <p:sp>
        <p:nvSpPr>
          <p:cNvPr id="6" name="failure-i3-box">
            <a:extLst>
              <a:ext uri="{FF2B5EF4-FFF2-40B4-BE49-F238E27FC236}">
                <a16:creationId xmlns:a16="http://schemas.microsoft.com/office/drawing/2014/main" id="{AC2E9CF6-7E23-4903-A8EE-D9F3E973B789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2476500" cy="1000125"/>
          </a:xfrm>
          <a:prstGeom prst="roundRect">
            <a:avLst>
              <a:gd name="adj" fmla="val 7619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7" name="failure-i3-label">
            <a:extLst>
              <a:ext uri="{FF2B5EF4-FFF2-40B4-BE49-F238E27FC236}">
                <a16:creationId xmlns:a16="http://schemas.microsoft.com/office/drawing/2014/main" id="{F3B1AE01-496D-4F0B-A9BD-49B31A03BF82}"/>
              </a:ext>
            </a:extLst>
          </p:cNvPr>
          <p:cNvSpPr>
            <a:spLocks noGrp="1"/>
          </p:cNvSpPr>
          <p:nvPr/>
        </p:nvSpPr>
        <p:spPr>
          <a:xfrm>
            <a:off x="952500" y="2028825"/>
            <a:ext cx="228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I₃</a:t>
            </a:r>
          </a:p>
        </p:txBody>
      </p:sp>
      <p:sp>
        <p:nvSpPr>
          <p:cNvPr id="8" name="failure-i3-item">
            <a:extLst>
              <a:ext uri="{FF2B5EF4-FFF2-40B4-BE49-F238E27FC236}">
                <a16:creationId xmlns:a16="http://schemas.microsoft.com/office/drawing/2014/main" id="{E2333F3C-78BB-4FC1-8890-6D8C496AD4D8}"/>
              </a:ext>
            </a:extLst>
          </p:cNvPr>
          <p:cNvSpPr>
            <a:spLocks noGrp="1"/>
          </p:cNvSpPr>
          <p:nvPr/>
        </p:nvSpPr>
        <p:spPr>
          <a:xfrm>
            <a:off x="952500" y="2314575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INT ·</a:t>
            </a:r>
          </a:p>
        </p:txBody>
      </p:sp>
      <p:sp>
        <p:nvSpPr>
          <p:cNvPr id="9" name="failure-current">
            <a:extLst>
              <a:ext uri="{FF2B5EF4-FFF2-40B4-BE49-F238E27FC236}">
                <a16:creationId xmlns:a16="http://schemas.microsoft.com/office/drawing/2014/main" id="{14AD57DC-A7BF-4687-87C8-822932EA7CD0}"/>
              </a:ext>
            </a:extLst>
          </p:cNvPr>
          <p:cNvSpPr>
            <a:spLocks noGrp="1"/>
          </p:cNvSpPr>
          <p:nvPr/>
        </p:nvSpPr>
        <p:spPr>
          <a:xfrm>
            <a:off x="1000125" y="3162300"/>
            <a:ext cx="219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current = PLUS</a:t>
            </a:r>
          </a:p>
        </p:txBody>
      </p:sp>
      <p:sp>
        <p:nvSpPr>
          <p:cNvPr id="10" name="failure-empty">
            <a:extLst>
              <a:ext uri="{FF2B5EF4-FFF2-40B4-BE49-F238E27FC236}">
                <a16:creationId xmlns:a16="http://schemas.microsoft.com/office/drawing/2014/main" id="{52D9F912-38CE-43D4-ABBD-77552ED58C9C}"/>
              </a:ext>
            </a:extLst>
          </p:cNvPr>
          <p:cNvSpPr>
            <a:spLocks noGrp="1"/>
          </p:cNvSpPr>
          <p:nvPr/>
        </p:nvSpPr>
        <p:spPr>
          <a:xfrm>
            <a:off x="1000125" y="3667125"/>
            <a:ext cx="2190750" cy="5905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没有 PLUS 转换边</a:t>
            </a:r>
          </a:p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→ error？</a:t>
            </a:r>
          </a:p>
        </p:txBody>
      </p:sp>
      <p:sp>
        <p:nvSpPr>
          <p:cNvPr id="11" name="failure-arrow">
            <a:extLst>
              <a:ext uri="{FF2B5EF4-FFF2-40B4-BE49-F238E27FC236}">
                <a16:creationId xmlns:a16="http://schemas.microsoft.com/office/drawing/2014/main" id="{7D1536D5-821E-441B-8111-559FFEDD77A0}"/>
              </a:ext>
            </a:extLst>
          </p:cNvPr>
          <p:cNvSpPr>
            <a:spLocks noGrp="1"/>
          </p:cNvSpPr>
          <p:nvPr/>
        </p:nvSpPr>
        <p:spPr>
          <a:xfrm>
            <a:off x="3762375" y="3143250"/>
            <a:ext cx="1143000" cy="0"/>
          </a:xfrm>
          <a:prstGeom prst="line">
            <a:avLst/>
          </a:prstGeom>
          <a:noFill/>
          <a:ln w="19050">
            <a:solidFill>
              <a:srgbClr val="C4384D"/>
            </a:solidFill>
            <a:prstDash val="solid"/>
          </a:ln>
        </p:spPr>
      </p:sp>
      <p:sp>
        <p:nvSpPr>
          <p:cNvPr id="12" name="failure-arrow-label">
            <a:extLst>
              <a:ext uri="{FF2B5EF4-FFF2-40B4-BE49-F238E27FC236}">
                <a16:creationId xmlns:a16="http://schemas.microsoft.com/office/drawing/2014/main" id="{1DDCBBCB-F3FC-4690-B0B5-CF3C452D676E}"/>
              </a:ext>
            </a:extLst>
          </p:cNvPr>
          <p:cNvSpPr>
            <a:spLocks noGrp="1"/>
          </p:cNvSpPr>
          <p:nvPr/>
        </p:nvSpPr>
        <p:spPr>
          <a:xfrm>
            <a:off x="3914775" y="2752725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不对</a:t>
            </a:r>
          </a:p>
        </p:txBody>
      </p:sp>
      <p:sp>
        <p:nvSpPr>
          <p:cNvPr id="13" name="failure-complete">
            <a:extLst>
              <a:ext uri="{FF2B5EF4-FFF2-40B4-BE49-F238E27FC236}">
                <a16:creationId xmlns:a16="http://schemas.microsoft.com/office/drawing/2014/main" id="{4F3FB134-DA68-42E5-ABCE-945799A2D165}"/>
              </a:ext>
            </a:extLst>
          </p:cNvPr>
          <p:cNvSpPr>
            <a:spLocks noGrp="1"/>
          </p:cNvSpPr>
          <p:nvPr/>
        </p:nvSpPr>
        <p:spPr>
          <a:xfrm>
            <a:off x="5286375" y="1952625"/>
            <a:ext cx="3048000" cy="7429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INT ·</a:t>
            </a:r>
          </a:p>
        </p:txBody>
      </p:sp>
      <p:sp>
        <p:nvSpPr>
          <p:cNvPr id="14" name="failure-explain">
            <a:extLst>
              <a:ext uri="{FF2B5EF4-FFF2-40B4-BE49-F238E27FC236}">
                <a16:creationId xmlns:a16="http://schemas.microsoft.com/office/drawing/2014/main" id="{98400000-80A4-45B4-95F0-9750CED501DB}"/>
              </a:ext>
            </a:extLst>
          </p:cNvPr>
          <p:cNvSpPr>
            <a:spLocks noGrp="1"/>
          </p:cNvSpPr>
          <p:nvPr/>
        </p:nvSpPr>
        <p:spPr>
          <a:xfrm>
            <a:off x="5286375" y="28384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点已经到末尾：INT 可以归约为 term</a:t>
            </a:r>
          </a:p>
        </p:txBody>
      </p:sp>
      <p:sp>
        <p:nvSpPr>
          <p:cNvPr id="15" name="failure-action">
            <a:extLst>
              <a:ext uri="{FF2B5EF4-FFF2-40B4-BE49-F238E27FC236}">
                <a16:creationId xmlns:a16="http://schemas.microsoft.com/office/drawing/2014/main" id="{A346A964-93FD-42E9-9FE4-4F6379CF5A20}"/>
              </a:ext>
            </a:extLst>
          </p:cNvPr>
          <p:cNvSpPr>
            <a:spLocks noGrp="1"/>
          </p:cNvSpPr>
          <p:nvPr/>
        </p:nvSpPr>
        <p:spPr>
          <a:xfrm>
            <a:off x="4905375" y="3524250"/>
            <a:ext cx="3810000" cy="6667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ACTION[I₃, PLUS]</a:t>
            </a:r>
          </a:p>
          <a:p>
            <a:pPr algn="ctr">
              <a:buNone/>
              <a:defRPr sz="1275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= reduce term → INT</a:t>
            </a:r>
          </a:p>
        </p:txBody>
      </p:sp>
      <p:sp>
        <p:nvSpPr>
          <p:cNvPr id="16" name="takeaway-39">
            <a:extLst>
              <a:ext uri="{FF2B5EF4-FFF2-40B4-BE49-F238E27FC236}">
                <a16:creationId xmlns:a16="http://schemas.microsoft.com/office/drawing/2014/main" id="{B9BDD7DD-10B7-4A02-B6BB-950CFAA7C1A5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reduce 已经确定；但新的 term 应该让自动机进入哪个状态？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reduce 之后：如何让自动机继续？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6166C477-A387-35CF-F492-F54B4FA4FEC9}" type="slidenum">
              <a:rPr/>
              <a:t>41</a:t>
            </a:fld>
            <a:endParaRPr/>
          </a:p>
        </p:txBody>
      </p:sp>
      <p:sp>
        <p:nvSpPr>
          <p:cNvPr id="5" name="subtitle-40">
            <a:extLst>
              <a:ext uri="{FF2B5EF4-FFF2-40B4-BE49-F238E27FC236}">
                <a16:creationId xmlns:a16="http://schemas.microsoft.com/office/drawing/2014/main" id="{9D823500-2175-4098-94EC-FF34F7464C67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term → INT 把已经识别的 INT 折叠成 term；自动机要从识别 INT 之前的状态重新接上。</a:t>
            </a:r>
          </a:p>
        </p:txBody>
      </p:sp>
      <p:sp>
        <p:nvSpPr>
          <p:cNvPr id="6" name="read-int-edge">
            <a:extLst>
              <a:ext uri="{FF2B5EF4-FFF2-40B4-BE49-F238E27FC236}">
                <a16:creationId xmlns:a16="http://schemas.microsoft.com/office/drawing/2014/main" id="{C81BB6F2-C279-4D6C-8A52-DAE4117FD8EE}"/>
              </a:ext>
            </a:extLst>
          </p:cNvPr>
          <p:cNvSpPr>
            <a:spLocks noGrp="1"/>
          </p:cNvSpPr>
          <p:nvPr/>
        </p:nvSpPr>
        <p:spPr>
          <a:xfrm>
            <a:off x="4476750" y="2047875"/>
            <a:ext cx="1619250" cy="0"/>
          </a:xfrm>
          <a:prstGeom prst="line">
            <a:avLst/>
          </a:prstGeom>
          <a:noFill/>
          <a:ln w="15240">
            <a:solidFill>
              <a:srgbClr val="2D7C93"/>
            </a:solidFill>
            <a:prstDash val="solid"/>
          </a:ln>
        </p:spPr>
      </p:sp>
      <p:sp>
        <p:nvSpPr>
          <p:cNvPr id="7" name="reduce-rewrite-edge">
            <a:extLst>
              <a:ext uri="{FF2B5EF4-FFF2-40B4-BE49-F238E27FC236}">
                <a16:creationId xmlns:a16="http://schemas.microsoft.com/office/drawing/2014/main" id="{B82A0FC7-20E8-4758-B379-8E2DEF0E9507}"/>
              </a:ext>
            </a:extLst>
          </p:cNvPr>
          <p:cNvSpPr>
            <a:spLocks noGrp="1"/>
          </p:cNvSpPr>
          <p:nvPr/>
        </p:nvSpPr>
        <p:spPr>
          <a:xfrm>
            <a:off x="4476750" y="3095625"/>
            <a:ext cx="1619250" cy="0"/>
          </a:xfrm>
          <a:prstGeom prst="line">
            <a:avLst/>
          </a:prstGeom>
          <a:noFill/>
          <a:ln w="19050">
            <a:solidFill>
              <a:srgbClr val="C4384D"/>
            </a:solidFill>
            <a:prstDash val="solid"/>
          </a:ln>
        </p:spPr>
      </p:sp>
      <p:sp>
        <p:nvSpPr>
          <p:cNvPr id="8" name="match-term-edge">
            <a:extLst>
              <a:ext uri="{FF2B5EF4-FFF2-40B4-BE49-F238E27FC236}">
                <a16:creationId xmlns:a16="http://schemas.microsoft.com/office/drawing/2014/main" id="{9E7E042B-38AA-45A9-8A73-F69304334170}"/>
              </a:ext>
            </a:extLst>
          </p:cNvPr>
          <p:cNvSpPr>
            <a:spLocks noGrp="1"/>
          </p:cNvSpPr>
          <p:nvPr/>
        </p:nvSpPr>
        <p:spPr>
          <a:xfrm>
            <a:off x="4476750" y="4143375"/>
            <a:ext cx="1619250" cy="0"/>
          </a:xfrm>
          <a:prstGeom prst="line">
            <a:avLst/>
          </a:prstGeom>
          <a:noFill/>
          <a:ln w="15240">
            <a:solidFill>
              <a:srgbClr val="2D7C93"/>
            </a:solidFill>
            <a:prstDash val="solid"/>
          </a:ln>
        </p:spPr>
      </p:sp>
      <p:sp>
        <p:nvSpPr>
          <p:cNvPr id="9" name="step-1-number">
            <a:extLst>
              <a:ext uri="{FF2B5EF4-FFF2-40B4-BE49-F238E27FC236}">
                <a16:creationId xmlns:a16="http://schemas.microsoft.com/office/drawing/2014/main" id="{0151A08A-19F0-4163-AF9A-08728A8AF366}"/>
              </a:ext>
            </a:extLst>
          </p:cNvPr>
          <p:cNvSpPr>
            <a:spLocks noGrp="1"/>
          </p:cNvSpPr>
          <p:nvPr/>
        </p:nvSpPr>
        <p:spPr>
          <a:xfrm>
            <a:off x="714375" y="1847850"/>
            <a:ext cx="400050" cy="400050"/>
          </a:xfrm>
          <a:prstGeom prst="ellipse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1</a:t>
            </a:r>
          </a:p>
        </p:txBody>
      </p:sp>
      <p:sp>
        <p:nvSpPr>
          <p:cNvPr id="10" name="step-1-title">
            <a:extLst>
              <a:ext uri="{FF2B5EF4-FFF2-40B4-BE49-F238E27FC236}">
                <a16:creationId xmlns:a16="http://schemas.microsoft.com/office/drawing/2014/main" id="{0126708E-FFCC-44E3-801A-8F46101A61C7}"/>
              </a:ext>
            </a:extLst>
          </p:cNvPr>
          <p:cNvSpPr>
            <a:spLocks noGrp="1"/>
          </p:cNvSpPr>
          <p:nvPr/>
        </p:nvSpPr>
        <p:spPr>
          <a:xfrm>
            <a:off x="1238250" y="1876425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读入 INT</a:t>
            </a:r>
          </a:p>
        </p:txBody>
      </p:sp>
      <p:sp>
        <p:nvSpPr>
          <p:cNvPr id="11" name="read-i0-box">
            <a:extLst>
              <a:ext uri="{FF2B5EF4-FFF2-40B4-BE49-F238E27FC236}">
                <a16:creationId xmlns:a16="http://schemas.microsoft.com/office/drawing/2014/main" id="{FEF12688-7E19-44A2-924B-E5485D94AACB}"/>
              </a:ext>
            </a:extLst>
          </p:cNvPr>
          <p:cNvSpPr>
            <a:spLocks noGrp="1"/>
          </p:cNvSpPr>
          <p:nvPr/>
        </p:nvSpPr>
        <p:spPr>
          <a:xfrm>
            <a:off x="3000375" y="1724025"/>
            <a:ext cx="1476375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" name="read-i0-label">
            <a:extLst>
              <a:ext uri="{FF2B5EF4-FFF2-40B4-BE49-F238E27FC236}">
                <a16:creationId xmlns:a16="http://schemas.microsoft.com/office/drawing/2014/main" id="{A33156BC-4A43-4924-8389-51F6C61015D8}"/>
              </a:ext>
            </a:extLst>
          </p:cNvPr>
          <p:cNvSpPr>
            <a:spLocks noGrp="1"/>
          </p:cNvSpPr>
          <p:nvPr/>
        </p:nvSpPr>
        <p:spPr>
          <a:xfrm>
            <a:off x="3095625" y="180022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I₀</a:t>
            </a:r>
          </a:p>
        </p:txBody>
      </p:sp>
      <p:sp>
        <p:nvSpPr>
          <p:cNvPr id="13" name="read-i3-box">
            <a:extLst>
              <a:ext uri="{FF2B5EF4-FFF2-40B4-BE49-F238E27FC236}">
                <a16:creationId xmlns:a16="http://schemas.microsoft.com/office/drawing/2014/main" id="{3C3BC271-180B-4093-95D0-EE8E1E65AA65}"/>
              </a:ext>
            </a:extLst>
          </p:cNvPr>
          <p:cNvSpPr>
            <a:spLocks noGrp="1"/>
          </p:cNvSpPr>
          <p:nvPr/>
        </p:nvSpPr>
        <p:spPr>
          <a:xfrm>
            <a:off x="6096000" y="1628775"/>
            <a:ext cx="1905000" cy="838200"/>
          </a:xfrm>
          <a:prstGeom prst="roundRect">
            <a:avLst>
              <a:gd name="adj" fmla="val 9091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" name="read-i3-label">
            <a:extLst>
              <a:ext uri="{FF2B5EF4-FFF2-40B4-BE49-F238E27FC236}">
                <a16:creationId xmlns:a16="http://schemas.microsoft.com/office/drawing/2014/main" id="{A95659E2-50AD-4B9C-9C81-E979A00E7265}"/>
              </a:ext>
            </a:extLst>
          </p:cNvPr>
          <p:cNvSpPr>
            <a:spLocks noGrp="1"/>
          </p:cNvSpPr>
          <p:nvPr/>
        </p:nvSpPr>
        <p:spPr>
          <a:xfrm>
            <a:off x="6191250" y="170497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I₃</a:t>
            </a:r>
          </a:p>
        </p:txBody>
      </p:sp>
      <p:sp>
        <p:nvSpPr>
          <p:cNvPr id="15" name="read-i3-item">
            <a:extLst>
              <a:ext uri="{FF2B5EF4-FFF2-40B4-BE49-F238E27FC236}">
                <a16:creationId xmlns:a16="http://schemas.microsoft.com/office/drawing/2014/main" id="{7B23E609-3AC4-4465-8DA2-1AB479D9A9E1}"/>
              </a:ext>
            </a:extLst>
          </p:cNvPr>
          <p:cNvSpPr>
            <a:spLocks noGrp="1"/>
          </p:cNvSpPr>
          <p:nvPr/>
        </p:nvSpPr>
        <p:spPr>
          <a:xfrm>
            <a:off x="6191250" y="19621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INT ·</a:t>
            </a:r>
          </a:p>
        </p:txBody>
      </p:sp>
      <p:sp>
        <p:nvSpPr>
          <p:cNvPr id="16" name="read-int-label">
            <a:extLst>
              <a:ext uri="{FF2B5EF4-FFF2-40B4-BE49-F238E27FC236}">
                <a16:creationId xmlns:a16="http://schemas.microsoft.com/office/drawing/2014/main" id="{49325901-50E6-4090-9C17-A37561F361B5}"/>
              </a:ext>
            </a:extLst>
          </p:cNvPr>
          <p:cNvSpPr>
            <a:spLocks noGrp="1"/>
          </p:cNvSpPr>
          <p:nvPr/>
        </p:nvSpPr>
        <p:spPr>
          <a:xfrm>
            <a:off x="4905375" y="1752600"/>
            <a:ext cx="762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7" name="step-2-number">
            <a:extLst>
              <a:ext uri="{FF2B5EF4-FFF2-40B4-BE49-F238E27FC236}">
                <a16:creationId xmlns:a16="http://schemas.microsoft.com/office/drawing/2014/main" id="{72FEEB27-FCB2-4486-9D84-011972769E4F}"/>
              </a:ext>
            </a:extLst>
          </p:cNvPr>
          <p:cNvSpPr>
            <a:spLocks noGrp="1"/>
          </p:cNvSpPr>
          <p:nvPr/>
        </p:nvSpPr>
        <p:spPr>
          <a:xfrm>
            <a:off x="714375" y="2895600"/>
            <a:ext cx="400050" cy="400050"/>
          </a:xfrm>
          <a:prstGeom prst="ellipse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2</a:t>
            </a:r>
          </a:p>
        </p:txBody>
      </p:sp>
      <p:sp>
        <p:nvSpPr>
          <p:cNvPr id="18" name="step-2-title">
            <a:extLst>
              <a:ext uri="{FF2B5EF4-FFF2-40B4-BE49-F238E27FC236}">
                <a16:creationId xmlns:a16="http://schemas.microsoft.com/office/drawing/2014/main" id="{C0F5A2BB-0A41-4E34-AB89-9F115326BE5D}"/>
              </a:ext>
            </a:extLst>
          </p:cNvPr>
          <p:cNvSpPr>
            <a:spLocks noGrp="1"/>
          </p:cNvSpPr>
          <p:nvPr/>
        </p:nvSpPr>
        <p:spPr>
          <a:xfrm>
            <a:off x="1238250" y="2924175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执行 reduce</a:t>
            </a:r>
          </a:p>
        </p:txBody>
      </p:sp>
      <p:sp>
        <p:nvSpPr>
          <p:cNvPr id="19" name="rewrite-int">
            <a:extLst>
              <a:ext uri="{FF2B5EF4-FFF2-40B4-BE49-F238E27FC236}">
                <a16:creationId xmlns:a16="http://schemas.microsoft.com/office/drawing/2014/main" id="{D3DE2D6F-2708-48FC-8A90-E249E42B00AE}"/>
              </a:ext>
            </a:extLst>
          </p:cNvPr>
          <p:cNvSpPr>
            <a:spLocks noGrp="1"/>
          </p:cNvSpPr>
          <p:nvPr/>
        </p:nvSpPr>
        <p:spPr>
          <a:xfrm>
            <a:off x="3190875" y="2809875"/>
            <a:ext cx="1285875" cy="57150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20" name="rewrite-term">
            <a:extLst>
              <a:ext uri="{FF2B5EF4-FFF2-40B4-BE49-F238E27FC236}">
                <a16:creationId xmlns:a16="http://schemas.microsoft.com/office/drawing/2014/main" id="{05699747-2C91-4BA2-AAD6-072F06D6D5A2}"/>
              </a:ext>
            </a:extLst>
          </p:cNvPr>
          <p:cNvSpPr>
            <a:spLocks noGrp="1"/>
          </p:cNvSpPr>
          <p:nvPr/>
        </p:nvSpPr>
        <p:spPr>
          <a:xfrm>
            <a:off x="6096000" y="2809875"/>
            <a:ext cx="1476375" cy="57150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term</a:t>
            </a:r>
          </a:p>
        </p:txBody>
      </p:sp>
      <p:sp>
        <p:nvSpPr>
          <p:cNvPr id="21" name="rewrite-label">
            <a:extLst>
              <a:ext uri="{FF2B5EF4-FFF2-40B4-BE49-F238E27FC236}">
                <a16:creationId xmlns:a16="http://schemas.microsoft.com/office/drawing/2014/main" id="{BCD7D368-6899-457B-AEDE-D21680FE5674}"/>
              </a:ext>
            </a:extLst>
          </p:cNvPr>
          <p:cNvSpPr>
            <a:spLocks noGrp="1"/>
          </p:cNvSpPr>
          <p:nvPr/>
        </p:nvSpPr>
        <p:spPr>
          <a:xfrm>
            <a:off x="4476750" y="2657475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按 term → INT</a:t>
            </a:r>
          </a:p>
          <a:p>
            <a:pPr algn="ctr">
              <a:buNone/>
              <a:defRPr sz="1125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 reduce</a:t>
            </a:r>
          </a:p>
        </p:txBody>
      </p:sp>
      <p:sp>
        <p:nvSpPr>
          <p:cNvPr id="22" name="rewrite-explain">
            <a:extLst>
              <a:ext uri="{FF2B5EF4-FFF2-40B4-BE49-F238E27FC236}">
                <a16:creationId xmlns:a16="http://schemas.microsoft.com/office/drawing/2014/main" id="{C5BA5BBE-91A4-4573-B051-119D6EB80C4D}"/>
              </a:ext>
            </a:extLst>
          </p:cNvPr>
          <p:cNvSpPr>
            <a:spLocks noGrp="1"/>
          </p:cNvSpPr>
          <p:nvPr/>
        </p:nvSpPr>
        <p:spPr>
          <a:xfrm>
            <a:off x="3000375" y="34290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38" b="1">
                <a:solidFill>
                  <a:srgbClr val="C4384D"/>
                </a:solidFill>
              </a:defRPr>
            </a:pPr>
            <a:r>
              <a:rPr sz="1238" b="1">
                <a:solidFill>
                  <a:srgbClr val="C4384D"/>
                </a:solidFill>
              </a:rPr>
              <a:t>已经识别的后缀 INT 现在被视为一个 term</a:t>
            </a:r>
          </a:p>
        </p:txBody>
      </p:sp>
      <p:sp>
        <p:nvSpPr>
          <p:cNvPr id="23" name="step-3-number">
            <a:extLst>
              <a:ext uri="{FF2B5EF4-FFF2-40B4-BE49-F238E27FC236}">
                <a16:creationId xmlns:a16="http://schemas.microsoft.com/office/drawing/2014/main" id="{20134F44-B6DD-4778-AB9F-D81163DF2287}"/>
              </a:ext>
            </a:extLst>
          </p:cNvPr>
          <p:cNvSpPr>
            <a:spLocks noGrp="1"/>
          </p:cNvSpPr>
          <p:nvPr/>
        </p:nvSpPr>
        <p:spPr>
          <a:xfrm>
            <a:off x="714375" y="3943350"/>
            <a:ext cx="400050" cy="400050"/>
          </a:xfrm>
          <a:prstGeom prst="ellipse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3</a:t>
            </a:r>
          </a:p>
        </p:txBody>
      </p:sp>
      <p:sp>
        <p:nvSpPr>
          <p:cNvPr id="24" name="step-3-title">
            <a:extLst>
              <a:ext uri="{FF2B5EF4-FFF2-40B4-BE49-F238E27FC236}">
                <a16:creationId xmlns:a16="http://schemas.microsoft.com/office/drawing/2014/main" id="{3AF1BBA5-4AD5-469A-8837-1B277D0E6A91}"/>
              </a:ext>
            </a:extLst>
          </p:cNvPr>
          <p:cNvSpPr>
            <a:spLocks noGrp="1"/>
          </p:cNvSpPr>
          <p:nvPr/>
        </p:nvSpPr>
        <p:spPr>
          <a:xfrm>
            <a:off x="1238250" y="3971925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回退并匹配 term</a:t>
            </a:r>
          </a:p>
        </p:txBody>
      </p:sp>
      <p:sp>
        <p:nvSpPr>
          <p:cNvPr id="25" name="match-i0-box">
            <a:extLst>
              <a:ext uri="{FF2B5EF4-FFF2-40B4-BE49-F238E27FC236}">
                <a16:creationId xmlns:a16="http://schemas.microsoft.com/office/drawing/2014/main" id="{49D61F9F-06EC-4A6F-96A6-CEF4CCE719CC}"/>
              </a:ext>
            </a:extLst>
          </p:cNvPr>
          <p:cNvSpPr>
            <a:spLocks noGrp="1"/>
          </p:cNvSpPr>
          <p:nvPr/>
        </p:nvSpPr>
        <p:spPr>
          <a:xfrm>
            <a:off x="3000375" y="3819525"/>
            <a:ext cx="1476375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6" name="match-i0-label">
            <a:extLst>
              <a:ext uri="{FF2B5EF4-FFF2-40B4-BE49-F238E27FC236}">
                <a16:creationId xmlns:a16="http://schemas.microsoft.com/office/drawing/2014/main" id="{9866A9E2-5A17-4232-A944-CB044BDDAEC5}"/>
              </a:ext>
            </a:extLst>
          </p:cNvPr>
          <p:cNvSpPr>
            <a:spLocks noGrp="1"/>
          </p:cNvSpPr>
          <p:nvPr/>
        </p:nvSpPr>
        <p:spPr>
          <a:xfrm>
            <a:off x="3095625" y="389572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I₀</a:t>
            </a:r>
          </a:p>
        </p:txBody>
      </p:sp>
      <p:sp>
        <p:nvSpPr>
          <p:cNvPr id="27" name="match-i2-box">
            <a:extLst>
              <a:ext uri="{FF2B5EF4-FFF2-40B4-BE49-F238E27FC236}">
                <a16:creationId xmlns:a16="http://schemas.microsoft.com/office/drawing/2014/main" id="{17ACD488-D9B9-418C-BEF5-42EEACA93F11}"/>
              </a:ext>
            </a:extLst>
          </p:cNvPr>
          <p:cNvSpPr>
            <a:spLocks noGrp="1"/>
          </p:cNvSpPr>
          <p:nvPr/>
        </p:nvSpPr>
        <p:spPr>
          <a:xfrm>
            <a:off x="6096000" y="3819525"/>
            <a:ext cx="1476375" cy="647700"/>
          </a:xfrm>
          <a:prstGeom prst="roundRect">
            <a:avLst>
              <a:gd name="adj" fmla="val 11765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8" name="match-i2-label">
            <a:extLst>
              <a:ext uri="{FF2B5EF4-FFF2-40B4-BE49-F238E27FC236}">
                <a16:creationId xmlns:a16="http://schemas.microsoft.com/office/drawing/2014/main" id="{C3DD9F89-3E6A-4227-92BA-137A33349342}"/>
              </a:ext>
            </a:extLst>
          </p:cNvPr>
          <p:cNvSpPr>
            <a:spLocks noGrp="1"/>
          </p:cNvSpPr>
          <p:nvPr/>
        </p:nvSpPr>
        <p:spPr>
          <a:xfrm>
            <a:off x="6191250" y="389572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I₂</a:t>
            </a:r>
          </a:p>
        </p:txBody>
      </p:sp>
      <p:sp>
        <p:nvSpPr>
          <p:cNvPr id="29" name="match-term-label">
            <a:extLst>
              <a:ext uri="{FF2B5EF4-FFF2-40B4-BE49-F238E27FC236}">
                <a16:creationId xmlns:a16="http://schemas.microsoft.com/office/drawing/2014/main" id="{876F7942-A04D-4C7A-98DC-EBA8EC68C91A}"/>
              </a:ext>
            </a:extLst>
          </p:cNvPr>
          <p:cNvSpPr>
            <a:spLocks noGrp="1"/>
          </p:cNvSpPr>
          <p:nvPr/>
        </p:nvSpPr>
        <p:spPr>
          <a:xfrm>
            <a:off x="4905375" y="3848100"/>
            <a:ext cx="762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term</a:t>
            </a:r>
          </a:p>
        </p:txBody>
      </p:sp>
      <p:sp>
        <p:nvSpPr>
          <p:cNvPr id="30" name="match-restore">
            <a:extLst>
              <a:ext uri="{FF2B5EF4-FFF2-40B4-BE49-F238E27FC236}">
                <a16:creationId xmlns:a16="http://schemas.microsoft.com/office/drawing/2014/main" id="{BD02B16C-5D6C-4F46-9DF2-19D64BD9DC4E}"/>
              </a:ext>
            </a:extLst>
          </p:cNvPr>
          <p:cNvSpPr>
            <a:spLocks noGrp="1"/>
          </p:cNvSpPr>
          <p:nvPr/>
        </p:nvSpPr>
        <p:spPr>
          <a:xfrm>
            <a:off x="3000375" y="44767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38" b="1">
                <a:solidFill>
                  <a:srgbClr val="2D7C93"/>
                </a:solidFill>
              </a:defRPr>
            </a:pPr>
            <a:r>
              <a:rPr sz="1238" b="1">
                <a:solidFill>
                  <a:srgbClr val="2D7C93"/>
                </a:solidFill>
              </a:rPr>
              <a:t>恢复到识别 INT 之前的 I₀，再沿 term 边进入 I₂</a:t>
            </a:r>
          </a:p>
        </p:txBody>
      </p:sp>
      <p:sp>
        <p:nvSpPr>
          <p:cNvPr id="31" name="takeaway-40">
            <a:extLst>
              <a:ext uri="{FF2B5EF4-FFF2-40B4-BE49-F238E27FC236}">
                <a16:creationId xmlns:a16="http://schemas.microsoft.com/office/drawing/2014/main" id="{14E1DF7F-64CC-4A24-91C5-A353F20370AE}"/>
              </a:ext>
            </a:extLst>
          </p:cNvPr>
          <p:cNvSpPr>
            <a:spLocks noGrp="1"/>
          </p:cNvSpPr>
          <p:nvPr/>
        </p:nvSpPr>
        <p:spPr>
          <a:xfrm>
            <a:off x="647700" y="4762500"/>
            <a:ext cx="8020050" cy="36195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C4384D"/>
                </a:solidFill>
              </a:defRPr>
            </a:pPr>
            <a:r>
              <a:rPr sz="1238" b="1" dirty="0" err="1">
                <a:solidFill>
                  <a:srgbClr val="C4384D"/>
                </a:solidFill>
              </a:rPr>
              <a:t>本例回退</a:t>
            </a:r>
            <a:r>
              <a:rPr sz="1238" b="1" dirty="0">
                <a:solidFill>
                  <a:srgbClr val="C4384D"/>
                </a:solidFill>
              </a:rPr>
              <a:t> 1 </a:t>
            </a:r>
            <a:r>
              <a:rPr sz="1238" b="1" dirty="0" err="1">
                <a:solidFill>
                  <a:srgbClr val="C4384D"/>
                </a:solidFill>
              </a:rPr>
              <a:t>步；一般</a:t>
            </a:r>
            <a:r>
              <a:rPr sz="1238" b="1" dirty="0">
                <a:solidFill>
                  <a:srgbClr val="C4384D"/>
                </a:solidFill>
              </a:rPr>
              <a:t> reduce A → β </a:t>
            </a:r>
            <a:r>
              <a:rPr sz="1238" b="1" dirty="0" err="1">
                <a:solidFill>
                  <a:srgbClr val="C4384D"/>
                </a:solidFill>
              </a:rPr>
              <a:t>需要回退</a:t>
            </a:r>
            <a:r>
              <a:rPr sz="1238" b="1" dirty="0">
                <a:solidFill>
                  <a:srgbClr val="C4384D"/>
                </a:solidFill>
              </a:rPr>
              <a:t> |β| </a:t>
            </a:r>
            <a:r>
              <a:rPr sz="1238" b="1" dirty="0" err="1">
                <a:solidFill>
                  <a:srgbClr val="C4384D"/>
                </a:solidFill>
              </a:rPr>
              <a:t>个文法符号</a:t>
            </a:r>
            <a:r>
              <a:rPr sz="1238" b="1" dirty="0">
                <a:solidFill>
                  <a:srgbClr val="C4384D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修改后的转移表+分析栈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9CAEC632-A9E6-82AB-6034-3014BC3905A0}" type="slidenum">
              <a:rPr/>
              <a:t>42</a:t>
            </a:fld>
            <a:endParaRPr/>
          </a:p>
        </p:txBody>
      </p:sp>
      <p:sp>
        <p:nvSpPr>
          <p:cNvPr id="5" name="prototype-subtitle">
            <a:extLst>
              <a:ext uri="{FF2B5EF4-FFF2-40B4-BE49-F238E27FC236}">
                <a16:creationId xmlns:a16="http://schemas.microsoft.com/office/drawing/2014/main" id="{04439EDE-C8B1-4266-AFD3-65210B69A34C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把历史状态保存在栈中，并把非终结符转换也放进同一张表；先看看它能否工作。</a:t>
            </a:r>
          </a:p>
        </p:txBody>
      </p:sp>
      <p:sp>
        <p:nvSpPr>
          <p:cNvPr id="6" name="prototype-table-label">
            <a:extLst>
              <a:ext uri="{FF2B5EF4-FFF2-40B4-BE49-F238E27FC236}">
                <a16:creationId xmlns:a16="http://schemas.microsoft.com/office/drawing/2014/main" id="{C292F63C-2006-4B74-9224-181B1F34B8FB}"/>
              </a:ext>
            </a:extLst>
          </p:cNvPr>
          <p:cNvSpPr>
            <a:spLocks noGrp="1"/>
          </p:cNvSpPr>
          <p:nvPr/>
        </p:nvSpPr>
        <p:spPr>
          <a:xfrm>
            <a:off x="666750" y="1724025"/>
            <a:ext cx="4619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原型表：两类符号先放在一张表里</a:t>
            </a:r>
          </a:p>
        </p:txBody>
      </p:sp>
      <p:sp>
        <p:nvSpPr>
          <p:cNvPr id="7" name="prototype-table-0-0">
            <a:extLst>
              <a:ext uri="{FF2B5EF4-FFF2-40B4-BE49-F238E27FC236}">
                <a16:creationId xmlns:a16="http://schemas.microsoft.com/office/drawing/2014/main" id="{4A0BE999-5E8F-4C20-A50C-9AA426176659}"/>
              </a:ext>
            </a:extLst>
          </p:cNvPr>
          <p:cNvSpPr>
            <a:spLocks noGrp="1"/>
          </p:cNvSpPr>
          <p:nvPr/>
        </p:nvSpPr>
        <p:spPr>
          <a:xfrm>
            <a:off x="619125" y="2038350"/>
            <a:ext cx="857250" cy="51435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state</a:t>
            </a:r>
          </a:p>
        </p:txBody>
      </p:sp>
      <p:sp>
        <p:nvSpPr>
          <p:cNvPr id="8" name="prototype-table-0-1">
            <a:extLst>
              <a:ext uri="{FF2B5EF4-FFF2-40B4-BE49-F238E27FC236}">
                <a16:creationId xmlns:a16="http://schemas.microsoft.com/office/drawing/2014/main" id="{5B5E7B42-DA30-4B70-95D4-A2E4B659F888}"/>
              </a:ext>
            </a:extLst>
          </p:cNvPr>
          <p:cNvSpPr>
            <a:spLocks noGrp="1"/>
          </p:cNvSpPr>
          <p:nvPr/>
        </p:nvSpPr>
        <p:spPr>
          <a:xfrm>
            <a:off x="1476375" y="2038350"/>
            <a:ext cx="1000125" cy="514350"/>
          </a:xfrm>
          <a:prstGeom prst="rect">
            <a:avLst/>
          </a:prstGeom>
          <a:solidFill>
            <a:srgbClr val="FCEEF0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088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9" name="prototype-table-0-2">
            <a:extLst>
              <a:ext uri="{FF2B5EF4-FFF2-40B4-BE49-F238E27FC236}">
                <a16:creationId xmlns:a16="http://schemas.microsoft.com/office/drawing/2014/main" id="{703AB207-B430-4A34-8F39-BBD1196B4E71}"/>
              </a:ext>
            </a:extLst>
          </p:cNvPr>
          <p:cNvSpPr>
            <a:spLocks noGrp="1"/>
          </p:cNvSpPr>
          <p:nvPr/>
        </p:nvSpPr>
        <p:spPr>
          <a:xfrm>
            <a:off x="2476500" y="2038350"/>
            <a:ext cx="1000125" cy="514350"/>
          </a:xfrm>
          <a:prstGeom prst="rect">
            <a:avLst/>
          </a:prstGeom>
          <a:solidFill>
            <a:srgbClr val="FCEEF0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088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PLUS</a:t>
            </a:r>
          </a:p>
        </p:txBody>
      </p:sp>
      <p:sp>
        <p:nvSpPr>
          <p:cNvPr id="10" name="prototype-table-0-3">
            <a:extLst>
              <a:ext uri="{FF2B5EF4-FFF2-40B4-BE49-F238E27FC236}">
                <a16:creationId xmlns:a16="http://schemas.microsoft.com/office/drawing/2014/main" id="{D7B25E39-CAE1-4F59-AEAA-15745EA820C2}"/>
              </a:ext>
            </a:extLst>
          </p:cNvPr>
          <p:cNvSpPr>
            <a:spLocks noGrp="1"/>
          </p:cNvSpPr>
          <p:nvPr/>
        </p:nvSpPr>
        <p:spPr>
          <a:xfrm>
            <a:off x="3476625" y="2038350"/>
            <a:ext cx="762000" cy="514350"/>
          </a:xfrm>
          <a:prstGeom prst="rect">
            <a:avLst/>
          </a:prstGeom>
          <a:solidFill>
            <a:srgbClr val="FCEEF0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088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$</a:t>
            </a:r>
          </a:p>
        </p:txBody>
      </p:sp>
      <p:sp>
        <p:nvSpPr>
          <p:cNvPr id="11" name="prototype-table-0-4">
            <a:extLst>
              <a:ext uri="{FF2B5EF4-FFF2-40B4-BE49-F238E27FC236}">
                <a16:creationId xmlns:a16="http://schemas.microsoft.com/office/drawing/2014/main" id="{CBEE2702-9487-4EE6-848E-33EB0D651716}"/>
              </a:ext>
            </a:extLst>
          </p:cNvPr>
          <p:cNvSpPr>
            <a:spLocks noGrp="1"/>
          </p:cNvSpPr>
          <p:nvPr/>
        </p:nvSpPr>
        <p:spPr>
          <a:xfrm>
            <a:off x="4238625" y="2038350"/>
            <a:ext cx="1047750" cy="514350"/>
          </a:xfrm>
          <a:prstGeom prst="rect">
            <a:avLst/>
          </a:prstGeom>
          <a:solidFill>
            <a:srgbClr val="EAF5F8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088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term</a:t>
            </a:r>
          </a:p>
        </p:txBody>
      </p:sp>
      <p:sp>
        <p:nvSpPr>
          <p:cNvPr id="12" name="prototype-table-1-0">
            <a:extLst>
              <a:ext uri="{FF2B5EF4-FFF2-40B4-BE49-F238E27FC236}">
                <a16:creationId xmlns:a16="http://schemas.microsoft.com/office/drawing/2014/main" id="{B7FE6121-593C-4F26-A956-D00023599EB5}"/>
              </a:ext>
            </a:extLst>
          </p:cNvPr>
          <p:cNvSpPr>
            <a:spLocks noGrp="1"/>
          </p:cNvSpPr>
          <p:nvPr/>
        </p:nvSpPr>
        <p:spPr>
          <a:xfrm>
            <a:off x="619125" y="2552700"/>
            <a:ext cx="8572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I₀</a:t>
            </a:r>
          </a:p>
        </p:txBody>
      </p:sp>
      <p:sp>
        <p:nvSpPr>
          <p:cNvPr id="13" name="prototype-table-1-1">
            <a:extLst>
              <a:ext uri="{FF2B5EF4-FFF2-40B4-BE49-F238E27FC236}">
                <a16:creationId xmlns:a16="http://schemas.microsoft.com/office/drawing/2014/main" id="{200FA309-49BE-478E-AD64-4AFF7591C8FB}"/>
              </a:ext>
            </a:extLst>
          </p:cNvPr>
          <p:cNvSpPr>
            <a:spLocks noGrp="1"/>
          </p:cNvSpPr>
          <p:nvPr/>
        </p:nvSpPr>
        <p:spPr>
          <a:xfrm>
            <a:off x="1476375" y="2552700"/>
            <a:ext cx="1000125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shift 3</a:t>
            </a:r>
          </a:p>
        </p:txBody>
      </p:sp>
      <p:sp>
        <p:nvSpPr>
          <p:cNvPr id="14" name="prototype-table-1-2">
            <a:extLst>
              <a:ext uri="{FF2B5EF4-FFF2-40B4-BE49-F238E27FC236}">
                <a16:creationId xmlns:a16="http://schemas.microsoft.com/office/drawing/2014/main" id="{BED7833F-EADD-4780-BDC8-D0323B532275}"/>
              </a:ext>
            </a:extLst>
          </p:cNvPr>
          <p:cNvSpPr>
            <a:spLocks noGrp="1"/>
          </p:cNvSpPr>
          <p:nvPr/>
        </p:nvSpPr>
        <p:spPr>
          <a:xfrm>
            <a:off x="2476500" y="2552700"/>
            <a:ext cx="1000125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" name="prototype-table-1-3">
            <a:extLst>
              <a:ext uri="{FF2B5EF4-FFF2-40B4-BE49-F238E27FC236}">
                <a16:creationId xmlns:a16="http://schemas.microsoft.com/office/drawing/2014/main" id="{D786CADD-9D09-4BA5-986D-2E61ECD3D993}"/>
              </a:ext>
            </a:extLst>
          </p:cNvPr>
          <p:cNvSpPr>
            <a:spLocks noGrp="1"/>
          </p:cNvSpPr>
          <p:nvPr/>
        </p:nvSpPr>
        <p:spPr>
          <a:xfrm>
            <a:off x="3476625" y="2552700"/>
            <a:ext cx="762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6" name="prototype-table-1-4">
            <a:extLst>
              <a:ext uri="{FF2B5EF4-FFF2-40B4-BE49-F238E27FC236}">
                <a16:creationId xmlns:a16="http://schemas.microsoft.com/office/drawing/2014/main" id="{622933E1-27F6-4EA8-B988-987AB557D6D3}"/>
              </a:ext>
            </a:extLst>
          </p:cNvPr>
          <p:cNvSpPr>
            <a:spLocks noGrp="1"/>
          </p:cNvSpPr>
          <p:nvPr/>
        </p:nvSpPr>
        <p:spPr>
          <a:xfrm>
            <a:off x="4238625" y="2552700"/>
            <a:ext cx="1047750" cy="514350"/>
          </a:xfrm>
          <a:prstGeom prst="rect">
            <a:avLst/>
          </a:prstGeom>
          <a:solidFill>
            <a:srgbClr val="F6FBFC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7" name="prototype-table-2-0">
            <a:extLst>
              <a:ext uri="{FF2B5EF4-FFF2-40B4-BE49-F238E27FC236}">
                <a16:creationId xmlns:a16="http://schemas.microsoft.com/office/drawing/2014/main" id="{B85127AE-804F-49DB-802F-03B6AF2FAEFE}"/>
              </a:ext>
            </a:extLst>
          </p:cNvPr>
          <p:cNvSpPr>
            <a:spLocks noGrp="1"/>
          </p:cNvSpPr>
          <p:nvPr/>
        </p:nvSpPr>
        <p:spPr>
          <a:xfrm>
            <a:off x="619125" y="3067050"/>
            <a:ext cx="8572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I₃</a:t>
            </a:r>
          </a:p>
        </p:txBody>
      </p:sp>
      <p:sp>
        <p:nvSpPr>
          <p:cNvPr id="18" name="prototype-table-2-1">
            <a:extLst>
              <a:ext uri="{FF2B5EF4-FFF2-40B4-BE49-F238E27FC236}">
                <a16:creationId xmlns:a16="http://schemas.microsoft.com/office/drawing/2014/main" id="{020397B7-AD90-4506-8E57-9B6E2FB233A4}"/>
              </a:ext>
            </a:extLst>
          </p:cNvPr>
          <p:cNvSpPr>
            <a:spLocks noGrp="1"/>
          </p:cNvSpPr>
          <p:nvPr/>
        </p:nvSpPr>
        <p:spPr>
          <a:xfrm>
            <a:off x="1476375" y="3067050"/>
            <a:ext cx="1000125" cy="514350"/>
          </a:xfrm>
          <a:prstGeom prst="rect">
            <a:avLst/>
          </a:prstGeom>
          <a:solidFill>
            <a:srgbClr val="FFF8F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reduce r3</a:t>
            </a:r>
          </a:p>
        </p:txBody>
      </p:sp>
      <p:sp>
        <p:nvSpPr>
          <p:cNvPr id="19" name="prototype-table-2-2">
            <a:extLst>
              <a:ext uri="{FF2B5EF4-FFF2-40B4-BE49-F238E27FC236}">
                <a16:creationId xmlns:a16="http://schemas.microsoft.com/office/drawing/2014/main" id="{0F0CAA0E-3B97-4896-83C3-E31AC1EAB9AB}"/>
              </a:ext>
            </a:extLst>
          </p:cNvPr>
          <p:cNvSpPr>
            <a:spLocks noGrp="1"/>
          </p:cNvSpPr>
          <p:nvPr/>
        </p:nvSpPr>
        <p:spPr>
          <a:xfrm>
            <a:off x="2476500" y="3067050"/>
            <a:ext cx="1000125" cy="514350"/>
          </a:xfrm>
          <a:prstGeom prst="rect">
            <a:avLst/>
          </a:prstGeom>
          <a:solidFill>
            <a:srgbClr val="FFF8F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reduce r3</a:t>
            </a:r>
          </a:p>
        </p:txBody>
      </p:sp>
      <p:sp>
        <p:nvSpPr>
          <p:cNvPr id="20" name="prototype-table-2-3">
            <a:extLst>
              <a:ext uri="{FF2B5EF4-FFF2-40B4-BE49-F238E27FC236}">
                <a16:creationId xmlns:a16="http://schemas.microsoft.com/office/drawing/2014/main" id="{419D6285-23F4-4C26-AE76-36BBF007804F}"/>
              </a:ext>
            </a:extLst>
          </p:cNvPr>
          <p:cNvSpPr>
            <a:spLocks noGrp="1"/>
          </p:cNvSpPr>
          <p:nvPr/>
        </p:nvSpPr>
        <p:spPr>
          <a:xfrm>
            <a:off x="3476625" y="3067050"/>
            <a:ext cx="762000" cy="514350"/>
          </a:xfrm>
          <a:prstGeom prst="rect">
            <a:avLst/>
          </a:prstGeom>
          <a:solidFill>
            <a:srgbClr val="FFF8F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reduce r3</a:t>
            </a:r>
          </a:p>
        </p:txBody>
      </p:sp>
      <p:sp>
        <p:nvSpPr>
          <p:cNvPr id="21" name="prototype-table-2-4">
            <a:extLst>
              <a:ext uri="{FF2B5EF4-FFF2-40B4-BE49-F238E27FC236}">
                <a16:creationId xmlns:a16="http://schemas.microsoft.com/office/drawing/2014/main" id="{8F9206CC-1F4C-4B58-B191-FE8B8147D402}"/>
              </a:ext>
            </a:extLst>
          </p:cNvPr>
          <p:cNvSpPr>
            <a:spLocks noGrp="1"/>
          </p:cNvSpPr>
          <p:nvPr/>
        </p:nvSpPr>
        <p:spPr>
          <a:xfrm>
            <a:off x="4238625" y="3067050"/>
            <a:ext cx="1047750" cy="514350"/>
          </a:xfrm>
          <a:prstGeom prst="rect">
            <a:avLst/>
          </a:prstGeom>
          <a:solidFill>
            <a:srgbClr val="F6FBFC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2" name="prototype-table-3-0">
            <a:extLst>
              <a:ext uri="{FF2B5EF4-FFF2-40B4-BE49-F238E27FC236}">
                <a16:creationId xmlns:a16="http://schemas.microsoft.com/office/drawing/2014/main" id="{98C6D055-73C8-4842-90A8-E7D5CF5133E6}"/>
              </a:ext>
            </a:extLst>
          </p:cNvPr>
          <p:cNvSpPr>
            <a:spLocks noGrp="1"/>
          </p:cNvSpPr>
          <p:nvPr/>
        </p:nvSpPr>
        <p:spPr>
          <a:xfrm>
            <a:off x="619125" y="3581400"/>
            <a:ext cx="8572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I₄</a:t>
            </a:r>
          </a:p>
        </p:txBody>
      </p:sp>
      <p:sp>
        <p:nvSpPr>
          <p:cNvPr id="23" name="prototype-table-3-1">
            <a:extLst>
              <a:ext uri="{FF2B5EF4-FFF2-40B4-BE49-F238E27FC236}">
                <a16:creationId xmlns:a16="http://schemas.microsoft.com/office/drawing/2014/main" id="{35BEBA3A-9B87-423C-B71E-35E31BDA77CA}"/>
              </a:ext>
            </a:extLst>
          </p:cNvPr>
          <p:cNvSpPr>
            <a:spLocks noGrp="1"/>
          </p:cNvSpPr>
          <p:nvPr/>
        </p:nvSpPr>
        <p:spPr>
          <a:xfrm>
            <a:off x="1476375" y="3581400"/>
            <a:ext cx="1000125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shift 3</a:t>
            </a:r>
          </a:p>
        </p:txBody>
      </p:sp>
      <p:sp>
        <p:nvSpPr>
          <p:cNvPr id="24" name="prototype-table-3-2">
            <a:extLst>
              <a:ext uri="{FF2B5EF4-FFF2-40B4-BE49-F238E27FC236}">
                <a16:creationId xmlns:a16="http://schemas.microsoft.com/office/drawing/2014/main" id="{4850C885-C22F-4FAF-8237-58E57EF42352}"/>
              </a:ext>
            </a:extLst>
          </p:cNvPr>
          <p:cNvSpPr>
            <a:spLocks noGrp="1"/>
          </p:cNvSpPr>
          <p:nvPr/>
        </p:nvSpPr>
        <p:spPr>
          <a:xfrm>
            <a:off x="2476500" y="3581400"/>
            <a:ext cx="1000125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5" name="prototype-table-3-3">
            <a:extLst>
              <a:ext uri="{FF2B5EF4-FFF2-40B4-BE49-F238E27FC236}">
                <a16:creationId xmlns:a16="http://schemas.microsoft.com/office/drawing/2014/main" id="{ABCA4351-690E-44B4-AEFA-8D3C8C6A2D9D}"/>
              </a:ext>
            </a:extLst>
          </p:cNvPr>
          <p:cNvSpPr>
            <a:spLocks noGrp="1"/>
          </p:cNvSpPr>
          <p:nvPr/>
        </p:nvSpPr>
        <p:spPr>
          <a:xfrm>
            <a:off x="3476625" y="3581400"/>
            <a:ext cx="762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6" name="prototype-table-3-4">
            <a:extLst>
              <a:ext uri="{FF2B5EF4-FFF2-40B4-BE49-F238E27FC236}">
                <a16:creationId xmlns:a16="http://schemas.microsoft.com/office/drawing/2014/main" id="{F9484471-B83F-4715-B0FF-1682D317F76A}"/>
              </a:ext>
            </a:extLst>
          </p:cNvPr>
          <p:cNvSpPr>
            <a:spLocks noGrp="1"/>
          </p:cNvSpPr>
          <p:nvPr/>
        </p:nvSpPr>
        <p:spPr>
          <a:xfrm>
            <a:off x="4238625" y="3581400"/>
            <a:ext cx="1047750" cy="514350"/>
          </a:xfrm>
          <a:prstGeom prst="rect">
            <a:avLst/>
          </a:prstGeom>
          <a:solidFill>
            <a:srgbClr val="F6FBFC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27" name="prototype-rule">
            <a:extLst>
              <a:ext uri="{FF2B5EF4-FFF2-40B4-BE49-F238E27FC236}">
                <a16:creationId xmlns:a16="http://schemas.microsoft.com/office/drawing/2014/main" id="{0B33797A-9ECA-42FE-AEF6-3AF626B6A2A5}"/>
              </a:ext>
            </a:extLst>
          </p:cNvPr>
          <p:cNvSpPr>
            <a:spLocks noGrp="1"/>
          </p:cNvSpPr>
          <p:nvPr/>
        </p:nvSpPr>
        <p:spPr>
          <a:xfrm>
            <a:off x="857250" y="421005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63">
                <a:solidFill>
                  <a:srgbClr val="777777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777777"/>
                </a:solidFill>
                <a:latin typeface="Menlo"/>
                <a:ea typeface="Menlo"/>
                <a:cs typeface="Menlo"/>
              </a:rPr>
              <a:t>r3: term → INT</a:t>
            </a:r>
          </a:p>
        </p:txBody>
      </p:sp>
      <p:sp>
        <p:nvSpPr>
          <p:cNvPr id="28" name="prototype-stack-label">
            <a:extLst>
              <a:ext uri="{FF2B5EF4-FFF2-40B4-BE49-F238E27FC236}">
                <a16:creationId xmlns:a16="http://schemas.microsoft.com/office/drawing/2014/main" id="{269C03E9-D172-45F7-81DA-EACE8F012BF1}"/>
              </a:ext>
            </a:extLst>
          </p:cNvPr>
          <p:cNvSpPr>
            <a:spLocks noGrp="1"/>
          </p:cNvSpPr>
          <p:nvPr/>
        </p:nvSpPr>
        <p:spPr>
          <a:xfrm>
            <a:off x="5810250" y="1724025"/>
            <a:ext cx="2619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状态栈：只保存状态路径</a:t>
            </a:r>
          </a:p>
        </p:txBody>
      </p:sp>
      <p:sp>
        <p:nvSpPr>
          <p:cNvPr id="29" name="prototype-stack">
            <a:extLst>
              <a:ext uri="{FF2B5EF4-FFF2-40B4-BE49-F238E27FC236}">
                <a16:creationId xmlns:a16="http://schemas.microsoft.com/office/drawing/2014/main" id="{8A300577-8E83-4F18-B016-A1018824488C}"/>
              </a:ext>
            </a:extLst>
          </p:cNvPr>
          <p:cNvSpPr>
            <a:spLocks noGrp="1"/>
          </p:cNvSpPr>
          <p:nvPr/>
        </p:nvSpPr>
        <p:spPr>
          <a:xfrm>
            <a:off x="6096000" y="2133600"/>
            <a:ext cx="2047875" cy="523875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238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state stack = [0, …]</a:t>
            </a:r>
          </a:p>
        </p:txBody>
      </p:sp>
      <p:sp>
        <p:nvSpPr>
          <p:cNvPr id="30" name="prototype-shift">
            <a:extLst>
              <a:ext uri="{FF2B5EF4-FFF2-40B4-BE49-F238E27FC236}">
                <a16:creationId xmlns:a16="http://schemas.microsoft.com/office/drawing/2014/main" id="{4AF3305C-377B-4044-A837-7F11F2C35104}"/>
              </a:ext>
            </a:extLst>
          </p:cNvPr>
          <p:cNvSpPr>
            <a:spLocks noGrp="1"/>
          </p:cNvSpPr>
          <p:nvPr/>
        </p:nvSpPr>
        <p:spPr>
          <a:xfrm>
            <a:off x="5715000" y="2952750"/>
            <a:ext cx="2809875" cy="666750"/>
          </a:xfrm>
          <a:prstGeom prst="rect">
            <a:avLst/>
          </a:prstGeom>
          <a:solidFill>
            <a:srgbClr val="FFF8F9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38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shift j</a:t>
            </a:r>
          </a:p>
          <a:p>
            <a:pPr algn="ctr">
              <a:buNone/>
              <a:defRPr sz="1238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38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读取 Token；push(j)</a:t>
            </a:r>
          </a:p>
        </p:txBody>
      </p:sp>
      <p:sp>
        <p:nvSpPr>
          <p:cNvPr id="31" name="prototype-reduce">
            <a:extLst>
              <a:ext uri="{FF2B5EF4-FFF2-40B4-BE49-F238E27FC236}">
                <a16:creationId xmlns:a16="http://schemas.microsoft.com/office/drawing/2014/main" id="{C7C53634-A162-4D3E-A417-75CCE827F031}"/>
              </a:ext>
            </a:extLst>
          </p:cNvPr>
          <p:cNvSpPr>
            <a:spLocks noGrp="1"/>
          </p:cNvSpPr>
          <p:nvPr/>
        </p:nvSpPr>
        <p:spPr>
          <a:xfrm>
            <a:off x="5715000" y="3686175"/>
            <a:ext cx="2809875" cy="914400"/>
          </a:xfrm>
          <a:prstGeom prst="rect">
            <a:avLst/>
          </a:prstGeom>
          <a:solidFill>
            <a:srgbClr val="F6FBFC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reduce A → β</a:t>
            </a:r>
            <a:endParaRPr sz="1088" b="1">
              <a:solidFill>
                <a:srgbClr val="2D7C93"/>
              </a:solidFill>
              <a:latin typeface="Menlo"/>
              <a:ea typeface="Menlo"/>
              <a:cs typeface="Menlo"/>
            </a:endParaRPr>
          </a:p>
          <a:p>
            <a:pPr algn="ctr">
              <a:buNone/>
              <a:defRPr sz="1088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088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pop(|β|)</a:t>
            </a:r>
          </a:p>
          <a:p>
            <a:pPr algn="ctr">
              <a:buNone/>
              <a:defRPr sz="1088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088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i = stack.top()   // 恢复出的状态</a:t>
            </a:r>
          </a:p>
          <a:p>
            <a:pPr algn="ctr">
              <a:buNone/>
              <a:defRPr sz="1088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088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j = table[i, A]</a:t>
            </a:r>
          </a:p>
          <a:p>
            <a:pPr algn="ctr">
              <a:buNone/>
              <a:defRPr sz="1088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088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push(j)</a:t>
            </a:r>
          </a:p>
        </p:txBody>
      </p:sp>
      <p:sp>
        <p:nvSpPr>
          <p:cNvPr id="32" name="prototype-takeaway">
            <a:extLst>
              <a:ext uri="{FF2B5EF4-FFF2-40B4-BE49-F238E27FC236}">
                <a16:creationId xmlns:a16="http://schemas.microsoft.com/office/drawing/2014/main" id="{B093251B-DC0F-4CA4-B08E-3B2E1EDD2521}"/>
              </a:ext>
            </a:extLst>
          </p:cNvPr>
          <p:cNvSpPr>
            <a:spLocks noGrp="1"/>
          </p:cNvSpPr>
          <p:nvPr/>
        </p:nvSpPr>
        <p:spPr>
          <a:xfrm>
            <a:off x="647700" y="4705350"/>
            <a:ext cx="8020050" cy="4191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一张混合表 + 一个状态栈：这个原型能处理不同上下文吗？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用同一条 reduce 测试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675CE1F1-F8E2-E359-8FD1-A9FA98B3A676}" type="slidenum">
              <a:rPr/>
              <a:t>43</a:t>
            </a:fld>
            <a:endParaRPr/>
          </a:p>
        </p:txBody>
      </p:sp>
      <p:sp>
        <p:nvSpPr>
          <p:cNvPr id="5" name="subtitle-41">
            <a:extLst>
              <a:ext uri="{FF2B5EF4-FFF2-40B4-BE49-F238E27FC236}">
                <a16:creationId xmlns:a16="http://schemas.microsoft.com/office/drawing/2014/main" id="{BF422B25-4421-4ED9-8A4E-C19A3D1E3DF1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两个场景都在 I₃ 执行 reduce term → INT；栈恢复不同历史，再查询原型表的 term 列。</a:t>
            </a:r>
          </a:p>
        </p:txBody>
      </p:sp>
      <p:sp>
        <p:nvSpPr>
          <p:cNvPr id="6" name="state-stack-note">
            <a:extLst>
              <a:ext uri="{FF2B5EF4-FFF2-40B4-BE49-F238E27FC236}">
                <a16:creationId xmlns:a16="http://schemas.microsoft.com/office/drawing/2014/main" id="{7EF1E09C-B0E8-4E63-81E7-BDF6447EB6F0}"/>
              </a:ext>
            </a:extLst>
          </p:cNvPr>
          <p:cNvSpPr>
            <a:spLocks noGrp="1"/>
          </p:cNvSpPr>
          <p:nvPr/>
        </p:nvSpPr>
        <p:spPr>
          <a:xfrm>
            <a:off x="6429375" y="1600200"/>
            <a:ext cx="2047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63" b="1">
                <a:solidFill>
                  <a:srgbClr val="2D7C93"/>
                </a:solidFill>
              </a:defRPr>
            </a:pPr>
            <a:r>
              <a:rPr sz="1163" b="1">
                <a:solidFill>
                  <a:srgbClr val="2D7C93"/>
                </a:solidFill>
              </a:rPr>
              <a:t>栈中只保存状态编号</a:t>
            </a:r>
          </a:p>
        </p:txBody>
      </p:sp>
      <p:sp>
        <p:nvSpPr>
          <p:cNvPr id="7" name="case1-label">
            <a:extLst>
              <a:ext uri="{FF2B5EF4-FFF2-40B4-BE49-F238E27FC236}">
                <a16:creationId xmlns:a16="http://schemas.microsoft.com/office/drawing/2014/main" id="{B17D1E5D-D28B-464F-B404-96F7FE57A679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场景 1</a:t>
            </a:r>
          </a:p>
        </p:txBody>
      </p:sp>
      <p:sp>
        <p:nvSpPr>
          <p:cNvPr id="8" name="case1-arrow">
            <a:extLst>
              <a:ext uri="{FF2B5EF4-FFF2-40B4-BE49-F238E27FC236}">
                <a16:creationId xmlns:a16="http://schemas.microsoft.com/office/drawing/2014/main" id="{514F5820-E024-4DF9-85D8-9368B0A04FA3}"/>
              </a:ext>
            </a:extLst>
          </p:cNvPr>
          <p:cNvSpPr>
            <a:spLocks noGrp="1"/>
          </p:cNvSpPr>
          <p:nvPr/>
        </p:nvSpPr>
        <p:spPr>
          <a:xfrm>
            <a:off x="4762500" y="2057400"/>
            <a:ext cx="1476375" cy="0"/>
          </a:xfrm>
          <a:prstGeom prst="line">
            <a:avLst/>
          </a:prstGeom>
          <a:noFill/>
          <a:ln w="15240">
            <a:solidFill>
              <a:srgbClr val="C4384D"/>
            </a:solidFill>
            <a:prstDash val="solid"/>
          </a:ln>
        </p:spPr>
      </p:sp>
      <p:sp>
        <p:nvSpPr>
          <p:cNvPr id="9" name="case1-before-0">
            <a:extLst>
              <a:ext uri="{FF2B5EF4-FFF2-40B4-BE49-F238E27FC236}">
                <a16:creationId xmlns:a16="http://schemas.microsoft.com/office/drawing/2014/main" id="{D700476E-592B-45C6-8F40-549C2D4AC704}"/>
              </a:ext>
            </a:extLst>
          </p:cNvPr>
          <p:cNvSpPr>
            <a:spLocks noGrp="1"/>
          </p:cNvSpPr>
          <p:nvPr/>
        </p:nvSpPr>
        <p:spPr>
          <a:xfrm>
            <a:off x="2381250" y="1857375"/>
            <a:ext cx="685800" cy="4000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0</a:t>
            </a:r>
          </a:p>
        </p:txBody>
      </p:sp>
      <p:sp>
        <p:nvSpPr>
          <p:cNvPr id="10" name="case1-before-1">
            <a:extLst>
              <a:ext uri="{FF2B5EF4-FFF2-40B4-BE49-F238E27FC236}">
                <a16:creationId xmlns:a16="http://schemas.microsoft.com/office/drawing/2014/main" id="{8D1DB581-28A6-4193-9C99-B9BEFB124E52}"/>
              </a:ext>
            </a:extLst>
          </p:cNvPr>
          <p:cNvSpPr>
            <a:spLocks noGrp="1"/>
          </p:cNvSpPr>
          <p:nvPr/>
        </p:nvSpPr>
        <p:spPr>
          <a:xfrm>
            <a:off x="3067050" y="1857375"/>
            <a:ext cx="685800" cy="4000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11" name="case1-pop">
            <a:extLst>
              <a:ext uri="{FF2B5EF4-FFF2-40B4-BE49-F238E27FC236}">
                <a16:creationId xmlns:a16="http://schemas.microsoft.com/office/drawing/2014/main" id="{C9DF1723-D17C-4CF2-8385-0CF76AA43568}"/>
              </a:ext>
            </a:extLst>
          </p:cNvPr>
          <p:cNvSpPr>
            <a:spLocks noGrp="1"/>
          </p:cNvSpPr>
          <p:nvPr/>
        </p:nvSpPr>
        <p:spPr>
          <a:xfrm>
            <a:off x="3857625" y="188595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pop(1)</a:t>
            </a:r>
          </a:p>
        </p:txBody>
      </p:sp>
      <p:sp>
        <p:nvSpPr>
          <p:cNvPr id="12" name="case1-after-0">
            <a:extLst>
              <a:ext uri="{FF2B5EF4-FFF2-40B4-BE49-F238E27FC236}">
                <a16:creationId xmlns:a16="http://schemas.microsoft.com/office/drawing/2014/main" id="{D3DB34B1-7E0C-4C7E-9C9B-15C18DD0437A}"/>
              </a:ext>
            </a:extLst>
          </p:cNvPr>
          <p:cNvSpPr>
            <a:spLocks noGrp="1"/>
          </p:cNvSpPr>
          <p:nvPr/>
        </p:nvSpPr>
        <p:spPr>
          <a:xfrm>
            <a:off x="6477000" y="1857375"/>
            <a:ext cx="685800" cy="4000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0</a:t>
            </a:r>
          </a:p>
        </p:txBody>
      </p:sp>
      <p:sp>
        <p:nvSpPr>
          <p:cNvPr id="13" name="case1-after-1">
            <a:extLst>
              <a:ext uri="{FF2B5EF4-FFF2-40B4-BE49-F238E27FC236}">
                <a16:creationId xmlns:a16="http://schemas.microsoft.com/office/drawing/2014/main" id="{25C99367-C696-4C50-8B49-9259226292CA}"/>
              </a:ext>
            </a:extLst>
          </p:cNvPr>
          <p:cNvSpPr>
            <a:spLocks noGrp="1"/>
          </p:cNvSpPr>
          <p:nvPr/>
        </p:nvSpPr>
        <p:spPr>
          <a:xfrm>
            <a:off x="7162800" y="1857375"/>
            <a:ext cx="685800" cy="4000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4" name="case1-query">
            <a:extLst>
              <a:ext uri="{FF2B5EF4-FFF2-40B4-BE49-F238E27FC236}">
                <a16:creationId xmlns:a16="http://schemas.microsoft.com/office/drawing/2014/main" id="{BC71C559-BE9F-4F24-B26A-6A43631474AB}"/>
              </a:ext>
            </a:extLst>
          </p:cNvPr>
          <p:cNvSpPr>
            <a:spLocks noGrp="1"/>
          </p:cNvSpPr>
          <p:nvPr/>
        </p:nvSpPr>
        <p:spPr>
          <a:xfrm>
            <a:off x="5905500" y="23622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38" b="1">
                <a:solidFill>
                  <a:srgbClr val="2D7C93"/>
                </a:solidFill>
              </a:defRPr>
            </a:pPr>
            <a:r>
              <a:rPr sz="1238" b="1">
                <a:solidFill>
                  <a:srgbClr val="2D7C93"/>
                </a:solidFill>
              </a:rPr>
              <a:t>恢复 0；table[0, term] = 2</a:t>
            </a:r>
          </a:p>
        </p:txBody>
      </p:sp>
      <p:sp>
        <p:nvSpPr>
          <p:cNvPr id="15" name="case2-label">
            <a:extLst>
              <a:ext uri="{FF2B5EF4-FFF2-40B4-BE49-F238E27FC236}">
                <a16:creationId xmlns:a16="http://schemas.microsoft.com/office/drawing/2014/main" id="{F4E4382C-0016-48A5-82A8-7A374408B9BD}"/>
              </a:ext>
            </a:extLst>
          </p:cNvPr>
          <p:cNvSpPr>
            <a:spLocks noGrp="1"/>
          </p:cNvSpPr>
          <p:nvPr/>
        </p:nvSpPr>
        <p:spPr>
          <a:xfrm>
            <a:off x="685800" y="3190875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场景 2</a:t>
            </a:r>
          </a:p>
        </p:txBody>
      </p:sp>
      <p:sp>
        <p:nvSpPr>
          <p:cNvPr id="16" name="case2-arrow">
            <a:extLst>
              <a:ext uri="{FF2B5EF4-FFF2-40B4-BE49-F238E27FC236}">
                <a16:creationId xmlns:a16="http://schemas.microsoft.com/office/drawing/2014/main" id="{FE66176D-25DB-4A82-AD02-2729E6C4B04F}"/>
              </a:ext>
            </a:extLst>
          </p:cNvPr>
          <p:cNvSpPr>
            <a:spLocks noGrp="1"/>
          </p:cNvSpPr>
          <p:nvPr/>
        </p:nvSpPr>
        <p:spPr>
          <a:xfrm>
            <a:off x="5667375" y="3438525"/>
            <a:ext cx="571500" cy="0"/>
          </a:xfrm>
          <a:prstGeom prst="line">
            <a:avLst/>
          </a:prstGeom>
          <a:noFill/>
          <a:ln w="15240">
            <a:solidFill>
              <a:srgbClr val="C4384D"/>
            </a:solidFill>
            <a:prstDash val="solid"/>
          </a:ln>
        </p:spPr>
      </p:sp>
      <p:sp>
        <p:nvSpPr>
          <p:cNvPr id="17" name="case2-before-0">
            <a:extLst>
              <a:ext uri="{FF2B5EF4-FFF2-40B4-BE49-F238E27FC236}">
                <a16:creationId xmlns:a16="http://schemas.microsoft.com/office/drawing/2014/main" id="{CDBB287E-09CC-4DA9-B8A5-1E80FDCE0CC7}"/>
              </a:ext>
            </a:extLst>
          </p:cNvPr>
          <p:cNvSpPr>
            <a:spLocks noGrp="1"/>
          </p:cNvSpPr>
          <p:nvPr/>
        </p:nvSpPr>
        <p:spPr>
          <a:xfrm>
            <a:off x="2000250" y="3238500"/>
            <a:ext cx="628650" cy="4000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0</a:t>
            </a:r>
          </a:p>
        </p:txBody>
      </p:sp>
      <p:sp>
        <p:nvSpPr>
          <p:cNvPr id="18" name="case2-before-1">
            <a:extLst>
              <a:ext uri="{FF2B5EF4-FFF2-40B4-BE49-F238E27FC236}">
                <a16:creationId xmlns:a16="http://schemas.microsoft.com/office/drawing/2014/main" id="{4AA214E8-B27F-44DC-B21A-852F8CF8976C}"/>
              </a:ext>
            </a:extLst>
          </p:cNvPr>
          <p:cNvSpPr>
            <a:spLocks noGrp="1"/>
          </p:cNvSpPr>
          <p:nvPr/>
        </p:nvSpPr>
        <p:spPr>
          <a:xfrm>
            <a:off x="2628900" y="3238500"/>
            <a:ext cx="628650" cy="4000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19" name="case2-before-2">
            <a:extLst>
              <a:ext uri="{FF2B5EF4-FFF2-40B4-BE49-F238E27FC236}">
                <a16:creationId xmlns:a16="http://schemas.microsoft.com/office/drawing/2014/main" id="{13819CAF-C9B5-4EFB-B321-0BB3B031A0F4}"/>
              </a:ext>
            </a:extLst>
          </p:cNvPr>
          <p:cNvSpPr>
            <a:spLocks noGrp="1"/>
          </p:cNvSpPr>
          <p:nvPr/>
        </p:nvSpPr>
        <p:spPr>
          <a:xfrm>
            <a:off x="3257550" y="3238500"/>
            <a:ext cx="628650" cy="4000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20" name="case2-before-3">
            <a:extLst>
              <a:ext uri="{FF2B5EF4-FFF2-40B4-BE49-F238E27FC236}">
                <a16:creationId xmlns:a16="http://schemas.microsoft.com/office/drawing/2014/main" id="{154BEB9D-A3AD-438E-8E63-6D8CED960B07}"/>
              </a:ext>
            </a:extLst>
          </p:cNvPr>
          <p:cNvSpPr>
            <a:spLocks noGrp="1"/>
          </p:cNvSpPr>
          <p:nvPr/>
        </p:nvSpPr>
        <p:spPr>
          <a:xfrm>
            <a:off x="3886200" y="3238500"/>
            <a:ext cx="628650" cy="4000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21" name="case2-pop">
            <a:extLst>
              <a:ext uri="{FF2B5EF4-FFF2-40B4-BE49-F238E27FC236}">
                <a16:creationId xmlns:a16="http://schemas.microsoft.com/office/drawing/2014/main" id="{2367848F-AEE8-490E-AF16-A4A49796CD7E}"/>
              </a:ext>
            </a:extLst>
          </p:cNvPr>
          <p:cNvSpPr>
            <a:spLocks noGrp="1"/>
          </p:cNvSpPr>
          <p:nvPr/>
        </p:nvSpPr>
        <p:spPr>
          <a:xfrm>
            <a:off x="4572000" y="3267075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pop(1)</a:t>
            </a:r>
          </a:p>
        </p:txBody>
      </p:sp>
      <p:sp>
        <p:nvSpPr>
          <p:cNvPr id="22" name="case2-after-0">
            <a:extLst>
              <a:ext uri="{FF2B5EF4-FFF2-40B4-BE49-F238E27FC236}">
                <a16:creationId xmlns:a16="http://schemas.microsoft.com/office/drawing/2014/main" id="{9811717E-43CB-4F26-9E5E-2084F3F0851B}"/>
              </a:ext>
            </a:extLst>
          </p:cNvPr>
          <p:cNvSpPr>
            <a:spLocks noGrp="1"/>
          </p:cNvSpPr>
          <p:nvPr/>
        </p:nvSpPr>
        <p:spPr>
          <a:xfrm>
            <a:off x="6477000" y="3238500"/>
            <a:ext cx="552450" cy="4000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0</a:t>
            </a:r>
          </a:p>
        </p:txBody>
      </p:sp>
      <p:sp>
        <p:nvSpPr>
          <p:cNvPr id="23" name="case2-after-1">
            <a:extLst>
              <a:ext uri="{FF2B5EF4-FFF2-40B4-BE49-F238E27FC236}">
                <a16:creationId xmlns:a16="http://schemas.microsoft.com/office/drawing/2014/main" id="{E27ED5F6-C998-407F-ABAE-F2DDE5554417}"/>
              </a:ext>
            </a:extLst>
          </p:cNvPr>
          <p:cNvSpPr>
            <a:spLocks noGrp="1"/>
          </p:cNvSpPr>
          <p:nvPr/>
        </p:nvSpPr>
        <p:spPr>
          <a:xfrm>
            <a:off x="7029450" y="3238500"/>
            <a:ext cx="552450" cy="4000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24" name="case2-after-2">
            <a:extLst>
              <a:ext uri="{FF2B5EF4-FFF2-40B4-BE49-F238E27FC236}">
                <a16:creationId xmlns:a16="http://schemas.microsoft.com/office/drawing/2014/main" id="{EA88AB98-0417-4312-B477-85EC4D2BB755}"/>
              </a:ext>
            </a:extLst>
          </p:cNvPr>
          <p:cNvSpPr>
            <a:spLocks noGrp="1"/>
          </p:cNvSpPr>
          <p:nvPr/>
        </p:nvSpPr>
        <p:spPr>
          <a:xfrm>
            <a:off x="7581900" y="3238500"/>
            <a:ext cx="552450" cy="4000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25" name="case2-after-3">
            <a:extLst>
              <a:ext uri="{FF2B5EF4-FFF2-40B4-BE49-F238E27FC236}">
                <a16:creationId xmlns:a16="http://schemas.microsoft.com/office/drawing/2014/main" id="{EB4C8F68-4065-4D0B-88AA-3B1F3AE04EFE}"/>
              </a:ext>
            </a:extLst>
          </p:cNvPr>
          <p:cNvSpPr>
            <a:spLocks noGrp="1"/>
          </p:cNvSpPr>
          <p:nvPr/>
        </p:nvSpPr>
        <p:spPr>
          <a:xfrm>
            <a:off x="8134350" y="3238500"/>
            <a:ext cx="552450" cy="4000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26" name="case2-query">
            <a:extLst>
              <a:ext uri="{FF2B5EF4-FFF2-40B4-BE49-F238E27FC236}">
                <a16:creationId xmlns:a16="http://schemas.microsoft.com/office/drawing/2014/main" id="{4888810A-0386-4831-9111-BEA478EE3C3C}"/>
              </a:ext>
            </a:extLst>
          </p:cNvPr>
          <p:cNvSpPr>
            <a:spLocks noGrp="1"/>
          </p:cNvSpPr>
          <p:nvPr/>
        </p:nvSpPr>
        <p:spPr>
          <a:xfrm>
            <a:off x="5905500" y="374332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38" b="1">
                <a:solidFill>
                  <a:srgbClr val="2D7C93"/>
                </a:solidFill>
              </a:defRPr>
            </a:pPr>
            <a:r>
              <a:rPr sz="1238" b="1">
                <a:solidFill>
                  <a:srgbClr val="2D7C93"/>
                </a:solidFill>
              </a:rPr>
              <a:t>恢复 4；table[4, term] = 5</a:t>
            </a:r>
          </a:p>
        </p:txBody>
      </p:sp>
      <p:sp>
        <p:nvSpPr>
          <p:cNvPr id="27" name="test-takeaway">
            <a:extLst>
              <a:ext uri="{FF2B5EF4-FFF2-40B4-BE49-F238E27FC236}">
                <a16:creationId xmlns:a16="http://schemas.microsoft.com/office/drawing/2014/main" id="{34093A8C-F4E7-4914-8420-DC0354BF9E44}"/>
              </a:ext>
            </a:extLst>
          </p:cNvPr>
          <p:cNvSpPr>
            <a:spLocks noGrp="1"/>
          </p:cNvSpPr>
          <p:nvPr/>
        </p:nvSpPr>
        <p:spPr>
          <a:xfrm>
            <a:off x="647700" y="4705350"/>
            <a:ext cx="8020050" cy="4191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原型可以工作：状态栈恢复历史，非终结符列决定继续到哪里。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燕尾形 21">
            <a:extLst>
              <a:ext uri="{FF2B5EF4-FFF2-40B4-BE49-F238E27FC236}">
                <a16:creationId xmlns:a16="http://schemas.microsoft.com/office/drawing/2014/main" id="{70E2CD59-DD80-4FE1-B604-725D98FE72C3}"/>
              </a:ext>
            </a:extLst>
          </p:cNvPr>
          <p:cNvSpPr>
            <a:spLocks noGrp="1"/>
          </p:cNvSpPr>
          <p:nvPr/>
        </p:nvSpPr>
        <p:spPr>
          <a:xfrm>
            <a:off x="-114300" y="428625"/>
            <a:ext cx="276225" cy="495300"/>
          </a:xfrm>
          <a:prstGeom prst="chevron">
            <a:avLst/>
          </a:prstGeom>
          <a:solidFill>
            <a:srgbClr val="C4384D"/>
          </a:solidFill>
          <a:ln w="0">
            <a:solidFill>
              <a:srgbClr val="C4384D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3D09FB6-9BC2-4419-A06B-806173A403DB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>
              <a:defRPr sz="3225" b="1">
                <a:solidFill>
                  <a:srgbClr val="C4384D"/>
                </a:solidFill>
                <a:latin typeface="Arial"/>
                <a:ea typeface="Arial"/>
                <a:cs typeface="Arial"/>
              </a:defRPr>
            </a:pPr>
            <a:r>
              <a:rPr lang="el-GR" altLang="zh-CN" sz="3600" b="1" dirty="0">
                <a:solidFill>
                  <a:srgbClr val="C4384D"/>
                </a:solidFill>
              </a:rPr>
              <a:t>β</a:t>
            </a:r>
            <a:r>
              <a:rPr lang="zh-CN" altLang="el-GR" sz="3600" b="1" dirty="0">
                <a:solidFill>
                  <a:srgbClr val="C4384D"/>
                </a:solidFill>
              </a:rPr>
              <a:t>符号</a:t>
            </a:r>
            <a:r>
              <a:rPr lang="zh-CN" altLang="en-US" sz="3600" b="1" dirty="0">
                <a:solidFill>
                  <a:srgbClr val="C4384D"/>
                </a:solidFill>
              </a:rPr>
              <a:t>数量超过</a:t>
            </a:r>
            <a:r>
              <a:rPr lang="en-US" altLang="zh-CN" sz="3600" b="1" dirty="0">
                <a:solidFill>
                  <a:srgbClr val="C4384D"/>
                </a:solidFill>
              </a:rPr>
              <a:t>1</a:t>
            </a:r>
            <a:r>
              <a:rPr lang="zh-CN" altLang="en-US" sz="3600" b="1" dirty="0">
                <a:solidFill>
                  <a:srgbClr val="C4384D"/>
                </a:solidFill>
              </a:rPr>
              <a:t>个的情况</a:t>
            </a:r>
            <a:endParaRPr sz="3225" b="1" dirty="0">
              <a:solidFill>
                <a:srgbClr val="C4384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ED6469-B79A-420E-9379-6AD52AB8CDCB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350" b="1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1350" b="1" dirty="0" err="1">
                <a:solidFill>
                  <a:srgbClr val="454545"/>
                </a:solidFill>
                <a:latin typeface="Arial"/>
                <a:ea typeface="Arial"/>
                <a:cs typeface="Arial"/>
              </a:rPr>
              <a:t>场景</a:t>
            </a:r>
            <a:r>
              <a:rPr sz="1350" b="1" dirty="0">
                <a:solidFill>
                  <a:srgbClr val="454545"/>
                </a:solidFill>
                <a:latin typeface="Arial"/>
                <a:ea typeface="Arial"/>
                <a:cs typeface="Arial"/>
              </a:rPr>
              <a:t> 2：I₅ </a:t>
            </a:r>
            <a:r>
              <a:rPr sz="1350" b="1" dirty="0" err="1">
                <a:solidFill>
                  <a:srgbClr val="454545"/>
                </a:solidFill>
                <a:latin typeface="Arial"/>
                <a:ea typeface="Arial"/>
                <a:cs typeface="Arial"/>
              </a:rPr>
              <a:t>执行</a:t>
            </a:r>
            <a:r>
              <a:rPr sz="1350" b="1" dirty="0">
                <a:solidFill>
                  <a:srgbClr val="454545"/>
                </a:solidFill>
                <a:latin typeface="Arial"/>
                <a:ea typeface="Arial"/>
                <a:cs typeface="Arial"/>
              </a:rPr>
              <a:t> r1，规约 expr → expr PLUS term。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174508-DF47-4804-9ACA-4E51FD466921}"/>
              </a:ext>
            </a:extLst>
          </p:cNvPr>
          <p:cNvSpPr>
            <a:spLocks noGrp="1"/>
          </p:cNvSpPr>
          <p:nvPr/>
        </p:nvSpPr>
        <p:spPr>
          <a:xfrm>
            <a:off x="2333625" y="1695450"/>
            <a:ext cx="4476750" cy="49530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</a:ln>
        </p:spPr>
        <p:txBody>
          <a:bodyPr lIns="66675" tIns="57150" rIns="66675" bIns="57150" anchor="ctr">
            <a:normAutofit/>
          </a:bodyPr>
          <a:lstStyle/>
          <a:p>
            <a:pPr algn="ctr">
              <a:defRPr sz="1425" b="1">
                <a:solidFill>
                  <a:srgbClr val="C438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r1:  expr → expr PLUS term     |β| = 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94AB32-8BC6-43CF-BAB8-9A531DBC1824}"/>
              </a:ext>
            </a:extLst>
          </p:cNvPr>
          <p:cNvSpPr>
            <a:spLocks noGrp="1"/>
          </p:cNvSpPr>
          <p:nvPr/>
        </p:nvSpPr>
        <p:spPr>
          <a:xfrm>
            <a:off x="857250" y="2400300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350" b="1">
                <a:solidFill>
                  <a:srgbClr val="2D7C9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7C93"/>
                </a:solidFill>
                <a:latin typeface="Arial"/>
                <a:ea typeface="Arial"/>
                <a:cs typeface="Arial"/>
              </a:rPr>
              <a:t>规约前：三个文法符号对应栈顶三个状态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3B438A-7C92-43A7-9F72-82EB2ACD3732}"/>
              </a:ext>
            </a:extLst>
          </p:cNvPr>
          <p:cNvSpPr>
            <a:spLocks noGrp="1"/>
          </p:cNvSpPr>
          <p:nvPr/>
        </p:nvSpPr>
        <p:spPr>
          <a:xfrm>
            <a:off x="1428750" y="2743200"/>
            <a:ext cx="723900" cy="2476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 fontScale="77500" lnSpcReduction="20000"/>
          </a:bodyPr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56A63B-E7B1-450E-B844-08E1095853D5}"/>
              </a:ext>
            </a:extLst>
          </p:cNvPr>
          <p:cNvSpPr>
            <a:spLocks noGrp="1"/>
          </p:cNvSpPr>
          <p:nvPr/>
        </p:nvSpPr>
        <p:spPr>
          <a:xfrm>
            <a:off x="2152650" y="2743200"/>
            <a:ext cx="723900" cy="2476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125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expr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AE6AC87-B729-4EAB-88FD-3D363916EDB5}"/>
              </a:ext>
            </a:extLst>
          </p:cNvPr>
          <p:cNvSpPr>
            <a:spLocks noGrp="1"/>
          </p:cNvSpPr>
          <p:nvPr/>
        </p:nvSpPr>
        <p:spPr>
          <a:xfrm>
            <a:off x="2876550" y="2743200"/>
            <a:ext cx="723900" cy="2476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125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PLUS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7F86B5-9E91-42E9-A649-857D470D9A17}"/>
              </a:ext>
            </a:extLst>
          </p:cNvPr>
          <p:cNvSpPr>
            <a:spLocks noGrp="1"/>
          </p:cNvSpPr>
          <p:nvPr/>
        </p:nvSpPr>
        <p:spPr>
          <a:xfrm>
            <a:off x="3600450" y="2743200"/>
            <a:ext cx="723900" cy="2476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125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term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D3F5FA-D64C-424B-965E-E39AEFC0AA0E}"/>
              </a:ext>
            </a:extLst>
          </p:cNvPr>
          <p:cNvSpPr>
            <a:spLocks noGrp="1"/>
          </p:cNvSpPr>
          <p:nvPr/>
        </p:nvSpPr>
        <p:spPr>
          <a:xfrm>
            <a:off x="1428750" y="3009900"/>
            <a:ext cx="723900" cy="5143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350" b="1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5454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D4EF4D2-FEF9-4E37-97F0-4BA46E41A133}"/>
              </a:ext>
            </a:extLst>
          </p:cNvPr>
          <p:cNvSpPr>
            <a:spLocks noGrp="1"/>
          </p:cNvSpPr>
          <p:nvPr/>
        </p:nvSpPr>
        <p:spPr>
          <a:xfrm>
            <a:off x="2152650" y="3009900"/>
            <a:ext cx="723900" cy="5143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350" b="1">
                <a:solidFill>
                  <a:srgbClr val="C438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A5B886-E56F-4E8F-B882-18062E7EB97B}"/>
              </a:ext>
            </a:extLst>
          </p:cNvPr>
          <p:cNvSpPr>
            <a:spLocks noGrp="1"/>
          </p:cNvSpPr>
          <p:nvPr/>
        </p:nvSpPr>
        <p:spPr>
          <a:xfrm>
            <a:off x="2876550" y="3009900"/>
            <a:ext cx="723900" cy="5143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350" b="1">
                <a:solidFill>
                  <a:srgbClr val="C438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25F0998-CB21-4562-B13E-DD4C7EFD2DAB}"/>
              </a:ext>
            </a:extLst>
          </p:cNvPr>
          <p:cNvSpPr>
            <a:spLocks noGrp="1"/>
          </p:cNvSpPr>
          <p:nvPr/>
        </p:nvSpPr>
        <p:spPr>
          <a:xfrm>
            <a:off x="3600450" y="3009900"/>
            <a:ext cx="723900" cy="5143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350" b="1">
                <a:solidFill>
                  <a:srgbClr val="C438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F029D81-91FA-4D18-AB70-183436F49EE0}"/>
              </a:ext>
            </a:extLst>
          </p:cNvPr>
          <p:cNvSpPr>
            <a:spLocks noGrp="1"/>
          </p:cNvSpPr>
          <p:nvPr/>
        </p:nvSpPr>
        <p:spPr>
          <a:xfrm>
            <a:off x="4476750" y="3048000"/>
            <a:ext cx="1000125" cy="428625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50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pop(3)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F072B5-C54D-4BD2-8735-83BC47C4E99B}"/>
              </a:ext>
            </a:extLst>
          </p:cNvPr>
          <p:cNvSpPr>
            <a:spLocks noGrp="1"/>
          </p:cNvSpPr>
          <p:nvPr/>
        </p:nvSpPr>
        <p:spPr>
          <a:xfrm>
            <a:off x="5715000" y="3009900"/>
            <a:ext cx="723900" cy="5143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350" b="1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5454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786822C-8552-4A7A-B8FB-06E166C4D4E8}"/>
              </a:ext>
            </a:extLst>
          </p:cNvPr>
          <p:cNvSpPr>
            <a:spLocks noGrp="1"/>
          </p:cNvSpPr>
          <p:nvPr/>
        </p:nvSpPr>
        <p:spPr>
          <a:xfrm>
            <a:off x="5476875" y="3571875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238" b="1">
                <a:solidFill>
                  <a:srgbClr val="2D7C93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2D7C93"/>
                </a:solidFill>
                <a:latin typeface="Arial"/>
                <a:ea typeface="Arial"/>
                <a:cs typeface="Arial"/>
              </a:rPr>
              <a:t>恢复状态 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D98BBED-FE7A-4FFF-8786-AB872A049868}"/>
              </a:ext>
            </a:extLst>
          </p:cNvPr>
          <p:cNvSpPr>
            <a:spLocks noGrp="1"/>
          </p:cNvSpPr>
          <p:nvPr/>
        </p:nvSpPr>
        <p:spPr>
          <a:xfrm>
            <a:off x="1762125" y="4000500"/>
            <a:ext cx="5619750" cy="3429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350" b="1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54545"/>
                </a:solidFill>
                <a:latin typeface="Arial"/>
                <a:ea typeface="Arial"/>
                <a:cs typeface="Arial"/>
              </a:rPr>
              <a:t>再查非终结符列：GOTO[0, expr] = 1，并 push(1)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DFA6B70-04C8-49EB-BD60-A7EEBFA58117}"/>
              </a:ext>
            </a:extLst>
          </p:cNvPr>
          <p:cNvSpPr>
            <a:spLocks noGrp="1"/>
          </p:cNvSpPr>
          <p:nvPr/>
        </p:nvSpPr>
        <p:spPr>
          <a:xfrm>
            <a:off x="3733800" y="4362450"/>
            <a:ext cx="723900" cy="5143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350" b="1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5454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A000875-DC77-4B66-B762-121F840B71A4}"/>
              </a:ext>
            </a:extLst>
          </p:cNvPr>
          <p:cNvSpPr>
            <a:spLocks noGrp="1"/>
          </p:cNvSpPr>
          <p:nvPr/>
        </p:nvSpPr>
        <p:spPr>
          <a:xfrm>
            <a:off x="4457700" y="4362450"/>
            <a:ext cx="723900" cy="5143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350" b="1">
                <a:solidFill>
                  <a:srgbClr val="C438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F0A1A7E-E07B-4404-B91B-9327C27E3056}"/>
              </a:ext>
            </a:extLst>
          </p:cNvPr>
          <p:cNvSpPr>
            <a:spLocks noGrp="1"/>
          </p:cNvSpPr>
          <p:nvPr/>
        </p:nvSpPr>
        <p:spPr>
          <a:xfrm>
            <a:off x="647700" y="4972050"/>
            <a:ext cx="8020050" cy="3429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38" b="1">
                <a:solidFill>
                  <a:srgbClr val="C4384D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回退数量由右侧 β 的文法符号数决定：expr、PLUS、term 共 3 个。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E453E53-8AB3-44A0-BB34-CCD0BAB7896A}"/>
              </a:ext>
            </a:extLst>
          </p:cNvPr>
          <p:cNvSpPr>
            <a:spLocks noGrp="1"/>
          </p:cNvSpPr>
          <p:nvPr/>
        </p:nvSpPr>
        <p:spPr>
          <a:xfrm>
            <a:off x="6553200" y="5296948"/>
            <a:ext cx="2133600" cy="304229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/>
          <a:p>
            <a:pPr algn="r">
              <a:defRPr sz="1200" b="0">
                <a:solidFill>
                  <a:srgbClr val="8B8B8B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8B8B8B"/>
                </a:solidFill>
                <a:latin typeface="DengXian"/>
                <a:ea typeface="DengXian"/>
                <a:cs typeface="DengXian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3963557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两类用途不同的查表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E060EEA-E29B-CF3D-E7B7-BE01DFE3A2D2}" type="slidenum">
              <a:t>45</a:t>
            </a:fld>
            <a:endParaRPr/>
          </a:p>
        </p:txBody>
      </p:sp>
      <p:sp>
        <p:nvSpPr>
          <p:cNvPr id="5" name="split-subtitle">
            <a:extLst>
              <a:ext uri="{FF2B5EF4-FFF2-40B4-BE49-F238E27FC236}">
                <a16:creationId xmlns:a16="http://schemas.microsoft.com/office/drawing/2014/main" id="{8DD4167F-6A9F-4258-B638-D0CC36CF0027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它们虽然暂时放在一张表里，但触发时机、索引来源和返回结果都不同。</a:t>
            </a:r>
          </a:p>
        </p:txBody>
      </p:sp>
      <p:sp>
        <p:nvSpPr>
          <p:cNvPr id="6" name="split-left-arrow">
            <a:extLst>
              <a:ext uri="{FF2B5EF4-FFF2-40B4-BE49-F238E27FC236}">
                <a16:creationId xmlns:a16="http://schemas.microsoft.com/office/drawing/2014/main" id="{30678636-7954-4EB6-9EF8-58F80A067E8F}"/>
              </a:ext>
            </a:extLst>
          </p:cNvPr>
          <p:cNvSpPr>
            <a:spLocks noGrp="1"/>
          </p:cNvSpPr>
          <p:nvPr/>
        </p:nvSpPr>
        <p:spPr>
          <a:xfrm>
            <a:off x="2571750" y="4143375"/>
            <a:ext cx="0" cy="352425"/>
          </a:xfrm>
          <a:prstGeom prst="line">
            <a:avLst/>
          </a:prstGeom>
          <a:noFill/>
          <a:ln w="19050">
            <a:solidFill>
              <a:srgbClr val="C4384D"/>
            </a:solidFill>
            <a:prstDash val="solid"/>
          </a:ln>
        </p:spPr>
      </p:sp>
      <p:sp>
        <p:nvSpPr>
          <p:cNvPr id="7" name="split-right-arrow">
            <a:extLst>
              <a:ext uri="{FF2B5EF4-FFF2-40B4-BE49-F238E27FC236}">
                <a16:creationId xmlns:a16="http://schemas.microsoft.com/office/drawing/2014/main" id="{0FDE0CE0-5872-43FA-8164-2D099DE7AF80}"/>
              </a:ext>
            </a:extLst>
          </p:cNvPr>
          <p:cNvSpPr>
            <a:spLocks noGrp="1"/>
          </p:cNvSpPr>
          <p:nvPr/>
        </p:nvSpPr>
        <p:spPr>
          <a:xfrm>
            <a:off x="6572250" y="4143375"/>
            <a:ext cx="0" cy="352425"/>
          </a:xfrm>
          <a:prstGeom prst="line">
            <a:avLst/>
          </a:prstGeom>
          <a:noFill/>
          <a:ln w="19050">
            <a:solidFill>
              <a:srgbClr val="2D7C93"/>
            </a:solidFill>
            <a:prstDash val="solid"/>
          </a:ln>
        </p:spPr>
      </p:sp>
      <p:sp>
        <p:nvSpPr>
          <p:cNvPr id="8" name="split-action-box">
            <a:extLst>
              <a:ext uri="{FF2B5EF4-FFF2-40B4-BE49-F238E27FC236}">
                <a16:creationId xmlns:a16="http://schemas.microsoft.com/office/drawing/2014/main" id="{8E609931-168D-49D4-B33E-56796827D52D}"/>
              </a:ext>
            </a:extLst>
          </p:cNvPr>
          <p:cNvSpPr>
            <a:spLocks noGrp="1"/>
          </p:cNvSpPr>
          <p:nvPr/>
        </p:nvSpPr>
        <p:spPr>
          <a:xfrm>
            <a:off x="762000" y="1828800"/>
            <a:ext cx="3619500" cy="2314575"/>
          </a:xfrm>
          <a:prstGeom prst="rect">
            <a:avLst/>
          </a:prstGeom>
          <a:solidFill>
            <a:srgbClr val="FFF8F9"/>
          </a:solidFill>
          <a:ln w="11430">
            <a:solidFill>
              <a:srgbClr val="C4384D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9" name="split-action-title">
            <a:extLst>
              <a:ext uri="{FF2B5EF4-FFF2-40B4-BE49-F238E27FC236}">
                <a16:creationId xmlns:a16="http://schemas.microsoft.com/office/drawing/2014/main" id="{26ED6310-E23C-4C4A-8426-DFDD74E3D8AE}"/>
              </a:ext>
            </a:extLst>
          </p:cNvPr>
          <p:cNvSpPr>
            <a:spLocks noGrp="1"/>
          </p:cNvSpPr>
          <p:nvPr/>
        </p:nvSpPr>
        <p:spPr>
          <a:xfrm>
            <a:off x="1000125" y="20002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C4384D"/>
                </a:solidFill>
              </a:defRPr>
            </a:pPr>
            <a:r>
              <a:rPr sz="1575" b="1">
                <a:solidFill>
                  <a:srgbClr val="C4384D"/>
                </a:solidFill>
              </a:rPr>
              <a:t>查询 1：面对当前 Token</a:t>
            </a:r>
          </a:p>
        </p:txBody>
      </p:sp>
      <p:sp>
        <p:nvSpPr>
          <p:cNvPr id="10" name="split-action-body">
            <a:extLst>
              <a:ext uri="{FF2B5EF4-FFF2-40B4-BE49-F238E27FC236}">
                <a16:creationId xmlns:a16="http://schemas.microsoft.com/office/drawing/2014/main" id="{E370FA73-04C0-42ED-86B8-5A5139C511D6}"/>
              </a:ext>
            </a:extLst>
          </p:cNvPr>
          <p:cNvSpPr>
            <a:spLocks noGrp="1"/>
          </p:cNvSpPr>
          <p:nvPr/>
        </p:nvSpPr>
        <p:spPr>
          <a:xfrm>
            <a:off x="1143000" y="2571750"/>
            <a:ext cx="28575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>
                <a:solidFill>
                  <a:srgbClr val="454545"/>
                </a:solidFill>
                <a:latin typeface="Menlo"/>
                <a:ea typeface="Menlo"/>
                <a:cs typeface="Menlo"/>
              </a:rPr>
              <a:t>触发：每一步开始</a:t>
            </a:r>
          </a:p>
          <a:p>
            <a:endParaRPr sz="1275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275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>
                <a:solidFill>
                  <a:srgbClr val="454545"/>
                </a:solidFill>
                <a:latin typeface="Menlo"/>
                <a:ea typeface="Menlo"/>
                <a:cs typeface="Menlo"/>
              </a:rPr>
              <a:t>索引：当前状态 + current Token</a:t>
            </a:r>
          </a:p>
          <a:p>
            <a:endParaRPr sz="1275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275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>
                <a:solidFill>
                  <a:srgbClr val="454545"/>
                </a:solidFill>
                <a:latin typeface="Menlo"/>
                <a:ea typeface="Menlo"/>
                <a:cs typeface="Menlo"/>
              </a:rPr>
              <a:t>结果：shift / reduce / accept / error</a:t>
            </a:r>
          </a:p>
        </p:txBody>
      </p:sp>
      <p:sp>
        <p:nvSpPr>
          <p:cNvPr id="11" name="split-goto-box">
            <a:extLst>
              <a:ext uri="{FF2B5EF4-FFF2-40B4-BE49-F238E27FC236}">
                <a16:creationId xmlns:a16="http://schemas.microsoft.com/office/drawing/2014/main" id="{C3DFE70B-D705-42EE-A630-4EDA6FFEDE4C}"/>
              </a:ext>
            </a:extLst>
          </p:cNvPr>
          <p:cNvSpPr>
            <a:spLocks noGrp="1"/>
          </p:cNvSpPr>
          <p:nvPr/>
        </p:nvSpPr>
        <p:spPr>
          <a:xfrm>
            <a:off x="4762500" y="1828800"/>
            <a:ext cx="3619500" cy="2314575"/>
          </a:xfrm>
          <a:prstGeom prst="rect">
            <a:avLst/>
          </a:prstGeom>
          <a:solidFill>
            <a:srgbClr val="F6FBFC"/>
          </a:solidFill>
          <a:ln w="11430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" name="split-goto-title">
            <a:extLst>
              <a:ext uri="{FF2B5EF4-FFF2-40B4-BE49-F238E27FC236}">
                <a16:creationId xmlns:a16="http://schemas.microsoft.com/office/drawing/2014/main" id="{C9B6BE5F-C9CE-4B11-A049-346C7D536B31}"/>
              </a:ext>
            </a:extLst>
          </p:cNvPr>
          <p:cNvSpPr>
            <a:spLocks noGrp="1"/>
          </p:cNvSpPr>
          <p:nvPr/>
        </p:nvSpPr>
        <p:spPr>
          <a:xfrm>
            <a:off x="5000625" y="20002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2D7C93"/>
                </a:solidFill>
              </a:defRPr>
            </a:pPr>
            <a:r>
              <a:rPr sz="1575" b="1">
                <a:solidFill>
                  <a:srgbClr val="2D7C93"/>
                </a:solidFill>
              </a:rPr>
              <a:t>查询 2：reduce 产生 A 之后</a:t>
            </a:r>
          </a:p>
        </p:txBody>
      </p:sp>
      <p:sp>
        <p:nvSpPr>
          <p:cNvPr id="13" name="split-goto-body">
            <a:extLst>
              <a:ext uri="{FF2B5EF4-FFF2-40B4-BE49-F238E27FC236}">
                <a16:creationId xmlns:a16="http://schemas.microsoft.com/office/drawing/2014/main" id="{67AFEDF8-27AB-4DFD-867A-74C135A4E4F8}"/>
              </a:ext>
            </a:extLst>
          </p:cNvPr>
          <p:cNvSpPr>
            <a:spLocks noGrp="1"/>
          </p:cNvSpPr>
          <p:nvPr/>
        </p:nvSpPr>
        <p:spPr>
          <a:xfrm>
            <a:off x="5143500" y="2571750"/>
            <a:ext cx="28575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>
                <a:solidFill>
                  <a:srgbClr val="454545"/>
                </a:solidFill>
                <a:latin typeface="Menlo"/>
                <a:ea typeface="Menlo"/>
                <a:cs typeface="Menlo"/>
              </a:rPr>
              <a:t>触发：reduce 之后</a:t>
            </a:r>
          </a:p>
          <a:p>
            <a:endParaRPr sz="1275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275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>
                <a:solidFill>
                  <a:srgbClr val="454545"/>
                </a:solidFill>
                <a:latin typeface="Menlo"/>
                <a:ea typeface="Menlo"/>
                <a:cs typeface="Menlo"/>
              </a:rPr>
              <a:t>索引：恢复状态 + 左侧非终结符 A</a:t>
            </a:r>
          </a:p>
          <a:p>
            <a:endParaRPr sz="1275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275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>
                <a:solidFill>
                  <a:srgbClr val="454545"/>
                </a:solidFill>
                <a:latin typeface="Menlo"/>
                <a:ea typeface="Menlo"/>
                <a:cs typeface="Menlo"/>
              </a:rPr>
              <a:t>结果：下一个状态 j</a:t>
            </a:r>
          </a:p>
        </p:txBody>
      </p:sp>
      <p:sp>
        <p:nvSpPr>
          <p:cNvPr id="14" name="split-action-name">
            <a:extLst>
              <a:ext uri="{FF2B5EF4-FFF2-40B4-BE49-F238E27FC236}">
                <a16:creationId xmlns:a16="http://schemas.microsoft.com/office/drawing/2014/main" id="{9603D7B3-628F-410B-93CA-63424DE9F4A4}"/>
              </a:ext>
            </a:extLst>
          </p:cNvPr>
          <p:cNvSpPr>
            <a:spLocks noGrp="1"/>
          </p:cNvSpPr>
          <p:nvPr/>
        </p:nvSpPr>
        <p:spPr>
          <a:xfrm>
            <a:off x="1381125" y="4495800"/>
            <a:ext cx="2381250" cy="523875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C4384D"/>
                </a:solidFill>
              </a:defRPr>
            </a:pPr>
            <a:r>
              <a:rPr sz="1500" b="1">
                <a:solidFill>
                  <a:srgbClr val="C4384D"/>
                </a:solidFill>
              </a:rPr>
              <a:t>命名为 ACTION</a:t>
            </a:r>
          </a:p>
        </p:txBody>
      </p:sp>
      <p:sp>
        <p:nvSpPr>
          <p:cNvPr id="15" name="split-goto-name">
            <a:extLst>
              <a:ext uri="{FF2B5EF4-FFF2-40B4-BE49-F238E27FC236}">
                <a16:creationId xmlns:a16="http://schemas.microsoft.com/office/drawing/2014/main" id="{43DFBD91-036A-4246-BD39-8469DF7D25A8}"/>
              </a:ext>
            </a:extLst>
          </p:cNvPr>
          <p:cNvSpPr>
            <a:spLocks noGrp="1"/>
          </p:cNvSpPr>
          <p:nvPr/>
        </p:nvSpPr>
        <p:spPr>
          <a:xfrm>
            <a:off x="5381625" y="4495800"/>
            <a:ext cx="2381250" cy="523875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D7C93"/>
                </a:solidFill>
              </a:defRPr>
            </a:pPr>
            <a:r>
              <a:rPr sz="1500" b="1">
                <a:solidFill>
                  <a:srgbClr val="2D7C93"/>
                </a:solidFill>
              </a:rPr>
              <a:t>命名为 GOTO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拆分后的完整 LR(0) 分析表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72DB7CE-501A-BBF4-0CAD-B084CE0A592C}" type="slidenum">
              <a:t>46</a:t>
            </a:fld>
            <a:endParaRPr/>
          </a:p>
        </p:txBody>
      </p:sp>
      <p:sp>
        <p:nvSpPr>
          <p:cNvPr id="5" name="subtitle-43">
            <a:extLst>
              <a:ext uri="{FF2B5EF4-FFF2-40B4-BE49-F238E27FC236}">
                <a16:creationId xmlns:a16="http://schemas.microsoft.com/office/drawing/2014/main" id="{97CD427A-A33A-4EDD-85B6-354346A29696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ACTION 保存终结符触发的操作；GOTO 保存非终结符上的状态转换。</a:t>
            </a:r>
          </a:p>
        </p:txBody>
      </p:sp>
      <p:sp>
        <p:nvSpPr>
          <p:cNvPr id="6" name="table-action-band">
            <a:extLst>
              <a:ext uri="{FF2B5EF4-FFF2-40B4-BE49-F238E27FC236}">
                <a16:creationId xmlns:a16="http://schemas.microsoft.com/office/drawing/2014/main" id="{1849DF7B-1EBA-4893-AEDA-B7D58BB675BB}"/>
              </a:ext>
            </a:extLst>
          </p:cNvPr>
          <p:cNvSpPr>
            <a:spLocks noGrp="1"/>
          </p:cNvSpPr>
          <p:nvPr/>
        </p:nvSpPr>
        <p:spPr>
          <a:xfrm>
            <a:off x="2400300" y="1676400"/>
            <a:ext cx="3143250" cy="257175"/>
          </a:xfrm>
          <a:prstGeom prst="rect">
            <a:avLst/>
          </a:prstGeom>
          <a:solidFill>
            <a:srgbClr val="FCEEF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4384D"/>
                </a:solidFill>
              </a:defRPr>
            </a:pPr>
            <a:r>
              <a:rPr sz="1200" b="1">
                <a:solidFill>
                  <a:srgbClr val="C4384D"/>
                </a:solidFill>
              </a:rPr>
              <a:t>ACTION · 终结符列</a:t>
            </a:r>
          </a:p>
        </p:txBody>
      </p:sp>
      <p:sp>
        <p:nvSpPr>
          <p:cNvPr id="7" name="table-goto-band">
            <a:extLst>
              <a:ext uri="{FF2B5EF4-FFF2-40B4-BE49-F238E27FC236}">
                <a16:creationId xmlns:a16="http://schemas.microsoft.com/office/drawing/2014/main" id="{6D7945DC-841C-4735-AF38-661939CE91AF}"/>
              </a:ext>
            </a:extLst>
          </p:cNvPr>
          <p:cNvSpPr>
            <a:spLocks noGrp="1"/>
          </p:cNvSpPr>
          <p:nvPr/>
        </p:nvSpPr>
        <p:spPr>
          <a:xfrm>
            <a:off x="5543550" y="1676400"/>
            <a:ext cx="2095500" cy="257175"/>
          </a:xfrm>
          <a:prstGeom prst="rect">
            <a:avLst/>
          </a:prstGeom>
          <a:solidFill>
            <a:srgbClr val="EAF5F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2D7C93"/>
                </a:solidFill>
              </a:defRPr>
            </a:pPr>
            <a:r>
              <a:rPr sz="1200" b="1">
                <a:solidFill>
                  <a:srgbClr val="2D7C93"/>
                </a:solidFill>
              </a:rPr>
              <a:t>GOTO · 非终结符列</a:t>
            </a:r>
          </a:p>
        </p:txBody>
      </p:sp>
      <p:sp>
        <p:nvSpPr>
          <p:cNvPr id="8" name="full-lr0-table-0-0">
            <a:extLst>
              <a:ext uri="{FF2B5EF4-FFF2-40B4-BE49-F238E27FC236}">
                <a16:creationId xmlns:a16="http://schemas.microsoft.com/office/drawing/2014/main" id="{5CC17FAE-F556-46C1-B596-F7B168C69DA1}"/>
              </a:ext>
            </a:extLst>
          </p:cNvPr>
          <p:cNvSpPr>
            <a:spLocks noGrp="1"/>
          </p:cNvSpPr>
          <p:nvPr/>
        </p:nvSpPr>
        <p:spPr>
          <a:xfrm>
            <a:off x="1352550" y="1933575"/>
            <a:ext cx="1047750" cy="352425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state</a:t>
            </a:r>
          </a:p>
        </p:txBody>
      </p:sp>
      <p:sp>
        <p:nvSpPr>
          <p:cNvPr id="9" name="full-lr0-table-0-1">
            <a:extLst>
              <a:ext uri="{FF2B5EF4-FFF2-40B4-BE49-F238E27FC236}">
                <a16:creationId xmlns:a16="http://schemas.microsoft.com/office/drawing/2014/main" id="{07D66168-B6D3-4ABF-9AF0-3530C5BFD762}"/>
              </a:ext>
            </a:extLst>
          </p:cNvPr>
          <p:cNvSpPr>
            <a:spLocks noGrp="1"/>
          </p:cNvSpPr>
          <p:nvPr/>
        </p:nvSpPr>
        <p:spPr>
          <a:xfrm>
            <a:off x="2400300" y="1933575"/>
            <a:ext cx="1047750" cy="352425"/>
          </a:xfrm>
          <a:prstGeom prst="rect">
            <a:avLst/>
          </a:prstGeom>
          <a:solidFill>
            <a:srgbClr val="FCEEF0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088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0" name="full-lr0-table-0-2">
            <a:extLst>
              <a:ext uri="{FF2B5EF4-FFF2-40B4-BE49-F238E27FC236}">
                <a16:creationId xmlns:a16="http://schemas.microsoft.com/office/drawing/2014/main" id="{E5A78B2B-60FF-4E75-9875-D81A3D0FE60A}"/>
              </a:ext>
            </a:extLst>
          </p:cNvPr>
          <p:cNvSpPr>
            <a:spLocks noGrp="1"/>
          </p:cNvSpPr>
          <p:nvPr/>
        </p:nvSpPr>
        <p:spPr>
          <a:xfrm>
            <a:off x="3448050" y="1933575"/>
            <a:ext cx="1047750" cy="352425"/>
          </a:xfrm>
          <a:prstGeom prst="rect">
            <a:avLst/>
          </a:prstGeom>
          <a:solidFill>
            <a:srgbClr val="FCEEF0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088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PLUS</a:t>
            </a:r>
          </a:p>
        </p:txBody>
      </p:sp>
      <p:sp>
        <p:nvSpPr>
          <p:cNvPr id="11" name="full-lr0-table-0-3">
            <a:extLst>
              <a:ext uri="{FF2B5EF4-FFF2-40B4-BE49-F238E27FC236}">
                <a16:creationId xmlns:a16="http://schemas.microsoft.com/office/drawing/2014/main" id="{4CC74499-0100-4CD1-96DB-0FBFBA95EF70}"/>
              </a:ext>
            </a:extLst>
          </p:cNvPr>
          <p:cNvSpPr>
            <a:spLocks noGrp="1"/>
          </p:cNvSpPr>
          <p:nvPr/>
        </p:nvSpPr>
        <p:spPr>
          <a:xfrm>
            <a:off x="4495800" y="1933575"/>
            <a:ext cx="1047750" cy="352425"/>
          </a:xfrm>
          <a:prstGeom prst="rect">
            <a:avLst/>
          </a:prstGeom>
          <a:solidFill>
            <a:srgbClr val="FCEEF0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088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$</a:t>
            </a:r>
          </a:p>
        </p:txBody>
      </p:sp>
      <p:sp>
        <p:nvSpPr>
          <p:cNvPr id="12" name="full-lr0-table-0-4">
            <a:extLst>
              <a:ext uri="{FF2B5EF4-FFF2-40B4-BE49-F238E27FC236}">
                <a16:creationId xmlns:a16="http://schemas.microsoft.com/office/drawing/2014/main" id="{24CF81AF-6579-421D-AC3B-5D0EAC79953A}"/>
              </a:ext>
            </a:extLst>
          </p:cNvPr>
          <p:cNvSpPr>
            <a:spLocks noGrp="1"/>
          </p:cNvSpPr>
          <p:nvPr/>
        </p:nvSpPr>
        <p:spPr>
          <a:xfrm>
            <a:off x="5543550" y="1933575"/>
            <a:ext cx="1047750" cy="352425"/>
          </a:xfrm>
          <a:prstGeom prst="rect">
            <a:avLst/>
          </a:prstGeom>
          <a:solidFill>
            <a:srgbClr val="EAF5F8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088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expr</a:t>
            </a:r>
          </a:p>
        </p:txBody>
      </p:sp>
      <p:sp>
        <p:nvSpPr>
          <p:cNvPr id="13" name="full-lr0-table-0-5">
            <a:extLst>
              <a:ext uri="{FF2B5EF4-FFF2-40B4-BE49-F238E27FC236}">
                <a16:creationId xmlns:a16="http://schemas.microsoft.com/office/drawing/2014/main" id="{E8F8D2A2-3AFB-431A-A99A-EB5320A9555E}"/>
              </a:ext>
            </a:extLst>
          </p:cNvPr>
          <p:cNvSpPr>
            <a:spLocks noGrp="1"/>
          </p:cNvSpPr>
          <p:nvPr/>
        </p:nvSpPr>
        <p:spPr>
          <a:xfrm>
            <a:off x="6591300" y="1933575"/>
            <a:ext cx="1047750" cy="352425"/>
          </a:xfrm>
          <a:prstGeom prst="rect">
            <a:avLst/>
          </a:prstGeom>
          <a:solidFill>
            <a:srgbClr val="EAF5F8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088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term</a:t>
            </a:r>
          </a:p>
        </p:txBody>
      </p:sp>
      <p:sp>
        <p:nvSpPr>
          <p:cNvPr id="14" name="full-lr0-table-1-0">
            <a:extLst>
              <a:ext uri="{FF2B5EF4-FFF2-40B4-BE49-F238E27FC236}">
                <a16:creationId xmlns:a16="http://schemas.microsoft.com/office/drawing/2014/main" id="{EC3DD831-F4C9-4810-AD4A-1C123E825CCC}"/>
              </a:ext>
            </a:extLst>
          </p:cNvPr>
          <p:cNvSpPr>
            <a:spLocks noGrp="1"/>
          </p:cNvSpPr>
          <p:nvPr/>
        </p:nvSpPr>
        <p:spPr>
          <a:xfrm>
            <a:off x="1352550" y="2286000"/>
            <a:ext cx="1047750" cy="35242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I₀</a:t>
            </a:r>
          </a:p>
        </p:txBody>
      </p:sp>
      <p:sp>
        <p:nvSpPr>
          <p:cNvPr id="15" name="full-lr0-table-1-1">
            <a:extLst>
              <a:ext uri="{FF2B5EF4-FFF2-40B4-BE49-F238E27FC236}">
                <a16:creationId xmlns:a16="http://schemas.microsoft.com/office/drawing/2014/main" id="{6739DDCA-093D-4640-AB24-0DC63E409411}"/>
              </a:ext>
            </a:extLst>
          </p:cNvPr>
          <p:cNvSpPr>
            <a:spLocks noGrp="1"/>
          </p:cNvSpPr>
          <p:nvPr/>
        </p:nvSpPr>
        <p:spPr>
          <a:xfrm>
            <a:off x="2400300" y="2286000"/>
            <a:ext cx="1047750" cy="35242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s3</a:t>
            </a:r>
          </a:p>
        </p:txBody>
      </p:sp>
      <p:sp>
        <p:nvSpPr>
          <p:cNvPr id="16" name="full-lr0-table-1-2">
            <a:extLst>
              <a:ext uri="{FF2B5EF4-FFF2-40B4-BE49-F238E27FC236}">
                <a16:creationId xmlns:a16="http://schemas.microsoft.com/office/drawing/2014/main" id="{3A5BAACF-06BD-4182-A38D-63E1386ABB11}"/>
              </a:ext>
            </a:extLst>
          </p:cNvPr>
          <p:cNvSpPr>
            <a:spLocks noGrp="1"/>
          </p:cNvSpPr>
          <p:nvPr/>
        </p:nvSpPr>
        <p:spPr>
          <a:xfrm>
            <a:off x="3448050" y="2286000"/>
            <a:ext cx="1047750" cy="35242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7" name="full-lr0-table-1-3">
            <a:extLst>
              <a:ext uri="{FF2B5EF4-FFF2-40B4-BE49-F238E27FC236}">
                <a16:creationId xmlns:a16="http://schemas.microsoft.com/office/drawing/2014/main" id="{20CF9031-347C-4A67-A931-2C666CE8FC97}"/>
              </a:ext>
            </a:extLst>
          </p:cNvPr>
          <p:cNvSpPr>
            <a:spLocks noGrp="1"/>
          </p:cNvSpPr>
          <p:nvPr/>
        </p:nvSpPr>
        <p:spPr>
          <a:xfrm>
            <a:off x="4495800" y="2286000"/>
            <a:ext cx="1047750" cy="35242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8" name="full-lr0-table-1-4">
            <a:extLst>
              <a:ext uri="{FF2B5EF4-FFF2-40B4-BE49-F238E27FC236}">
                <a16:creationId xmlns:a16="http://schemas.microsoft.com/office/drawing/2014/main" id="{C73C42DE-6B78-49A7-817E-E7B04629D23E}"/>
              </a:ext>
            </a:extLst>
          </p:cNvPr>
          <p:cNvSpPr>
            <a:spLocks noGrp="1"/>
          </p:cNvSpPr>
          <p:nvPr/>
        </p:nvSpPr>
        <p:spPr>
          <a:xfrm>
            <a:off x="5543550" y="2286000"/>
            <a:ext cx="1047750" cy="352425"/>
          </a:xfrm>
          <a:prstGeom prst="rect">
            <a:avLst/>
          </a:prstGeom>
          <a:solidFill>
            <a:srgbClr val="F6FBFC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19" name="full-lr0-table-1-5">
            <a:extLst>
              <a:ext uri="{FF2B5EF4-FFF2-40B4-BE49-F238E27FC236}">
                <a16:creationId xmlns:a16="http://schemas.microsoft.com/office/drawing/2014/main" id="{CC08A6F3-A67F-489E-BF6E-EE53896BE747}"/>
              </a:ext>
            </a:extLst>
          </p:cNvPr>
          <p:cNvSpPr>
            <a:spLocks noGrp="1"/>
          </p:cNvSpPr>
          <p:nvPr/>
        </p:nvSpPr>
        <p:spPr>
          <a:xfrm>
            <a:off x="6591300" y="2286000"/>
            <a:ext cx="1047750" cy="352425"/>
          </a:xfrm>
          <a:prstGeom prst="rect">
            <a:avLst/>
          </a:prstGeom>
          <a:solidFill>
            <a:srgbClr val="F6FBFC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20" name="full-lr0-table-2-0">
            <a:extLst>
              <a:ext uri="{FF2B5EF4-FFF2-40B4-BE49-F238E27FC236}">
                <a16:creationId xmlns:a16="http://schemas.microsoft.com/office/drawing/2014/main" id="{926889F8-AEDF-4C20-A7F2-827F25E525B2}"/>
              </a:ext>
            </a:extLst>
          </p:cNvPr>
          <p:cNvSpPr>
            <a:spLocks noGrp="1"/>
          </p:cNvSpPr>
          <p:nvPr/>
        </p:nvSpPr>
        <p:spPr>
          <a:xfrm>
            <a:off x="1352550" y="2638425"/>
            <a:ext cx="1047750" cy="35242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I₁</a:t>
            </a:r>
          </a:p>
        </p:txBody>
      </p:sp>
      <p:sp>
        <p:nvSpPr>
          <p:cNvPr id="21" name="full-lr0-table-2-1">
            <a:extLst>
              <a:ext uri="{FF2B5EF4-FFF2-40B4-BE49-F238E27FC236}">
                <a16:creationId xmlns:a16="http://schemas.microsoft.com/office/drawing/2014/main" id="{F824F05B-0B59-48C2-B6A2-4F9AEC1282A3}"/>
              </a:ext>
            </a:extLst>
          </p:cNvPr>
          <p:cNvSpPr>
            <a:spLocks noGrp="1"/>
          </p:cNvSpPr>
          <p:nvPr/>
        </p:nvSpPr>
        <p:spPr>
          <a:xfrm>
            <a:off x="2400300" y="2638425"/>
            <a:ext cx="1047750" cy="35242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2" name="full-lr0-table-2-2">
            <a:extLst>
              <a:ext uri="{FF2B5EF4-FFF2-40B4-BE49-F238E27FC236}">
                <a16:creationId xmlns:a16="http://schemas.microsoft.com/office/drawing/2014/main" id="{052825A9-7B14-442D-8175-4C917A1A9389}"/>
              </a:ext>
            </a:extLst>
          </p:cNvPr>
          <p:cNvSpPr>
            <a:spLocks noGrp="1"/>
          </p:cNvSpPr>
          <p:nvPr/>
        </p:nvSpPr>
        <p:spPr>
          <a:xfrm>
            <a:off x="3448050" y="2638425"/>
            <a:ext cx="1047750" cy="35242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s4</a:t>
            </a:r>
          </a:p>
        </p:txBody>
      </p:sp>
      <p:sp>
        <p:nvSpPr>
          <p:cNvPr id="23" name="full-lr0-table-2-3">
            <a:extLst>
              <a:ext uri="{FF2B5EF4-FFF2-40B4-BE49-F238E27FC236}">
                <a16:creationId xmlns:a16="http://schemas.microsoft.com/office/drawing/2014/main" id="{BE08C808-21CC-4CD1-9BF8-0D071FDF5162}"/>
              </a:ext>
            </a:extLst>
          </p:cNvPr>
          <p:cNvSpPr>
            <a:spLocks noGrp="1"/>
          </p:cNvSpPr>
          <p:nvPr/>
        </p:nvSpPr>
        <p:spPr>
          <a:xfrm>
            <a:off x="4495800" y="2638425"/>
            <a:ext cx="1047750" cy="35242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C4384D"/>
                </a:solidFill>
                <a:latin typeface="Menlo"/>
                <a:ea typeface="Menlo"/>
                <a:cs typeface="Menlo"/>
              </a:rPr>
              <a:t>accept</a:t>
            </a:r>
          </a:p>
        </p:txBody>
      </p:sp>
      <p:sp>
        <p:nvSpPr>
          <p:cNvPr id="24" name="full-lr0-table-2-4">
            <a:extLst>
              <a:ext uri="{FF2B5EF4-FFF2-40B4-BE49-F238E27FC236}">
                <a16:creationId xmlns:a16="http://schemas.microsoft.com/office/drawing/2014/main" id="{CC3083F6-D3B2-40A5-B497-97702A97A5B9}"/>
              </a:ext>
            </a:extLst>
          </p:cNvPr>
          <p:cNvSpPr>
            <a:spLocks noGrp="1"/>
          </p:cNvSpPr>
          <p:nvPr/>
        </p:nvSpPr>
        <p:spPr>
          <a:xfrm>
            <a:off x="5543550" y="2638425"/>
            <a:ext cx="1047750" cy="352425"/>
          </a:xfrm>
          <a:prstGeom prst="rect">
            <a:avLst/>
          </a:prstGeom>
          <a:solidFill>
            <a:srgbClr val="F6FBFC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5" name="full-lr0-table-2-5">
            <a:extLst>
              <a:ext uri="{FF2B5EF4-FFF2-40B4-BE49-F238E27FC236}">
                <a16:creationId xmlns:a16="http://schemas.microsoft.com/office/drawing/2014/main" id="{C7EBE66A-4B16-4BEA-9E27-4BE40DCB2D6E}"/>
              </a:ext>
            </a:extLst>
          </p:cNvPr>
          <p:cNvSpPr>
            <a:spLocks noGrp="1"/>
          </p:cNvSpPr>
          <p:nvPr/>
        </p:nvSpPr>
        <p:spPr>
          <a:xfrm>
            <a:off x="6591300" y="2638425"/>
            <a:ext cx="1047750" cy="352425"/>
          </a:xfrm>
          <a:prstGeom prst="rect">
            <a:avLst/>
          </a:prstGeom>
          <a:solidFill>
            <a:srgbClr val="F6FBFC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6" name="full-lr0-table-3-0">
            <a:extLst>
              <a:ext uri="{FF2B5EF4-FFF2-40B4-BE49-F238E27FC236}">
                <a16:creationId xmlns:a16="http://schemas.microsoft.com/office/drawing/2014/main" id="{142DA20C-8E15-4A8D-A1F2-3C501FA2E0BB}"/>
              </a:ext>
            </a:extLst>
          </p:cNvPr>
          <p:cNvSpPr>
            <a:spLocks noGrp="1"/>
          </p:cNvSpPr>
          <p:nvPr/>
        </p:nvSpPr>
        <p:spPr>
          <a:xfrm>
            <a:off x="1352550" y="2990850"/>
            <a:ext cx="1047750" cy="35242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I₂</a:t>
            </a:r>
          </a:p>
        </p:txBody>
      </p:sp>
      <p:sp>
        <p:nvSpPr>
          <p:cNvPr id="27" name="full-lr0-table-3-1">
            <a:extLst>
              <a:ext uri="{FF2B5EF4-FFF2-40B4-BE49-F238E27FC236}">
                <a16:creationId xmlns:a16="http://schemas.microsoft.com/office/drawing/2014/main" id="{1EB6253B-2451-44A9-B05A-E3EC07C0BC40}"/>
              </a:ext>
            </a:extLst>
          </p:cNvPr>
          <p:cNvSpPr>
            <a:spLocks noGrp="1"/>
          </p:cNvSpPr>
          <p:nvPr/>
        </p:nvSpPr>
        <p:spPr>
          <a:xfrm>
            <a:off x="2400300" y="2990850"/>
            <a:ext cx="1047750" cy="35242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r2</a:t>
            </a:r>
          </a:p>
        </p:txBody>
      </p:sp>
      <p:sp>
        <p:nvSpPr>
          <p:cNvPr id="28" name="full-lr0-table-3-2">
            <a:extLst>
              <a:ext uri="{FF2B5EF4-FFF2-40B4-BE49-F238E27FC236}">
                <a16:creationId xmlns:a16="http://schemas.microsoft.com/office/drawing/2014/main" id="{872CBA9C-F46C-4AED-BAD5-3CFD90EDE30A}"/>
              </a:ext>
            </a:extLst>
          </p:cNvPr>
          <p:cNvSpPr>
            <a:spLocks noGrp="1"/>
          </p:cNvSpPr>
          <p:nvPr/>
        </p:nvSpPr>
        <p:spPr>
          <a:xfrm>
            <a:off x="3448050" y="2990850"/>
            <a:ext cx="1047750" cy="35242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r2</a:t>
            </a:r>
          </a:p>
        </p:txBody>
      </p:sp>
      <p:sp>
        <p:nvSpPr>
          <p:cNvPr id="29" name="full-lr0-table-3-3">
            <a:extLst>
              <a:ext uri="{FF2B5EF4-FFF2-40B4-BE49-F238E27FC236}">
                <a16:creationId xmlns:a16="http://schemas.microsoft.com/office/drawing/2014/main" id="{8EECB5F3-CCDB-4AF2-BFCB-F5FB92DF5FB3}"/>
              </a:ext>
            </a:extLst>
          </p:cNvPr>
          <p:cNvSpPr>
            <a:spLocks noGrp="1"/>
          </p:cNvSpPr>
          <p:nvPr/>
        </p:nvSpPr>
        <p:spPr>
          <a:xfrm>
            <a:off x="4495800" y="2990850"/>
            <a:ext cx="1047750" cy="35242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r2</a:t>
            </a:r>
          </a:p>
        </p:txBody>
      </p:sp>
      <p:sp>
        <p:nvSpPr>
          <p:cNvPr id="30" name="full-lr0-table-3-4">
            <a:extLst>
              <a:ext uri="{FF2B5EF4-FFF2-40B4-BE49-F238E27FC236}">
                <a16:creationId xmlns:a16="http://schemas.microsoft.com/office/drawing/2014/main" id="{5195AD65-C485-45F3-8029-975CA41ECFCF}"/>
              </a:ext>
            </a:extLst>
          </p:cNvPr>
          <p:cNvSpPr>
            <a:spLocks noGrp="1"/>
          </p:cNvSpPr>
          <p:nvPr/>
        </p:nvSpPr>
        <p:spPr>
          <a:xfrm>
            <a:off x="5543550" y="2990850"/>
            <a:ext cx="1047750" cy="352425"/>
          </a:xfrm>
          <a:prstGeom prst="rect">
            <a:avLst/>
          </a:prstGeom>
          <a:solidFill>
            <a:srgbClr val="F6FBFC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1" name="full-lr0-table-3-5">
            <a:extLst>
              <a:ext uri="{FF2B5EF4-FFF2-40B4-BE49-F238E27FC236}">
                <a16:creationId xmlns:a16="http://schemas.microsoft.com/office/drawing/2014/main" id="{63B32848-B7F7-4F9C-A934-866EEA41B59C}"/>
              </a:ext>
            </a:extLst>
          </p:cNvPr>
          <p:cNvSpPr>
            <a:spLocks noGrp="1"/>
          </p:cNvSpPr>
          <p:nvPr/>
        </p:nvSpPr>
        <p:spPr>
          <a:xfrm>
            <a:off x="6591300" y="2990850"/>
            <a:ext cx="1047750" cy="352425"/>
          </a:xfrm>
          <a:prstGeom prst="rect">
            <a:avLst/>
          </a:prstGeom>
          <a:solidFill>
            <a:srgbClr val="F6FBFC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2" name="full-lr0-table-4-0">
            <a:extLst>
              <a:ext uri="{FF2B5EF4-FFF2-40B4-BE49-F238E27FC236}">
                <a16:creationId xmlns:a16="http://schemas.microsoft.com/office/drawing/2014/main" id="{62BB1E9D-C63A-45FB-B0FC-70BADC5C927E}"/>
              </a:ext>
            </a:extLst>
          </p:cNvPr>
          <p:cNvSpPr>
            <a:spLocks noGrp="1"/>
          </p:cNvSpPr>
          <p:nvPr/>
        </p:nvSpPr>
        <p:spPr>
          <a:xfrm>
            <a:off x="1352550" y="3343275"/>
            <a:ext cx="1047750" cy="35242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I₃</a:t>
            </a:r>
          </a:p>
        </p:txBody>
      </p:sp>
      <p:sp>
        <p:nvSpPr>
          <p:cNvPr id="33" name="full-lr0-table-4-1">
            <a:extLst>
              <a:ext uri="{FF2B5EF4-FFF2-40B4-BE49-F238E27FC236}">
                <a16:creationId xmlns:a16="http://schemas.microsoft.com/office/drawing/2014/main" id="{2F1D9DF5-20CA-4732-A3B0-4099792638FC}"/>
              </a:ext>
            </a:extLst>
          </p:cNvPr>
          <p:cNvSpPr>
            <a:spLocks noGrp="1"/>
          </p:cNvSpPr>
          <p:nvPr/>
        </p:nvSpPr>
        <p:spPr>
          <a:xfrm>
            <a:off x="2400300" y="3343275"/>
            <a:ext cx="1047750" cy="35242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r3</a:t>
            </a:r>
          </a:p>
        </p:txBody>
      </p:sp>
      <p:sp>
        <p:nvSpPr>
          <p:cNvPr id="34" name="full-lr0-table-4-2">
            <a:extLst>
              <a:ext uri="{FF2B5EF4-FFF2-40B4-BE49-F238E27FC236}">
                <a16:creationId xmlns:a16="http://schemas.microsoft.com/office/drawing/2014/main" id="{953090D2-2278-4943-AFCA-19D5B2EF8251}"/>
              </a:ext>
            </a:extLst>
          </p:cNvPr>
          <p:cNvSpPr>
            <a:spLocks noGrp="1"/>
          </p:cNvSpPr>
          <p:nvPr/>
        </p:nvSpPr>
        <p:spPr>
          <a:xfrm>
            <a:off x="3448050" y="3343275"/>
            <a:ext cx="1047750" cy="35242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r3</a:t>
            </a:r>
          </a:p>
        </p:txBody>
      </p:sp>
      <p:sp>
        <p:nvSpPr>
          <p:cNvPr id="35" name="full-lr0-table-4-3">
            <a:extLst>
              <a:ext uri="{FF2B5EF4-FFF2-40B4-BE49-F238E27FC236}">
                <a16:creationId xmlns:a16="http://schemas.microsoft.com/office/drawing/2014/main" id="{2982E8D2-7D3D-4D36-9D31-248889EA5B64}"/>
              </a:ext>
            </a:extLst>
          </p:cNvPr>
          <p:cNvSpPr>
            <a:spLocks noGrp="1"/>
          </p:cNvSpPr>
          <p:nvPr/>
        </p:nvSpPr>
        <p:spPr>
          <a:xfrm>
            <a:off x="4495800" y="3343275"/>
            <a:ext cx="1047750" cy="35242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r3</a:t>
            </a:r>
          </a:p>
        </p:txBody>
      </p:sp>
      <p:sp>
        <p:nvSpPr>
          <p:cNvPr id="36" name="full-lr0-table-4-4">
            <a:extLst>
              <a:ext uri="{FF2B5EF4-FFF2-40B4-BE49-F238E27FC236}">
                <a16:creationId xmlns:a16="http://schemas.microsoft.com/office/drawing/2014/main" id="{A4A67A31-5ADF-4C96-ABF3-16BCF71BC777}"/>
              </a:ext>
            </a:extLst>
          </p:cNvPr>
          <p:cNvSpPr>
            <a:spLocks noGrp="1"/>
          </p:cNvSpPr>
          <p:nvPr/>
        </p:nvSpPr>
        <p:spPr>
          <a:xfrm>
            <a:off x="5543550" y="3343275"/>
            <a:ext cx="1047750" cy="352425"/>
          </a:xfrm>
          <a:prstGeom prst="rect">
            <a:avLst/>
          </a:prstGeom>
          <a:solidFill>
            <a:srgbClr val="F6FBFC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7" name="full-lr0-table-4-5">
            <a:extLst>
              <a:ext uri="{FF2B5EF4-FFF2-40B4-BE49-F238E27FC236}">
                <a16:creationId xmlns:a16="http://schemas.microsoft.com/office/drawing/2014/main" id="{1E5B879A-CB04-49C1-BD30-391DE7EF9AB1}"/>
              </a:ext>
            </a:extLst>
          </p:cNvPr>
          <p:cNvSpPr>
            <a:spLocks noGrp="1"/>
          </p:cNvSpPr>
          <p:nvPr/>
        </p:nvSpPr>
        <p:spPr>
          <a:xfrm>
            <a:off x="6591300" y="3343275"/>
            <a:ext cx="1047750" cy="352425"/>
          </a:xfrm>
          <a:prstGeom prst="rect">
            <a:avLst/>
          </a:prstGeom>
          <a:solidFill>
            <a:srgbClr val="F6FBFC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8" name="full-lr0-table-5-0">
            <a:extLst>
              <a:ext uri="{FF2B5EF4-FFF2-40B4-BE49-F238E27FC236}">
                <a16:creationId xmlns:a16="http://schemas.microsoft.com/office/drawing/2014/main" id="{58B34CF8-3CE4-43A5-8230-649E515F311F}"/>
              </a:ext>
            </a:extLst>
          </p:cNvPr>
          <p:cNvSpPr>
            <a:spLocks noGrp="1"/>
          </p:cNvSpPr>
          <p:nvPr/>
        </p:nvSpPr>
        <p:spPr>
          <a:xfrm>
            <a:off x="1352550" y="3695700"/>
            <a:ext cx="1047750" cy="35242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I₄</a:t>
            </a:r>
          </a:p>
        </p:txBody>
      </p:sp>
      <p:sp>
        <p:nvSpPr>
          <p:cNvPr id="39" name="full-lr0-table-5-1">
            <a:extLst>
              <a:ext uri="{FF2B5EF4-FFF2-40B4-BE49-F238E27FC236}">
                <a16:creationId xmlns:a16="http://schemas.microsoft.com/office/drawing/2014/main" id="{6E3D73A6-1141-4501-A333-9B031D8240DC}"/>
              </a:ext>
            </a:extLst>
          </p:cNvPr>
          <p:cNvSpPr>
            <a:spLocks noGrp="1"/>
          </p:cNvSpPr>
          <p:nvPr/>
        </p:nvSpPr>
        <p:spPr>
          <a:xfrm>
            <a:off x="2400300" y="3695700"/>
            <a:ext cx="1047750" cy="35242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s3</a:t>
            </a:r>
          </a:p>
        </p:txBody>
      </p:sp>
      <p:sp>
        <p:nvSpPr>
          <p:cNvPr id="40" name="full-lr0-table-5-2">
            <a:extLst>
              <a:ext uri="{FF2B5EF4-FFF2-40B4-BE49-F238E27FC236}">
                <a16:creationId xmlns:a16="http://schemas.microsoft.com/office/drawing/2014/main" id="{BAAC1AD7-EFB1-450B-BF8A-EC4D23430BBF}"/>
              </a:ext>
            </a:extLst>
          </p:cNvPr>
          <p:cNvSpPr>
            <a:spLocks noGrp="1"/>
          </p:cNvSpPr>
          <p:nvPr/>
        </p:nvSpPr>
        <p:spPr>
          <a:xfrm>
            <a:off x="3448050" y="3695700"/>
            <a:ext cx="1047750" cy="35242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41" name="full-lr0-table-5-3">
            <a:extLst>
              <a:ext uri="{FF2B5EF4-FFF2-40B4-BE49-F238E27FC236}">
                <a16:creationId xmlns:a16="http://schemas.microsoft.com/office/drawing/2014/main" id="{C6CFEE9E-5A0A-4EA9-BEE1-052AEFFFB869}"/>
              </a:ext>
            </a:extLst>
          </p:cNvPr>
          <p:cNvSpPr>
            <a:spLocks noGrp="1"/>
          </p:cNvSpPr>
          <p:nvPr/>
        </p:nvSpPr>
        <p:spPr>
          <a:xfrm>
            <a:off x="4495800" y="3695700"/>
            <a:ext cx="1047750" cy="35242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42" name="full-lr0-table-5-4">
            <a:extLst>
              <a:ext uri="{FF2B5EF4-FFF2-40B4-BE49-F238E27FC236}">
                <a16:creationId xmlns:a16="http://schemas.microsoft.com/office/drawing/2014/main" id="{2F943C5E-8860-4E14-9085-E1BFEB3D7C37}"/>
              </a:ext>
            </a:extLst>
          </p:cNvPr>
          <p:cNvSpPr>
            <a:spLocks noGrp="1"/>
          </p:cNvSpPr>
          <p:nvPr/>
        </p:nvSpPr>
        <p:spPr>
          <a:xfrm>
            <a:off x="5543550" y="3695700"/>
            <a:ext cx="1047750" cy="352425"/>
          </a:xfrm>
          <a:prstGeom prst="rect">
            <a:avLst/>
          </a:prstGeom>
          <a:solidFill>
            <a:srgbClr val="F6FBFC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43" name="full-lr0-table-5-5">
            <a:extLst>
              <a:ext uri="{FF2B5EF4-FFF2-40B4-BE49-F238E27FC236}">
                <a16:creationId xmlns:a16="http://schemas.microsoft.com/office/drawing/2014/main" id="{CD279775-822A-43E7-8E7F-F264FC7D30CA}"/>
              </a:ext>
            </a:extLst>
          </p:cNvPr>
          <p:cNvSpPr>
            <a:spLocks noGrp="1"/>
          </p:cNvSpPr>
          <p:nvPr/>
        </p:nvSpPr>
        <p:spPr>
          <a:xfrm>
            <a:off x="6591300" y="3695700"/>
            <a:ext cx="1047750" cy="352425"/>
          </a:xfrm>
          <a:prstGeom prst="rect">
            <a:avLst/>
          </a:prstGeom>
          <a:solidFill>
            <a:srgbClr val="F6FBFC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44" name="full-lr0-table-6-0">
            <a:extLst>
              <a:ext uri="{FF2B5EF4-FFF2-40B4-BE49-F238E27FC236}">
                <a16:creationId xmlns:a16="http://schemas.microsoft.com/office/drawing/2014/main" id="{E2C59D2B-1E6F-4B24-8EAC-70347DD32DDB}"/>
              </a:ext>
            </a:extLst>
          </p:cNvPr>
          <p:cNvSpPr>
            <a:spLocks noGrp="1"/>
          </p:cNvSpPr>
          <p:nvPr/>
        </p:nvSpPr>
        <p:spPr>
          <a:xfrm>
            <a:off x="1352550" y="4048125"/>
            <a:ext cx="1047750" cy="35242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I₅</a:t>
            </a:r>
          </a:p>
        </p:txBody>
      </p:sp>
      <p:sp>
        <p:nvSpPr>
          <p:cNvPr id="45" name="full-lr0-table-6-1">
            <a:extLst>
              <a:ext uri="{FF2B5EF4-FFF2-40B4-BE49-F238E27FC236}">
                <a16:creationId xmlns:a16="http://schemas.microsoft.com/office/drawing/2014/main" id="{894D36F4-1A7E-4F22-ACF8-730A2636C21C}"/>
              </a:ext>
            </a:extLst>
          </p:cNvPr>
          <p:cNvSpPr>
            <a:spLocks noGrp="1"/>
          </p:cNvSpPr>
          <p:nvPr/>
        </p:nvSpPr>
        <p:spPr>
          <a:xfrm>
            <a:off x="2400300" y="4048125"/>
            <a:ext cx="1047750" cy="35242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r1</a:t>
            </a:r>
          </a:p>
        </p:txBody>
      </p:sp>
      <p:sp>
        <p:nvSpPr>
          <p:cNvPr id="46" name="full-lr0-table-6-2">
            <a:extLst>
              <a:ext uri="{FF2B5EF4-FFF2-40B4-BE49-F238E27FC236}">
                <a16:creationId xmlns:a16="http://schemas.microsoft.com/office/drawing/2014/main" id="{2531E5F6-A673-412D-83AD-9B857454DFAE}"/>
              </a:ext>
            </a:extLst>
          </p:cNvPr>
          <p:cNvSpPr>
            <a:spLocks noGrp="1"/>
          </p:cNvSpPr>
          <p:nvPr/>
        </p:nvSpPr>
        <p:spPr>
          <a:xfrm>
            <a:off x="3448050" y="4048125"/>
            <a:ext cx="1047750" cy="35242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r1</a:t>
            </a:r>
          </a:p>
        </p:txBody>
      </p:sp>
      <p:sp>
        <p:nvSpPr>
          <p:cNvPr id="47" name="full-lr0-table-6-3">
            <a:extLst>
              <a:ext uri="{FF2B5EF4-FFF2-40B4-BE49-F238E27FC236}">
                <a16:creationId xmlns:a16="http://schemas.microsoft.com/office/drawing/2014/main" id="{633DE225-5B80-4553-90C4-061311566CD8}"/>
              </a:ext>
            </a:extLst>
          </p:cNvPr>
          <p:cNvSpPr>
            <a:spLocks noGrp="1"/>
          </p:cNvSpPr>
          <p:nvPr/>
        </p:nvSpPr>
        <p:spPr>
          <a:xfrm>
            <a:off x="4495800" y="4048125"/>
            <a:ext cx="1047750" cy="35242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r1</a:t>
            </a:r>
          </a:p>
        </p:txBody>
      </p:sp>
      <p:sp>
        <p:nvSpPr>
          <p:cNvPr id="48" name="full-lr0-table-6-4">
            <a:extLst>
              <a:ext uri="{FF2B5EF4-FFF2-40B4-BE49-F238E27FC236}">
                <a16:creationId xmlns:a16="http://schemas.microsoft.com/office/drawing/2014/main" id="{D00D68DB-9E31-465E-A851-95CD80CA5C5D}"/>
              </a:ext>
            </a:extLst>
          </p:cNvPr>
          <p:cNvSpPr>
            <a:spLocks noGrp="1"/>
          </p:cNvSpPr>
          <p:nvPr/>
        </p:nvSpPr>
        <p:spPr>
          <a:xfrm>
            <a:off x="5543550" y="4048125"/>
            <a:ext cx="1047750" cy="352425"/>
          </a:xfrm>
          <a:prstGeom prst="rect">
            <a:avLst/>
          </a:prstGeom>
          <a:solidFill>
            <a:srgbClr val="F6FBFC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49" name="full-lr0-table-6-5">
            <a:extLst>
              <a:ext uri="{FF2B5EF4-FFF2-40B4-BE49-F238E27FC236}">
                <a16:creationId xmlns:a16="http://schemas.microsoft.com/office/drawing/2014/main" id="{6AA08758-E903-46A5-8BB8-73D18CFDCC56}"/>
              </a:ext>
            </a:extLst>
          </p:cNvPr>
          <p:cNvSpPr>
            <a:spLocks noGrp="1"/>
          </p:cNvSpPr>
          <p:nvPr/>
        </p:nvSpPr>
        <p:spPr>
          <a:xfrm>
            <a:off x="6591300" y="4048125"/>
            <a:ext cx="1047750" cy="352425"/>
          </a:xfrm>
          <a:prstGeom prst="rect">
            <a:avLst/>
          </a:prstGeom>
          <a:solidFill>
            <a:srgbClr val="F6FBFC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50" name="prod-list">
            <a:extLst>
              <a:ext uri="{FF2B5EF4-FFF2-40B4-BE49-F238E27FC236}">
                <a16:creationId xmlns:a16="http://schemas.microsoft.com/office/drawing/2014/main" id="{D333E387-3EDE-43DE-8261-8A76200D3094}"/>
              </a:ext>
            </a:extLst>
          </p:cNvPr>
          <p:cNvSpPr>
            <a:spLocks noGrp="1"/>
          </p:cNvSpPr>
          <p:nvPr/>
        </p:nvSpPr>
        <p:spPr>
          <a:xfrm>
            <a:off x="1095375" y="4486275"/>
            <a:ext cx="6953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r1: expr → expr PLUS term    r2: expr → term    r3: term → INT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表与栈共同实现 LR 自动机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F766E625-45F0-7FC0-7206-B9D4780D3461}" type="slidenum">
              <a:t>47</a:t>
            </a:fld>
            <a:endParaRPr/>
          </a:p>
        </p:txBody>
      </p:sp>
      <p:sp>
        <p:nvSpPr>
          <p:cNvPr id="5" name="subtitle-44">
            <a:extLst>
              <a:ext uri="{FF2B5EF4-FFF2-40B4-BE49-F238E27FC236}">
                <a16:creationId xmlns:a16="http://schemas.microsoft.com/office/drawing/2014/main" id="{E31E0360-C944-49BE-8333-AC3347521DE9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ACTION 选择操作，状态栈保存路径；reduce 后恢复上下文，再通过 GOTO 接回自动机。</a:t>
            </a:r>
          </a:p>
        </p:txBody>
      </p:sp>
      <p:sp>
        <p:nvSpPr>
          <p:cNvPr id="6" name="lr-loop-code">
            <a:extLst>
              <a:ext uri="{FF2B5EF4-FFF2-40B4-BE49-F238E27FC236}">
                <a16:creationId xmlns:a16="http://schemas.microsoft.com/office/drawing/2014/main" id="{69AD5E37-7DFC-46F6-8696-99F53127CA47}"/>
              </a:ext>
            </a:extLst>
          </p:cNvPr>
          <p:cNvSpPr>
            <a:spLocks noGrp="1"/>
          </p:cNvSpPr>
          <p:nvPr/>
        </p:nvSpPr>
        <p:spPr>
          <a:xfrm>
            <a:off x="876300" y="1762125"/>
            <a:ext cx="4714875" cy="2809875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stack = [0]</a:t>
            </a:r>
          </a:p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while true:</a:t>
            </a:r>
          </a:p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i = stack.top()</a:t>
            </a:r>
          </a:p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action = ACTION[i, current]</a:t>
            </a:r>
          </a:p>
          <a:p>
            <a:endParaRPr sz="1163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if action is shift j:</a:t>
            </a:r>
          </a:p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   advance(); push(j)</a:t>
            </a:r>
          </a:p>
          <a:p>
            <a:endParaRPr sz="1163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else if action is reduce A → β:</a:t>
            </a:r>
          </a:p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   pop(|β|)              // 回退 |β| 个状态</a:t>
            </a:r>
          </a:p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   j = GOTO[stack.top(), A]</a:t>
            </a:r>
          </a:p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   push(j)</a:t>
            </a:r>
          </a:p>
          <a:p>
            <a:endParaRPr sz="1163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else if action is accept: return success</a:t>
            </a:r>
          </a:p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else: report syntax error</a:t>
            </a:r>
          </a:p>
        </p:txBody>
      </p:sp>
      <p:sp>
        <p:nvSpPr>
          <p:cNvPr id="7" name="loop-shift">
            <a:extLst>
              <a:ext uri="{FF2B5EF4-FFF2-40B4-BE49-F238E27FC236}">
                <a16:creationId xmlns:a16="http://schemas.microsoft.com/office/drawing/2014/main" id="{773C1C49-34B0-4259-8667-89B61FD4C1FF}"/>
              </a:ext>
            </a:extLst>
          </p:cNvPr>
          <p:cNvSpPr>
            <a:spLocks noGrp="1"/>
          </p:cNvSpPr>
          <p:nvPr/>
        </p:nvSpPr>
        <p:spPr>
          <a:xfrm>
            <a:off x="6048375" y="1952625"/>
            <a:ext cx="2428875" cy="904875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shift</a:t>
            </a:r>
          </a:p>
          <a:p>
            <a:pPr algn="ctr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读取终结符</a:t>
            </a:r>
          </a:p>
          <a:p>
            <a:pPr algn="ctr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压入目标状态 j</a:t>
            </a:r>
          </a:p>
        </p:txBody>
      </p:sp>
      <p:sp>
        <p:nvSpPr>
          <p:cNvPr id="8" name="loop-reduce">
            <a:extLst>
              <a:ext uri="{FF2B5EF4-FFF2-40B4-BE49-F238E27FC236}">
                <a16:creationId xmlns:a16="http://schemas.microsoft.com/office/drawing/2014/main" id="{AE745A2A-6ED3-45FC-B002-0A4338747E57}"/>
              </a:ext>
            </a:extLst>
          </p:cNvPr>
          <p:cNvSpPr>
            <a:spLocks noGrp="1"/>
          </p:cNvSpPr>
          <p:nvPr/>
        </p:nvSpPr>
        <p:spPr>
          <a:xfrm>
            <a:off x="6048375" y="3190875"/>
            <a:ext cx="2428875" cy="1190625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reduce</a:t>
            </a:r>
          </a:p>
          <a:p>
            <a:pPr algn="ctr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弹出 |β| 个状态</a:t>
            </a:r>
          </a:p>
          <a:p>
            <a:pPr algn="ctr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查 GOTO 并压入新状态</a:t>
            </a:r>
          </a:p>
        </p:txBody>
      </p:sp>
      <p:sp>
        <p:nvSpPr>
          <p:cNvPr id="9" name="takeaway-44">
            <a:extLst>
              <a:ext uri="{FF2B5EF4-FFF2-40B4-BE49-F238E27FC236}">
                <a16:creationId xmlns:a16="http://schemas.microsoft.com/office/drawing/2014/main" id="{3B38E00A-DCF0-4C39-8D3E-8D8D16E245E6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分析表不是附加在算法旁边的数据：它正是这套栈算法所需决策的编码。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再回看：为什么 LR 能直接处理左递归？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79CF87E8-8F71-04A5-6F3A-BEE8F630D5E2}" type="slidenum">
              <a:t>48</a:t>
            </a:fld>
            <a:endParaRPr/>
          </a:p>
        </p:txBody>
      </p:sp>
      <p:sp>
        <p:nvSpPr>
          <p:cNvPr id="5" name="left-recursion-subtitle">
            <a:extLst>
              <a:ext uri="{FF2B5EF4-FFF2-40B4-BE49-F238E27FC236}">
                <a16:creationId xmlns:a16="http://schemas.microsoft.com/office/drawing/2014/main" id="{0763BF8B-87E2-450B-8870-62202F86A29E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同一条左递归产生式，在两种分析方向下会发生什么？</a:t>
            </a:r>
          </a:p>
        </p:txBody>
      </p:sp>
      <p:sp>
        <p:nvSpPr>
          <p:cNvPr id="6" name="left-recursion-grammar">
            <a:extLst>
              <a:ext uri="{FF2B5EF4-FFF2-40B4-BE49-F238E27FC236}">
                <a16:creationId xmlns:a16="http://schemas.microsoft.com/office/drawing/2014/main" id="{15902DC8-A725-4440-8E16-81D0DB485C07}"/>
              </a:ext>
            </a:extLst>
          </p:cNvPr>
          <p:cNvSpPr>
            <a:spLocks noGrp="1"/>
          </p:cNvSpPr>
          <p:nvPr/>
        </p:nvSpPr>
        <p:spPr>
          <a:xfrm>
            <a:off x="2428875" y="1714500"/>
            <a:ext cx="4286250" cy="4572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expr PLUS term  |  term</a:t>
            </a:r>
          </a:p>
        </p:txBody>
      </p:sp>
      <p:sp>
        <p:nvSpPr>
          <p:cNvPr id="7" name="top-down-card">
            <a:extLst>
              <a:ext uri="{FF2B5EF4-FFF2-40B4-BE49-F238E27FC236}">
                <a16:creationId xmlns:a16="http://schemas.microsoft.com/office/drawing/2014/main" id="{BFBE31CC-4FE3-4962-AA79-835C6923C85B}"/>
              </a:ext>
            </a:extLst>
          </p:cNvPr>
          <p:cNvSpPr>
            <a:spLocks noGrp="1"/>
          </p:cNvSpPr>
          <p:nvPr/>
        </p:nvSpPr>
        <p:spPr>
          <a:xfrm>
            <a:off x="809625" y="2400300"/>
            <a:ext cx="3524250" cy="2076450"/>
          </a:xfrm>
          <a:prstGeom prst="rect">
            <a:avLst/>
          </a:prstGeom>
          <a:solidFill>
            <a:srgbClr val="FCEEF0"/>
          </a:solidFill>
          <a:ln w="11430">
            <a:solidFill>
              <a:srgbClr val="C4384D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8" name="top-down-title">
            <a:extLst>
              <a:ext uri="{FF2B5EF4-FFF2-40B4-BE49-F238E27FC236}">
                <a16:creationId xmlns:a16="http://schemas.microsoft.com/office/drawing/2014/main" id="{58F5909A-BBCB-45EE-8E44-FCB751EB66D6}"/>
              </a:ext>
            </a:extLst>
          </p:cNvPr>
          <p:cNvSpPr>
            <a:spLocks noGrp="1"/>
          </p:cNvSpPr>
          <p:nvPr/>
        </p:nvSpPr>
        <p:spPr>
          <a:xfrm>
            <a:off x="1047750" y="2600325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38" b="1">
                <a:solidFill>
                  <a:srgbClr val="C4384D"/>
                </a:solidFill>
              </a:defRPr>
            </a:pPr>
            <a:r>
              <a:rPr sz="1538" b="1">
                <a:solidFill>
                  <a:srgbClr val="C4384D"/>
                </a:solidFill>
              </a:rPr>
              <a:t>自顶向下：先展开左侧</a:t>
            </a:r>
          </a:p>
        </p:txBody>
      </p:sp>
      <p:sp>
        <p:nvSpPr>
          <p:cNvPr id="9" name="top-down-code">
            <a:extLst>
              <a:ext uri="{FF2B5EF4-FFF2-40B4-BE49-F238E27FC236}">
                <a16:creationId xmlns:a16="http://schemas.microsoft.com/office/drawing/2014/main" id="{BD410DBE-D643-460B-9DC2-4D18EE1E06C1}"/>
              </a:ext>
            </a:extLst>
          </p:cNvPr>
          <p:cNvSpPr>
            <a:spLocks noGrp="1"/>
          </p:cNvSpPr>
          <p:nvPr/>
        </p:nvSpPr>
        <p:spPr>
          <a:xfrm>
            <a:off x="1190625" y="3105150"/>
            <a:ext cx="276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parseExpr()</a:t>
            </a:r>
          </a:p>
          <a:p>
            <a:pPr algn="ctr">
              <a:buNone/>
              <a:defRPr sz="135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  → parseExpr() → …</a:t>
            </a:r>
          </a:p>
        </p:txBody>
      </p:sp>
      <p:sp>
        <p:nvSpPr>
          <p:cNvPr id="10" name="top-down-explain">
            <a:extLst>
              <a:ext uri="{FF2B5EF4-FFF2-40B4-BE49-F238E27FC236}">
                <a16:creationId xmlns:a16="http://schemas.microsoft.com/office/drawing/2014/main" id="{BBCD834E-4D39-44C5-AFF9-0AD0C8290878}"/>
              </a:ext>
            </a:extLst>
          </p:cNvPr>
          <p:cNvSpPr>
            <a:spLocks noGrp="1"/>
          </p:cNvSpPr>
          <p:nvPr/>
        </p:nvSpPr>
        <p:spPr>
          <a:xfrm>
            <a:off x="1143000" y="3838575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还没消费 Token，就再次递归</a:t>
            </a:r>
          </a:p>
          <a:p>
            <a:pPr algn="ctr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→ 无限递归</a:t>
            </a:r>
          </a:p>
        </p:txBody>
      </p:sp>
      <p:sp>
        <p:nvSpPr>
          <p:cNvPr id="11" name="bottom-up-card">
            <a:extLst>
              <a:ext uri="{FF2B5EF4-FFF2-40B4-BE49-F238E27FC236}">
                <a16:creationId xmlns:a16="http://schemas.microsoft.com/office/drawing/2014/main" id="{9B60C5D8-5E9D-4A9B-8FB8-7CB84C5F2F1E}"/>
              </a:ext>
            </a:extLst>
          </p:cNvPr>
          <p:cNvSpPr>
            <a:spLocks noGrp="1"/>
          </p:cNvSpPr>
          <p:nvPr/>
        </p:nvSpPr>
        <p:spPr>
          <a:xfrm>
            <a:off x="4810125" y="2400300"/>
            <a:ext cx="3524250" cy="2076450"/>
          </a:xfrm>
          <a:prstGeom prst="rect">
            <a:avLst/>
          </a:prstGeom>
          <a:solidFill>
            <a:srgbClr val="EAF5F8"/>
          </a:solidFill>
          <a:ln w="11430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" name="bottom-up-title">
            <a:extLst>
              <a:ext uri="{FF2B5EF4-FFF2-40B4-BE49-F238E27FC236}">
                <a16:creationId xmlns:a16="http://schemas.microsoft.com/office/drawing/2014/main" id="{130B3325-BC19-48DB-84ED-3F96E01781DE}"/>
              </a:ext>
            </a:extLst>
          </p:cNvPr>
          <p:cNvSpPr>
            <a:spLocks noGrp="1"/>
          </p:cNvSpPr>
          <p:nvPr/>
        </p:nvSpPr>
        <p:spPr>
          <a:xfrm>
            <a:off x="5048250" y="2600325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38" b="1">
                <a:solidFill>
                  <a:srgbClr val="2D7C93"/>
                </a:solidFill>
              </a:defRPr>
            </a:pPr>
            <a:r>
              <a:rPr sz="1538" b="1">
                <a:solidFill>
                  <a:srgbClr val="2D7C93"/>
                </a:solidFill>
              </a:rPr>
              <a:t>自底向上：识别右部后归约</a:t>
            </a:r>
          </a:p>
        </p:txBody>
      </p:sp>
      <p:sp>
        <p:nvSpPr>
          <p:cNvPr id="13" name="bottom-up-code">
            <a:extLst>
              <a:ext uri="{FF2B5EF4-FFF2-40B4-BE49-F238E27FC236}">
                <a16:creationId xmlns:a16="http://schemas.microsoft.com/office/drawing/2014/main" id="{947A27A5-942E-49DA-AFC7-2B14AF2E0544}"/>
              </a:ext>
            </a:extLst>
          </p:cNvPr>
          <p:cNvSpPr>
            <a:spLocks noGrp="1"/>
          </p:cNvSpPr>
          <p:nvPr/>
        </p:nvSpPr>
        <p:spPr>
          <a:xfrm>
            <a:off x="4953000" y="3105150"/>
            <a:ext cx="3238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23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23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INT --r3→ term --r2→ expr</a:t>
            </a:r>
          </a:p>
          <a:p>
            <a:pPr algn="ctr">
              <a:buNone/>
              <a:defRPr sz="1223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23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PLUS term --r1→ expr</a:t>
            </a:r>
          </a:p>
        </p:txBody>
      </p:sp>
      <p:sp>
        <p:nvSpPr>
          <p:cNvPr id="14" name="bottom-up-explain">
            <a:extLst>
              <a:ext uri="{FF2B5EF4-FFF2-40B4-BE49-F238E27FC236}">
                <a16:creationId xmlns:a16="http://schemas.microsoft.com/office/drawing/2014/main" id="{3C2ABC7F-036C-497B-947B-B9A4CE002489}"/>
              </a:ext>
            </a:extLst>
          </p:cNvPr>
          <p:cNvSpPr>
            <a:spLocks noGrp="1"/>
          </p:cNvSpPr>
          <p:nvPr/>
        </p:nvSpPr>
        <p:spPr>
          <a:xfrm>
            <a:off x="5095875" y="3838575"/>
            <a:ext cx="2952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没有“遇到就展开”的问题</a:t>
            </a:r>
          </a:p>
        </p:txBody>
      </p:sp>
      <p:sp>
        <p:nvSpPr>
          <p:cNvPr id="15" name="left-recursion-takeaway">
            <a:extLst>
              <a:ext uri="{FF2B5EF4-FFF2-40B4-BE49-F238E27FC236}">
                <a16:creationId xmlns:a16="http://schemas.microsoft.com/office/drawing/2014/main" id="{FD7D45E8-9C89-4040-8526-C4589FF47DCF}"/>
              </a:ext>
            </a:extLst>
          </p:cNvPr>
          <p:cNvSpPr>
            <a:spLocks noGrp="1"/>
          </p:cNvSpPr>
          <p:nvPr/>
        </p:nvSpPr>
        <p:spPr>
          <a:xfrm>
            <a:off x="809624" y="4705350"/>
            <a:ext cx="7524751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自底向上能“看”到更多信息，但归根到底是因为它的逆向处理方法。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2800">
                <a:latin typeface="Arial"/>
                <a:ea typeface="Arial"/>
                <a:cs typeface="Arial"/>
              </a:rPr>
              <a:t>从 I₃ 出发：所有终结符都填 r3，真的正确吗？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74175A-4E66-87FD-D56A-AAD4D4BBF877}" type="slidenum">
              <a:t>49</a:t>
            </a:fld>
            <a:endParaRPr/>
          </a:p>
        </p:txBody>
      </p:sp>
      <p:sp>
        <p:nvSpPr>
          <p:cNvPr id="5" name="i3-conflict-subtitle">
            <a:extLst>
              <a:ext uri="{FF2B5EF4-FFF2-40B4-BE49-F238E27FC236}">
                <a16:creationId xmlns:a16="http://schemas.microsoft.com/office/drawing/2014/main" id="{A08B5D65-D5D4-4AF6-BDDE-2AE874C5B477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当前文法中，I₃ 总是 reduce；这只是因为没有另一条 item 要求继续读取。</a:t>
            </a:r>
          </a:p>
        </p:txBody>
      </p:sp>
      <p:sp>
        <p:nvSpPr>
          <p:cNvPr id="6" name="original-i3-label">
            <a:extLst>
              <a:ext uri="{FF2B5EF4-FFF2-40B4-BE49-F238E27FC236}">
                <a16:creationId xmlns:a16="http://schemas.microsoft.com/office/drawing/2014/main" id="{702107DC-0D92-41A9-9FE4-6F588665AB06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2D7C93"/>
                </a:solidFill>
              </a:defRPr>
            </a:pPr>
            <a:r>
              <a:rPr sz="1575" b="1">
                <a:solidFill>
                  <a:srgbClr val="2D7C93"/>
                </a:solidFill>
              </a:rPr>
              <a:t>原来的 I₃</a:t>
            </a:r>
          </a:p>
        </p:txBody>
      </p:sp>
      <p:sp>
        <p:nvSpPr>
          <p:cNvPr id="7" name="original-i3-card">
            <a:extLst>
              <a:ext uri="{FF2B5EF4-FFF2-40B4-BE49-F238E27FC236}">
                <a16:creationId xmlns:a16="http://schemas.microsoft.com/office/drawing/2014/main" id="{CA79E973-56A7-4093-81FF-B34F24753B0D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3352800" cy="1866900"/>
          </a:xfrm>
          <a:prstGeom prst="rect">
            <a:avLst/>
          </a:prstGeom>
          <a:solidFill>
            <a:srgbClr val="EAF5F8"/>
          </a:solidFill>
          <a:ln w="11430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313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INT ·</a:t>
            </a:r>
          </a:p>
          <a:p>
            <a:endParaRPr sz="1313" b="1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313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ACTION[I₃, INT]  = r3</a:t>
            </a:r>
          </a:p>
          <a:p>
            <a:pPr algn="l">
              <a:buNone/>
              <a:defRPr sz="1313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ACTION[I₃, PLUS] = r3</a:t>
            </a:r>
          </a:p>
          <a:p>
            <a:pPr algn="l">
              <a:buNone/>
              <a:defRPr sz="1313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ACTION[I₃, $]    = r3</a:t>
            </a:r>
          </a:p>
        </p:txBody>
      </p:sp>
      <p:sp>
        <p:nvSpPr>
          <p:cNvPr id="8" name="original-i3-note">
            <a:extLst>
              <a:ext uri="{FF2B5EF4-FFF2-40B4-BE49-F238E27FC236}">
                <a16:creationId xmlns:a16="http://schemas.microsoft.com/office/drawing/2014/main" id="{F31BDCC4-3C11-4B96-BCCC-D595DC2586B0}"/>
              </a:ext>
            </a:extLst>
          </p:cNvPr>
          <p:cNvSpPr>
            <a:spLocks noGrp="1"/>
          </p:cNvSpPr>
          <p:nvPr/>
        </p:nvSpPr>
        <p:spPr>
          <a:xfrm>
            <a:off x="895350" y="4171950"/>
            <a:ext cx="3162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2D7C93"/>
                </a:solidFill>
              </a:defRPr>
            </a:pPr>
            <a:r>
              <a:rPr sz="1238" b="1">
                <a:solidFill>
                  <a:srgbClr val="2D7C93"/>
                </a:solidFill>
              </a:rPr>
              <a:t>没有其他 item 要求 shift，</a:t>
            </a:r>
          </a:p>
          <a:p>
            <a:pPr algn="ctr">
              <a:buNone/>
              <a:defRPr sz="1238" b="1">
                <a:solidFill>
                  <a:srgbClr val="2D7C93"/>
                </a:solidFill>
              </a:defRPr>
            </a:pPr>
            <a:r>
              <a:rPr sz="1238" b="1">
                <a:solidFill>
                  <a:srgbClr val="2D7C93"/>
                </a:solidFill>
              </a:rPr>
              <a:t>因此表中没有冲突。</a:t>
            </a:r>
          </a:p>
        </p:txBody>
      </p:sp>
      <p:sp>
        <p:nvSpPr>
          <p:cNvPr id="9" name="changed-grammar-label">
            <a:extLst>
              <a:ext uri="{FF2B5EF4-FFF2-40B4-BE49-F238E27FC236}">
                <a16:creationId xmlns:a16="http://schemas.microsoft.com/office/drawing/2014/main" id="{0DD53296-5967-4B62-A035-CC72A1FE9C43}"/>
              </a:ext>
            </a:extLst>
          </p:cNvPr>
          <p:cNvSpPr>
            <a:spLocks noGrp="1"/>
          </p:cNvSpPr>
          <p:nvPr/>
        </p:nvSpPr>
        <p:spPr>
          <a:xfrm>
            <a:off x="4953000" y="1790700"/>
            <a:ext cx="3381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C4384D"/>
                </a:solidFill>
              </a:defRPr>
            </a:pPr>
            <a:r>
              <a:rPr sz="1575" b="1">
                <a:solidFill>
                  <a:srgbClr val="C4384D"/>
                </a:solidFill>
              </a:rPr>
              <a:t>若增加一条产生式</a:t>
            </a:r>
          </a:p>
        </p:txBody>
      </p:sp>
      <p:sp>
        <p:nvSpPr>
          <p:cNvPr id="10" name="changed-grammar">
            <a:extLst>
              <a:ext uri="{FF2B5EF4-FFF2-40B4-BE49-F238E27FC236}">
                <a16:creationId xmlns:a16="http://schemas.microsoft.com/office/drawing/2014/main" id="{79FFA451-5C8C-4714-A1CF-3E0626DE5031}"/>
              </a:ext>
            </a:extLst>
          </p:cNvPr>
          <p:cNvSpPr>
            <a:spLocks noGrp="1"/>
          </p:cNvSpPr>
          <p:nvPr/>
        </p:nvSpPr>
        <p:spPr>
          <a:xfrm>
            <a:off x="4933950" y="2171700"/>
            <a:ext cx="3390900" cy="6667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313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INT</a:t>
            </a:r>
          </a:p>
          <a:p>
            <a:pPr algn="l">
              <a:buNone/>
              <a:defRPr sz="1313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| INT LPAREN RPAREN</a:t>
            </a:r>
          </a:p>
        </p:txBody>
      </p:sp>
      <p:sp>
        <p:nvSpPr>
          <p:cNvPr id="11" name="after-int-label">
            <a:extLst>
              <a:ext uri="{FF2B5EF4-FFF2-40B4-BE49-F238E27FC236}">
                <a16:creationId xmlns:a16="http://schemas.microsoft.com/office/drawing/2014/main" id="{8ADD2BB0-3089-4B08-8411-9240BC62EB1B}"/>
              </a:ext>
            </a:extLst>
          </p:cNvPr>
          <p:cNvSpPr>
            <a:spLocks noGrp="1"/>
          </p:cNvSpPr>
          <p:nvPr/>
        </p:nvSpPr>
        <p:spPr>
          <a:xfrm>
            <a:off x="5048250" y="300037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38" b="1">
                <a:solidFill>
                  <a:srgbClr val="454545"/>
                </a:solidFill>
              </a:defRPr>
            </a:pPr>
            <a:r>
              <a:rPr sz="1238" b="1">
                <a:solidFill>
                  <a:srgbClr val="454545"/>
                </a:solidFill>
              </a:rPr>
              <a:t>读完 INT：</a:t>
            </a:r>
          </a:p>
        </p:txBody>
      </p:sp>
      <p:sp>
        <p:nvSpPr>
          <p:cNvPr id="12" name="after-int-items">
            <a:extLst>
              <a:ext uri="{FF2B5EF4-FFF2-40B4-BE49-F238E27FC236}">
                <a16:creationId xmlns:a16="http://schemas.microsoft.com/office/drawing/2014/main" id="{39947BBE-CB48-4322-8058-012F48DA03AD}"/>
              </a:ext>
            </a:extLst>
          </p:cNvPr>
          <p:cNvSpPr>
            <a:spLocks noGrp="1"/>
          </p:cNvSpPr>
          <p:nvPr/>
        </p:nvSpPr>
        <p:spPr>
          <a:xfrm>
            <a:off x="4933950" y="3295650"/>
            <a:ext cx="33909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6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6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INT ·</a:t>
            </a:r>
          </a:p>
          <a:p>
            <a:pPr algn="l">
              <a:buNone/>
              <a:defRPr sz="126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6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INT · LPAREN RPAREN</a:t>
            </a:r>
          </a:p>
        </p:txBody>
      </p:sp>
      <p:sp>
        <p:nvSpPr>
          <p:cNvPr id="13" name="conflict-question">
            <a:extLst>
              <a:ext uri="{FF2B5EF4-FFF2-40B4-BE49-F238E27FC236}">
                <a16:creationId xmlns:a16="http://schemas.microsoft.com/office/drawing/2014/main" id="{7329A3F1-71F3-4849-8EA5-C3D8CFBC25FC}"/>
              </a:ext>
            </a:extLst>
          </p:cNvPr>
          <p:cNvSpPr>
            <a:spLocks noGrp="1"/>
          </p:cNvSpPr>
          <p:nvPr/>
        </p:nvSpPr>
        <p:spPr>
          <a:xfrm>
            <a:off x="4933950" y="4210050"/>
            <a:ext cx="3390900" cy="514350"/>
          </a:xfrm>
          <a:prstGeom prst="rect">
            <a:avLst/>
          </a:prstGeom>
          <a:solidFill>
            <a:srgbClr val="FCEEF0"/>
          </a:solidFill>
          <a:ln w="11430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40" b="1">
                <a:solidFill>
                  <a:srgbClr val="C4384D"/>
                </a:solidFill>
              </a:defRPr>
            </a:pPr>
            <a:r>
              <a:rPr sz="1140" b="1">
                <a:solidFill>
                  <a:srgbClr val="C4384D"/>
                </a:solidFill>
              </a:rPr>
              <a:t>current = LPAREN</a:t>
            </a:r>
          </a:p>
          <a:p>
            <a:pPr algn="ctr">
              <a:buNone/>
              <a:defRPr sz="1140" b="1">
                <a:solidFill>
                  <a:srgbClr val="C4384D"/>
                </a:solidFill>
              </a:defRPr>
            </a:pPr>
            <a:r>
              <a:rPr sz="1140" b="1">
                <a:solidFill>
                  <a:srgbClr val="C4384D"/>
                </a:solidFill>
              </a:rPr>
              <a:t>完整 item 要求 reduce r3；另一条 item 要求 shift LPAREN</a:t>
            </a:r>
          </a:p>
        </p:txBody>
      </p:sp>
      <p:sp>
        <p:nvSpPr>
          <p:cNvPr id="14" name="i3-conflict-takeaway">
            <a:extLst>
              <a:ext uri="{FF2B5EF4-FFF2-40B4-BE49-F238E27FC236}">
                <a16:creationId xmlns:a16="http://schemas.microsoft.com/office/drawing/2014/main" id="{93CDD6C8-8687-42DA-B2A2-7CC449F76200}"/>
              </a:ext>
            </a:extLst>
          </p:cNvPr>
          <p:cNvSpPr>
            <a:spLocks noGrp="1"/>
          </p:cNvSpPr>
          <p:nvPr/>
        </p:nvSpPr>
        <p:spPr>
          <a:xfrm>
            <a:off x="647700" y="48577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90" b="1">
                <a:solidFill>
                  <a:srgbClr val="C4384D"/>
                </a:solidFill>
              </a:defRPr>
            </a:pPr>
            <a:r>
              <a:rPr sz="1290" b="1">
                <a:solidFill>
                  <a:srgbClr val="C4384D"/>
                </a:solidFill>
              </a:rPr>
              <a:t>此时似乎有两种选择，应该如何处理？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本讲结论：LR 状态把反向推导变成确定执行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3491E0C6-B3E9-2F0E-6F4F-4638278C4AE4}" type="slidenum">
              <a:t>50</a:t>
            </a:fld>
            <a:endParaRPr/>
          </a:p>
        </p:txBody>
      </p:sp>
      <p:sp>
        <p:nvSpPr>
          <p:cNvPr id="5" name="summary-0">
            <a:extLst>
              <a:ext uri="{FF2B5EF4-FFF2-40B4-BE49-F238E27FC236}">
                <a16:creationId xmlns:a16="http://schemas.microsoft.com/office/drawing/2014/main" id="{8569EFD6-6835-4AF6-9EA4-93055D6DAEC3}"/>
              </a:ext>
            </a:extLst>
          </p:cNvPr>
          <p:cNvSpPr>
            <a:spLocks noGrp="1"/>
          </p:cNvSpPr>
          <p:nvPr/>
        </p:nvSpPr>
        <p:spPr>
          <a:xfrm>
            <a:off x="819150" y="157162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FCEEF0"/>
          </a:solidFill>
          <a:ln w="11430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C4384D"/>
                </a:solidFill>
              </a:defRPr>
            </a:pPr>
            <a:r>
              <a:rPr sz="1500" b="1">
                <a:solidFill>
                  <a:srgbClr val="C4384D"/>
                </a:solidFill>
              </a:rPr>
              <a:t>1</a:t>
            </a:r>
          </a:p>
        </p:txBody>
      </p:sp>
      <p:sp>
        <p:nvSpPr>
          <p:cNvPr id="6" name="summary-h-0">
            <a:extLst>
              <a:ext uri="{FF2B5EF4-FFF2-40B4-BE49-F238E27FC236}">
                <a16:creationId xmlns:a16="http://schemas.microsoft.com/office/drawing/2014/main" id="{6227EDF4-C02A-4888-B89D-4D32B92FCA72}"/>
              </a:ext>
            </a:extLst>
          </p:cNvPr>
          <p:cNvSpPr>
            <a:spLocks noGrp="1"/>
          </p:cNvSpPr>
          <p:nvPr/>
        </p:nvSpPr>
        <p:spPr>
          <a:xfrm>
            <a:off x="1476375" y="1581150"/>
            <a:ext cx="2143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454545"/>
                </a:solidFill>
              </a:defRPr>
            </a:pPr>
            <a:r>
              <a:rPr sz="1500" b="1">
                <a:solidFill>
                  <a:srgbClr val="454545"/>
                </a:solidFill>
              </a:rPr>
              <a:t>Shift / reduce</a:t>
            </a:r>
          </a:p>
        </p:txBody>
      </p:sp>
      <p:sp>
        <p:nvSpPr>
          <p:cNvPr id="7" name="summary-b-0">
            <a:extLst>
              <a:ext uri="{FF2B5EF4-FFF2-40B4-BE49-F238E27FC236}">
                <a16:creationId xmlns:a16="http://schemas.microsoft.com/office/drawing/2014/main" id="{570A6503-5DB8-4F9A-B936-24CD22BCC27C}"/>
              </a:ext>
            </a:extLst>
          </p:cNvPr>
          <p:cNvSpPr>
            <a:spLocks noGrp="1"/>
          </p:cNvSpPr>
          <p:nvPr/>
        </p:nvSpPr>
        <p:spPr>
          <a:xfrm>
            <a:off x="3714750" y="15811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从 Token 出发，在归约中逐步形成 Parse Tree</a:t>
            </a:r>
          </a:p>
        </p:txBody>
      </p:sp>
      <p:sp>
        <p:nvSpPr>
          <p:cNvPr id="8" name="summary-1">
            <a:extLst>
              <a:ext uri="{FF2B5EF4-FFF2-40B4-BE49-F238E27FC236}">
                <a16:creationId xmlns:a16="http://schemas.microsoft.com/office/drawing/2014/main" id="{41E904D3-538F-4D9D-AF30-CC14716B5B96}"/>
              </a:ext>
            </a:extLst>
          </p:cNvPr>
          <p:cNvSpPr>
            <a:spLocks noGrp="1"/>
          </p:cNvSpPr>
          <p:nvPr/>
        </p:nvSpPr>
        <p:spPr>
          <a:xfrm>
            <a:off x="819150" y="231457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FCEEF0"/>
          </a:solidFill>
          <a:ln w="11430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C4384D"/>
                </a:solidFill>
              </a:defRPr>
            </a:pPr>
            <a:r>
              <a:rPr sz="1500" b="1">
                <a:solidFill>
                  <a:srgbClr val="C4384D"/>
                </a:solidFill>
              </a:rPr>
              <a:t>2</a:t>
            </a:r>
          </a:p>
        </p:txBody>
      </p:sp>
      <p:sp>
        <p:nvSpPr>
          <p:cNvPr id="9" name="summary-h-1">
            <a:extLst>
              <a:ext uri="{FF2B5EF4-FFF2-40B4-BE49-F238E27FC236}">
                <a16:creationId xmlns:a16="http://schemas.microsoft.com/office/drawing/2014/main" id="{9125F9BD-4FF7-4128-A84D-B2094C329B0D}"/>
              </a:ext>
            </a:extLst>
          </p:cNvPr>
          <p:cNvSpPr>
            <a:spLocks noGrp="1"/>
          </p:cNvSpPr>
          <p:nvPr/>
        </p:nvSpPr>
        <p:spPr>
          <a:xfrm>
            <a:off x="1476375" y="2324100"/>
            <a:ext cx="2143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454545"/>
                </a:solidFill>
              </a:defRPr>
            </a:pPr>
            <a:r>
              <a:rPr sz="1500" b="1">
                <a:solidFill>
                  <a:srgbClr val="454545"/>
                </a:solidFill>
              </a:rPr>
              <a:t>LR item</a:t>
            </a:r>
          </a:p>
        </p:txBody>
      </p:sp>
      <p:sp>
        <p:nvSpPr>
          <p:cNvPr id="10" name="summary-b-1">
            <a:extLst>
              <a:ext uri="{FF2B5EF4-FFF2-40B4-BE49-F238E27FC236}">
                <a16:creationId xmlns:a16="http://schemas.microsoft.com/office/drawing/2014/main" id="{F406B888-A94C-466D-87D3-FA506EF8771C}"/>
              </a:ext>
            </a:extLst>
          </p:cNvPr>
          <p:cNvSpPr>
            <a:spLocks noGrp="1"/>
          </p:cNvSpPr>
          <p:nvPr/>
        </p:nvSpPr>
        <p:spPr>
          <a:xfrm>
            <a:off x="3714750" y="232410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点的位置记录每条产生式已经识别到哪里</a:t>
            </a:r>
          </a:p>
        </p:txBody>
      </p:sp>
      <p:sp>
        <p:nvSpPr>
          <p:cNvPr id="11" name="summary-2">
            <a:extLst>
              <a:ext uri="{FF2B5EF4-FFF2-40B4-BE49-F238E27FC236}">
                <a16:creationId xmlns:a16="http://schemas.microsoft.com/office/drawing/2014/main" id="{E13A82B7-35A4-4586-A55F-1A46DB63ED26}"/>
              </a:ext>
            </a:extLst>
          </p:cNvPr>
          <p:cNvSpPr>
            <a:spLocks noGrp="1"/>
          </p:cNvSpPr>
          <p:nvPr/>
        </p:nvSpPr>
        <p:spPr>
          <a:xfrm>
            <a:off x="819150" y="305752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EAF5F8"/>
          </a:solidFill>
          <a:ln w="11430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D7C93"/>
                </a:solidFill>
              </a:defRPr>
            </a:pPr>
            <a:r>
              <a:rPr sz="1500" b="1">
                <a:solidFill>
                  <a:srgbClr val="2D7C93"/>
                </a:solidFill>
              </a:rPr>
              <a:t>3</a:t>
            </a:r>
          </a:p>
        </p:txBody>
      </p:sp>
      <p:sp>
        <p:nvSpPr>
          <p:cNvPr id="12" name="summary-h-2">
            <a:extLst>
              <a:ext uri="{FF2B5EF4-FFF2-40B4-BE49-F238E27FC236}">
                <a16:creationId xmlns:a16="http://schemas.microsoft.com/office/drawing/2014/main" id="{460B9FE3-0A88-482B-A037-C23DE6C358DE}"/>
              </a:ext>
            </a:extLst>
          </p:cNvPr>
          <p:cNvSpPr>
            <a:spLocks noGrp="1"/>
          </p:cNvSpPr>
          <p:nvPr/>
        </p:nvSpPr>
        <p:spPr>
          <a:xfrm>
            <a:off x="1476375" y="3067050"/>
            <a:ext cx="2143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454545"/>
                </a:solidFill>
              </a:defRPr>
            </a:pPr>
            <a:r>
              <a:rPr sz="1500" b="1">
                <a:solidFill>
                  <a:srgbClr val="454545"/>
                </a:solidFill>
              </a:rPr>
              <a:t>LR(0) 自动机</a:t>
            </a:r>
          </a:p>
        </p:txBody>
      </p:sp>
      <p:sp>
        <p:nvSpPr>
          <p:cNvPr id="13" name="summary-b-2">
            <a:extLst>
              <a:ext uri="{FF2B5EF4-FFF2-40B4-BE49-F238E27FC236}">
                <a16:creationId xmlns:a16="http://schemas.microsoft.com/office/drawing/2014/main" id="{8E2E0888-6C71-4562-A8BE-2FF75DBCEB7C}"/>
              </a:ext>
            </a:extLst>
          </p:cNvPr>
          <p:cNvSpPr>
            <a:spLocks noGrp="1"/>
          </p:cNvSpPr>
          <p:nvPr/>
        </p:nvSpPr>
        <p:spPr>
          <a:xfrm>
            <a:off x="3714750" y="30670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closure 与 goto 机械生成有限状态</a:t>
            </a:r>
          </a:p>
        </p:txBody>
      </p:sp>
      <p:sp>
        <p:nvSpPr>
          <p:cNvPr id="14" name="summary-3">
            <a:extLst>
              <a:ext uri="{FF2B5EF4-FFF2-40B4-BE49-F238E27FC236}">
                <a16:creationId xmlns:a16="http://schemas.microsoft.com/office/drawing/2014/main" id="{96419F32-F8D1-4794-9444-FBD4972CE5FB}"/>
              </a:ext>
            </a:extLst>
          </p:cNvPr>
          <p:cNvSpPr>
            <a:spLocks noGrp="1"/>
          </p:cNvSpPr>
          <p:nvPr/>
        </p:nvSpPr>
        <p:spPr>
          <a:xfrm>
            <a:off x="819150" y="380047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EAF5F8"/>
          </a:solidFill>
          <a:ln w="11430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D7C93"/>
                </a:solidFill>
              </a:defRPr>
            </a:pPr>
            <a:r>
              <a:rPr sz="1500" b="1">
                <a:solidFill>
                  <a:srgbClr val="2D7C93"/>
                </a:solidFill>
              </a:rPr>
              <a:t>4</a:t>
            </a:r>
          </a:p>
        </p:txBody>
      </p:sp>
      <p:sp>
        <p:nvSpPr>
          <p:cNvPr id="15" name="summary-h-3">
            <a:extLst>
              <a:ext uri="{FF2B5EF4-FFF2-40B4-BE49-F238E27FC236}">
                <a16:creationId xmlns:a16="http://schemas.microsoft.com/office/drawing/2014/main" id="{409A0BE7-9623-4781-BBC8-AA584A2CA8A1}"/>
              </a:ext>
            </a:extLst>
          </p:cNvPr>
          <p:cNvSpPr>
            <a:spLocks noGrp="1"/>
          </p:cNvSpPr>
          <p:nvPr/>
        </p:nvSpPr>
        <p:spPr>
          <a:xfrm>
            <a:off x="1476375" y="3810000"/>
            <a:ext cx="2143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454545"/>
                </a:solidFill>
              </a:defRPr>
            </a:pPr>
            <a:r>
              <a:rPr sz="1500" b="1">
                <a:solidFill>
                  <a:srgbClr val="454545"/>
                </a:solidFill>
              </a:rPr>
              <a:t>ACTION / GOTO</a:t>
            </a:r>
          </a:p>
        </p:txBody>
      </p:sp>
      <p:sp>
        <p:nvSpPr>
          <p:cNvPr id="16" name="summary-b-3">
            <a:extLst>
              <a:ext uri="{FF2B5EF4-FFF2-40B4-BE49-F238E27FC236}">
                <a16:creationId xmlns:a16="http://schemas.microsoft.com/office/drawing/2014/main" id="{36006095-AB4B-4A5C-B7CD-7E4C146A1D6B}"/>
              </a:ext>
            </a:extLst>
          </p:cNvPr>
          <p:cNvSpPr>
            <a:spLocks noGrp="1"/>
          </p:cNvSpPr>
          <p:nvPr/>
        </p:nvSpPr>
        <p:spPr>
          <a:xfrm>
            <a:off x="3714750" y="381000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把自动机编译成一个小型表驱动循环</a:t>
            </a:r>
          </a:p>
        </p:txBody>
      </p:sp>
      <p:sp>
        <p:nvSpPr>
          <p:cNvPr id="17" name="takeaway-52">
            <a:extLst>
              <a:ext uri="{FF2B5EF4-FFF2-40B4-BE49-F238E27FC236}">
                <a16:creationId xmlns:a16="http://schemas.microsoft.com/office/drawing/2014/main" id="{07164C26-508A-4A4D-9A50-C4242883C4B6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下一讲：lookahead 如何形成 LR(1)/LALR，工具又如何处理冲突与增量解析？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2375</Words>
  <Application>Microsoft Macintosh PowerPoint</Application>
  <DocSecurity>0</DocSecurity>
  <PresentationFormat>全屏显示(16:10)</PresentationFormat>
  <Paragraphs>712</Paragraphs>
  <Slides>50</Slides>
  <Notes>50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5" baseType="lpstr">
      <vt:lpstr>DengXian</vt:lpstr>
      <vt:lpstr>微软雅黑</vt:lpstr>
      <vt:lpstr>Arial</vt:lpstr>
      <vt:lpstr>Menlo</vt:lpstr>
      <vt:lpstr>Office 主题​​</vt:lpstr>
      <vt:lpstr>语法分析（三）</vt:lpstr>
      <vt:lpstr>上一讲：Parser 在展开前预测产生式</vt:lpstr>
      <vt:lpstr>构造 Parse Tree 还有另一个方向</vt:lpstr>
      <vt:lpstr>为什么值得换一个方向？</vt:lpstr>
      <vt:lpstr>上一讲回顾</vt:lpstr>
      <vt:lpstr>本讲目标：学习反向推导，并把它（也）变成一个表驱动 Parser</vt:lpstr>
      <vt:lpstr>第一步：从 Token 开始反向推导</vt:lpstr>
      <vt:lpstr>贯穿案例：保留左递归的表达式文法</vt:lpstr>
      <vt:lpstr>自底向上分析是推导的逆过程</vt:lpstr>
      <vt:lpstr>初始状态：栈为空，输入尚未读取</vt:lpstr>
      <vt:lpstr>步骤 1：shift INT</vt:lpstr>
      <vt:lpstr>步骤 2：reduce term → INT</vt:lpstr>
      <vt:lpstr>步骤 3：reduce expr → term</vt:lpstr>
      <vt:lpstr>步骤 4：shift PLUS</vt:lpstr>
      <vt:lpstr>步骤 5：shift INT</vt:lpstr>
      <vt:lpstr>步骤 6：reduce term → INT</vt:lpstr>
      <vt:lpstr>步骤 7：reduce expr → expr PLUS term</vt:lpstr>
      <vt:lpstr>步骤 8：输入耗尽，执行 accept</vt:lpstr>
      <vt:lpstr>把全过程固定成三列：栈、剩余输入、动作</vt:lpstr>
      <vt:lpstr>观察：归约过程正好把最右推导倒着走</vt:lpstr>
      <vt:lpstr>Shift / reduce：parser 只需要两种核心动作</vt:lpstr>
      <vt:lpstr>哪一段可以被 reduce？它必须是当前“句柄”</vt:lpstr>
      <vt:lpstr>真正的问题：此刻该 shift，还是 reduce？</vt:lpstr>
      <vt:lpstr>第二步：把“识别到哪里”编码为状态</vt:lpstr>
      <vt:lpstr>LR item：在产生式右侧放一个点</vt:lpstr>
      <vt:lpstr>同一条产生式，对应多个识别位置</vt:lpstr>
      <vt:lpstr>一个状态为什么包含多个 item？</vt:lpstr>
      <vt:lpstr>closure：把“期望的非终结符”继续展开</vt:lpstr>
      <vt:lpstr>goto(I, X)：识别一个符号后，点向右移动</vt:lpstr>
      <vt:lpstr>构造 I₀：从 start → · expr 做 closure</vt:lpstr>
      <vt:lpstr>从 I₀ 读到 INT：得到完成项 I₃</vt:lpstr>
      <vt:lpstr>从 I₀ 识别 term：得到 I₂</vt:lpstr>
      <vt:lpstr>从 I₀ 识别 expr：得到 I₁</vt:lpstr>
      <vt:lpstr>从 I₁ 读到 PLUS：得到 I₄，并展开 term</vt:lpstr>
      <vt:lpstr>从 I₄ 继续：INT 回到 I₃，term 到达 I₅</vt:lpstr>
      <vt:lpstr>完整 LR(0) 自动机：状态记录识别进度</vt:lpstr>
      <vt:lpstr>状态是对“已识别前缀”的机械编码</vt:lpstr>
      <vt:lpstr>第三步：实现LR(0)自动机</vt:lpstr>
      <vt:lpstr>先做一张朴素的状态转移表</vt:lpstr>
      <vt:lpstr>问题：没有转换边，不一定是语法错误</vt:lpstr>
      <vt:lpstr>reduce 之后：如何让自动机继续？</vt:lpstr>
      <vt:lpstr>修改后的转移表+分析栈</vt:lpstr>
      <vt:lpstr>用同一条 reduce 测试</vt:lpstr>
      <vt:lpstr>PowerPoint 演示文稿</vt:lpstr>
      <vt:lpstr>两类用途不同的查表</vt:lpstr>
      <vt:lpstr>拆分后的完整 LR(0) 分析表</vt:lpstr>
      <vt:lpstr>表与栈共同实现 LR 自动机</vt:lpstr>
      <vt:lpstr>再回看：为什么 LR 能直接处理左递归？</vt:lpstr>
      <vt:lpstr>从 I₃ 出发：所有终结符都填 r3，真的正确吗？</vt:lpstr>
      <vt:lpstr>本讲结论：LR 状态把反向推导变成确定执行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wu mingyu</cp:lastModifiedBy>
  <cp:revision>4</cp:revision>
  <dcterms:created xsi:type="dcterms:W3CDTF">2026-10-08T16:34:53Z</dcterms:created>
  <dcterms:modified xsi:type="dcterms:W3CDTF">2026-10-09T02:01:35Z</dcterms:modified>
</cp:coreProperties>
</file>