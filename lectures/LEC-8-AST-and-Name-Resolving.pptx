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24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</p:sldIdLst>
  <p:sldSz cx="9144000" cy="5715000" type="screen16x1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0"/>
  </p:normalViewPr>
  <p:slideViewPr>
    <p:cSldViewPr snapToGrid="0">
      <p:cViewPr varScale="1">
        <p:scale>
          <a:sx n="136" d="100"/>
          <a:sy n="136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Illustration generated with OpenAI gpt-image-2 on 2026-08-17; prompt and model metadata: assets/ast/manifest.jsonl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7CD52-FB13-A994-B416-E4AD8E543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717CCB-E1C5-8752-EEEF-C202A9E03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569A7-3F54-AEB9-0D5C-2DE43EA0A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0BB49-E5C3-F211-A26C-C8D1500D5DA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08133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U=Use, D=Define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Go Language Specification, Uniqueness of identifiers: https://go.dev/ref/spec#Uniqueness_of_identifiers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TypeScript Handbook, Declaration Merging / Basic Concepts: https://www.typescriptlang.org/docs/handbook/declaration-merging.html#basic-concepts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The Rust Reference, Namespaces: https://doc.rust-lang.org/reference/names/namespaces.html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89CF9-F8D8-4CCC-A257-6DE6A370C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buNone/>
              <a:defRPr sz="4400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489163-420C-40B9-A6B0-7D024352F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204E3C-C592-4BBA-AA67-012927511FD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BB9DF-2129-4B30-A0CB-00B5CCA4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buNone/>
              <a:defRPr b="1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FB2FD2-58C9-4D2B-B2D7-B77DBB833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2400" b="1" i="0">
                <a:latin typeface="+mn-lt"/>
                <a:ea typeface="+mn-lt"/>
                <a:cs typeface="+mn-lt"/>
              </a:defRPr>
            </a:lvl1pPr>
            <a:lvl2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2pPr>
            <a:lvl3pPr>
              <a:lnSpc>
                <a:spcPct val="120000"/>
              </a:lnSpc>
              <a:buNone/>
              <a:defRPr sz="2000" b="0" i="0">
                <a:latin typeface="+mn-lt"/>
                <a:ea typeface="+mn-lt"/>
                <a:cs typeface="+mn-lt"/>
              </a:defRPr>
            </a:lvl3pPr>
            <a:lvl4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4pPr>
            <a:lvl5pPr>
              <a:lnSpc>
                <a:spcPct val="120000"/>
              </a:lnSpc>
              <a:buNone/>
              <a:defRPr sz="1800" b="0" i="0">
                <a:latin typeface="+mn-lt"/>
                <a:ea typeface="+mn-lt"/>
                <a:cs typeface="+mn-lt"/>
              </a:defRPr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18343-6F26-4180-9F15-3490C5654A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0225E-4991-43F8-8A4F-7A9DE80097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89912-585E-44ED-9A35-D3CD6481964A}"/>
              </a:ext>
            </a:extLst>
          </p:cNvPr>
          <p:cNvSpPr>
            <a:spLocks noGrp="1"/>
          </p:cNvSpPr>
          <p:nvPr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>
            <a:spLocks noGrp="1"/>
          </p:cNvSpPr>
          <p:nvPr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/>
            </a:lvl1pPr>
          </a:lstStyle>
          <a:p>
            <a:r>
              <a:t>上海交通大学并行与分布式系统研究所（IPADS@SJTU）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737EC-50D8-4066-9A5B-B2F2B3261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buNone/>
              <a:defRPr sz="4000" b="1" cap="all">
                <a:latin typeface="+mj-lt"/>
                <a:ea typeface="+mj-lt"/>
                <a:cs typeface="+mj-lt"/>
              </a:defRPr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8D66DC-4DFE-41C3-A681-706615113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54206-11C3-46BD-9C89-5FEA6F6F7CB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8C5D61-0DF4-429D-A479-13E085A0AA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>
            <a:spLocks noGrp="1"/>
          </p:cNvSpPr>
          <p:nvPr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E3681A-3E02-46ED-85DF-1DEF2F997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36D934-6CA7-459A-B5C1-5CA900321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A96C8E-B259-4316-A5FF-F1EDB1F7850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98837-A74E-40F6-88FA-DB372DDABD2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DengXian"/>
                <a:ea typeface="DengXian"/>
                <a:cs typeface="DengXian"/>
              </a:defRPr>
            </a:lvl1pPr>
          </a:lstStyle>
          <a:p>
            <a:fld id="{ADE361C3-C043-4A6E-BDCE-8DA1E7D90A3B}" type="slidenum">
              <a:t>‹#›</a:t>
            </a:fld>
            <a:endParaRPr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buNone/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20000"/>
        </a:lnSpc>
        <a:spcBef>
          <a:spcPts val="1200"/>
        </a:spcBef>
        <a:buFont typeface="Arial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20000"/>
        </a:lnSpc>
        <a:spcBef>
          <a:spcPct val="20000"/>
        </a:spcBef>
        <a:buFont typeface="Arial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20000"/>
        </a:lnSpc>
        <a:spcBef>
          <a:spcPct val="20000"/>
        </a:spcBef>
        <a:buFont typeface="Arial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20000"/>
        </a:lnSpc>
        <a:spcBef>
          <a:spcPct val="20000"/>
        </a:spcBef>
        <a:buFont typeface="Arial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20000"/>
        </a:lnSpc>
        <a:spcBef>
          <a:spcPct val="20000"/>
        </a:spcBef>
        <a:buFont typeface="Arial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345332"/>
            <a:ext cx="7772400" cy="230425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None/>
            </a:pPr>
            <a:r>
              <a:rPr sz="4800"/>
              <a:t>抽象语法树与名字解析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吴明瑜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sz="1800">
                <a:solidFill>
                  <a:schemeClr val="tx1">
                    <a:lumMod val="50000"/>
                    <a:lumOff val="50000"/>
                  </a:schemeClr>
                </a:solidFill>
              </a:rPr>
              <a:t>https://ipads.se.sjtu.edu.cn/courses/compilers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>
            <a:spLocks noGrp="1"/>
          </p:cNvSpPr>
          <p:nvPr/>
        </p:nvSpPr>
        <p:spPr>
          <a:xfrm>
            <a:off x="467544" y="252559"/>
            <a:ext cx="3600400" cy="504056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 marL="0" indent="0" algn="ctr" defTabSz="914400">
              <a:lnSpc>
                <a:spcPct val="120000"/>
              </a:lnSpc>
              <a:spcBef>
                <a:spcPts val="1200"/>
              </a:spcBef>
              <a:buFont typeface="Arial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2pPr>
            <a:lvl3pPr marL="9144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3pPr>
            <a:lvl4pPr marL="13716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4pPr>
            <a:lvl5pPr marL="1828800" indent="0" algn="ctr" defTabSz="914400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ea"/>
              </a:defRPr>
            </a:lvl5pPr>
            <a:lvl6pPr marL="22860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</a:pPr>
            <a:r>
              <a:rPr sz="1400">
                <a:solidFill>
                  <a:srgbClr val="000000">
                    <a:lumMod val="75000"/>
                    <a:lumOff val="25000"/>
                  </a:srgbClr>
                </a:solidFill>
                <a:latin typeface="Arial"/>
                <a:ea typeface="Arial"/>
                <a:cs typeface="Arial"/>
              </a:rPr>
              <a:t>SE3355 · 编译原理（2026秋）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13A0C70A-5066-4CF6-97F0-86AB7C28E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A887F-C051-48C8-9475-C3AD04AC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大纲：从 Parse Tree 到前端共享的数据模型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C47E3-DDE8-49FF-88C3-B8892AE0F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0021" lnSpcReduction="10000"/>
          </a:bodyPr>
          <a:lstStyle/>
          <a:p>
            <a:pPr>
              <a:buFont typeface="Arial"/>
              <a:buChar char="•"/>
            </a:pPr>
            <a:r>
              <a:t>Parser 已经生成一棵树，为什么还需要 AST？</a:t>
            </a:r>
          </a:p>
          <a:p>
            <a:endParaRPr/>
          </a:p>
          <a:p>
            <a:pPr>
              <a:buFont typeface="Arial"/>
              <a:buChar char="•"/>
            </a:pPr>
            <a:r>
              <a:t>AST 应该保留什么，又省略什么？</a:t>
            </a:r>
          </a:p>
          <a:p>
            <a:pPr>
              <a:buNone/>
            </a:pPr>
            <a:endParaRPr/>
          </a:p>
          <a:p>
            <a:pPr>
              <a:buFont typeface="Arial"/>
              <a:buChar char="•"/>
            </a:pPr>
            <a:r>
              <a:t>Parser 如何构造 AST？</a:t>
            </a:r>
          </a:p>
          <a:p>
            <a:endParaRPr/>
          </a:p>
          <a:p>
            <a:pPr>
              <a:buFont typeface="Arial"/>
              <a:buChar char="•"/>
            </a:pPr>
            <a:r>
              <a:t>后续 Pass 如何使用和改写 AST？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462658-914F-4930-9B4C-4EAC684270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t>2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234C2A-2A87-4683-A602-E8583A97202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207981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为什么还需要另一颗树——AST？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语法结构并不等于编译器最适合处理的结构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02359C0-8A7A-196E-DD58-8E6569619F09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bridge-edge-t"/>
          <p:cNvCxnSpPr>
            <a:stCxn id="13" idx="0"/>
            <a:endCxn id="12" idx="2"/>
          </p:cNvCxnSpPr>
          <p:nvPr/>
        </p:nvCxnSpPr>
        <p:spPr>
          <a:xfrm flipV="1">
            <a:off x="6362700" y="2743200"/>
            <a:ext cx="952500" cy="514350"/>
          </a:xfrm>
          <a:prstGeom prst="straightConnector1">
            <a:avLst/>
          </a:prstGeom>
          <a:ln w="14288">
            <a:solidFill>
              <a:srgbClr val="6A868F"/>
            </a:solidFill>
            <a:prstDash val="solid"/>
          </a:ln>
        </p:spPr>
      </p:cxnSp>
      <p:cxnSp>
        <p:nvCxnSpPr>
          <p:cNvPr id="41" name="bridge-edge-plus"/>
          <p:cNvCxnSpPr>
            <a:stCxn id="13" idx="0"/>
            <a:endCxn id="11" idx="2"/>
          </p:cNvCxnSpPr>
          <p:nvPr/>
        </p:nvCxnSpPr>
        <p:spPr>
          <a:xfrm flipH="1" flipV="1">
            <a:off x="6305550" y="2743200"/>
            <a:ext cx="57150" cy="514350"/>
          </a:xfrm>
          <a:prstGeom prst="straightConnector1">
            <a:avLst/>
          </a:prstGeom>
          <a:ln w="14288">
            <a:solidFill>
              <a:srgbClr val="6A868F"/>
            </a:solidFill>
            <a:prstDash val="solid"/>
          </a:ln>
        </p:spPr>
      </p:cxnSp>
      <p:cxnSp>
        <p:nvCxnSpPr>
          <p:cNvPr id="42" name="bridge-edge-e"/>
          <p:cNvCxnSpPr>
            <a:stCxn id="13" idx="0"/>
            <a:endCxn id="10" idx="2"/>
          </p:cNvCxnSpPr>
          <p:nvPr/>
        </p:nvCxnSpPr>
        <p:spPr>
          <a:xfrm flipH="1" flipV="1">
            <a:off x="5295900" y="2743200"/>
            <a:ext cx="1066800" cy="514350"/>
          </a:xfrm>
          <a:prstGeom prst="straightConnector1">
            <a:avLst/>
          </a:prstGeom>
          <a:ln w="14288">
            <a:solidFill>
              <a:srgbClr val="6A868F"/>
            </a:solidFill>
            <a:prstDash val="solid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pPr algn="l">
              <a:buNone/>
              <a:defRPr sz="25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回顾：Parser 在输出 accept/error 决策的同时，也能输出 Parse Tree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4</a:t>
            </a:fld>
            <a:endParaRPr/>
          </a:p>
        </p:txBody>
      </p:sp>
      <p:sp>
        <p:nvSpPr>
          <p:cNvPr id="5" name="bridge-intro">
            <a:extLst>
              <a:ext uri="{FF2B5EF4-FFF2-40B4-BE49-F238E27FC236}">
                <a16:creationId xmlns:a16="http://schemas.microsoft.com/office/drawing/2014/main" id="{FCA91A2B-AB5B-4228-8FA9-A7C3D9689E68}"/>
              </a:ext>
            </a:extLst>
          </p:cNvPr>
          <p:cNvSpPr>
            <a:spLocks noGrp="1"/>
          </p:cNvSpPr>
          <p:nvPr/>
        </p:nvSpPr>
        <p:spPr>
          <a:xfrm>
            <a:off x="571500" y="1104900"/>
            <a:ext cx="8001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425" b="1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04040"/>
                </a:solidFill>
                <a:latin typeface="Arial"/>
                <a:ea typeface="Arial"/>
                <a:cs typeface="Arial"/>
              </a:rPr>
              <a:t>表驱动过程除了维护状态或文法符号，还可以同时维护一组树结点。</a:t>
            </a:r>
          </a:p>
        </p:txBody>
      </p:sp>
      <p:sp>
        <p:nvSpPr>
          <p:cNvPr id="6" name="bridge-ll-title">
            <a:extLst>
              <a:ext uri="{FF2B5EF4-FFF2-40B4-BE49-F238E27FC236}">
                <a16:creationId xmlns:a16="http://schemas.microsoft.com/office/drawing/2014/main" id="{DFB51955-443E-4EC9-90BF-13A38AF519A5}"/>
              </a:ext>
            </a:extLst>
          </p:cNvPr>
          <p:cNvSpPr>
            <a:spLocks noGrp="1"/>
          </p:cNvSpPr>
          <p:nvPr/>
        </p:nvSpPr>
        <p:spPr>
          <a:xfrm>
            <a:off x="609600" y="1562100"/>
            <a:ext cx="36671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LL：展开产生式时连接子结点</a:t>
            </a:r>
          </a:p>
        </p:txBody>
      </p:sp>
      <p:sp>
        <p:nvSpPr>
          <p:cNvPr id="7" name="bridge-ll-body">
            <a:extLst>
              <a:ext uri="{FF2B5EF4-FFF2-40B4-BE49-F238E27FC236}">
                <a16:creationId xmlns:a16="http://schemas.microsoft.com/office/drawing/2014/main" id="{42391918-57E1-4807-8B8D-E3839A1983DB}"/>
              </a:ext>
            </a:extLst>
          </p:cNvPr>
          <p:cNvSpPr>
            <a:spLocks noGrp="1"/>
          </p:cNvSpPr>
          <p:nvPr/>
        </p:nvSpPr>
        <p:spPr>
          <a:xfrm>
            <a:off x="685800" y="1971675"/>
            <a:ext cx="3571875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275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4040"/>
                </a:solidFill>
                <a:latin typeface="Arial"/>
                <a:ea typeface="Arial"/>
                <a:cs typeface="Arial"/>
              </a:rPr>
              <a:t>expand  return_stmt → RETURN expr SEMI</a:t>
            </a:r>
          </a:p>
          <a:p>
            <a:pPr algn="l">
              <a:buNone/>
              <a:defRPr sz="1275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4040"/>
                </a:solidFill>
                <a:latin typeface="Arial"/>
                <a:ea typeface="Arial"/>
                <a:cs typeface="Arial"/>
              </a:rPr>
              <a:t>为 return_stmt 创建三个子结点</a:t>
            </a:r>
          </a:p>
          <a:p>
            <a:endParaRPr sz="1275">
              <a:solidFill>
                <a:srgbClr val="404040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275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4040"/>
                </a:solidFill>
                <a:latin typeface="Arial"/>
                <a:ea typeface="Arial"/>
                <a:cs typeface="Arial"/>
              </a:rPr>
              <a:t>match</a:t>
            </a:r>
          </a:p>
          <a:p>
            <a:pPr algn="l">
              <a:buNone/>
              <a:defRPr sz="1275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4040"/>
                </a:solidFill>
                <a:latin typeface="Arial"/>
                <a:ea typeface="Arial"/>
                <a:cs typeface="Arial"/>
              </a:rPr>
              <a:t>把当前 Token 填入对应叶结点</a:t>
            </a:r>
          </a:p>
        </p:txBody>
      </p:sp>
      <p:sp>
        <p:nvSpPr>
          <p:cNvPr id="8" name="bridge-lr-title">
            <a:extLst>
              <a:ext uri="{FF2B5EF4-FFF2-40B4-BE49-F238E27FC236}">
                <a16:creationId xmlns:a16="http://schemas.microsoft.com/office/drawing/2014/main" id="{DE96EB5F-4C50-4D96-992C-61A89AC5C0FD}"/>
              </a:ext>
            </a:extLst>
          </p:cNvPr>
          <p:cNvSpPr>
            <a:spLocks noGrp="1"/>
          </p:cNvSpPr>
          <p:nvPr/>
        </p:nvSpPr>
        <p:spPr>
          <a:xfrm>
            <a:off x="4810125" y="1562100"/>
            <a:ext cx="3714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LR：shift/reduce 时维护子树栈</a:t>
            </a:r>
          </a:p>
        </p:txBody>
      </p:sp>
      <p:sp>
        <p:nvSpPr>
          <p:cNvPr id="9" name="bridge-reduce">
            <a:extLst>
              <a:ext uri="{FF2B5EF4-FFF2-40B4-BE49-F238E27FC236}">
                <a16:creationId xmlns:a16="http://schemas.microsoft.com/office/drawing/2014/main" id="{63399859-C0CA-4D16-91EB-0E5E1898A0AB}"/>
              </a:ext>
            </a:extLst>
          </p:cNvPr>
          <p:cNvSpPr>
            <a:spLocks noGrp="1"/>
          </p:cNvSpPr>
          <p:nvPr/>
        </p:nvSpPr>
        <p:spPr>
          <a:xfrm>
            <a:off x="5219700" y="1924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1275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reduce  E → E + T</a:t>
            </a:r>
          </a:p>
        </p:txBody>
      </p:sp>
      <p:sp>
        <p:nvSpPr>
          <p:cNvPr id="10" name="bridge-e">
            <a:extLst>
              <a:ext uri="{FF2B5EF4-FFF2-40B4-BE49-F238E27FC236}">
                <a16:creationId xmlns:a16="http://schemas.microsoft.com/office/drawing/2014/main" id="{0E95F231-0C6C-488E-985C-3FCBC632EF2B}"/>
              </a:ext>
            </a:extLst>
          </p:cNvPr>
          <p:cNvSpPr>
            <a:spLocks noGrp="1"/>
          </p:cNvSpPr>
          <p:nvPr/>
        </p:nvSpPr>
        <p:spPr>
          <a:xfrm>
            <a:off x="4895850" y="2324100"/>
            <a:ext cx="800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6A868F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1" name="bridge-plus">
            <a:extLst>
              <a:ext uri="{FF2B5EF4-FFF2-40B4-BE49-F238E27FC236}">
                <a16:creationId xmlns:a16="http://schemas.microsoft.com/office/drawing/2014/main" id="{D467ACF7-5592-42C7-A94F-29DA50652CCD}"/>
              </a:ext>
            </a:extLst>
          </p:cNvPr>
          <p:cNvSpPr>
            <a:spLocks noGrp="1"/>
          </p:cNvSpPr>
          <p:nvPr/>
        </p:nvSpPr>
        <p:spPr>
          <a:xfrm>
            <a:off x="5905500" y="2324100"/>
            <a:ext cx="800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6A868F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bridge-t">
            <a:extLst>
              <a:ext uri="{FF2B5EF4-FFF2-40B4-BE49-F238E27FC236}">
                <a16:creationId xmlns:a16="http://schemas.microsoft.com/office/drawing/2014/main" id="{C5DFCD9F-E890-44E6-928B-2C996F7FB0AF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8001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4288">
            <a:solidFill>
              <a:srgbClr val="6A868F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" name="bridge-parent">
            <a:extLst>
              <a:ext uri="{FF2B5EF4-FFF2-40B4-BE49-F238E27FC236}">
                <a16:creationId xmlns:a16="http://schemas.microsoft.com/office/drawing/2014/main" id="{D06F2C30-D520-4A96-86B8-354931B0F5A1}"/>
              </a:ext>
            </a:extLst>
          </p:cNvPr>
          <p:cNvSpPr>
            <a:spLocks noGrp="1"/>
          </p:cNvSpPr>
          <p:nvPr/>
        </p:nvSpPr>
        <p:spPr>
          <a:xfrm>
            <a:off x="5962650" y="3257550"/>
            <a:ext cx="800100" cy="419100"/>
          </a:xfrm>
          <a:prstGeom prst="roundRect">
            <a:avLst>
              <a:gd name="adj" fmla="val 18182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  <p:txBody>
          <a:bodyPr lIns="38100" tIns="38100" rIns="38100" bIns="38100" anchor="ctr">
            <a:noAutofit/>
          </a:bodyPr>
          <a:lstStyle/>
          <a:p>
            <a:pPr algn="ctr">
              <a:buNone/>
              <a:defRPr sz="135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7" name="bridge-lr-caption">
            <a:extLst>
              <a:ext uri="{FF2B5EF4-FFF2-40B4-BE49-F238E27FC236}">
                <a16:creationId xmlns:a16="http://schemas.microsoft.com/office/drawing/2014/main" id="{3B9AA3BF-E9D4-4B4F-A492-8F0BC49E752D}"/>
              </a:ext>
            </a:extLst>
          </p:cNvPr>
          <p:cNvSpPr>
            <a:spLocks noGrp="1"/>
          </p:cNvSpPr>
          <p:nvPr/>
        </p:nvSpPr>
        <p:spPr>
          <a:xfrm>
            <a:off x="4857750" y="38576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275">
                <a:solidFill>
                  <a:srgbClr val="40404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4040"/>
                </a:solidFill>
                <a:latin typeface="Arial"/>
                <a:ea typeface="Arial"/>
                <a:cs typeface="Arial"/>
              </a:rPr>
              <a:t>弹出右部的三棵子树，连接到新的 E 结点，再压回栈。</a:t>
            </a:r>
          </a:p>
        </p:txBody>
      </p:sp>
      <p:sp>
        <p:nvSpPr>
          <p:cNvPr id="18" name="bridge-footer">
            <a:extLst>
              <a:ext uri="{FF2B5EF4-FFF2-40B4-BE49-F238E27FC236}">
                <a16:creationId xmlns:a16="http://schemas.microsoft.com/office/drawing/2014/main" id="{FD2B2113-2296-4C56-92A7-623070EE40F9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0">
            <a:solidFill>
              <a:srgbClr val="E7F1F4"/>
            </a:solidFill>
          </a:ln>
        </p:spPr>
        <p:txBody>
          <a:bodyPr lIns="76200" tIns="0" rIns="76200" bIns="0" anchor="ctr">
            <a:noAutofit/>
          </a:bodyPr>
          <a:lstStyle/>
          <a:p>
            <a:pPr algn="ctr">
              <a:buNone/>
              <a:defRPr sz="1275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accept/error 回答“是否匹配”；Parse Tree 记录“按哪些产生式、以什么结构匹配”。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2800">
                <a:latin typeface="Arial"/>
                <a:ea typeface="Arial"/>
                <a:cs typeface="Arial"/>
              </a:rPr>
              <a:t>到目前为止：Parser 已经构造了树形程序结构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FD6AB9A-5F9E-5F59-51AB-3C8734130965}" type="slidenum">
              <a:t>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6731AC-D986-4A53-B909-CFAF3629BC87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源码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6FAFC5-FCF6-4213-9632-20FF08D19E5B}"/>
              </a:ext>
            </a:extLst>
          </p:cNvPr>
          <p:cNvSpPr>
            <a:spLocks noGrp="1"/>
          </p:cNvSpPr>
          <p:nvPr/>
        </p:nvSpPr>
        <p:spPr>
          <a:xfrm>
            <a:off x="2933700" y="14097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6A868F"/>
                </a:solidFill>
              </a:defRPr>
            </a:pPr>
            <a:r>
              <a:rPr sz="1500" b="1">
                <a:solidFill>
                  <a:srgbClr val="6A868F"/>
                </a:solidFill>
              </a:rPr>
              <a:t>Token Stream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33EB97-79CF-4FC0-B857-1310191E6848}"/>
              </a:ext>
            </a:extLst>
          </p:cNvPr>
          <p:cNvSpPr>
            <a:spLocks noGrp="1"/>
          </p:cNvSpPr>
          <p:nvPr/>
        </p:nvSpPr>
        <p:spPr>
          <a:xfrm>
            <a:off x="5867400" y="1409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Parse Tree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C8F731-AC61-4E10-8989-D8DC84DA964D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200025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632AC-C35C-4235-A151-A7713D9361CD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16954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return y * 2;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F4EEA4D6-0120-4A56-B904-0E7943CDFDCF}"/>
              </a:ext>
            </a:extLst>
          </p:cNvPr>
          <p:cNvSpPr>
            <a:spLocks noGrp="1"/>
          </p:cNvSpPr>
          <p:nvPr/>
        </p:nvSpPr>
        <p:spPr>
          <a:xfrm>
            <a:off x="2667000" y="2247900"/>
            <a:ext cx="495300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6F1AE3-5D9A-45FD-AABA-4BBEAB944277}"/>
              </a:ext>
            </a:extLst>
          </p:cNvPr>
          <p:cNvSpPr>
            <a:spLocks noGrp="1"/>
          </p:cNvSpPr>
          <p:nvPr/>
        </p:nvSpPr>
        <p:spPr>
          <a:xfrm>
            <a:off x="3286125" y="1847850"/>
            <a:ext cx="2047875" cy="990600"/>
          </a:xfrm>
          <a:prstGeom prst="rect">
            <a:avLst/>
          </a:prstGeom>
          <a:solidFill>
            <a:srgbClr val="F4F4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E57B47-9A2D-4818-B27A-FF7DDFCC1ABD}"/>
              </a:ext>
            </a:extLst>
          </p:cNvPr>
          <p:cNvSpPr>
            <a:spLocks noGrp="1"/>
          </p:cNvSpPr>
          <p:nvPr/>
        </p:nvSpPr>
        <p:spPr>
          <a:xfrm>
            <a:off x="3448050" y="2047875"/>
            <a:ext cx="17335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RETURN  IDENT(y)</a:t>
            </a:r>
          </a:p>
          <a:p>
            <a:pPr algn="ctr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STAR  INT(2)  SEMI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3AC479EE-018E-42A3-8C8C-7B6D283DCB8E}"/>
              </a:ext>
            </a:extLst>
          </p:cNvPr>
          <p:cNvSpPr>
            <a:spLocks noGrp="1"/>
          </p:cNvSpPr>
          <p:nvPr/>
        </p:nvSpPr>
        <p:spPr>
          <a:xfrm>
            <a:off x="5429250" y="2247900"/>
            <a:ext cx="495300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6189D4C-398F-46CD-B59B-2CF3910A95F4}"/>
              </a:ext>
            </a:extLst>
          </p:cNvPr>
          <p:cNvSpPr>
            <a:spLocks noGrp="1"/>
          </p:cNvSpPr>
          <p:nvPr/>
        </p:nvSpPr>
        <p:spPr>
          <a:xfrm>
            <a:off x="6572250" y="1828800"/>
            <a:ext cx="1333500" cy="419100"/>
          </a:xfrm>
          <a:prstGeom prst="roundRect">
            <a:avLst>
              <a:gd name="adj" fmla="val 9091"/>
            </a:avLst>
          </a:prstGeom>
          <a:solidFill>
            <a:srgbClr val="E7F1F4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BC5B1A-641C-407A-BF69-284BA26FF244}"/>
              </a:ext>
            </a:extLst>
          </p:cNvPr>
          <p:cNvSpPr>
            <a:spLocks noGrp="1"/>
          </p:cNvSpPr>
          <p:nvPr/>
        </p:nvSpPr>
        <p:spPr>
          <a:xfrm>
            <a:off x="6629400" y="1895475"/>
            <a:ext cx="1219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return_stmt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753C8AB-607C-4F94-9B5C-50A78FAC8990}"/>
              </a:ext>
            </a:extLst>
          </p:cNvPr>
          <p:cNvSpPr>
            <a:spLocks noGrp="1"/>
          </p:cNvSpPr>
          <p:nvPr/>
        </p:nvSpPr>
        <p:spPr>
          <a:xfrm>
            <a:off x="5810250" y="2876550"/>
            <a:ext cx="10477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842CB4-75FC-4CAB-9E1C-61B55D9D8506}"/>
              </a:ext>
            </a:extLst>
          </p:cNvPr>
          <p:cNvSpPr>
            <a:spLocks noGrp="1"/>
          </p:cNvSpPr>
          <p:nvPr/>
        </p:nvSpPr>
        <p:spPr>
          <a:xfrm>
            <a:off x="5867400" y="2943225"/>
            <a:ext cx="933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42424"/>
                </a:solidFill>
              </a:defRPr>
            </a:pPr>
            <a:r>
              <a:rPr sz="1050" b="1">
                <a:solidFill>
                  <a:srgbClr val="242424"/>
                </a:solidFill>
              </a:rPr>
              <a:t>RETURN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1A7D7A6-2E4C-4BC6-8A6A-3DB31788B24D}"/>
              </a:ext>
            </a:extLst>
          </p:cNvPr>
          <p:cNvSpPr>
            <a:spLocks noGrp="1"/>
          </p:cNvSpPr>
          <p:nvPr/>
        </p:nvSpPr>
        <p:spPr>
          <a:xfrm>
            <a:off x="7000875" y="2876550"/>
            <a:ext cx="8572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77AE09-B671-4591-9EB7-C1701915B82F}"/>
              </a:ext>
            </a:extLst>
          </p:cNvPr>
          <p:cNvSpPr>
            <a:spLocks noGrp="1"/>
          </p:cNvSpPr>
          <p:nvPr/>
        </p:nvSpPr>
        <p:spPr>
          <a:xfrm>
            <a:off x="7058025" y="2943225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expr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C50E3D3-5022-4021-96B2-FEB2A550E8BB}"/>
              </a:ext>
            </a:extLst>
          </p:cNvPr>
          <p:cNvSpPr>
            <a:spLocks noGrp="1"/>
          </p:cNvSpPr>
          <p:nvPr/>
        </p:nvSpPr>
        <p:spPr>
          <a:xfrm>
            <a:off x="8096250" y="2876550"/>
            <a:ext cx="666750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404FB8-979D-4491-BA15-AED2696D7849}"/>
              </a:ext>
            </a:extLst>
          </p:cNvPr>
          <p:cNvSpPr>
            <a:spLocks noGrp="1"/>
          </p:cNvSpPr>
          <p:nvPr/>
        </p:nvSpPr>
        <p:spPr>
          <a:xfrm>
            <a:off x="8153400" y="2943225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SEMI</a:t>
            </a:r>
          </a:p>
        </p:txBody>
      </p:sp>
      <p:cxnSp>
        <p:nvCxnSpPr>
          <p:cNvPr id="1058" name="直线箭头连接符 45"/>
          <p:cNvCxnSpPr>
            <a:stCxn id="14" idx="2"/>
            <a:endCxn id="16" idx="0"/>
          </p:cNvCxnSpPr>
          <p:nvPr/>
        </p:nvCxnSpPr>
        <p:spPr>
          <a:xfrm flipH="1">
            <a:off x="6334125" y="2247900"/>
            <a:ext cx="904875" cy="6286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059" name="直线箭头连接符 46"/>
          <p:cNvCxnSpPr>
            <a:stCxn id="14" idx="2"/>
            <a:endCxn id="18" idx="0"/>
          </p:cNvCxnSpPr>
          <p:nvPr/>
        </p:nvCxnSpPr>
        <p:spPr>
          <a:xfrm>
            <a:off x="7239000" y="2247900"/>
            <a:ext cx="190500" cy="6286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060" name="直线箭头连接符 47"/>
          <p:cNvCxnSpPr>
            <a:stCxn id="14" idx="2"/>
            <a:endCxn id="20" idx="0"/>
          </p:cNvCxnSpPr>
          <p:nvPr/>
        </p:nvCxnSpPr>
        <p:spPr>
          <a:xfrm>
            <a:off x="7239000" y="2247900"/>
            <a:ext cx="1190625" cy="6286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06387B50-D47B-4A90-B859-4A099350F93E}"/>
              </a:ext>
            </a:extLst>
          </p:cNvPr>
          <p:cNvSpPr>
            <a:spLocks noGrp="1"/>
          </p:cNvSpPr>
          <p:nvPr/>
        </p:nvSpPr>
        <p:spPr>
          <a:xfrm>
            <a:off x="666750" y="451485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91B922-741C-4C82-AE3D-552A7FB21A54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Parse Tree 证明 Token 序列符合文法，并记录规则如何展开。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但是：Parse Tree 仍然混合了两类信息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E5B3003-2C54-13C6-9832-7637201064DE}" type="slidenum">
              <a:t>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62D919-DF0E-4FED-9BE9-67D6F866888B}"/>
              </a:ext>
            </a:extLst>
          </p:cNvPr>
          <p:cNvSpPr>
            <a:spLocks noGrp="1"/>
          </p:cNvSpPr>
          <p:nvPr/>
        </p:nvSpPr>
        <p:spPr>
          <a:xfrm>
            <a:off x="571500" y="14097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程序真正表达的结构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263B1A-1F3A-4784-A086-24F1E665A180}"/>
              </a:ext>
            </a:extLst>
          </p:cNvPr>
          <p:cNvSpPr>
            <a:spLocks noGrp="1"/>
          </p:cNvSpPr>
          <p:nvPr/>
        </p:nvSpPr>
        <p:spPr>
          <a:xfrm>
            <a:off x="4762500" y="14097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为了描述语法而存在的结构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32352A-77E5-45E5-9279-A34A92CE0A0A}"/>
              </a:ext>
            </a:extLst>
          </p:cNvPr>
          <p:cNvSpPr>
            <a:spLocks noGrp="1"/>
          </p:cNvSpPr>
          <p:nvPr/>
        </p:nvSpPr>
        <p:spPr>
          <a:xfrm>
            <a:off x="571500" y="18669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908FB4-CA21-41F4-8625-6EFE61528979}"/>
              </a:ext>
            </a:extLst>
          </p:cNvPr>
          <p:cNvSpPr>
            <a:spLocks noGrp="1"/>
          </p:cNvSpPr>
          <p:nvPr/>
        </p:nvSpPr>
        <p:spPr>
          <a:xfrm>
            <a:off x="838200" y="18669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二元乘法：左边是 y，右边是 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4A1F0F-F4D4-4F7B-8869-0B52F275571C}"/>
              </a:ext>
            </a:extLst>
          </p:cNvPr>
          <p:cNvSpPr>
            <a:spLocks noGrp="1"/>
          </p:cNvSpPr>
          <p:nvPr/>
        </p:nvSpPr>
        <p:spPr>
          <a:xfrm>
            <a:off x="571500" y="23431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1AB6C0-1C58-47D1-A578-F451847AB74A}"/>
              </a:ext>
            </a:extLst>
          </p:cNvPr>
          <p:cNvSpPr>
            <a:spLocks noGrp="1"/>
          </p:cNvSpPr>
          <p:nvPr/>
        </p:nvSpPr>
        <p:spPr>
          <a:xfrm>
            <a:off x="838200" y="23431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return 的返回值是该乘法表达式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60ADBC-A253-4E05-9A7D-A781399E3C06}"/>
              </a:ext>
            </a:extLst>
          </p:cNvPr>
          <p:cNvSpPr>
            <a:spLocks noGrp="1"/>
          </p:cNvSpPr>
          <p:nvPr/>
        </p:nvSpPr>
        <p:spPr>
          <a:xfrm>
            <a:off x="571500" y="28194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2825BC-A816-4366-8C57-2C451B086EF1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运算符优先级已经由树确定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97894A-5051-4BD0-828A-D4347B642E2D}"/>
              </a:ext>
            </a:extLst>
          </p:cNvPr>
          <p:cNvSpPr>
            <a:spLocks noGrp="1"/>
          </p:cNvSpPr>
          <p:nvPr/>
        </p:nvSpPr>
        <p:spPr>
          <a:xfrm>
            <a:off x="4762500" y="18669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0E32E4-2258-430A-87E5-DE78AA5779ED}"/>
              </a:ext>
            </a:extLst>
          </p:cNvPr>
          <p:cNvSpPr>
            <a:spLocks noGrp="1"/>
          </p:cNvSpPr>
          <p:nvPr/>
        </p:nvSpPr>
        <p:spPr>
          <a:xfrm>
            <a:off x="5029200" y="18669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expr、term、factor 等中间非终结符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7F9C434-CA9C-4C76-AAE6-AD6C6F49364D}"/>
              </a:ext>
            </a:extLst>
          </p:cNvPr>
          <p:cNvSpPr>
            <a:spLocks noGrp="1"/>
          </p:cNvSpPr>
          <p:nvPr/>
        </p:nvSpPr>
        <p:spPr>
          <a:xfrm>
            <a:off x="4762500" y="23431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EC41CA-24D3-4905-A4F9-76FF87E397A6}"/>
              </a:ext>
            </a:extLst>
          </p:cNvPr>
          <p:cNvSpPr>
            <a:spLocks noGrp="1"/>
          </p:cNvSpPr>
          <p:nvPr/>
        </p:nvSpPr>
        <p:spPr>
          <a:xfrm>
            <a:off x="5029200" y="23431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括号、分号等标点 Token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1DD91C-B859-4056-A78F-8AA25D65DC0D}"/>
              </a:ext>
            </a:extLst>
          </p:cNvPr>
          <p:cNvSpPr>
            <a:spLocks noGrp="1"/>
          </p:cNvSpPr>
          <p:nvPr/>
        </p:nvSpPr>
        <p:spPr>
          <a:xfrm>
            <a:off x="4762500" y="28194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DABDC0-F5E3-4E0F-BD6B-97A89F8911BC}"/>
              </a:ext>
            </a:extLst>
          </p:cNvPr>
          <p:cNvSpPr>
            <a:spLocks noGrp="1"/>
          </p:cNvSpPr>
          <p:nvPr/>
        </p:nvSpPr>
        <p:spPr>
          <a:xfrm>
            <a:off x="5029200" y="28194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为消除左递归引入的尾部节点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E769A67-3991-44DF-B836-DA4422F6B534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8517E6-D5C7-48CF-BFB8-4F559520DF05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后续分析真正需要的是左侧信息，右侧信息在后续过程中成为冗余。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同一个表达式：Parse Tree 展示推导，AST 展示运算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C630A04-5A25-9E0C-9436-126091DB86B3}" type="slidenum">
              <a:t>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848BDD-8925-4BF0-AAC5-EAA012D1E3E2}"/>
              </a:ext>
            </a:extLst>
          </p:cNvPr>
          <p:cNvSpPr>
            <a:spLocks noGrp="1"/>
          </p:cNvSpPr>
          <p:nvPr/>
        </p:nvSpPr>
        <p:spPr>
          <a:xfrm>
            <a:off x="3714750" y="12382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242424"/>
                </a:solidFill>
              </a:defRPr>
            </a:pPr>
            <a:r>
              <a:rPr sz="1800" b="1">
                <a:solidFill>
                  <a:srgbClr val="242424"/>
                </a:solidFill>
              </a:rPr>
              <a:t>1 + 2 *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25306E-1D96-4BDC-A127-1E6CB792FAF4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Parse Tree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7EE6EB-BC43-4E7B-99CD-C2540321D820}"/>
              </a:ext>
            </a:extLst>
          </p:cNvPr>
          <p:cNvSpPr>
            <a:spLocks noGrp="1"/>
          </p:cNvSpPr>
          <p:nvPr/>
        </p:nvSpPr>
        <p:spPr>
          <a:xfrm>
            <a:off x="5476875" y="16573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Abstract Syntax Tree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55431C6-4EE2-4178-A3E4-B32B4DB6F876}"/>
              </a:ext>
            </a:extLst>
          </p:cNvPr>
          <p:cNvSpPr>
            <a:spLocks noGrp="1"/>
          </p:cNvSpPr>
          <p:nvPr/>
        </p:nvSpPr>
        <p:spPr>
          <a:xfrm>
            <a:off x="1905000" y="2038350"/>
            <a:ext cx="1047750" cy="400050"/>
          </a:xfrm>
          <a:prstGeom prst="roundRect">
            <a:avLst>
              <a:gd name="adj" fmla="val 9524"/>
            </a:avLst>
          </a:prstGeom>
          <a:solidFill>
            <a:srgbClr val="F8E8EB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6622A8-8875-4D8E-AF7E-45F2C4C6F923}"/>
              </a:ext>
            </a:extLst>
          </p:cNvPr>
          <p:cNvSpPr>
            <a:spLocks noGrp="1"/>
          </p:cNvSpPr>
          <p:nvPr/>
        </p:nvSpPr>
        <p:spPr>
          <a:xfrm>
            <a:off x="1962150" y="2105025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expr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9E2DAA1-DCA6-4F28-8E1A-E3E50D6A7C77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10096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873BE3-CA65-40B3-B638-A9A7A77845C0}"/>
              </a:ext>
            </a:extLst>
          </p:cNvPr>
          <p:cNvSpPr>
            <a:spLocks noGrp="1"/>
          </p:cNvSpPr>
          <p:nvPr/>
        </p:nvSpPr>
        <p:spPr>
          <a:xfrm>
            <a:off x="933450" y="2981325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INT(1)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90ADDCDD-FA75-4C9D-9275-E5DBFFEDE7A9}"/>
              </a:ext>
            </a:extLst>
          </p:cNvPr>
          <p:cNvSpPr>
            <a:spLocks noGrp="1"/>
          </p:cNvSpPr>
          <p:nvPr/>
        </p:nvSpPr>
        <p:spPr>
          <a:xfrm>
            <a:off x="2019300" y="2914650"/>
            <a:ext cx="8191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3ED90F-4F60-4C84-92DB-44EA08EA4B9B}"/>
              </a:ext>
            </a:extLst>
          </p:cNvPr>
          <p:cNvSpPr>
            <a:spLocks noGrp="1"/>
          </p:cNvSpPr>
          <p:nvPr/>
        </p:nvSpPr>
        <p:spPr>
          <a:xfrm>
            <a:off x="2076450" y="2981325"/>
            <a:ext cx="70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PLUS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C235BFF-F7C7-4894-AACF-69D69F38BCA9}"/>
              </a:ext>
            </a:extLst>
          </p:cNvPr>
          <p:cNvSpPr>
            <a:spLocks noGrp="1"/>
          </p:cNvSpPr>
          <p:nvPr/>
        </p:nvSpPr>
        <p:spPr>
          <a:xfrm>
            <a:off x="3067050" y="2914650"/>
            <a:ext cx="8572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0416818-E899-4123-8582-E483CA787616}"/>
              </a:ext>
            </a:extLst>
          </p:cNvPr>
          <p:cNvSpPr>
            <a:spLocks noGrp="1"/>
          </p:cNvSpPr>
          <p:nvPr/>
        </p:nvSpPr>
        <p:spPr>
          <a:xfrm>
            <a:off x="3124200" y="2981325"/>
            <a:ext cx="74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term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68EF124-5ED9-4B84-BDEA-F635E179933A}"/>
              </a:ext>
            </a:extLst>
          </p:cNvPr>
          <p:cNvSpPr>
            <a:spLocks noGrp="1"/>
          </p:cNvSpPr>
          <p:nvPr/>
        </p:nvSpPr>
        <p:spPr>
          <a:xfrm>
            <a:off x="2571750" y="3943350"/>
            <a:ext cx="8953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1E46B7-D130-43CE-A142-DA036B4C3EA5}"/>
              </a:ext>
            </a:extLst>
          </p:cNvPr>
          <p:cNvSpPr>
            <a:spLocks noGrp="1"/>
          </p:cNvSpPr>
          <p:nvPr/>
        </p:nvSpPr>
        <p:spPr>
          <a:xfrm>
            <a:off x="2628900" y="4010025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INT(2)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EE68902-9515-4B58-97C6-465B87F5A3FB}"/>
              </a:ext>
            </a:extLst>
          </p:cNvPr>
          <p:cNvSpPr>
            <a:spLocks noGrp="1"/>
          </p:cNvSpPr>
          <p:nvPr/>
        </p:nvSpPr>
        <p:spPr>
          <a:xfrm>
            <a:off x="3524250" y="3943350"/>
            <a:ext cx="7239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F36BEE-D14E-4D54-9E53-2CF2297F8268}"/>
              </a:ext>
            </a:extLst>
          </p:cNvPr>
          <p:cNvSpPr>
            <a:spLocks noGrp="1"/>
          </p:cNvSpPr>
          <p:nvPr/>
        </p:nvSpPr>
        <p:spPr>
          <a:xfrm>
            <a:off x="3581400" y="4010025"/>
            <a:ext cx="60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STAR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E4E1FF2-69B4-41FE-BD11-2D8C4F6BF3AC}"/>
              </a:ext>
            </a:extLst>
          </p:cNvPr>
          <p:cNvSpPr>
            <a:spLocks noGrp="1"/>
          </p:cNvSpPr>
          <p:nvPr/>
        </p:nvSpPr>
        <p:spPr>
          <a:xfrm>
            <a:off x="4286250" y="3943350"/>
            <a:ext cx="89535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62C950-5EB0-4E63-B4C6-E1250CA91D20}"/>
              </a:ext>
            </a:extLst>
          </p:cNvPr>
          <p:cNvSpPr>
            <a:spLocks noGrp="1"/>
          </p:cNvSpPr>
          <p:nvPr/>
        </p:nvSpPr>
        <p:spPr>
          <a:xfrm>
            <a:off x="4343400" y="4010025"/>
            <a:ext cx="781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INT(3)</a:t>
            </a:r>
          </a:p>
        </p:txBody>
      </p:sp>
      <p:cxnSp>
        <p:nvCxnSpPr>
          <p:cNvPr id="1855" name="直线箭头连接符 60"/>
          <p:cNvCxnSpPr>
            <a:stCxn id="8" idx="2"/>
            <a:endCxn id="10" idx="0"/>
          </p:cNvCxnSpPr>
          <p:nvPr/>
        </p:nvCxnSpPr>
        <p:spPr>
          <a:xfrm flipH="1">
            <a:off x="1381125" y="2438400"/>
            <a:ext cx="1047750" cy="4762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56" name="直线箭头连接符 61"/>
          <p:cNvCxnSpPr>
            <a:stCxn id="8" idx="2"/>
            <a:endCxn id="12" idx="0"/>
          </p:cNvCxnSpPr>
          <p:nvPr/>
        </p:nvCxnSpPr>
        <p:spPr>
          <a:xfrm>
            <a:off x="2428875" y="2438400"/>
            <a:ext cx="0" cy="4762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57" name="直线箭头连接符 62"/>
          <p:cNvCxnSpPr>
            <a:stCxn id="8" idx="2"/>
            <a:endCxn id="14" idx="0"/>
          </p:cNvCxnSpPr>
          <p:nvPr/>
        </p:nvCxnSpPr>
        <p:spPr>
          <a:xfrm>
            <a:off x="2428875" y="2438400"/>
            <a:ext cx="1066800" cy="4762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58" name="直线箭头连接符 63"/>
          <p:cNvCxnSpPr>
            <a:stCxn id="14" idx="2"/>
            <a:endCxn id="16" idx="0"/>
          </p:cNvCxnSpPr>
          <p:nvPr/>
        </p:nvCxnSpPr>
        <p:spPr>
          <a:xfrm flipH="1">
            <a:off x="3019425" y="3314700"/>
            <a:ext cx="476250" cy="6286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59" name="直线箭头连接符 64"/>
          <p:cNvCxnSpPr>
            <a:stCxn id="14" idx="2"/>
            <a:endCxn id="18" idx="0"/>
          </p:cNvCxnSpPr>
          <p:nvPr/>
        </p:nvCxnSpPr>
        <p:spPr>
          <a:xfrm>
            <a:off x="3495675" y="3314700"/>
            <a:ext cx="390525" cy="6286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60" name="直线箭头连接符 65"/>
          <p:cNvCxnSpPr>
            <a:stCxn id="14" idx="2"/>
            <a:endCxn id="20" idx="0"/>
          </p:cNvCxnSpPr>
          <p:nvPr/>
        </p:nvCxnSpPr>
        <p:spPr>
          <a:xfrm>
            <a:off x="3495675" y="3314700"/>
            <a:ext cx="1238250" cy="6286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0B9305F8-9EFE-4FE6-A17C-92623687C416}"/>
              </a:ext>
            </a:extLst>
          </p:cNvPr>
          <p:cNvSpPr>
            <a:spLocks noGrp="1"/>
          </p:cNvSpPr>
          <p:nvPr/>
        </p:nvSpPr>
        <p:spPr>
          <a:xfrm>
            <a:off x="6286500" y="2038350"/>
            <a:ext cx="952500" cy="400050"/>
          </a:xfrm>
          <a:prstGeom prst="roundRect">
            <a:avLst>
              <a:gd name="adj" fmla="val 9524"/>
            </a:avLst>
          </a:prstGeom>
          <a:solidFill>
            <a:srgbClr val="E7F1F4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82ACE3D-30BD-418C-B98F-EAF8F0E60EE9}"/>
              </a:ext>
            </a:extLst>
          </p:cNvPr>
          <p:cNvSpPr>
            <a:spLocks noGrp="1"/>
          </p:cNvSpPr>
          <p:nvPr/>
        </p:nvSpPr>
        <p:spPr>
          <a:xfrm>
            <a:off x="6343650" y="21050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Add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C4114A7C-66C5-449B-AAA3-01F7985853F0}"/>
              </a:ext>
            </a:extLst>
          </p:cNvPr>
          <p:cNvSpPr>
            <a:spLocks noGrp="1"/>
          </p:cNvSpPr>
          <p:nvPr/>
        </p:nvSpPr>
        <p:spPr>
          <a:xfrm>
            <a:off x="5715000" y="3048000"/>
            <a:ext cx="9525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D49AB73-3B8A-41D6-84EF-B49DA72BF3CE}"/>
              </a:ext>
            </a:extLst>
          </p:cNvPr>
          <p:cNvSpPr>
            <a:spLocks noGrp="1"/>
          </p:cNvSpPr>
          <p:nvPr/>
        </p:nvSpPr>
        <p:spPr>
          <a:xfrm>
            <a:off x="5772150" y="311467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Int(1)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7DFA61E9-B483-4FA1-8999-BDD336975A74}"/>
              </a:ext>
            </a:extLst>
          </p:cNvPr>
          <p:cNvSpPr>
            <a:spLocks noGrp="1"/>
          </p:cNvSpPr>
          <p:nvPr/>
        </p:nvSpPr>
        <p:spPr>
          <a:xfrm>
            <a:off x="7143750" y="3048000"/>
            <a:ext cx="876300" cy="400050"/>
          </a:xfrm>
          <a:prstGeom prst="roundRect">
            <a:avLst>
              <a:gd name="adj" fmla="val 9524"/>
            </a:avLst>
          </a:prstGeom>
          <a:solidFill>
            <a:srgbClr val="E7F1F4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10A7FE2-2982-4E42-B00F-FA2928914D78}"/>
              </a:ext>
            </a:extLst>
          </p:cNvPr>
          <p:cNvSpPr>
            <a:spLocks noGrp="1"/>
          </p:cNvSpPr>
          <p:nvPr/>
        </p:nvSpPr>
        <p:spPr>
          <a:xfrm>
            <a:off x="7200900" y="3114675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Mul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2B4F51CB-62E8-4877-A048-803E52542C7C}"/>
              </a:ext>
            </a:extLst>
          </p:cNvPr>
          <p:cNvSpPr>
            <a:spLocks noGrp="1"/>
          </p:cNvSpPr>
          <p:nvPr/>
        </p:nvSpPr>
        <p:spPr>
          <a:xfrm>
            <a:off x="6667500" y="4095750"/>
            <a:ext cx="9525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5B62E0-A50F-450A-969C-37F7C580CD1A}"/>
              </a:ext>
            </a:extLst>
          </p:cNvPr>
          <p:cNvSpPr>
            <a:spLocks noGrp="1"/>
          </p:cNvSpPr>
          <p:nvPr/>
        </p:nvSpPr>
        <p:spPr>
          <a:xfrm>
            <a:off x="6724650" y="41624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Int(2)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C7C4D14-0DA8-4780-8FB2-ACCB796ED0BB}"/>
              </a:ext>
            </a:extLst>
          </p:cNvPr>
          <p:cNvSpPr>
            <a:spLocks noGrp="1"/>
          </p:cNvSpPr>
          <p:nvPr/>
        </p:nvSpPr>
        <p:spPr>
          <a:xfrm>
            <a:off x="7791450" y="4095750"/>
            <a:ext cx="952500" cy="4000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738A4D4-BB65-475D-BBD8-EFEC93D7D2A2}"/>
              </a:ext>
            </a:extLst>
          </p:cNvPr>
          <p:cNvSpPr>
            <a:spLocks noGrp="1"/>
          </p:cNvSpPr>
          <p:nvPr/>
        </p:nvSpPr>
        <p:spPr>
          <a:xfrm>
            <a:off x="7848600" y="4162425"/>
            <a:ext cx="838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Int(3)</a:t>
            </a:r>
          </a:p>
        </p:txBody>
      </p:sp>
      <p:cxnSp>
        <p:nvCxnSpPr>
          <p:cNvPr id="1871" name="直线箭头连接符 76"/>
          <p:cNvCxnSpPr>
            <a:stCxn id="28" idx="2"/>
            <a:endCxn id="30" idx="0"/>
          </p:cNvCxnSpPr>
          <p:nvPr/>
        </p:nvCxnSpPr>
        <p:spPr>
          <a:xfrm flipH="1">
            <a:off x="6191250" y="2438400"/>
            <a:ext cx="571500" cy="60960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72" name="直线箭头连接符 77"/>
          <p:cNvCxnSpPr>
            <a:stCxn id="28" idx="2"/>
            <a:endCxn id="32" idx="0"/>
          </p:cNvCxnSpPr>
          <p:nvPr/>
        </p:nvCxnSpPr>
        <p:spPr>
          <a:xfrm>
            <a:off x="6762750" y="2438400"/>
            <a:ext cx="819150" cy="60960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73" name="直线箭头连接符 78"/>
          <p:cNvCxnSpPr>
            <a:stCxn id="32" idx="2"/>
            <a:endCxn id="34" idx="0"/>
          </p:cNvCxnSpPr>
          <p:nvPr/>
        </p:nvCxnSpPr>
        <p:spPr>
          <a:xfrm flipH="1">
            <a:off x="7143750" y="3448050"/>
            <a:ext cx="438150" cy="64770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1874" name="直线箭头连接符 79"/>
          <p:cNvCxnSpPr>
            <a:stCxn id="32" idx="2"/>
            <a:endCxn id="36" idx="0"/>
          </p:cNvCxnSpPr>
          <p:nvPr/>
        </p:nvCxnSpPr>
        <p:spPr>
          <a:xfrm>
            <a:off x="7581900" y="3448050"/>
            <a:ext cx="685800" cy="64770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AST 通常删除语法脚手架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3D7D1C8-AE23-AA48-DF65-C742588DBE47}" type="slidenum">
              <a:t>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DCF95E-C7FE-4661-B86F-BDE0210BECC7}"/>
              </a:ext>
            </a:extLst>
          </p:cNvPr>
          <p:cNvSpPr>
            <a:spLocks noGrp="1"/>
          </p:cNvSpPr>
          <p:nvPr/>
        </p:nvSpPr>
        <p:spPr>
          <a:xfrm>
            <a:off x="876300" y="15049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CC1299F-9C36-4CA3-A05F-1ED3166BAA89}"/>
              </a:ext>
            </a:extLst>
          </p:cNvPr>
          <p:cNvSpPr>
            <a:spLocks noGrp="1"/>
          </p:cNvSpPr>
          <p:nvPr/>
        </p:nvSpPr>
        <p:spPr>
          <a:xfrm>
            <a:off x="1143000" y="1504950"/>
            <a:ext cx="6972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只用于组织文法层次的非终结符：expr / term / factor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BF67D4-75A1-4162-BE37-7CEE83B949A4}"/>
              </a:ext>
            </a:extLst>
          </p:cNvPr>
          <p:cNvSpPr>
            <a:spLocks noGrp="1"/>
          </p:cNvSpPr>
          <p:nvPr/>
        </p:nvSpPr>
        <p:spPr>
          <a:xfrm>
            <a:off x="876300" y="21717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88DBEB-0D28-4634-A9FE-D03B02678239}"/>
              </a:ext>
            </a:extLst>
          </p:cNvPr>
          <p:cNvSpPr>
            <a:spLocks noGrp="1"/>
          </p:cNvSpPr>
          <p:nvPr/>
        </p:nvSpPr>
        <p:spPr>
          <a:xfrm>
            <a:off x="1143000" y="2171700"/>
            <a:ext cx="6972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不改变结构含义的标点：分号、逗号、部分括号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B7B5F5-566F-4467-880C-EF1C9AC2899A}"/>
              </a:ext>
            </a:extLst>
          </p:cNvPr>
          <p:cNvSpPr>
            <a:spLocks noGrp="1"/>
          </p:cNvSpPr>
          <p:nvPr/>
        </p:nvSpPr>
        <p:spPr>
          <a:xfrm>
            <a:off x="876300" y="28384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D9C854-74BE-4292-BDBF-E9A3A8C23AF6}"/>
              </a:ext>
            </a:extLst>
          </p:cNvPr>
          <p:cNvSpPr>
            <a:spLocks noGrp="1"/>
          </p:cNvSpPr>
          <p:nvPr/>
        </p:nvSpPr>
        <p:spPr>
          <a:xfrm>
            <a:off x="1143000" y="2838450"/>
            <a:ext cx="6972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500" b="0">
                <a:solidFill>
                  <a:srgbClr val="242424"/>
                </a:solidFill>
              </a:defRPr>
            </a:pPr>
            <a:r>
              <a:rPr sz="1500"/>
              <a:t>文法改写产生的辅助节点：expr_tail、args_tail 等</a:t>
            </a:r>
            <a:endParaRPr sz="1500" b="0">
              <a:solidFill>
                <a:srgbClr val="24242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F6CB91-0D70-4020-8727-F71E310E6D42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E64F10-20BD-4649-9222-72B7FA0F22D9}"/>
              </a:ext>
            </a:extLst>
          </p:cNvPr>
          <p:cNvSpPr>
            <a:spLocks noGrp="1"/>
          </p:cNvSpPr>
          <p:nvPr/>
        </p:nvSpPr>
        <p:spPr>
          <a:xfrm>
            <a:off x="1143000" y="3505200"/>
            <a:ext cx="6972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242424"/>
                </a:solidFill>
              </a:defRPr>
            </a:pPr>
            <a:r>
              <a:rPr sz="1500" b="0">
                <a:solidFill>
                  <a:srgbClr val="242424"/>
                </a:solidFill>
              </a:rPr>
              <a:t>已经体现在树形结构中的优先级与结合性标记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A5BFA9-22FB-49A1-B85B-06236220C1AB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AB5A1F-0B3E-45A2-B037-3691A53D81A6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“抽象” 指的就是抽象掉后续阶段不需要重复解释的信息。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AST 必须保留后续阶段仍需回答的问题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A58DA2A-B818-18A9-29C1-B697728D5BCE}" type="slidenum">
              <a:t>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CABB89-2141-4B48-A715-47004770EE9E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7658100" cy="62865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DF0BAD-0358-4161-AB33-EBAA1028237D}"/>
              </a:ext>
            </a:extLst>
          </p:cNvPr>
          <p:cNvSpPr>
            <a:spLocks noGrp="1"/>
          </p:cNvSpPr>
          <p:nvPr/>
        </p:nvSpPr>
        <p:spPr>
          <a:xfrm>
            <a:off x="914400" y="15525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节点种类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8FEF6D9-56A7-429D-AAA9-862578486C39}"/>
              </a:ext>
            </a:extLst>
          </p:cNvPr>
          <p:cNvSpPr>
            <a:spLocks noGrp="1"/>
          </p:cNvSpPr>
          <p:nvPr/>
        </p:nvSpPr>
        <p:spPr>
          <a:xfrm>
            <a:off x="2476500" y="1562100"/>
            <a:ext cx="563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这是调用、赋值、if，还是二元运算？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054F6A-0A17-4874-B350-B2CC6D951F21}"/>
              </a:ext>
            </a:extLst>
          </p:cNvPr>
          <p:cNvSpPr>
            <a:spLocks noGrp="1"/>
          </p:cNvSpPr>
          <p:nvPr/>
        </p:nvSpPr>
        <p:spPr>
          <a:xfrm>
            <a:off x="742950" y="2228850"/>
            <a:ext cx="7658100" cy="62865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FB965F-59B1-4A62-8A30-B27C239F01D3}"/>
              </a:ext>
            </a:extLst>
          </p:cNvPr>
          <p:cNvSpPr>
            <a:spLocks noGrp="1"/>
          </p:cNvSpPr>
          <p:nvPr/>
        </p:nvSpPr>
        <p:spPr>
          <a:xfrm>
            <a:off x="914400" y="23526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子节点关系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DC6AB8-4146-422E-9117-2D8CD4D36481}"/>
              </a:ext>
            </a:extLst>
          </p:cNvPr>
          <p:cNvSpPr>
            <a:spLocks noGrp="1"/>
          </p:cNvSpPr>
          <p:nvPr/>
        </p:nvSpPr>
        <p:spPr>
          <a:xfrm>
            <a:off x="2476500" y="2362200"/>
            <a:ext cx="563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对于IF：condition、then、else 分别是谁？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1923BC-4F20-40EB-A6EE-CBC8C4956B5B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7658100" cy="628650"/>
          </a:xfrm>
          <a:prstGeom prst="rect">
            <a:avLst/>
          </a:prstGeom>
          <a:solidFill>
            <a:srgbClr val="F7F3DF"/>
          </a:solidFill>
          <a:ln w="9525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74FCCA-3706-42C8-A862-39BA850EA4D1}"/>
              </a:ext>
            </a:extLst>
          </p:cNvPr>
          <p:cNvSpPr>
            <a:spLocks noGrp="1"/>
          </p:cNvSpPr>
          <p:nvPr/>
        </p:nvSpPr>
        <p:spPr>
          <a:xfrm>
            <a:off x="914400" y="31527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8D7B28"/>
                </a:solidFill>
              </a:defRPr>
            </a:pPr>
            <a:r>
              <a:rPr sz="1500" b="1">
                <a:solidFill>
                  <a:srgbClr val="8D7B28"/>
                </a:solidFill>
              </a:rPr>
              <a:t>Token 携带值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13DA7A7-4A47-4AEA-A309-2564789E3552}"/>
              </a:ext>
            </a:extLst>
          </p:cNvPr>
          <p:cNvSpPr>
            <a:spLocks noGrp="1"/>
          </p:cNvSpPr>
          <p:nvPr/>
        </p:nvSpPr>
        <p:spPr>
          <a:xfrm>
            <a:off x="2476500" y="3162300"/>
            <a:ext cx="563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标识符名称、字面量值、运算符种类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298A18-B3D5-4BF8-85B3-CAEFC2B3BC08}"/>
              </a:ext>
            </a:extLst>
          </p:cNvPr>
          <p:cNvSpPr>
            <a:spLocks noGrp="1"/>
          </p:cNvSpPr>
          <p:nvPr/>
        </p:nvSpPr>
        <p:spPr>
          <a:xfrm>
            <a:off x="742950" y="3829050"/>
            <a:ext cx="7658100" cy="628650"/>
          </a:xfrm>
          <a:prstGeom prst="rect">
            <a:avLst/>
          </a:prstGeom>
          <a:solidFill>
            <a:srgbClr val="F4F4F4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B435F2-7B53-4AFA-9366-8D408750E5D2}"/>
              </a:ext>
            </a:extLst>
          </p:cNvPr>
          <p:cNvSpPr>
            <a:spLocks noGrp="1"/>
          </p:cNvSpPr>
          <p:nvPr/>
        </p:nvSpPr>
        <p:spPr>
          <a:xfrm>
            <a:off x="914400" y="3952875"/>
            <a:ext cx="142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6A868F"/>
                </a:solidFill>
              </a:defRPr>
            </a:pPr>
            <a:r>
              <a:rPr sz="1500" b="1">
                <a:solidFill>
                  <a:srgbClr val="6A868F"/>
                </a:solidFill>
              </a:rPr>
              <a:t>源码位置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F6F570-8EC2-4D40-AD78-F7DB2893E0D0}"/>
              </a:ext>
            </a:extLst>
          </p:cNvPr>
          <p:cNvSpPr>
            <a:spLocks noGrp="1"/>
          </p:cNvSpPr>
          <p:nvPr/>
        </p:nvSpPr>
        <p:spPr>
          <a:xfrm>
            <a:off x="2476500" y="3962400"/>
            <a:ext cx="563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错误应当指回哪一段源程序？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Parse Tree 与 AST 面向不同“消费者”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88657AE-30A1-5A7A-6A7F-315D84436430}" type="slidenum">
              <a:t>10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92095F-EAF1-4B2F-A214-AEDE94FDC8AA}"/>
              </a:ext>
            </a:extLst>
          </p:cNvPr>
          <p:cNvSpPr>
            <a:spLocks noGrp="1"/>
          </p:cNvSpPr>
          <p:nvPr/>
        </p:nvSpPr>
        <p:spPr>
          <a:xfrm>
            <a:off x="571500" y="14668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保留完整 Parse Tree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E67E0D-DCDC-47A1-AFDB-FC7693D93BD5}"/>
              </a:ext>
            </a:extLst>
          </p:cNvPr>
          <p:cNvSpPr>
            <a:spLocks noGrp="1"/>
          </p:cNvSpPr>
          <p:nvPr/>
        </p:nvSpPr>
        <p:spPr>
          <a:xfrm>
            <a:off x="4762500" y="14668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使用编译器 AST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676B3D-A1AE-43AB-8F8F-914FA1BF60DF}"/>
              </a:ext>
            </a:extLst>
          </p:cNvPr>
          <p:cNvSpPr>
            <a:spLocks noGrp="1"/>
          </p:cNvSpPr>
          <p:nvPr/>
        </p:nvSpPr>
        <p:spPr>
          <a:xfrm>
            <a:off x="571500" y="1924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344F70-840A-4679-8972-8BB113CF7E5D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 b="0">
                <a:solidFill>
                  <a:srgbClr val="242424"/>
                </a:solidFill>
              </a:defRPr>
            </a:pPr>
            <a:r>
              <a:rPr sz="1350"/>
              <a:t>代码格式化：保留注释与完整语法元素</a:t>
            </a:r>
            <a:endParaRPr sz="1350" b="0">
              <a:solidFill>
                <a:srgbClr val="242424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C276AB-14B6-46DA-B4FA-5E1DA3E39439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072F25-1870-4DE0-826B-FDC91F02DAA0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 b="0">
                <a:solidFill>
                  <a:srgbClr val="242424"/>
                </a:solidFill>
              </a:defRPr>
            </a:pPr>
            <a:r>
              <a:rPr sz="1350"/>
              <a:t>IDE 编辑：容忍尚未写完的源码</a:t>
            </a:r>
            <a:endParaRPr sz="1350" b="0">
              <a:solidFill>
                <a:srgbClr val="242424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84AEC0-C021-4ECD-89C3-85BBCACEE266}"/>
              </a:ext>
            </a:extLst>
          </p:cNvPr>
          <p:cNvSpPr>
            <a:spLocks noGrp="1"/>
          </p:cNvSpPr>
          <p:nvPr/>
        </p:nvSpPr>
        <p:spPr>
          <a:xfrm>
            <a:off x="571500" y="28765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3C6BF5-2246-4DAA-BDF5-7E5253C7BCF4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buNone/>
              <a:defRPr sz="1350" b="0">
                <a:solidFill>
                  <a:srgbClr val="242424"/>
                </a:solidFill>
              </a:defRPr>
            </a:pPr>
            <a:r>
              <a:rPr sz="1350"/>
              <a:t>源码重构：尽量无损地保留原文细节</a:t>
            </a:r>
            <a:endParaRPr sz="1350" b="0">
              <a:solidFill>
                <a:srgbClr val="242424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6C4F74-6872-45DB-AE0E-BF61AB38710E}"/>
              </a:ext>
            </a:extLst>
          </p:cNvPr>
          <p:cNvSpPr>
            <a:spLocks noGrp="1"/>
          </p:cNvSpPr>
          <p:nvPr/>
        </p:nvSpPr>
        <p:spPr>
          <a:xfrm>
            <a:off x="4762500" y="1924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2A15AA-F947-4146-A26C-3F298258BAA9}"/>
              </a:ext>
            </a:extLst>
          </p:cNvPr>
          <p:cNvSpPr>
            <a:spLocks noGrp="1"/>
          </p:cNvSpPr>
          <p:nvPr/>
        </p:nvSpPr>
        <p:spPr>
          <a:xfrm>
            <a:off x="5029200" y="19240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名字解析：关注声明和引用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86F143-09B3-4909-BF19-793AE7209D85}"/>
              </a:ext>
            </a:extLst>
          </p:cNvPr>
          <p:cNvSpPr>
            <a:spLocks noGrp="1"/>
          </p:cNvSpPr>
          <p:nvPr/>
        </p:nvSpPr>
        <p:spPr>
          <a:xfrm>
            <a:off x="4762500" y="24003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8E1198-2E4F-42B5-ADE1-B18A8388D225}"/>
              </a:ext>
            </a:extLst>
          </p:cNvPr>
          <p:cNvSpPr>
            <a:spLocks noGrp="1"/>
          </p:cNvSpPr>
          <p:nvPr/>
        </p:nvSpPr>
        <p:spPr>
          <a:xfrm>
            <a:off x="5029200" y="24003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类型检查：关注表达式和类型结构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AED57E-8727-43B2-B524-E5032914820F}"/>
              </a:ext>
            </a:extLst>
          </p:cNvPr>
          <p:cNvSpPr>
            <a:spLocks noGrp="1"/>
          </p:cNvSpPr>
          <p:nvPr/>
        </p:nvSpPr>
        <p:spPr>
          <a:xfrm>
            <a:off x="4762500" y="28765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F600473-3F35-49F5-8F80-3A22ED0991FB}"/>
              </a:ext>
            </a:extLst>
          </p:cNvPr>
          <p:cNvSpPr>
            <a:spLocks noGrp="1"/>
          </p:cNvSpPr>
          <p:nvPr/>
        </p:nvSpPr>
        <p:spPr>
          <a:xfrm>
            <a:off x="5029200" y="28765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Lowering：关注控制流与求值关系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69F165D-7D96-4C06-8055-961DA255478E}"/>
              </a:ext>
            </a:extLst>
          </p:cNvPr>
          <p:cNvSpPr>
            <a:spLocks noGrp="1"/>
          </p:cNvSpPr>
          <p:nvPr/>
        </p:nvSpPr>
        <p:spPr>
          <a:xfrm>
            <a:off x="666750" y="46863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221B8EA-28BA-4553-86C9-B17833066F1F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真实工具可以同时维护 Parse Tree 与 AST；选择取决于后续任务。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5950"/>
          </a:bodyPr>
          <a:lstStyle/>
          <a:p>
            <a:r>
              <a:rPr>
                <a:latin typeface="Arial"/>
                <a:ea typeface="Arial"/>
                <a:cs typeface="Arial"/>
              </a:rPr>
              <a:t>AST的节点设计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2FD04-0E4E-417B-BC59-5D2DFB36F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作为一种“表示”，AST也是有设计空间的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B7BEEEC-A170-5376-2B6E-CB54687B0CB1}" type="slidenum"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这些 AST 节点可以任意组合吗？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0394428-F1DC-E5F6-DB0C-7DE31F3D8A23}" type="slidenum">
              <a:t>12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9B76B8E-36A4-4C01-8085-27626B5AD8F6}"/>
              </a:ext>
            </a:extLst>
          </p:cNvPr>
          <p:cNvSpPr>
            <a:spLocks noGrp="1"/>
          </p:cNvSpPr>
          <p:nvPr/>
        </p:nvSpPr>
        <p:spPr>
          <a:xfrm>
            <a:off x="628650" y="1409700"/>
            <a:ext cx="3714750" cy="30099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0C9DA8-A8F5-4CD3-BF16-3A22AEF85D95}"/>
              </a:ext>
            </a:extLst>
          </p:cNvPr>
          <p:cNvSpPr>
            <a:spLocks noGrp="1"/>
          </p:cNvSpPr>
          <p:nvPr/>
        </p:nvSpPr>
        <p:spPr>
          <a:xfrm>
            <a:off x="781050" y="1533525"/>
            <a:ext cx="34099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int adjust(int x) {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    int y = x + 1;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    if (y &lt; 10)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        return y;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    return y * 2;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9F9782-FB71-4B1A-915E-D794D34C0F91}"/>
              </a:ext>
            </a:extLst>
          </p:cNvPr>
          <p:cNvSpPr>
            <a:spLocks noGrp="1"/>
          </p:cNvSpPr>
          <p:nvPr/>
        </p:nvSpPr>
        <p:spPr>
          <a:xfrm>
            <a:off x="5000625" y="14859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节点之间有固定的角色关系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BDD6F8-B7F9-431A-AEE0-CDAF8F289522}"/>
              </a:ext>
            </a:extLst>
          </p:cNvPr>
          <p:cNvSpPr>
            <a:spLocks noGrp="1"/>
          </p:cNvSpPr>
          <p:nvPr/>
        </p:nvSpPr>
        <p:spPr>
          <a:xfrm>
            <a:off x="4953000" y="195262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F911E4C-7028-42FE-AC16-F64BFE951205}"/>
              </a:ext>
            </a:extLst>
          </p:cNvPr>
          <p:cNvSpPr>
            <a:spLocks noGrp="1"/>
          </p:cNvSpPr>
          <p:nvPr/>
        </p:nvSpPr>
        <p:spPr>
          <a:xfrm>
            <a:off x="5219700" y="1952625"/>
            <a:ext cx="3257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函数声明：包含参数、返回类型和函数体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B6FD2B-B016-43D8-94D9-BC4DB30124EC}"/>
              </a:ext>
            </a:extLst>
          </p:cNvPr>
          <p:cNvSpPr>
            <a:spLocks noGrp="1"/>
          </p:cNvSpPr>
          <p:nvPr/>
        </p:nvSpPr>
        <p:spPr>
          <a:xfrm>
            <a:off x="4953000" y="250507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75D6C7-F57C-4A62-9294-A0230B7879D3}"/>
              </a:ext>
            </a:extLst>
          </p:cNvPr>
          <p:cNvSpPr>
            <a:spLocks noGrp="1"/>
          </p:cNvSpPr>
          <p:nvPr/>
        </p:nvSpPr>
        <p:spPr>
          <a:xfrm>
            <a:off x="5219700" y="2505075"/>
            <a:ext cx="3257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>
                <a:solidFill>
                  <a:srgbClr val="242424"/>
                </a:solidFill>
              </a:rPr>
              <a:t>函数体：由若干语句组成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DE9647-9DC3-465B-92D0-7BD8220A4893}"/>
              </a:ext>
            </a:extLst>
          </p:cNvPr>
          <p:cNvSpPr>
            <a:spLocks noGrp="1"/>
          </p:cNvSpPr>
          <p:nvPr/>
        </p:nvSpPr>
        <p:spPr>
          <a:xfrm>
            <a:off x="4953000" y="305752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8E8D96-FF48-48B8-8A7B-E8FD6200E643}"/>
              </a:ext>
            </a:extLst>
          </p:cNvPr>
          <p:cNvSpPr>
            <a:spLocks noGrp="1"/>
          </p:cNvSpPr>
          <p:nvPr/>
        </p:nvSpPr>
        <p:spPr>
          <a:xfrm>
            <a:off x="5219700" y="3057525"/>
            <a:ext cx="3257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if 语句：需要条件表达式和分支语句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D7435-4167-4056-B11F-850B4AEBA015}"/>
              </a:ext>
            </a:extLst>
          </p:cNvPr>
          <p:cNvSpPr>
            <a:spLocks noGrp="1"/>
          </p:cNvSpPr>
          <p:nvPr/>
        </p:nvSpPr>
        <p:spPr>
          <a:xfrm>
            <a:off x="4953000" y="360997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A88D56-AA95-4BB0-A3CB-9727CCAEBA67}"/>
              </a:ext>
            </a:extLst>
          </p:cNvPr>
          <p:cNvSpPr>
            <a:spLocks noGrp="1"/>
          </p:cNvSpPr>
          <p:nvPr/>
        </p:nvSpPr>
        <p:spPr>
          <a:xfrm>
            <a:off x="5219700" y="3609975"/>
            <a:ext cx="3257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变量声明：需要名称、类型和初始化表达式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796068D-A8E4-48EB-B0D8-63E5AF077AEE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4E4561-F549-44E9-B20F-F8F612654414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不同节点承担不同角色，能够出现的位置也不同。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基本思路：用节点类别表示这些角色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DB16885-0D3F-A391-B669-3211DB3B26E8}" type="slidenum">
              <a:t>13</a:t>
            </a:fld>
            <a:endParaRPr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0A9991A8-A6F9-4BCE-990C-5EF09C19CD63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61925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5FDD85-65E0-41D5-8BAD-DACB571DDD38}"/>
              </a:ext>
            </a:extLst>
          </p:cNvPr>
          <p:cNvSpPr>
            <a:spLocks noGrp="1"/>
          </p:cNvSpPr>
          <p:nvPr/>
        </p:nvSpPr>
        <p:spPr>
          <a:xfrm>
            <a:off x="771525" y="1590675"/>
            <a:ext cx="150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Decl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44C2FB-A26E-487A-9BD4-9BBBC8230A98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声明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C9DB814-A492-4DF5-B452-850B83C96053}"/>
              </a:ext>
            </a:extLst>
          </p:cNvPr>
          <p:cNvSpPr>
            <a:spLocks noGrp="1"/>
          </p:cNvSpPr>
          <p:nvPr/>
        </p:nvSpPr>
        <p:spPr>
          <a:xfrm>
            <a:off x="2714625" y="1524000"/>
            <a:ext cx="161925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FBC8F3-8B5A-4D3E-8E85-9FA6E7417A89}"/>
              </a:ext>
            </a:extLst>
          </p:cNvPr>
          <p:cNvSpPr>
            <a:spLocks noGrp="1"/>
          </p:cNvSpPr>
          <p:nvPr/>
        </p:nvSpPr>
        <p:spPr>
          <a:xfrm>
            <a:off x="2771775" y="1590675"/>
            <a:ext cx="150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Stmt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96569E-1455-45D0-B443-E535D2726BB0}"/>
              </a:ext>
            </a:extLst>
          </p:cNvPr>
          <p:cNvSpPr>
            <a:spLocks noGrp="1"/>
          </p:cNvSpPr>
          <p:nvPr/>
        </p:nvSpPr>
        <p:spPr>
          <a:xfrm>
            <a:off x="2714625" y="2095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语句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446C5CE5-5CA3-4E40-AD5B-9062899F7D39}"/>
              </a:ext>
            </a:extLst>
          </p:cNvPr>
          <p:cNvSpPr>
            <a:spLocks noGrp="1"/>
          </p:cNvSpPr>
          <p:nvPr/>
        </p:nvSpPr>
        <p:spPr>
          <a:xfrm>
            <a:off x="4714875" y="1524000"/>
            <a:ext cx="161925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D7B2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AA90DC-0E59-40E2-AB18-80BEFD94A492}"/>
              </a:ext>
            </a:extLst>
          </p:cNvPr>
          <p:cNvSpPr>
            <a:spLocks noGrp="1"/>
          </p:cNvSpPr>
          <p:nvPr/>
        </p:nvSpPr>
        <p:spPr>
          <a:xfrm>
            <a:off x="4772025" y="1590675"/>
            <a:ext cx="150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8D7B28"/>
                </a:solidFill>
              </a:defRPr>
            </a:pPr>
            <a:r>
              <a:rPr sz="1500" b="1">
                <a:solidFill>
                  <a:srgbClr val="8D7B28"/>
                </a:solidFill>
              </a:rPr>
              <a:t>Expr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60B2D3-ED8C-4071-BF7E-C5883802FDB2}"/>
              </a:ext>
            </a:extLst>
          </p:cNvPr>
          <p:cNvSpPr>
            <a:spLocks noGrp="1"/>
          </p:cNvSpPr>
          <p:nvPr/>
        </p:nvSpPr>
        <p:spPr>
          <a:xfrm>
            <a:off x="4714875" y="2095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8D7B28"/>
                </a:solidFill>
              </a:defRPr>
            </a:pPr>
            <a:r>
              <a:rPr sz="1275" b="1">
                <a:solidFill>
                  <a:srgbClr val="8D7B28"/>
                </a:solidFill>
              </a:rPr>
              <a:t>表达式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06ECD638-94A5-475C-816E-7AF355CA12DC}"/>
              </a:ext>
            </a:extLst>
          </p:cNvPr>
          <p:cNvSpPr>
            <a:spLocks noGrp="1"/>
          </p:cNvSpPr>
          <p:nvPr/>
        </p:nvSpPr>
        <p:spPr>
          <a:xfrm>
            <a:off x="6715125" y="1524000"/>
            <a:ext cx="1619250" cy="476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994CF22-C422-4579-B20C-18D4ECA7465E}"/>
              </a:ext>
            </a:extLst>
          </p:cNvPr>
          <p:cNvSpPr>
            <a:spLocks noGrp="1"/>
          </p:cNvSpPr>
          <p:nvPr/>
        </p:nvSpPr>
        <p:spPr>
          <a:xfrm>
            <a:off x="6772275" y="1590675"/>
            <a:ext cx="1504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6A868F"/>
                </a:solidFill>
              </a:defRPr>
            </a:pPr>
            <a:r>
              <a:rPr sz="1500" b="1">
                <a:solidFill>
                  <a:srgbClr val="6A868F"/>
                </a:solidFill>
              </a:rPr>
              <a:t>TypeSyntax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882D82A-AF7A-435D-94A9-BA737C057E51}"/>
              </a:ext>
            </a:extLst>
          </p:cNvPr>
          <p:cNvSpPr>
            <a:spLocks noGrp="1"/>
          </p:cNvSpPr>
          <p:nvPr/>
        </p:nvSpPr>
        <p:spPr>
          <a:xfrm>
            <a:off x="6715125" y="20955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类型语法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78F5985-F0AF-4BF9-91AC-82E36BF24F9A}"/>
              </a:ext>
            </a:extLst>
          </p:cNvPr>
          <p:cNvSpPr>
            <a:spLocks noGrp="1"/>
          </p:cNvSpPr>
          <p:nvPr/>
        </p:nvSpPr>
        <p:spPr>
          <a:xfrm>
            <a:off x="809625" y="2686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600433-9BAC-4803-8963-8A44887C6EAD}"/>
              </a:ext>
            </a:extLst>
          </p:cNvPr>
          <p:cNvSpPr>
            <a:spLocks noGrp="1"/>
          </p:cNvSpPr>
          <p:nvPr/>
        </p:nvSpPr>
        <p:spPr>
          <a:xfrm>
            <a:off x="1076325" y="26860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FunctionDecl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7395F9-3889-4B47-910C-06915AAFA017}"/>
              </a:ext>
            </a:extLst>
          </p:cNvPr>
          <p:cNvSpPr>
            <a:spLocks noGrp="1"/>
          </p:cNvSpPr>
          <p:nvPr/>
        </p:nvSpPr>
        <p:spPr>
          <a:xfrm>
            <a:off x="809625" y="3181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9DE1F6-99F6-4080-B107-22C04DE8C5F3}"/>
              </a:ext>
            </a:extLst>
          </p:cNvPr>
          <p:cNvSpPr>
            <a:spLocks noGrp="1"/>
          </p:cNvSpPr>
          <p:nvPr/>
        </p:nvSpPr>
        <p:spPr>
          <a:xfrm>
            <a:off x="1076325" y="3181350"/>
            <a:ext cx="1162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VarDecl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F36D17-7160-46D2-B6AA-53127059D4F7}"/>
              </a:ext>
            </a:extLst>
          </p:cNvPr>
          <p:cNvSpPr>
            <a:spLocks noGrp="1"/>
          </p:cNvSpPr>
          <p:nvPr/>
        </p:nvSpPr>
        <p:spPr>
          <a:xfrm>
            <a:off x="2809875" y="2686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6DB2D6-2CD2-4945-8265-A9AF81BE2743}"/>
              </a:ext>
            </a:extLst>
          </p:cNvPr>
          <p:cNvSpPr>
            <a:spLocks noGrp="1"/>
          </p:cNvSpPr>
          <p:nvPr/>
        </p:nvSpPr>
        <p:spPr>
          <a:xfrm>
            <a:off x="3076575" y="268605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BlockStmt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A56B8-0E4A-4BE8-883E-F9CC2A961916}"/>
              </a:ext>
            </a:extLst>
          </p:cNvPr>
          <p:cNvSpPr>
            <a:spLocks noGrp="1"/>
          </p:cNvSpPr>
          <p:nvPr/>
        </p:nvSpPr>
        <p:spPr>
          <a:xfrm>
            <a:off x="2809875" y="3181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F4AEE7-C1D1-41FD-AE71-F025110DA39F}"/>
              </a:ext>
            </a:extLst>
          </p:cNvPr>
          <p:cNvSpPr>
            <a:spLocks noGrp="1"/>
          </p:cNvSpPr>
          <p:nvPr/>
        </p:nvSpPr>
        <p:spPr>
          <a:xfrm>
            <a:off x="3076575" y="318135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IfStmt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EEEF83-304A-4895-8215-44E67D7A1D7F}"/>
              </a:ext>
            </a:extLst>
          </p:cNvPr>
          <p:cNvSpPr>
            <a:spLocks noGrp="1"/>
          </p:cNvSpPr>
          <p:nvPr/>
        </p:nvSpPr>
        <p:spPr>
          <a:xfrm>
            <a:off x="2809875" y="36766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056A2B-8848-435D-82FC-A831A9EF50D2}"/>
              </a:ext>
            </a:extLst>
          </p:cNvPr>
          <p:cNvSpPr>
            <a:spLocks noGrp="1"/>
          </p:cNvSpPr>
          <p:nvPr/>
        </p:nvSpPr>
        <p:spPr>
          <a:xfrm>
            <a:off x="3076575" y="367665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ReturnStmt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A84187A-0CC5-476F-8931-BA324B4A4DDB}"/>
              </a:ext>
            </a:extLst>
          </p:cNvPr>
          <p:cNvSpPr>
            <a:spLocks noGrp="1"/>
          </p:cNvSpPr>
          <p:nvPr/>
        </p:nvSpPr>
        <p:spPr>
          <a:xfrm>
            <a:off x="4810125" y="2686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8D7B28"/>
                </a:solidFill>
              </a:defRPr>
            </a:pPr>
            <a:r>
              <a:rPr sz="1275" b="1">
                <a:solidFill>
                  <a:srgbClr val="8D7B28"/>
                </a:solidFill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09EF91C-AA02-45BD-9514-F164E0BC539E}"/>
              </a:ext>
            </a:extLst>
          </p:cNvPr>
          <p:cNvSpPr>
            <a:spLocks noGrp="1"/>
          </p:cNvSpPr>
          <p:nvPr/>
        </p:nvSpPr>
        <p:spPr>
          <a:xfrm>
            <a:off x="5076825" y="2686050"/>
            <a:ext cx="1352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BinaryExpr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2D639D8-D135-497A-A6A5-94457A71E0DF}"/>
              </a:ext>
            </a:extLst>
          </p:cNvPr>
          <p:cNvSpPr>
            <a:spLocks noGrp="1"/>
          </p:cNvSpPr>
          <p:nvPr/>
        </p:nvSpPr>
        <p:spPr>
          <a:xfrm>
            <a:off x="4810125" y="3181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8D7B28"/>
                </a:solidFill>
              </a:defRPr>
            </a:pPr>
            <a:r>
              <a:rPr sz="1275" b="1">
                <a:solidFill>
                  <a:srgbClr val="8D7B28"/>
                </a:solidFill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0909D0C-774B-443F-98C9-1CCD63058192}"/>
              </a:ext>
            </a:extLst>
          </p:cNvPr>
          <p:cNvSpPr>
            <a:spLocks noGrp="1"/>
          </p:cNvSpPr>
          <p:nvPr/>
        </p:nvSpPr>
        <p:spPr>
          <a:xfrm>
            <a:off x="5076825" y="3181350"/>
            <a:ext cx="1352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CallExpr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F9C4FF-EC55-4C8F-8713-7E22D879A2E0}"/>
              </a:ext>
            </a:extLst>
          </p:cNvPr>
          <p:cNvSpPr>
            <a:spLocks noGrp="1"/>
          </p:cNvSpPr>
          <p:nvPr/>
        </p:nvSpPr>
        <p:spPr>
          <a:xfrm>
            <a:off x="4810125" y="36766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8D7B28"/>
                </a:solidFill>
              </a:defRPr>
            </a:pPr>
            <a:r>
              <a:rPr sz="1275" b="1">
                <a:solidFill>
                  <a:srgbClr val="8D7B28"/>
                </a:solidFill>
              </a:rPr>
              <a:t>•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575A3DC-E82F-4728-9B92-10480A95CD37}"/>
              </a:ext>
            </a:extLst>
          </p:cNvPr>
          <p:cNvSpPr>
            <a:spLocks noGrp="1"/>
          </p:cNvSpPr>
          <p:nvPr/>
        </p:nvSpPr>
        <p:spPr>
          <a:xfrm>
            <a:off x="5076825" y="3676650"/>
            <a:ext cx="13525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NameExpr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12726F-DCD5-408F-AF51-215201A43AB3}"/>
              </a:ext>
            </a:extLst>
          </p:cNvPr>
          <p:cNvSpPr>
            <a:spLocks noGrp="1"/>
          </p:cNvSpPr>
          <p:nvPr/>
        </p:nvSpPr>
        <p:spPr>
          <a:xfrm>
            <a:off x="6810375" y="2686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•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D44E560-CBF0-4E23-BCA4-558158B2AB3C}"/>
              </a:ext>
            </a:extLst>
          </p:cNvPr>
          <p:cNvSpPr>
            <a:spLocks noGrp="1"/>
          </p:cNvSpPr>
          <p:nvPr/>
        </p:nvSpPr>
        <p:spPr>
          <a:xfrm>
            <a:off x="7077075" y="268605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NamedType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76854D0-3865-4A71-8546-4A0F1B3C4E18}"/>
              </a:ext>
            </a:extLst>
          </p:cNvPr>
          <p:cNvSpPr>
            <a:spLocks noGrp="1"/>
          </p:cNvSpPr>
          <p:nvPr/>
        </p:nvSpPr>
        <p:spPr>
          <a:xfrm>
            <a:off x="6810375" y="3181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•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F5F3C3D-9F7C-45D7-978F-5C2F8EEBD7EB}"/>
              </a:ext>
            </a:extLst>
          </p:cNvPr>
          <p:cNvSpPr>
            <a:spLocks noGrp="1"/>
          </p:cNvSpPr>
          <p:nvPr/>
        </p:nvSpPr>
        <p:spPr>
          <a:xfrm>
            <a:off x="7077075" y="3181350"/>
            <a:ext cx="1257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ArrayType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2DCEF5-E62B-4AD7-91D2-466E4BA568B0}"/>
              </a:ext>
            </a:extLst>
          </p:cNvPr>
          <p:cNvSpPr>
            <a:spLocks noGrp="1"/>
          </p:cNvSpPr>
          <p:nvPr/>
        </p:nvSpPr>
        <p:spPr>
          <a:xfrm>
            <a:off x="666750" y="4495800"/>
            <a:ext cx="7810500" cy="419100"/>
          </a:xfrm>
          <a:prstGeom prst="rect">
            <a:avLst/>
          </a:prstGeom>
          <a:solidFill>
            <a:srgbClr val="F8E8EB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节点类别限制组合位置：例如 IfStmt 的 condition 必须是 Expr。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表达式节点直接记录运算关系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DD23107-4986-8758-3A93-3D74F35908CC}" type="slidenum">
              <a:t>14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C024A4-3FE7-4C20-998F-816E644542F8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节点定义（Java）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09B331-F07B-4432-ACA0-FF0C02CD8690}"/>
              </a:ext>
            </a:extLst>
          </p:cNvPr>
          <p:cNvSpPr>
            <a:spLocks noGrp="1"/>
          </p:cNvSpPr>
          <p:nvPr/>
        </p:nvSpPr>
        <p:spPr>
          <a:xfrm>
            <a:off x="4762500" y="142875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x + 1 对应的对象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9A6C90-6E3F-419F-966D-C62C03D29FA5}"/>
              </a:ext>
            </a:extLst>
          </p:cNvPr>
          <p:cNvSpPr>
            <a:spLocks noGrp="1"/>
          </p:cNvSpPr>
          <p:nvPr/>
        </p:nvSpPr>
        <p:spPr>
          <a:xfrm>
            <a:off x="571500" y="1828800"/>
            <a:ext cx="3714750" cy="27813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8289D1-8918-42D0-A9C6-2737040A3BFE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34099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abstract class Expr {}</a:t>
            </a:r>
          </a:p>
          <a:p>
            <a:endParaRPr sz="1050" b="0">
              <a:solidFill>
                <a:srgbClr val="F4F4F4"/>
              </a:solidFill>
            </a:endParaRP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class IntExpr extends Expr {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  int value;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}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class NameExpr extends Expr {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  String name;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}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class BinaryExpr extends Expr {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  BinaryOp op;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  Expr left;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  Expr right;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8EDBD3-9FFB-432E-B123-62C422982B45}"/>
              </a:ext>
            </a:extLst>
          </p:cNvPr>
          <p:cNvSpPr>
            <a:spLocks noGrp="1"/>
          </p:cNvSpPr>
          <p:nvPr/>
        </p:nvSpPr>
        <p:spPr>
          <a:xfrm>
            <a:off x="4762500" y="1828800"/>
            <a:ext cx="3714750" cy="27813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3A9314-985C-46B9-A13F-A82D73E8BFAF}"/>
              </a:ext>
            </a:extLst>
          </p:cNvPr>
          <p:cNvSpPr>
            <a:spLocks noGrp="1"/>
          </p:cNvSpPr>
          <p:nvPr/>
        </p:nvSpPr>
        <p:spPr>
          <a:xfrm>
            <a:off x="4914900" y="1952625"/>
            <a:ext cx="340995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BinaryExpr(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op = ADD,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left = NameExpr("x"),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right = IntExpr(1)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B4566B-29B4-4132-B034-251243592980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FC26F1-3B42-4BF1-A2CE-1E8E9B18F4E8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后续 Pass 不再询问“用了哪条产生式”，只处理 BinaryExpr。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语句与声明节点记录各自必需的角色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327921A4-25C4-3DB4-06B1-32693CEE2241}" type="slidenum">
              <a:t>15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F9FB36-412F-4D94-A9B6-EE8314FF8252}"/>
              </a:ext>
            </a:extLst>
          </p:cNvPr>
          <p:cNvSpPr>
            <a:spLocks noGrp="1"/>
          </p:cNvSpPr>
          <p:nvPr/>
        </p:nvSpPr>
        <p:spPr>
          <a:xfrm>
            <a:off x="590550" y="1589793"/>
            <a:ext cx="3667125" cy="17526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04F20F-78F6-4165-A0D1-5964702B2311}"/>
              </a:ext>
            </a:extLst>
          </p:cNvPr>
          <p:cNvSpPr>
            <a:spLocks noGrp="1"/>
          </p:cNvSpPr>
          <p:nvPr/>
        </p:nvSpPr>
        <p:spPr>
          <a:xfrm>
            <a:off x="742950" y="1713618"/>
            <a:ext cx="336232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class IfStmt extends Stmt {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Expr condition;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Stmt thenBranch;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Stmt elseBranch;  // 可以为 null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6E45836-5A3F-4694-A63B-BD40B3C047D9}"/>
              </a:ext>
            </a:extLst>
          </p:cNvPr>
          <p:cNvSpPr>
            <a:spLocks noGrp="1"/>
          </p:cNvSpPr>
          <p:nvPr/>
        </p:nvSpPr>
        <p:spPr>
          <a:xfrm>
            <a:off x="4810125" y="1504950"/>
            <a:ext cx="3714750" cy="20383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C3FF8C-A2D5-4F6D-B7B6-67466A892D57}"/>
              </a:ext>
            </a:extLst>
          </p:cNvPr>
          <p:cNvSpPr>
            <a:spLocks noGrp="1"/>
          </p:cNvSpPr>
          <p:nvPr/>
        </p:nvSpPr>
        <p:spPr>
          <a:xfrm>
            <a:off x="4962525" y="1628775"/>
            <a:ext cx="34099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class FunctionDecl extends Decl {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String name;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List&lt;Param&gt; params;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TypeSyntax returnType;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BlockStmt body;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5A285B5-58D9-4025-A0BA-1D6A17DF8B1C}"/>
              </a:ext>
            </a:extLst>
          </p:cNvPr>
          <p:cNvSpPr>
            <a:spLocks noGrp="1"/>
          </p:cNvSpPr>
          <p:nvPr/>
        </p:nvSpPr>
        <p:spPr>
          <a:xfrm>
            <a:off x="590550" y="3724275"/>
            <a:ext cx="3581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condition / then / else的类型都有明确要求。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BDF3438-6392-4EF6-95A2-C7097CFCFE30}"/>
              </a:ext>
            </a:extLst>
          </p:cNvPr>
          <p:cNvSpPr>
            <a:spLocks noGrp="1"/>
          </p:cNvSpPr>
          <p:nvPr/>
        </p:nvSpPr>
        <p:spPr>
          <a:xfrm>
            <a:off x="4953000" y="3829050"/>
            <a:ext cx="333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参数、返回类型和函数体不会因文法改写</a:t>
            </a:r>
          </a:p>
          <a:p>
            <a:pPr algn="l">
              <a:buNone/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而改变在 AST 中的角色。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D52465-3BF5-455F-8924-72935C58DF87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E85D6B-3907-42EB-BBEA-188B80EE4704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好的 AST API 让非法组合难以被构造出来。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优先级和结合性：编码在 AST 的父子关系中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A83FA91-883A-0168-8075-96CEB9DCA3C2}" type="slidenum">
              <a:t>16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8D780A-8CA2-4047-AA8B-3EEDAD44665D}"/>
              </a:ext>
            </a:extLst>
          </p:cNvPr>
          <p:cNvSpPr>
            <a:spLocks noGrp="1"/>
          </p:cNvSpPr>
          <p:nvPr/>
        </p:nvSpPr>
        <p:spPr>
          <a:xfrm>
            <a:off x="800100" y="13906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1">
                <a:solidFill>
                  <a:srgbClr val="242424"/>
                </a:solidFill>
              </a:defRPr>
            </a:pPr>
            <a:r>
              <a:rPr sz="1800" b="1">
                <a:solidFill>
                  <a:srgbClr val="242424"/>
                </a:solidFill>
              </a:rPr>
              <a:t>1 + 2 *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72541F-97DA-4EC4-9A38-EBD28BFBC9F4}"/>
              </a:ext>
            </a:extLst>
          </p:cNvPr>
          <p:cNvSpPr>
            <a:spLocks noGrp="1"/>
          </p:cNvSpPr>
          <p:nvPr/>
        </p:nvSpPr>
        <p:spPr>
          <a:xfrm>
            <a:off x="3143250" y="13906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6A868F"/>
                </a:solidFill>
              </a:defRPr>
            </a:pPr>
            <a:r>
              <a:rPr sz="2100" b="1">
                <a:solidFill>
                  <a:srgbClr val="6A868F"/>
                </a:solidFill>
              </a:rPr>
              <a:t>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62CBA5-5A86-4FA3-8D37-3EAB4F9266CF}"/>
              </a:ext>
            </a:extLst>
          </p:cNvPr>
          <p:cNvSpPr>
            <a:spLocks noGrp="1"/>
          </p:cNvSpPr>
          <p:nvPr/>
        </p:nvSpPr>
        <p:spPr>
          <a:xfrm>
            <a:off x="3714750" y="139065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725" b="1">
                <a:solidFill>
                  <a:srgbClr val="32788E"/>
                </a:solidFill>
              </a:defRPr>
            </a:pPr>
            <a:r>
              <a:rPr sz="1725" b="1">
                <a:solidFill>
                  <a:srgbClr val="32788E"/>
                </a:solidFill>
              </a:rPr>
              <a:t>Add(1, Mul(2, 3))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8D0674C-577C-48DE-AFE2-06BCCD2CA22B}"/>
              </a:ext>
            </a:extLst>
          </p:cNvPr>
          <p:cNvSpPr>
            <a:spLocks noGrp="1"/>
          </p:cNvSpPr>
          <p:nvPr/>
        </p:nvSpPr>
        <p:spPr>
          <a:xfrm>
            <a:off x="4095750" y="2095500"/>
            <a:ext cx="952500" cy="419100"/>
          </a:xfrm>
          <a:prstGeom prst="roundRect">
            <a:avLst>
              <a:gd name="adj" fmla="val 9091"/>
            </a:avLst>
          </a:prstGeom>
          <a:solidFill>
            <a:srgbClr val="E7F1F4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57569A-2F93-4239-B1DB-542B29AE1F2B}"/>
              </a:ext>
            </a:extLst>
          </p:cNvPr>
          <p:cNvSpPr>
            <a:spLocks noGrp="1"/>
          </p:cNvSpPr>
          <p:nvPr/>
        </p:nvSpPr>
        <p:spPr>
          <a:xfrm>
            <a:off x="4152900" y="2162175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Add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2C98707-999E-417F-9957-51AFDA1B661B}"/>
              </a:ext>
            </a:extLst>
          </p:cNvPr>
          <p:cNvSpPr>
            <a:spLocks noGrp="1"/>
          </p:cNvSpPr>
          <p:nvPr/>
        </p:nvSpPr>
        <p:spPr>
          <a:xfrm>
            <a:off x="2952750" y="3124200"/>
            <a:ext cx="95250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33D7BD5-5F91-4DFD-97A1-A617446D1558}"/>
              </a:ext>
            </a:extLst>
          </p:cNvPr>
          <p:cNvSpPr>
            <a:spLocks noGrp="1"/>
          </p:cNvSpPr>
          <p:nvPr/>
        </p:nvSpPr>
        <p:spPr>
          <a:xfrm>
            <a:off x="3009900" y="3190875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1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3139DD93-12C0-49E1-B27A-059FE5A43A29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952500" cy="419100"/>
          </a:xfrm>
          <a:prstGeom prst="roundRect">
            <a:avLst>
              <a:gd name="adj" fmla="val 9091"/>
            </a:avLst>
          </a:prstGeom>
          <a:solidFill>
            <a:srgbClr val="E7F1F4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2F8E548-22D5-4ACF-BEBA-8D538E6AA5B9}"/>
              </a:ext>
            </a:extLst>
          </p:cNvPr>
          <p:cNvSpPr>
            <a:spLocks noGrp="1"/>
          </p:cNvSpPr>
          <p:nvPr/>
        </p:nvSpPr>
        <p:spPr>
          <a:xfrm>
            <a:off x="5391150" y="3190875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Mul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92C72A0-1574-4EA3-B01A-2294CD768F0F}"/>
              </a:ext>
            </a:extLst>
          </p:cNvPr>
          <p:cNvSpPr>
            <a:spLocks noGrp="1"/>
          </p:cNvSpPr>
          <p:nvPr/>
        </p:nvSpPr>
        <p:spPr>
          <a:xfrm>
            <a:off x="4762500" y="4286250"/>
            <a:ext cx="95250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C4956-9B63-402E-8608-5FA1DE722C1C}"/>
              </a:ext>
            </a:extLst>
          </p:cNvPr>
          <p:cNvSpPr>
            <a:spLocks noGrp="1"/>
          </p:cNvSpPr>
          <p:nvPr/>
        </p:nvSpPr>
        <p:spPr>
          <a:xfrm>
            <a:off x="4819650" y="4352925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2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B9AF17F5-5DE0-4A2A-8798-ED3F917DEE15}"/>
              </a:ext>
            </a:extLst>
          </p:cNvPr>
          <p:cNvSpPr>
            <a:spLocks noGrp="1"/>
          </p:cNvSpPr>
          <p:nvPr/>
        </p:nvSpPr>
        <p:spPr>
          <a:xfrm>
            <a:off x="6191250" y="4286250"/>
            <a:ext cx="95250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6A868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95F68F-0F19-4D45-A2FB-D495B379E540}"/>
              </a:ext>
            </a:extLst>
          </p:cNvPr>
          <p:cNvSpPr>
            <a:spLocks noGrp="1"/>
          </p:cNvSpPr>
          <p:nvPr/>
        </p:nvSpPr>
        <p:spPr>
          <a:xfrm>
            <a:off x="6248400" y="4352925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242424"/>
                </a:solidFill>
              </a:defRPr>
            </a:pPr>
            <a:r>
              <a:rPr sz="1200" b="1">
                <a:solidFill>
                  <a:srgbClr val="242424"/>
                </a:solidFill>
              </a:rPr>
              <a:t>3</a:t>
            </a:r>
          </a:p>
        </p:txBody>
      </p:sp>
      <p:cxnSp>
        <p:nvCxnSpPr>
          <p:cNvPr id="912" name="直线箭头连接符 37"/>
          <p:cNvCxnSpPr>
            <a:stCxn id="8" idx="2"/>
            <a:endCxn id="10" idx="0"/>
          </p:cNvCxnSpPr>
          <p:nvPr/>
        </p:nvCxnSpPr>
        <p:spPr>
          <a:xfrm flipH="1">
            <a:off x="3429000" y="2514600"/>
            <a:ext cx="1143000" cy="60960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913" name="直线箭头连接符 38"/>
          <p:cNvCxnSpPr>
            <a:stCxn id="8" idx="2"/>
            <a:endCxn id="12" idx="0"/>
          </p:cNvCxnSpPr>
          <p:nvPr/>
        </p:nvCxnSpPr>
        <p:spPr>
          <a:xfrm>
            <a:off x="4572000" y="2514600"/>
            <a:ext cx="1238250" cy="60960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914" name="直线箭头连接符 39"/>
          <p:cNvCxnSpPr>
            <a:stCxn id="12" idx="2"/>
            <a:endCxn id="14" idx="0"/>
          </p:cNvCxnSpPr>
          <p:nvPr/>
        </p:nvCxnSpPr>
        <p:spPr>
          <a:xfrm flipH="1">
            <a:off x="5238750" y="3543300"/>
            <a:ext cx="571500" cy="7429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cxnSp>
        <p:nvCxnSpPr>
          <p:cNvPr id="915" name="直线箭头连接符 40"/>
          <p:cNvCxnSpPr>
            <a:stCxn id="12" idx="2"/>
            <a:endCxn id="16" idx="0"/>
          </p:cNvCxnSpPr>
          <p:nvPr/>
        </p:nvCxnSpPr>
        <p:spPr>
          <a:xfrm>
            <a:off x="5810250" y="3543300"/>
            <a:ext cx="857250" cy="742950"/>
          </a:xfrm>
          <a:prstGeom prst="straightConnector1">
            <a:avLst/>
          </a:prstGeom>
          <a:ln w="19050">
            <a:solidFill>
              <a:srgbClr val="6A868F"/>
            </a:solidFill>
            <a:prstDash val="solid"/>
          </a:ln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8CACBAC-10B8-4BDF-A5AE-7A86CC041AF6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714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2 和 3 同属于 Mul 子树；任何遍历都不会把 1 与 2 先组成乘法。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括号要不要成为 AST 节点？取决于后续需求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C9C7607-4BA3-B4DC-A00F-2E67A9FCFF7E}" type="slidenum">
              <a:t>17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999C8F-1CE5-41CC-B1B7-61F684158513}"/>
              </a:ext>
            </a:extLst>
          </p:cNvPr>
          <p:cNvSpPr>
            <a:spLocks noGrp="1"/>
          </p:cNvSpPr>
          <p:nvPr/>
        </p:nvSpPr>
        <p:spPr>
          <a:xfrm>
            <a:off x="571500" y="14478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编译器 AST：通常删除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16D5C6-DB8D-44C8-A0C1-7F15422C1BF7}"/>
              </a:ext>
            </a:extLst>
          </p:cNvPr>
          <p:cNvSpPr>
            <a:spLocks noGrp="1"/>
          </p:cNvSpPr>
          <p:nvPr/>
        </p:nvSpPr>
        <p:spPr>
          <a:xfrm>
            <a:off x="4762500" y="14478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重构工具：可能保留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A5C9A2-96D9-41A5-9FE3-1545EDAF183D}"/>
              </a:ext>
            </a:extLst>
          </p:cNvPr>
          <p:cNvSpPr>
            <a:spLocks noGrp="1"/>
          </p:cNvSpPr>
          <p:nvPr/>
        </p:nvSpPr>
        <p:spPr>
          <a:xfrm>
            <a:off x="571500" y="1905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5294BB-9742-497D-9D82-316D620B68E3}"/>
              </a:ext>
            </a:extLst>
          </p:cNvPr>
          <p:cNvSpPr>
            <a:spLocks noGrp="1"/>
          </p:cNvSpPr>
          <p:nvPr/>
        </p:nvSpPr>
        <p:spPr>
          <a:xfrm>
            <a:off x="838200" y="19050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(a + b) 与 a + b 得到相同运算树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758716C-78EF-4F1A-B209-5D7EC9D6A0FD}"/>
              </a:ext>
            </a:extLst>
          </p:cNvPr>
          <p:cNvSpPr>
            <a:spLocks noGrp="1"/>
          </p:cNvSpPr>
          <p:nvPr/>
        </p:nvSpPr>
        <p:spPr>
          <a:xfrm>
            <a:off x="571500" y="23812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C3B756-6BEA-44D0-B5C0-F3086DFB33B2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括号的作用已经体现在父子关系中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06A7F1-9124-4B77-8251-C648799D2110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F25461-038A-4E01-81AA-0698EC86F86F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类型检查和代码生成无需再次读取括号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19612C-C9E6-49E2-81EC-CF0DC8379991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C38487-3502-4FBF-B0D9-C51934E72C6B}"/>
              </a:ext>
            </a:extLst>
          </p:cNvPr>
          <p:cNvSpPr>
            <a:spLocks noGrp="1"/>
          </p:cNvSpPr>
          <p:nvPr/>
        </p:nvSpPr>
        <p:spPr>
          <a:xfrm>
            <a:off x="5029200" y="19050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格式化时需要还原原始写法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78DE52-2C7C-4D8F-BB1C-90C86192851D}"/>
              </a:ext>
            </a:extLst>
          </p:cNvPr>
          <p:cNvSpPr>
            <a:spLocks noGrp="1"/>
          </p:cNvSpPr>
          <p:nvPr/>
        </p:nvSpPr>
        <p:spPr>
          <a:xfrm>
            <a:off x="4762500" y="23812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791269B-94C6-43FA-A4AA-85444F184DC4}"/>
              </a:ext>
            </a:extLst>
          </p:cNvPr>
          <p:cNvSpPr>
            <a:spLocks noGrp="1"/>
          </p:cNvSpPr>
          <p:nvPr/>
        </p:nvSpPr>
        <p:spPr>
          <a:xfrm>
            <a:off x="5029200" y="238125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自动修改源码时要保持用户风格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C1FBEC-6A08-4411-9E05-0457ACA5BB20}"/>
              </a:ext>
            </a:extLst>
          </p:cNvPr>
          <p:cNvSpPr>
            <a:spLocks noGrp="1"/>
          </p:cNvSpPr>
          <p:nvPr/>
        </p:nvSpPr>
        <p:spPr>
          <a:xfrm>
            <a:off x="4762500" y="28575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13668CA-EA5B-4286-A227-2F353D04C929}"/>
              </a:ext>
            </a:extLst>
          </p:cNvPr>
          <p:cNvSpPr>
            <a:spLocks noGrp="1"/>
          </p:cNvSpPr>
          <p:nvPr/>
        </p:nvSpPr>
        <p:spPr>
          <a:xfrm>
            <a:off x="5029200" y="2857500"/>
            <a:ext cx="3448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可以放在 Parse Tree，或用额外属性记录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4A520C-0DD5-48E7-9156-3888996B3965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FE0D4D-82CE-443E-BE7D-8C442B871989}"/>
              </a:ext>
            </a:extLst>
          </p:cNvPr>
          <p:cNvSpPr>
            <a:spLocks noGrp="1"/>
          </p:cNvSpPr>
          <p:nvPr/>
        </p:nvSpPr>
        <p:spPr>
          <a:xfrm>
            <a:off x="800100" y="4791075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AST 没有唯一标准答案；设计由消费者决定。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for 循环应该保留，还是立即改写？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0F7333B-44AC-F7E9-D49D-FE92F45E0477}" type="slidenum">
              <a:t>18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FC502A-D2E9-44F5-BEF4-BA29873FF1E3}"/>
              </a:ext>
            </a:extLst>
          </p:cNvPr>
          <p:cNvSpPr>
            <a:spLocks noGrp="1"/>
          </p:cNvSpPr>
          <p:nvPr/>
        </p:nvSpPr>
        <p:spPr>
          <a:xfrm>
            <a:off x="666750" y="1543050"/>
            <a:ext cx="2857500" cy="1276350"/>
          </a:xfrm>
          <a:prstGeom prst="rect">
            <a:avLst/>
          </a:prstGeom>
          <a:solidFill>
            <a:srgbClr val="202124"/>
          </a:solidFill>
          <a:ln w="0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EC5123-15B3-4699-B4DE-43904341E275}"/>
              </a:ext>
            </a:extLst>
          </p:cNvPr>
          <p:cNvSpPr>
            <a:spLocks noGrp="1"/>
          </p:cNvSpPr>
          <p:nvPr/>
        </p:nvSpPr>
        <p:spPr>
          <a:xfrm>
            <a:off x="819150" y="1666875"/>
            <a:ext cx="255270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for (init; cond; step) {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    body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AB6994E9-C193-4110-81D3-506EF36AE2DE}"/>
              </a:ext>
            </a:extLst>
          </p:cNvPr>
          <p:cNvSpPr>
            <a:spLocks noGrp="1"/>
          </p:cNvSpPr>
          <p:nvPr/>
        </p:nvSpPr>
        <p:spPr>
          <a:xfrm>
            <a:off x="3857625" y="2038350"/>
            <a:ext cx="666750" cy="228600"/>
          </a:xfrm>
          <a:prstGeom prst="rightArrow">
            <a:avLst/>
          </a:prstGeom>
          <a:solidFill>
            <a:srgbClr val="BE384B"/>
          </a:solidFill>
          <a:ln w="0">
            <a:solidFill>
              <a:srgbClr val="BE38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E5C0246-FAB3-4509-BCF2-81FE8403F8D7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3524250" cy="1809750"/>
          </a:xfrm>
          <a:prstGeom prst="rect">
            <a:avLst/>
          </a:prstGeom>
          <a:solidFill>
            <a:srgbClr val="202124"/>
          </a:solidFill>
          <a:ln w="0">
            <a:solidFill>
              <a:srgbClr val="20212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A41DFB-55F6-47DB-B2F3-AE43DB7F2418}"/>
              </a:ext>
            </a:extLst>
          </p:cNvPr>
          <p:cNvSpPr>
            <a:spLocks noGrp="1"/>
          </p:cNvSpPr>
          <p:nvPr/>
        </p:nvSpPr>
        <p:spPr>
          <a:xfrm>
            <a:off x="5010150" y="1552575"/>
            <a:ext cx="32194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init;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while (cond) {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    body;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    step;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D9BA28-C212-4B4D-A758-F3880D2A4A2E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保留 ForStmt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30A8EC-6EAC-4365-9317-A326B8E5BC43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3C290AC-2BEA-4069-B351-A356FBA330C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更接近源码，诊断自然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CA838B-1490-45CB-919D-0D48F255C37A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166B75-55A4-41FE-8E36-ECCFDDEACA92}"/>
              </a:ext>
            </a:extLst>
          </p:cNvPr>
          <p:cNvSpPr>
            <a:spLocks noGrp="1"/>
          </p:cNvSpPr>
          <p:nvPr/>
        </p:nvSpPr>
        <p:spPr>
          <a:xfrm>
            <a:off x="1047750" y="42862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后续 Pass 要认识更多节点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89EB31-FD55-4A1A-9C09-72C6F1D76527}"/>
              </a:ext>
            </a:extLst>
          </p:cNvPr>
          <p:cNvSpPr>
            <a:spLocks noGrp="1"/>
          </p:cNvSpPr>
          <p:nvPr/>
        </p:nvSpPr>
        <p:spPr>
          <a:xfrm>
            <a:off x="5143500" y="34290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提前改写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FDACB5D-128C-448D-95D1-3EB06F7A803A}"/>
              </a:ext>
            </a:extLst>
          </p:cNvPr>
          <p:cNvSpPr>
            <a:spLocks noGrp="1"/>
          </p:cNvSpPr>
          <p:nvPr/>
        </p:nvSpPr>
        <p:spPr>
          <a:xfrm>
            <a:off x="5048250" y="38290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EBB334-C7F2-429C-ADF2-9C8F30F3CF04}"/>
              </a:ext>
            </a:extLst>
          </p:cNvPr>
          <p:cNvSpPr>
            <a:spLocks noGrp="1"/>
          </p:cNvSpPr>
          <p:nvPr/>
        </p:nvSpPr>
        <p:spPr>
          <a:xfrm>
            <a:off x="5314950" y="3829050"/>
            <a:ext cx="29241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核心节点种类更少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32EC1E-A9C5-45E1-88E1-5DB9309DD55F}"/>
              </a:ext>
            </a:extLst>
          </p:cNvPr>
          <p:cNvSpPr>
            <a:spLocks noGrp="1"/>
          </p:cNvSpPr>
          <p:nvPr/>
        </p:nvSpPr>
        <p:spPr>
          <a:xfrm>
            <a:off x="5048250" y="42862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91AEB1-20E5-46BA-B373-24ED6A22A1B8}"/>
              </a:ext>
            </a:extLst>
          </p:cNvPr>
          <p:cNvSpPr>
            <a:spLocks noGrp="1"/>
          </p:cNvSpPr>
          <p:nvPr/>
        </p:nvSpPr>
        <p:spPr>
          <a:xfrm>
            <a:off x="5314950" y="4286250"/>
            <a:ext cx="29241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必须保存足够的源码映射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语法糖：让程序更“可餐”的写法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B1C6C81E-38B9-7560-621D-5A151A79DF9B}" type="slidenum">
              <a:t>19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27085B-EB28-4B6C-888A-B7D43CEF9502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795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“糖”不增加新的表达能力，却让程序更容易写、也更容易读。</a:t>
            </a:r>
          </a:p>
        </p:txBody>
      </p:sp>
      <p:pic>
        <p:nvPicPr>
          <p:cNvPr id="56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881188"/>
            <a:ext cx="3857625" cy="25717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C5EEC8E-F47E-48F4-B213-F4830F58E0CD}"/>
              </a:ext>
            </a:extLst>
          </p:cNvPr>
          <p:cNvSpPr>
            <a:spLocks noGrp="1"/>
          </p:cNvSpPr>
          <p:nvPr/>
        </p:nvSpPr>
        <p:spPr>
          <a:xfrm>
            <a:off x="4857750" y="1885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表层写法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7CA029-C5EF-406E-B3A7-0161890AA723}"/>
              </a:ext>
            </a:extLst>
          </p:cNvPr>
          <p:cNvSpPr>
            <a:spLocks noGrp="1"/>
          </p:cNvSpPr>
          <p:nvPr/>
        </p:nvSpPr>
        <p:spPr>
          <a:xfrm>
            <a:off x="6781800" y="1885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已有核心构造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3F162A-CD6B-4446-810E-54719315E51D}"/>
              </a:ext>
            </a:extLst>
          </p:cNvPr>
          <p:cNvSpPr>
            <a:spLocks noGrp="1"/>
          </p:cNvSpPr>
          <p:nvPr/>
        </p:nvSpPr>
        <p:spPr>
          <a:xfrm>
            <a:off x="4762500" y="2266950"/>
            <a:ext cx="3857625" cy="438150"/>
          </a:xfrm>
          <a:prstGeom prst="rect">
            <a:avLst/>
          </a:prstGeom>
          <a:solidFill>
            <a:srgbClr val="F7F7F7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4ABD44C-7306-489C-A85A-5DDCFCAA237F}"/>
              </a:ext>
            </a:extLst>
          </p:cNvPr>
          <p:cNvSpPr>
            <a:spLocks noGrp="1"/>
          </p:cNvSpPr>
          <p:nvPr/>
        </p:nvSpPr>
        <p:spPr>
          <a:xfrm>
            <a:off x="4914900" y="235267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x += 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07D7E1-B296-477F-83EF-983CB73F1A23}"/>
              </a:ext>
            </a:extLst>
          </p:cNvPr>
          <p:cNvSpPr>
            <a:spLocks noGrp="1"/>
          </p:cNvSpPr>
          <p:nvPr/>
        </p:nvSpPr>
        <p:spPr>
          <a:xfrm>
            <a:off x="6353175" y="23431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38F9677-651C-4EBC-945B-B41C2EF73E87}"/>
              </a:ext>
            </a:extLst>
          </p:cNvPr>
          <p:cNvSpPr>
            <a:spLocks noGrp="1"/>
          </p:cNvSpPr>
          <p:nvPr/>
        </p:nvSpPr>
        <p:spPr>
          <a:xfrm>
            <a:off x="6781800" y="2352675"/>
            <a:ext cx="1685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赋值 + 加法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2482F3-D5DE-44E7-926A-9A2F83270171}"/>
              </a:ext>
            </a:extLst>
          </p:cNvPr>
          <p:cNvSpPr>
            <a:spLocks noGrp="1"/>
          </p:cNvSpPr>
          <p:nvPr/>
        </p:nvSpPr>
        <p:spPr>
          <a:xfrm>
            <a:off x="4762500" y="2781300"/>
            <a:ext cx="38576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BE83DA-8AD1-4BE2-BAC0-E49288335165}"/>
              </a:ext>
            </a:extLst>
          </p:cNvPr>
          <p:cNvSpPr>
            <a:spLocks noGrp="1"/>
          </p:cNvSpPr>
          <p:nvPr/>
        </p:nvSpPr>
        <p:spPr>
          <a:xfrm>
            <a:off x="4914900" y="286702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for (...) { ... }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BCFF2C-9FD9-40BB-A81B-CF2E8CE8D72D}"/>
              </a:ext>
            </a:extLst>
          </p:cNvPr>
          <p:cNvSpPr>
            <a:spLocks noGrp="1"/>
          </p:cNvSpPr>
          <p:nvPr/>
        </p:nvSpPr>
        <p:spPr>
          <a:xfrm>
            <a:off x="6353175" y="28575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42C809-AFC5-47E6-90FA-4F975CE64A12}"/>
              </a:ext>
            </a:extLst>
          </p:cNvPr>
          <p:cNvSpPr>
            <a:spLocks noGrp="1"/>
          </p:cNvSpPr>
          <p:nvPr/>
        </p:nvSpPr>
        <p:spPr>
          <a:xfrm>
            <a:off x="6781800" y="2867025"/>
            <a:ext cx="1685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while + 顺序执行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238082-0D9C-4E5D-8434-D69AD6EA91A0}"/>
              </a:ext>
            </a:extLst>
          </p:cNvPr>
          <p:cNvSpPr>
            <a:spLocks noGrp="1"/>
          </p:cNvSpPr>
          <p:nvPr/>
        </p:nvSpPr>
        <p:spPr>
          <a:xfrm>
            <a:off x="4762500" y="3295650"/>
            <a:ext cx="3857625" cy="438150"/>
          </a:xfrm>
          <a:prstGeom prst="rect">
            <a:avLst/>
          </a:prstGeom>
          <a:solidFill>
            <a:srgbClr val="F7F7F7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E4B23A-CE6B-4621-91A9-A4C23ECE7FE4}"/>
              </a:ext>
            </a:extLst>
          </p:cNvPr>
          <p:cNvSpPr>
            <a:spLocks noGrp="1"/>
          </p:cNvSpPr>
          <p:nvPr/>
        </p:nvSpPr>
        <p:spPr>
          <a:xfrm>
            <a:off x="4914900" y="338137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foreach (x in xs)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8BF430-2B37-4AB7-BAE3-1D5DC384A0E6}"/>
              </a:ext>
            </a:extLst>
          </p:cNvPr>
          <p:cNvSpPr>
            <a:spLocks noGrp="1"/>
          </p:cNvSpPr>
          <p:nvPr/>
        </p:nvSpPr>
        <p:spPr>
          <a:xfrm>
            <a:off x="6353175" y="33718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CE7DCF-2C93-4941-B8F7-89B1D7AC9E61}"/>
              </a:ext>
            </a:extLst>
          </p:cNvPr>
          <p:cNvSpPr>
            <a:spLocks noGrp="1"/>
          </p:cNvSpPr>
          <p:nvPr/>
        </p:nvSpPr>
        <p:spPr>
          <a:xfrm>
            <a:off x="6781800" y="3381375"/>
            <a:ext cx="1685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迭代协议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E055DC-F6B9-4C38-8393-A4ADBE57EC0C}"/>
              </a:ext>
            </a:extLst>
          </p:cNvPr>
          <p:cNvSpPr>
            <a:spLocks noGrp="1"/>
          </p:cNvSpPr>
          <p:nvPr/>
        </p:nvSpPr>
        <p:spPr>
          <a:xfrm>
            <a:off x="4762500" y="3810000"/>
            <a:ext cx="3857625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FC7C1A-2D60-4AB2-8BBC-18EB412BFF7D}"/>
              </a:ext>
            </a:extLst>
          </p:cNvPr>
          <p:cNvSpPr>
            <a:spLocks noGrp="1"/>
          </p:cNvSpPr>
          <p:nvPr/>
        </p:nvSpPr>
        <p:spPr>
          <a:xfrm>
            <a:off x="4914900" y="3895725"/>
            <a:ext cx="1352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user?.address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9AA13B-8D53-4C2F-8BFD-0D43E1D1EDDB}"/>
              </a:ext>
            </a:extLst>
          </p:cNvPr>
          <p:cNvSpPr>
            <a:spLocks noGrp="1"/>
          </p:cNvSpPr>
          <p:nvPr/>
        </p:nvSpPr>
        <p:spPr>
          <a:xfrm>
            <a:off x="6353175" y="38862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5C1E384-8A73-4CB5-85D4-4152E05520CF}"/>
              </a:ext>
            </a:extLst>
          </p:cNvPr>
          <p:cNvSpPr>
            <a:spLocks noGrp="1"/>
          </p:cNvSpPr>
          <p:nvPr/>
        </p:nvSpPr>
        <p:spPr>
          <a:xfrm>
            <a:off x="6781800" y="3895725"/>
            <a:ext cx="16859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空值判断 + 字段访问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C4EC201-8752-48A6-8978-5BF4510EE814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CF062FA-D9F8-4FAD-97CC-FCC0E0F50455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语法糖改变表达方式，不增加语言的基本表达能力。</a:t>
            </a:r>
          </a:p>
        </p:txBody>
      </p:sp>
      <p:sp>
        <p:nvSpPr>
          <p:cNvPr id="48" name="core-symbol-if">
            <a:extLst>
              <a:ext uri="{FF2B5EF4-FFF2-40B4-BE49-F238E27FC236}">
                <a16:creationId xmlns:a16="http://schemas.microsoft.com/office/drawing/2014/main" id="{B887820E-9493-42E7-8A8F-031B2A9F7078}"/>
              </a:ext>
            </a:extLst>
          </p:cNvPr>
          <p:cNvSpPr>
            <a:spLocks noGrp="1"/>
          </p:cNvSpPr>
          <p:nvPr/>
        </p:nvSpPr>
        <p:spPr>
          <a:xfrm>
            <a:off x="1914525" y="2667000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7A2733"/>
                </a:solidFill>
              </a:defRPr>
            </a:pPr>
            <a:r>
              <a:rPr sz="1350" b="1">
                <a:solidFill>
                  <a:srgbClr val="7A2733"/>
                </a:solidFill>
              </a:rPr>
              <a:t>if</a:t>
            </a:r>
          </a:p>
        </p:txBody>
      </p:sp>
      <p:sp>
        <p:nvSpPr>
          <p:cNvPr id="49" name="core-symbol-plus">
            <a:extLst>
              <a:ext uri="{FF2B5EF4-FFF2-40B4-BE49-F238E27FC236}">
                <a16:creationId xmlns:a16="http://schemas.microsoft.com/office/drawing/2014/main" id="{766ADDF4-D757-44AE-A8AB-D02CEB9A5C13}"/>
              </a:ext>
            </a:extLst>
          </p:cNvPr>
          <p:cNvSpPr>
            <a:spLocks noGrp="1"/>
          </p:cNvSpPr>
          <p:nvPr/>
        </p:nvSpPr>
        <p:spPr>
          <a:xfrm>
            <a:off x="2590800" y="2667000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7A2733"/>
                </a:solidFill>
              </a:defRPr>
            </a:pPr>
            <a:r>
              <a:rPr sz="1350" b="1">
                <a:solidFill>
                  <a:srgbClr val="7A2733"/>
                </a:solidFill>
              </a:rPr>
              <a:t>+</a:t>
            </a:r>
          </a:p>
        </p:txBody>
      </p:sp>
      <p:sp>
        <p:nvSpPr>
          <p:cNvPr id="50" name="core-symbol-assign">
            <a:extLst>
              <a:ext uri="{FF2B5EF4-FFF2-40B4-BE49-F238E27FC236}">
                <a16:creationId xmlns:a16="http://schemas.microsoft.com/office/drawing/2014/main" id="{C8CCB9C1-0416-4DFC-AC71-C3AAD2C1EBC9}"/>
              </a:ext>
            </a:extLst>
          </p:cNvPr>
          <p:cNvSpPr>
            <a:spLocks noGrp="1"/>
          </p:cNvSpPr>
          <p:nvPr/>
        </p:nvSpPr>
        <p:spPr>
          <a:xfrm>
            <a:off x="1914525" y="3219450"/>
            <a:ext cx="438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7A2733"/>
                </a:solidFill>
              </a:defRPr>
            </a:pPr>
            <a:r>
              <a:rPr sz="1350" b="1">
                <a:solidFill>
                  <a:srgbClr val="7A2733"/>
                </a:solidFill>
              </a:rPr>
              <a:t>=</a:t>
            </a:r>
          </a:p>
        </p:txBody>
      </p:sp>
      <p:sp>
        <p:nvSpPr>
          <p:cNvPr id="51" name="core-symbol-block">
            <a:extLst>
              <a:ext uri="{FF2B5EF4-FFF2-40B4-BE49-F238E27FC236}">
                <a16:creationId xmlns:a16="http://schemas.microsoft.com/office/drawing/2014/main" id="{873270E7-D3FB-4433-A389-87B41D4ACB3F}"/>
              </a:ext>
            </a:extLst>
          </p:cNvPr>
          <p:cNvSpPr>
            <a:spLocks noGrp="1"/>
          </p:cNvSpPr>
          <p:nvPr/>
        </p:nvSpPr>
        <p:spPr>
          <a:xfrm>
            <a:off x="2571750" y="3219450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7A2733"/>
                </a:solidFill>
              </a:defRPr>
            </a:pPr>
            <a:r>
              <a:rPr sz="1125" b="1">
                <a:solidFill>
                  <a:srgbClr val="7A2733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语法糖在 AST 中应该保留多久？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CF91274-D221-1BB4-3BF9-836E3AD31EBE}" type="slidenum">
              <a:t>20</a:t>
            </a:fld>
            <a:endParaRPr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CB192FCC-E780-4970-A67B-BB7F7B604BFD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809750" cy="742950"/>
          </a:xfrm>
          <a:prstGeom prst="roundRect">
            <a:avLst>
              <a:gd name="adj" fmla="val 5128"/>
            </a:avLst>
          </a:prstGeom>
          <a:solidFill>
            <a:srgbClr val="F8E8EB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40135D5-CA36-47A9-8424-6BAAA4A4BBA3}"/>
              </a:ext>
            </a:extLst>
          </p:cNvPr>
          <p:cNvSpPr>
            <a:spLocks noGrp="1"/>
          </p:cNvSpPr>
          <p:nvPr/>
        </p:nvSpPr>
        <p:spPr>
          <a:xfrm>
            <a:off x="762000" y="19812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Parse Tree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2B391481-4E71-4B1D-BDD2-26890D124758}"/>
              </a:ext>
            </a:extLst>
          </p:cNvPr>
          <p:cNvSpPr>
            <a:spLocks noGrp="1"/>
          </p:cNvSpPr>
          <p:nvPr/>
        </p:nvSpPr>
        <p:spPr>
          <a:xfrm>
            <a:off x="2571750" y="2076450"/>
            <a:ext cx="495300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AE1ABFC-6594-4C89-8389-C566EEA77464}"/>
              </a:ext>
            </a:extLst>
          </p:cNvPr>
          <p:cNvSpPr>
            <a:spLocks noGrp="1"/>
          </p:cNvSpPr>
          <p:nvPr/>
        </p:nvSpPr>
        <p:spPr>
          <a:xfrm>
            <a:off x="2857500" y="1809750"/>
            <a:ext cx="1809750" cy="742950"/>
          </a:xfrm>
          <a:prstGeom prst="roundRect">
            <a:avLst>
              <a:gd name="adj" fmla="val 5128"/>
            </a:avLst>
          </a:prstGeom>
          <a:solidFill>
            <a:srgbClr val="F8E8EB"/>
          </a:solidFill>
          <a:ln w="19050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D3BBA8-B6C0-4D4F-A1A7-8DE46A22DB4F}"/>
              </a:ext>
            </a:extLst>
          </p:cNvPr>
          <p:cNvSpPr>
            <a:spLocks noGrp="1"/>
          </p:cNvSpPr>
          <p:nvPr/>
        </p:nvSpPr>
        <p:spPr>
          <a:xfrm>
            <a:off x="2952750" y="1981200"/>
            <a:ext cx="1619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Surface AST</a:t>
            </a:r>
          </a:p>
          <a:p>
            <a:pPr algn="ctr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ForStmt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3B350E9F-4FBE-481F-9709-632A44379797}"/>
              </a:ext>
            </a:extLst>
          </p:cNvPr>
          <p:cNvSpPr>
            <a:spLocks noGrp="1"/>
          </p:cNvSpPr>
          <p:nvPr/>
        </p:nvSpPr>
        <p:spPr>
          <a:xfrm>
            <a:off x="4905375" y="2076450"/>
            <a:ext cx="495300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5B38BE-9DA9-41AC-B8D2-9D80B954B790}"/>
              </a:ext>
            </a:extLst>
          </p:cNvPr>
          <p:cNvSpPr>
            <a:spLocks noGrp="1"/>
          </p:cNvSpPr>
          <p:nvPr/>
        </p:nvSpPr>
        <p:spPr>
          <a:xfrm>
            <a:off x="4667250" y="171450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desugar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2BE31EA-9AC2-4516-A3FA-AFD166E5BA70}"/>
              </a:ext>
            </a:extLst>
          </p:cNvPr>
          <p:cNvSpPr>
            <a:spLocks noGrp="1"/>
          </p:cNvSpPr>
          <p:nvPr/>
        </p:nvSpPr>
        <p:spPr>
          <a:xfrm>
            <a:off x="5619750" y="1809750"/>
            <a:ext cx="2714625" cy="742950"/>
          </a:xfrm>
          <a:prstGeom prst="roundRect">
            <a:avLst>
              <a:gd name="adj" fmla="val 5128"/>
            </a:avLst>
          </a:prstGeom>
          <a:solidFill>
            <a:srgbClr val="E7F1F4"/>
          </a:solidFill>
          <a:ln w="19050">
            <a:solidFill>
              <a:srgbClr val="3278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B2CD59-EEB9-44D2-B417-8224754AC565}"/>
              </a:ext>
            </a:extLst>
          </p:cNvPr>
          <p:cNvSpPr>
            <a:spLocks noGrp="1"/>
          </p:cNvSpPr>
          <p:nvPr/>
        </p:nvSpPr>
        <p:spPr>
          <a:xfrm>
            <a:off x="5715000" y="1981200"/>
            <a:ext cx="25241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Core AST</a:t>
            </a:r>
          </a:p>
          <a:p>
            <a:pPr algn="ctr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BlockStmt + WhileStmt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B4FB8E-9EF7-441A-B9F4-8F1EF41C2427}"/>
              </a:ext>
            </a:extLst>
          </p:cNvPr>
          <p:cNvSpPr>
            <a:spLocks noGrp="1"/>
          </p:cNvSpPr>
          <p:nvPr/>
        </p:nvSpPr>
        <p:spPr>
          <a:xfrm>
            <a:off x="952500" y="3238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暂时保留 ForStmt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12D1C-5DA2-4725-8343-43DA800A051C}"/>
              </a:ext>
            </a:extLst>
          </p:cNvPr>
          <p:cNvSpPr>
            <a:spLocks noGrp="1"/>
          </p:cNvSpPr>
          <p:nvPr/>
        </p:nvSpPr>
        <p:spPr>
          <a:xfrm>
            <a:off x="904875" y="36671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EF1418-11C9-4F5A-8B54-DC0B9F141139}"/>
              </a:ext>
            </a:extLst>
          </p:cNvPr>
          <p:cNvSpPr>
            <a:spLocks noGrp="1"/>
          </p:cNvSpPr>
          <p:nvPr/>
        </p:nvSpPr>
        <p:spPr>
          <a:xfrm>
            <a:off x="1171575" y="3667125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诊断与源码映射更直接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0852D2-0EE4-407F-B2AD-8EE886338FBF}"/>
              </a:ext>
            </a:extLst>
          </p:cNvPr>
          <p:cNvSpPr>
            <a:spLocks noGrp="1"/>
          </p:cNvSpPr>
          <p:nvPr/>
        </p:nvSpPr>
        <p:spPr>
          <a:xfrm>
            <a:off x="904875" y="41243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03F8AD-5A6F-46F2-A9C1-A79F327419FA}"/>
              </a:ext>
            </a:extLst>
          </p:cNvPr>
          <p:cNvSpPr>
            <a:spLocks noGrp="1"/>
          </p:cNvSpPr>
          <p:nvPr/>
        </p:nvSpPr>
        <p:spPr>
          <a:xfrm>
            <a:off x="1171575" y="4124325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源码级工具仍能看到原始构造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0E449B-CCBF-47DF-9F51-B4CF76E54BAF}"/>
              </a:ext>
            </a:extLst>
          </p:cNvPr>
          <p:cNvSpPr>
            <a:spLocks noGrp="1"/>
          </p:cNvSpPr>
          <p:nvPr/>
        </p:nvSpPr>
        <p:spPr>
          <a:xfrm>
            <a:off x="5286375" y="3238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尽早变成 Core AST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2796BF3-2B6D-4710-9EE2-5808E1EBEFAF}"/>
              </a:ext>
            </a:extLst>
          </p:cNvPr>
          <p:cNvSpPr>
            <a:spLocks noGrp="1"/>
          </p:cNvSpPr>
          <p:nvPr/>
        </p:nvSpPr>
        <p:spPr>
          <a:xfrm>
            <a:off x="5238750" y="36671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8B2C81-37AF-4D84-BEAD-3D6E8108E32C}"/>
              </a:ext>
            </a:extLst>
          </p:cNvPr>
          <p:cNvSpPr>
            <a:spLocks noGrp="1"/>
          </p:cNvSpPr>
          <p:nvPr/>
        </p:nvSpPr>
        <p:spPr>
          <a:xfrm>
            <a:off x="5505450" y="3667125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后续 Pass 只处理少数核心节点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62391B-50DE-4765-85A0-E00C9A22A83F}"/>
              </a:ext>
            </a:extLst>
          </p:cNvPr>
          <p:cNvSpPr>
            <a:spLocks noGrp="1"/>
          </p:cNvSpPr>
          <p:nvPr/>
        </p:nvSpPr>
        <p:spPr>
          <a:xfrm>
            <a:off x="5238750" y="412432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25A86B3-8B98-4DA4-932B-BA60C2C0BEC2}"/>
              </a:ext>
            </a:extLst>
          </p:cNvPr>
          <p:cNvSpPr>
            <a:spLocks noGrp="1"/>
          </p:cNvSpPr>
          <p:nvPr/>
        </p:nvSpPr>
        <p:spPr>
          <a:xfrm>
            <a:off x="5505450" y="4124325"/>
            <a:ext cx="2971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每次变换都要保留来源信息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8449"/>
          </a:bodyPr>
          <a:lstStyle/>
          <a:p>
            <a:r>
              <a:rPr>
                <a:latin typeface="Arial"/>
                <a:ea typeface="Arial"/>
                <a:cs typeface="Arial"/>
              </a:rPr>
              <a:t>源码位置信息记录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21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CC2EA8-C282-47A6-AAAA-CD78653B4B72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361950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E5D9E6-10DE-4029-90B3-B98F303A85D6}"/>
              </a:ext>
            </a:extLst>
          </p:cNvPr>
          <p:cNvSpPr>
            <a:spLocks noGrp="1"/>
          </p:cNvSpPr>
          <p:nvPr/>
        </p:nvSpPr>
        <p:spPr>
          <a:xfrm>
            <a:off x="800100" y="1552575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F4F4F4"/>
                </a:solidFill>
              </a:defRPr>
            </a:pPr>
            <a:r>
              <a:rPr sz="1500" b="0">
                <a:solidFill>
                  <a:srgbClr val="F4F4F4"/>
                </a:solidFill>
              </a:rPr>
              <a:t>int y = x + 1;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1CF921-A179-4E4B-8EBF-AC73410FC800}"/>
              </a:ext>
            </a:extLst>
          </p:cNvPr>
          <p:cNvSpPr>
            <a:spLocks noGrp="1"/>
          </p:cNvSpPr>
          <p:nvPr/>
        </p:nvSpPr>
        <p:spPr>
          <a:xfrm>
            <a:off x="904875" y="2266950"/>
            <a:ext cx="295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BE384B"/>
                </a:solidFill>
              </a:defRPr>
            </a:pPr>
            <a:r>
              <a:rPr sz="1500" b="0">
                <a:solidFill>
                  <a:srgbClr val="BE384B"/>
                </a:solidFill>
              </a:rPr>
              <a:t>          └───┘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FE844D3-CE27-4573-BE8B-4D1FAFFD5247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BinaryExpr span = [8, 13)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3D469A-4617-470F-8C12-79E4C59528AC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3619500" cy="21526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B667DF-58CF-4560-A5CB-22A1F98957FD}"/>
              </a:ext>
            </a:extLst>
          </p:cNvPr>
          <p:cNvSpPr>
            <a:spLocks noGrp="1"/>
          </p:cNvSpPr>
          <p:nvPr/>
        </p:nvSpPr>
        <p:spPr>
          <a:xfrm>
            <a:off x="5010150" y="1552575"/>
            <a:ext cx="33147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class SourceSpan {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int startOffset;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int endOffset;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}</a:t>
            </a:r>
          </a:p>
          <a:p>
            <a:endParaRPr sz="1125" b="0">
              <a:solidFill>
                <a:srgbClr val="F4F4F4"/>
              </a:solidFill>
            </a:endParaRP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class BinaryExpr extends Expr {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...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SourceSpan span;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E96F63-8DA5-4976-958E-1665C9260EB6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BA7CEB-6645-480B-980F-1A7A9FE177E2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诊断定位到具体表达式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99A7C2-9C76-4494-A73F-F48BE0ED6618}"/>
              </a:ext>
            </a:extLst>
          </p:cNvPr>
          <p:cNvSpPr>
            <a:spLocks noGrp="1"/>
          </p:cNvSpPr>
          <p:nvPr/>
        </p:nvSpPr>
        <p:spPr>
          <a:xfrm>
            <a:off x="876300" y="38862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976FFE-3B5A-4F24-BC16-40D65F3A2FF6}"/>
              </a:ext>
            </a:extLst>
          </p:cNvPr>
          <p:cNvSpPr>
            <a:spLocks noGrp="1"/>
          </p:cNvSpPr>
          <p:nvPr/>
        </p:nvSpPr>
        <p:spPr>
          <a:xfrm>
            <a:off x="1143000" y="38862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IDE 高亮与跳转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17BF01-7E4F-4200-834B-0757E49207C4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B19E4E-EC8D-42DD-88D1-D43425A63E46}"/>
              </a:ext>
            </a:extLst>
          </p:cNvPr>
          <p:cNvSpPr>
            <a:spLocks noGrp="1"/>
          </p:cNvSpPr>
          <p:nvPr/>
        </p:nvSpPr>
        <p:spPr>
          <a:xfrm>
            <a:off x="1143000" y="43434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变换后仍可追溯原始源码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BE9247D-9F57-41E6-A449-B9A2D2BED94D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07E0483-40DC-4A6A-8038-0244A05A2C28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位置信息来自 Token，却应随 AST 一直向后传递。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错误恢复：AST 也要能表示“不完整”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6DF2BE2-2DFA-1C03-677D-BDC2260D6D92}" type="slidenum">
              <a:t>22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7CAA65-0FAD-4D48-A84C-462AC243CDBA}"/>
              </a:ext>
            </a:extLst>
          </p:cNvPr>
          <p:cNvSpPr>
            <a:spLocks noGrp="1"/>
          </p:cNvSpPr>
          <p:nvPr/>
        </p:nvSpPr>
        <p:spPr>
          <a:xfrm>
            <a:off x="619125" y="1714500"/>
            <a:ext cx="3143250" cy="10477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922B88-E4D3-43A4-BB80-3BEF08FAD38D}"/>
              </a:ext>
            </a:extLst>
          </p:cNvPr>
          <p:cNvSpPr>
            <a:spLocks noGrp="1"/>
          </p:cNvSpPr>
          <p:nvPr/>
        </p:nvSpPr>
        <p:spPr>
          <a:xfrm>
            <a:off x="771525" y="1838325"/>
            <a:ext cx="28384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0">
                <a:solidFill>
                  <a:srgbClr val="F4F4F4"/>
                </a:solidFill>
              </a:defRPr>
            </a:pPr>
            <a:r>
              <a:rPr sz="1425" b="0">
                <a:solidFill>
                  <a:srgbClr val="F4F4F4"/>
                </a:solidFill>
              </a:rPr>
              <a:t>int y = x + ;</a:t>
            </a:r>
          </a:p>
          <a:p>
            <a:pPr algn="l">
              <a:buNone/>
              <a:defRPr sz="1425" b="0">
                <a:solidFill>
                  <a:srgbClr val="F4F4F4"/>
                </a:solidFill>
              </a:defRPr>
            </a:pPr>
            <a:r>
              <a:rPr sz="1425" b="0">
                <a:solidFill>
                  <a:srgbClr val="F4F4F4"/>
                </a:solidFill>
              </a:rPr>
              <a:t>return y;</a:t>
            </a:r>
          </a:p>
        </p:txBody>
      </p:sp>
      <p:sp>
        <p:nvSpPr>
          <p:cNvPr id="7" name="右箭头 6">
            <a:extLst>
              <a:ext uri="{FF2B5EF4-FFF2-40B4-BE49-F238E27FC236}">
                <a16:creationId xmlns:a16="http://schemas.microsoft.com/office/drawing/2014/main" id="{A762B32D-6D7B-4C2D-B3A1-1E0FAD7DFD3D}"/>
              </a:ext>
            </a:extLst>
          </p:cNvPr>
          <p:cNvSpPr>
            <a:spLocks noGrp="1"/>
          </p:cNvSpPr>
          <p:nvPr/>
        </p:nvSpPr>
        <p:spPr>
          <a:xfrm>
            <a:off x="4000500" y="2095500"/>
            <a:ext cx="590550" cy="209550"/>
          </a:xfrm>
          <a:prstGeom prst="rightArrow">
            <a:avLst/>
          </a:prstGeom>
          <a:solidFill>
            <a:srgbClr val="BE384B"/>
          </a:solidFill>
          <a:ln w="0">
            <a:solidFill>
              <a:srgbClr val="BE38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4AEF28-7625-46D4-A6C3-089E70C9FE57}"/>
              </a:ext>
            </a:extLst>
          </p:cNvPr>
          <p:cNvSpPr>
            <a:spLocks noGrp="1"/>
          </p:cNvSpPr>
          <p:nvPr/>
        </p:nvSpPr>
        <p:spPr>
          <a:xfrm>
            <a:off x="4953000" y="1619250"/>
            <a:ext cx="3524250" cy="18097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E5910E-3975-4DA2-AE73-7920987C16A4}"/>
              </a:ext>
            </a:extLst>
          </p:cNvPr>
          <p:cNvSpPr>
            <a:spLocks noGrp="1"/>
          </p:cNvSpPr>
          <p:nvPr/>
        </p:nvSpPr>
        <p:spPr>
          <a:xfrm>
            <a:off x="5105400" y="1743075"/>
            <a:ext cx="32194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VarDecl(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name = "y",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init = BinaryExpr(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  ADD, NameExpr("x"), ErrorExpr(span)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)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6724CC-89E5-4098-8600-A53209FD7355}"/>
              </a:ext>
            </a:extLst>
          </p:cNvPr>
          <p:cNvSpPr>
            <a:spLocks noGrp="1"/>
          </p:cNvSpPr>
          <p:nvPr/>
        </p:nvSpPr>
        <p:spPr>
          <a:xfrm>
            <a:off x="714375" y="35242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为什么不直接停止？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7578C3-E864-44E2-A692-5F30224C6B15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2F4B66-B5FF-4CCF-9E25-1CD5AB96833C}"/>
              </a:ext>
            </a:extLst>
          </p:cNvPr>
          <p:cNvSpPr>
            <a:spLocks noGrp="1"/>
          </p:cNvSpPr>
          <p:nvPr/>
        </p:nvSpPr>
        <p:spPr>
          <a:xfrm>
            <a:off x="952500" y="3943350"/>
            <a:ext cx="697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后面的 return y 仍可继续解析和分析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B803B6-0280-4A56-9382-B2FEB08308F0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6ED844-A996-4424-AC53-E954ABF6BA66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697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诊断系统可以避免同一错误连锁爆炸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E366C5-CC55-4C8D-9AE5-9E3B382C8684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09A244-2250-41CA-9F51-C7D5846B05B7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6972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编辑器中的源码经常暂时不完整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1A1045-9853-45A6-84FE-6794DF1C2781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基本思想：引入 ErrorExpr 作为占位符，让 AST 构建在错误之后继续。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8" y="3655047"/>
            <a:ext cx="7810500" cy="876300"/>
          </a:xfrm>
        </p:spPr>
        <p:txBody>
          <a:bodyPr anchor="t">
            <a:normAutofit/>
          </a:bodyPr>
          <a:lstStyle/>
          <a:p>
            <a:pPr algn="l">
              <a:buNone/>
              <a:defRPr sz="3525" b="1">
                <a:solidFill>
                  <a:srgbClr val="BE384B"/>
                </a:solidFill>
              </a:defRPr>
            </a:pPr>
            <a:r>
              <a:rPr sz="35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Parser 如何构造 AST？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BB18BA8-60F4-C50D-CD9B-1BB87D3E8506}" type="slidenum">
              <a:t>23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994F14-9536-49F8-AAE4-7B4087C233F6}"/>
              </a:ext>
            </a:extLst>
          </p:cNvPr>
          <p:cNvSpPr>
            <a:spLocks noGrp="1"/>
          </p:cNvSpPr>
          <p:nvPr/>
        </p:nvSpPr>
        <p:spPr>
          <a:xfrm>
            <a:off x="574048" y="3197847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8C8C8C"/>
                </a:solidFill>
              </a:defRPr>
            </a:pPr>
            <a:r>
              <a:rPr sz="1875" b="0">
                <a:solidFill>
                  <a:srgbClr val="8C8C8C"/>
                </a:solidFill>
              </a:rPr>
              <a:t>语法分析结束时，这棵 AST 是怎样被“顺手算出来”的？</a:t>
            </a:r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语义、语义值与 semantic action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4E99CEF-AF55-BA3C-ADF8-4E52E186DD8F}" type="slidenum">
              <a:t>24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7D8D60-808F-49B0-B0A3-0131BF192518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语义 semantics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2A19F-0A68-4028-9BB9-05A4AD121A78}"/>
              </a:ext>
            </a:extLst>
          </p:cNvPr>
          <p:cNvSpPr>
            <a:spLocks noGrp="1"/>
          </p:cNvSpPr>
          <p:nvPr/>
        </p:nvSpPr>
        <p:spPr>
          <a:xfrm>
            <a:off x="647700" y="1933575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42424"/>
                </a:solidFill>
              </a:defRPr>
            </a:pPr>
            <a:r>
              <a:rPr sz="1350" b="1">
                <a:solidFill>
                  <a:srgbClr val="242424"/>
                </a:solidFill>
              </a:rPr>
              <a:t>程序表示什么，</a:t>
            </a:r>
          </a:p>
          <a:p>
            <a:pPr algn="l">
              <a:buNone/>
              <a:defRPr sz="1350" b="1">
                <a:solidFill>
                  <a:srgbClr val="242424"/>
                </a:solidFill>
              </a:defRPr>
            </a:pPr>
            <a:r>
              <a:rPr sz="1350" b="1">
                <a:solidFill>
                  <a:srgbClr val="242424"/>
                </a:solidFill>
              </a:rPr>
              <a:t>运行时会发生什么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B5D3B0-D3F5-4925-87F1-EE003E38D8A7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219075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AD3E4E-6C71-490D-A906-998069FA6594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1924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1 + 2  ⇒  3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x = 1  ⇒  状态改变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1421A2C6-DCEB-4983-BCC2-25C44D5720B1}"/>
              </a:ext>
            </a:extLst>
          </p:cNvPr>
          <p:cNvSpPr>
            <a:spLocks noGrp="1"/>
          </p:cNvSpPr>
          <p:nvPr/>
        </p:nvSpPr>
        <p:spPr>
          <a:xfrm>
            <a:off x="3000375" y="2714625"/>
            <a:ext cx="361950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CBCCA3-11E0-4CA0-983B-4524C78E91E4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32788E"/>
                </a:solidFill>
              </a:defRPr>
            </a:pPr>
            <a:r>
              <a:rPr sz="1575" b="1">
                <a:solidFill>
                  <a:srgbClr val="32788E"/>
                </a:solidFill>
              </a:rPr>
              <a:t>语义值 semantic value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1BDFCA-0CDE-43FD-8A65-1894839B4333}"/>
              </a:ext>
            </a:extLst>
          </p:cNvPr>
          <p:cNvSpPr>
            <a:spLocks noGrp="1"/>
          </p:cNvSpPr>
          <p:nvPr/>
        </p:nvSpPr>
        <p:spPr>
          <a:xfrm>
            <a:off x="3524250" y="19335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242424"/>
                </a:solidFill>
              </a:defRPr>
            </a:pPr>
            <a:r>
              <a:rPr sz="1350" b="1">
                <a:solidFill>
                  <a:srgbClr val="242424"/>
                </a:solidFill>
              </a:rPr>
              <a:t>解析时附着在语法符号上、</a:t>
            </a:r>
          </a:p>
          <a:p>
            <a:pPr algn="l">
              <a:buNone/>
              <a:defRPr sz="1350" b="1">
                <a:solidFill>
                  <a:srgbClr val="242424"/>
                </a:solidFill>
              </a:defRPr>
            </a:pPr>
            <a:r>
              <a:rPr sz="1350" b="1">
                <a:solidFill>
                  <a:srgbClr val="242424"/>
                </a:solidFill>
              </a:rPr>
              <a:t>供后续组合的数据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D2FE2A-88A3-470A-B88C-4459C29F6D17}"/>
              </a:ext>
            </a:extLst>
          </p:cNvPr>
          <p:cNvSpPr>
            <a:spLocks noGrp="1"/>
          </p:cNvSpPr>
          <p:nvPr/>
        </p:nvSpPr>
        <p:spPr>
          <a:xfrm>
            <a:off x="3524250" y="2714625"/>
            <a:ext cx="247650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E925D7-59E1-4829-83AB-B1D25C5040FE}"/>
              </a:ext>
            </a:extLst>
          </p:cNvPr>
          <p:cNvSpPr>
            <a:spLocks noGrp="1"/>
          </p:cNvSpPr>
          <p:nvPr/>
        </p:nvSpPr>
        <p:spPr>
          <a:xfrm>
            <a:off x="3657600" y="28098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INT.value = 1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expr.ast = BinaryExpr(...) 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052BC8B7-44A6-4185-B37D-F7B5224BB2E6}"/>
              </a:ext>
            </a:extLst>
          </p:cNvPr>
          <p:cNvSpPr>
            <a:spLocks noGrp="1"/>
          </p:cNvSpPr>
          <p:nvPr/>
        </p:nvSpPr>
        <p:spPr>
          <a:xfrm>
            <a:off x="6153150" y="2714625"/>
            <a:ext cx="361950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3AB489-57AF-4F1B-80F7-E08AD07E16C2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6A868F"/>
                </a:solidFill>
              </a:defRPr>
            </a:pPr>
            <a:r>
              <a:rPr sz="1575" b="1">
                <a:solidFill>
                  <a:srgbClr val="6A868F"/>
                </a:solidFill>
              </a:rPr>
              <a:t>semantic action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581FEE-A9F6-4E27-A677-2A45EC3F66BE}"/>
              </a:ext>
            </a:extLst>
          </p:cNvPr>
          <p:cNvSpPr>
            <a:spLocks noGrp="1"/>
          </p:cNvSpPr>
          <p:nvPr/>
        </p:nvSpPr>
        <p:spPr>
          <a:xfrm>
            <a:off x="6667500" y="193357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242424"/>
                </a:solidFill>
              </a:defRPr>
            </a:pPr>
            <a:r>
              <a:rPr sz="1275" b="1">
                <a:solidFill>
                  <a:srgbClr val="242424"/>
                </a:solidFill>
              </a:rPr>
              <a:t>解析过程中触发的处理：</a:t>
            </a:r>
          </a:p>
          <a:p>
            <a:pPr algn="l">
              <a:buNone/>
              <a:defRPr sz="1275" b="1">
                <a:solidFill>
                  <a:srgbClr val="242424"/>
                </a:solidFill>
              </a:defRPr>
            </a:pPr>
            <a:r>
              <a:rPr sz="1275" b="1">
                <a:solidFill>
                  <a:srgbClr val="242424"/>
                </a:solidFill>
              </a:rPr>
              <a:t>读取已有值，产生新的值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3D873C-0548-4C1D-A2F2-54BBA1C14222}"/>
              </a:ext>
            </a:extLst>
          </p:cNvPr>
          <p:cNvSpPr>
            <a:spLocks noGrp="1"/>
          </p:cNvSpPr>
          <p:nvPr/>
        </p:nvSpPr>
        <p:spPr>
          <a:xfrm>
            <a:off x="6667500" y="2714625"/>
            <a:ext cx="209550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914862-B8DB-443A-A4E5-92FAA45E8FE7}"/>
              </a:ext>
            </a:extLst>
          </p:cNvPr>
          <p:cNvSpPr>
            <a:spLocks noGrp="1"/>
          </p:cNvSpPr>
          <p:nvPr/>
        </p:nvSpPr>
        <p:spPr>
          <a:xfrm>
            <a:off x="6800850" y="2809875"/>
            <a:ext cx="182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expr.ast =</a:t>
            </a:r>
          </a:p>
          <a:p>
            <a:pPr algn="l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  BinaryExpr(ADD, ...)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A53F1C-AB8E-4994-B473-41C59BF8E713}"/>
              </a:ext>
            </a:extLst>
          </p:cNvPr>
          <p:cNvSpPr>
            <a:spLocks noGrp="1"/>
          </p:cNvSpPr>
          <p:nvPr/>
        </p:nvSpPr>
        <p:spPr>
          <a:xfrm>
            <a:off x="1447800" y="3762375"/>
            <a:ext cx="590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目标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8B6694-800E-4F66-A9F2-CE00D249E24F}"/>
              </a:ext>
            </a:extLst>
          </p:cNvPr>
          <p:cNvSpPr>
            <a:spLocks noGrp="1"/>
          </p:cNvSpPr>
          <p:nvPr/>
        </p:nvSpPr>
        <p:spPr>
          <a:xfrm>
            <a:off x="3857625" y="3762375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分析过程中传递的数据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689551-2A9D-412A-9A6A-FA1838162430}"/>
              </a:ext>
            </a:extLst>
          </p:cNvPr>
          <p:cNvSpPr>
            <a:spLocks noGrp="1"/>
          </p:cNvSpPr>
          <p:nvPr/>
        </p:nvSpPr>
        <p:spPr>
          <a:xfrm>
            <a:off x="6838950" y="3762375"/>
            <a:ext cx="1762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1">
                <a:solidFill>
                  <a:srgbClr val="6A868F"/>
                </a:solidFill>
              </a:defRPr>
            </a:pPr>
            <a:r>
              <a:rPr sz="1125" b="1">
                <a:solidFill>
                  <a:srgbClr val="6A868F"/>
                </a:solidFill>
              </a:rPr>
              <a:t>组合这些数据的计算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B72796-F1D6-44E4-873F-C0C4B96EBC26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C72A17-052F-4D19-AB29-63EABCF9A41F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在语法制导翻译中，action 通常附着在产生式上；我们可以用它组合语义值并构造 AST。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  <a:defRPr sz="33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本节使用的两套表达式文法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4E99CEF-AF55-BA3C-ADF8-4E52E186DD8F}" type="slidenum">
              <a:t>25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7D8D60-808F-49B0-B0A3-0131BF192518}"/>
              </a:ext>
            </a:extLst>
          </p:cNvPr>
          <p:cNvSpPr>
            <a:spLocks noGrp="1"/>
          </p:cNvSpPr>
          <p:nvPr/>
        </p:nvSpPr>
        <p:spPr>
          <a:xfrm>
            <a:off x="647700" y="14287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LR：原始左递归文法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E2A19F-0A68-4028-9BB9-05A4AD121A78}"/>
              </a:ext>
            </a:extLst>
          </p:cNvPr>
          <p:cNvSpPr>
            <a:spLocks noGrp="1"/>
          </p:cNvSpPr>
          <p:nvPr/>
        </p:nvSpPr>
        <p:spPr>
          <a:xfrm>
            <a:off x="647700" y="1857375"/>
            <a:ext cx="219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2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自底向上分析直接使用</a:t>
            </a:r>
          </a:p>
          <a:p>
            <a:pPr algn="l">
              <a:buNone/>
              <a:defRPr sz="12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左递归表达左结合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B5D3B0-D3F5-4925-87F1-EE003E38D8A7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219075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AD3E4E-6C71-490D-A906-998069FA6594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1924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101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 → expr PLUS term</a:t>
            </a:r>
          </a:p>
          <a:p>
            <a:pPr algn="l">
              <a:buNone/>
              <a:defRPr sz="101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| term</a:t>
            </a:r>
          </a:p>
          <a:p>
            <a:pPr algn="l">
              <a:buNone/>
              <a:defRPr sz="101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term → IDENT | INT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1421A2C6-DCEB-4983-BCC2-25C44D5720B1}"/>
              </a:ext>
            </a:extLst>
          </p:cNvPr>
          <p:cNvSpPr>
            <a:spLocks noGrp="1"/>
          </p:cNvSpPr>
          <p:nvPr/>
        </p:nvSpPr>
        <p:spPr>
          <a:xfrm>
            <a:off x="3000375" y="3033712"/>
            <a:ext cx="361950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CBCCA3-11E0-4CA0-983B-4524C78E91E4}"/>
              </a:ext>
            </a:extLst>
          </p:cNvPr>
          <p:cNvSpPr>
            <a:spLocks noGrp="1"/>
          </p:cNvSpPr>
          <p:nvPr/>
        </p:nvSpPr>
        <p:spPr>
          <a:xfrm>
            <a:off x="3524250" y="1428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两套文法描述同一种语言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1BDFCA-0CDE-43FD-8A65-1894839B4333}"/>
              </a:ext>
            </a:extLst>
          </p:cNvPr>
          <p:cNvSpPr>
            <a:spLocks noGrp="1"/>
          </p:cNvSpPr>
          <p:nvPr/>
        </p:nvSpPr>
        <p:spPr>
          <a:xfrm>
            <a:off x="3524250" y="1933575"/>
            <a:ext cx="247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都能识别相同的</a:t>
            </a:r>
          </a:p>
          <a:p>
            <a:pPr algn="l">
              <a:buNone/>
              <a:defRPr sz="1275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Token 序列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D2FE2A-88A3-470A-B88C-4459C29F6D17}"/>
              </a:ext>
            </a:extLst>
          </p:cNvPr>
          <p:cNvSpPr>
            <a:spLocks noGrp="1"/>
          </p:cNvSpPr>
          <p:nvPr/>
        </p:nvSpPr>
        <p:spPr>
          <a:xfrm>
            <a:off x="3524250" y="2714625"/>
            <a:ext cx="247650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2E925D7-59E1-4829-83AB-B1D25C5040FE}"/>
              </a:ext>
            </a:extLst>
          </p:cNvPr>
          <p:cNvSpPr>
            <a:spLocks noGrp="1"/>
          </p:cNvSpPr>
          <p:nvPr/>
        </p:nvSpPr>
        <p:spPr>
          <a:xfrm>
            <a:off x="3657600" y="2809875"/>
            <a:ext cx="2209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IDENT PLUS INT PLUS INT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endParaRPr sz="1050" b="0">
              <a:solidFill>
                <a:srgbClr val="F4F4F4"/>
              </a:solidFill>
              <a:latin typeface="Arial"/>
              <a:ea typeface="Arial"/>
              <a:cs typeface="Arial"/>
            </a:endParaRPr>
          </a:p>
          <a:p>
            <a:pPr algn="ctr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x + 1 + 2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052BC8B7-44A6-4185-B37D-F7B5224BB2E6}"/>
              </a:ext>
            </a:extLst>
          </p:cNvPr>
          <p:cNvSpPr>
            <a:spLocks noGrp="1"/>
          </p:cNvSpPr>
          <p:nvPr/>
        </p:nvSpPr>
        <p:spPr>
          <a:xfrm>
            <a:off x="6153150" y="3033712"/>
            <a:ext cx="361950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43AB489-57AF-4F1B-80F7-E08AD07E16C2}"/>
              </a:ext>
            </a:extLst>
          </p:cNvPr>
          <p:cNvSpPr>
            <a:spLocks noGrp="1"/>
          </p:cNvSpPr>
          <p:nvPr/>
        </p:nvSpPr>
        <p:spPr>
          <a:xfrm>
            <a:off x="6667500" y="1428750"/>
            <a:ext cx="2095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350" b="1">
                <a:solidFill>
                  <a:srgbClr val="6A868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A868F"/>
                </a:solidFill>
                <a:latin typeface="Arial"/>
                <a:ea typeface="Arial"/>
                <a:cs typeface="Arial"/>
              </a:rPr>
              <a:t>LL：消除左递归后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581FEE-A9F6-4E27-A677-2A45EC3F66BE}"/>
              </a:ext>
            </a:extLst>
          </p:cNvPr>
          <p:cNvSpPr>
            <a:spLocks noGrp="1"/>
          </p:cNvSpPr>
          <p:nvPr/>
        </p:nvSpPr>
        <p:spPr>
          <a:xfrm>
            <a:off x="6667500" y="1933575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后续的 + term 由</a:t>
            </a:r>
          </a:p>
          <a:p>
            <a:pPr algn="l">
              <a:buNone/>
              <a:defRPr sz="1200" b="1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2424"/>
                </a:solidFill>
                <a:latin typeface="Arial"/>
                <a:ea typeface="Arial"/>
                <a:cs typeface="Arial"/>
              </a:rPr>
              <a:t>expr_tail 表示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3D873C-0548-4C1D-A2F2-54BBA1C14222}"/>
              </a:ext>
            </a:extLst>
          </p:cNvPr>
          <p:cNvSpPr>
            <a:spLocks noGrp="1"/>
          </p:cNvSpPr>
          <p:nvPr/>
        </p:nvSpPr>
        <p:spPr>
          <a:xfrm>
            <a:off x="6667500" y="2714625"/>
            <a:ext cx="209550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2914862-B8DB-443A-A4E5-92FAA45E8FE7}"/>
              </a:ext>
            </a:extLst>
          </p:cNvPr>
          <p:cNvSpPr>
            <a:spLocks noGrp="1"/>
          </p:cNvSpPr>
          <p:nvPr/>
        </p:nvSpPr>
        <p:spPr>
          <a:xfrm>
            <a:off x="6800850" y="2809875"/>
            <a:ext cx="1828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86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 → term expr_tail</a:t>
            </a:r>
          </a:p>
          <a:p>
            <a:pPr algn="l">
              <a:buNone/>
              <a:defRPr sz="86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expr_tail → PLUS term expr_tail</a:t>
            </a:r>
          </a:p>
          <a:p>
            <a:pPr algn="l">
              <a:buNone/>
              <a:defRPr sz="86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   | ε</a:t>
            </a:r>
          </a:p>
          <a:p>
            <a:pPr algn="l">
              <a:buNone/>
              <a:defRPr sz="86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term → IDENT | INT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B72796-F1D6-44E4-873F-C0C4B96EBC26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C72A17-052F-4D19-AB29-63EABCF9A41F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我们将使用这个文法展示 semantic value 和 semantic action。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自底向上 Parser 中的 AST 构造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59AF09-D197-0193-A7DE-FAAF0B691058}" type="slidenum">
              <a:t>26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D6F02B-1037-4C1A-8E47-9C6E315E0408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reduce 不只替换语法符号，还要为左侧非终结符计算新的语义值。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A6317C-C872-4351-8C6A-D064E491723D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reduce 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3082F9-F0E8-4CF0-B303-4225ABF775EF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3286125" cy="1028700"/>
          </a:xfrm>
          <a:prstGeom prst="rect">
            <a:avLst/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9CC9EC-5857-457C-B6DE-90AF6F52810D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符号栈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B718373-E61E-4C30-974D-F498E28FEABE}"/>
              </a:ext>
            </a:extLst>
          </p:cNvPr>
          <p:cNvSpPr>
            <a:spLocks noGrp="1"/>
          </p:cNvSpPr>
          <p:nvPr/>
        </p:nvSpPr>
        <p:spPr>
          <a:xfrm>
            <a:off x="1571625" y="22669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…  expr₁   PLUS   term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9D1E8-D6BA-4BCD-9F1F-29C503874A01}"/>
              </a:ext>
            </a:extLst>
          </p:cNvPr>
          <p:cNvSpPr>
            <a:spLocks noGrp="1"/>
          </p:cNvSpPr>
          <p:nvPr/>
        </p:nvSpPr>
        <p:spPr>
          <a:xfrm>
            <a:off x="838200" y="2714625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语义值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2E9EB4-41BA-4A83-9C6C-7B98E88E4610}"/>
              </a:ext>
            </a:extLst>
          </p:cNvPr>
          <p:cNvSpPr>
            <a:spLocks noGrp="1"/>
          </p:cNvSpPr>
          <p:nvPr/>
        </p:nvSpPr>
        <p:spPr>
          <a:xfrm>
            <a:off x="1571625" y="26955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42424"/>
                </a:solidFill>
              </a:defRPr>
            </a:pPr>
            <a:r>
              <a:rPr sz="1050" b="0">
                <a:solidFill>
                  <a:srgbClr val="242424"/>
                </a:solidFill>
              </a:rPr>
              <a:t>…  expr₁.ast      term.ast</a:t>
            </a: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AEE9EF04-B7DC-4A3C-A880-BD7FF87A89AB}"/>
              </a:ext>
            </a:extLst>
          </p:cNvPr>
          <p:cNvSpPr>
            <a:spLocks noGrp="1"/>
          </p:cNvSpPr>
          <p:nvPr/>
        </p:nvSpPr>
        <p:spPr>
          <a:xfrm>
            <a:off x="4171950" y="2514600"/>
            <a:ext cx="571500" cy="2095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47D088-3BC3-487F-8BB1-B169ED5B560F}"/>
              </a:ext>
            </a:extLst>
          </p:cNvPr>
          <p:cNvSpPr>
            <a:spLocks noGrp="1"/>
          </p:cNvSpPr>
          <p:nvPr/>
        </p:nvSpPr>
        <p:spPr>
          <a:xfrm>
            <a:off x="3886200" y="27813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900" b="1">
                <a:solidFill>
                  <a:srgbClr val="6A868F"/>
                </a:solidFill>
              </a:defRPr>
            </a:pPr>
            <a:r>
              <a:rPr sz="900" b="1">
                <a:solidFill>
                  <a:srgbClr val="6A868F"/>
                </a:solidFill>
              </a:rPr>
              <a:t>reduce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CEB16DE-0919-4C1C-93D3-19078D1E84AA}"/>
              </a:ext>
            </a:extLst>
          </p:cNvPr>
          <p:cNvSpPr>
            <a:spLocks noGrp="1"/>
          </p:cNvSpPr>
          <p:nvPr/>
        </p:nvSpPr>
        <p:spPr>
          <a:xfrm>
            <a:off x="5095875" y="1809750"/>
            <a:ext cx="1285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reduce 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7DA301-04C4-4EF5-A17D-F34AF45014DC}"/>
              </a:ext>
            </a:extLst>
          </p:cNvPr>
          <p:cNvSpPr>
            <a:spLocks noGrp="1"/>
          </p:cNvSpPr>
          <p:nvPr/>
        </p:nvSpPr>
        <p:spPr>
          <a:xfrm>
            <a:off x="5000625" y="2143125"/>
            <a:ext cx="3762375" cy="1028700"/>
          </a:xfrm>
          <a:prstGeom prst="rect">
            <a:avLst/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DF4A26F-3C63-49ED-A974-2624026B2FAC}"/>
              </a:ext>
            </a:extLst>
          </p:cNvPr>
          <p:cNvSpPr>
            <a:spLocks noGrp="1"/>
          </p:cNvSpPr>
          <p:nvPr/>
        </p:nvSpPr>
        <p:spPr>
          <a:xfrm>
            <a:off x="5172075" y="228600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符号栈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8635FB-41F6-49C3-AD86-55E6874294D3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242424"/>
                </a:solidFill>
              </a:defRPr>
            </a:pPr>
            <a:r>
              <a:rPr sz="1125" b="1">
                <a:solidFill>
                  <a:srgbClr val="242424"/>
                </a:solidFill>
              </a:rPr>
              <a:t>…  expr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3FFA8-1DE3-4BC8-B0FB-2EBFF7E9961F}"/>
              </a:ext>
            </a:extLst>
          </p:cNvPr>
          <p:cNvSpPr>
            <a:spLocks noGrp="1"/>
          </p:cNvSpPr>
          <p:nvPr/>
        </p:nvSpPr>
        <p:spPr>
          <a:xfrm>
            <a:off x="5172075" y="2714625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语义值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619C76-20C4-4A06-8E37-F23D4624D8A2}"/>
              </a:ext>
            </a:extLst>
          </p:cNvPr>
          <p:cNvSpPr>
            <a:spLocks noGrp="1"/>
          </p:cNvSpPr>
          <p:nvPr/>
        </p:nvSpPr>
        <p:spPr>
          <a:xfrm>
            <a:off x="5905500" y="269557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00" b="0">
                <a:solidFill>
                  <a:srgbClr val="242424"/>
                </a:solidFill>
              </a:defRPr>
            </a:pPr>
            <a:r>
              <a:rPr sz="900" b="0">
                <a:solidFill>
                  <a:srgbClr val="242424"/>
                </a:solidFill>
              </a:rPr>
              <a:t>…  BinaryExpr(ADD, expr₁.ast, term.ast)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5BD74F-1724-4CFD-90F7-AFD4A07C8D57}"/>
              </a:ext>
            </a:extLst>
          </p:cNvPr>
          <p:cNvSpPr>
            <a:spLocks noGrp="1"/>
          </p:cNvSpPr>
          <p:nvPr/>
        </p:nvSpPr>
        <p:spPr>
          <a:xfrm>
            <a:off x="666750" y="3381375"/>
            <a:ext cx="7810500" cy="361950"/>
          </a:xfrm>
          <a:prstGeom prst="rect">
            <a:avLst/>
          </a:prstGeom>
          <a:solidFill>
            <a:srgbClr val="EEF3F4"/>
          </a:solidFill>
          <a:ln w="9525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042DD8-FCD4-4C0B-810C-70138EC43798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7543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Insight：reduce 时右侧语义值已经全部就绪，正适合触发 semantic action。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1C28E40-8B84-4EE1-AEA7-BE525D658892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7391400" cy="5143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073981-10FA-4064-95FC-79A32DA851D0}"/>
              </a:ext>
            </a:extLst>
          </p:cNvPr>
          <p:cNvSpPr>
            <a:spLocks noGrp="1"/>
          </p:cNvSpPr>
          <p:nvPr/>
        </p:nvSpPr>
        <p:spPr>
          <a:xfrm>
            <a:off x="1009650" y="4048125"/>
            <a:ext cx="7124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expr → expr₁ PLUS term   { expr.ast = BinaryExpr(ADD, expr₁.ast, term.ast); }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5AAC64-DC98-4076-8F0B-8A76EBCCFAD6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B77F99-9B40-4E92-B40B-60CBBE27FD7A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action 写在产生式右侧，表示识别完整个右侧、执行 reduce 时才触发。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例子：x + 1 的 AST 按 reduce 顺序逐层构造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F3AE1AE4-D79E-94D6-E825-3FC6C21A77D2}" type="slidenum">
              <a:t>27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54A1C4-3542-4A0F-B5FF-F192D66870C8}"/>
              </a:ext>
            </a:extLst>
          </p:cNvPr>
          <p:cNvSpPr>
            <a:spLocks noGrp="1"/>
          </p:cNvSpPr>
          <p:nvPr/>
        </p:nvSpPr>
        <p:spPr>
          <a:xfrm>
            <a:off x="714375" y="12858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输入：IDENT(x)  PLUS  INT(1)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011E8C-8369-48BD-8F08-3B00616A41E3}"/>
              </a:ext>
            </a:extLst>
          </p:cNvPr>
          <p:cNvSpPr>
            <a:spLocks noGrp="1"/>
          </p:cNvSpPr>
          <p:nvPr/>
        </p:nvSpPr>
        <p:spPr>
          <a:xfrm>
            <a:off x="714375" y="1790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reduce 顺序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616F91-1CA2-4C73-A18E-91D909FF19AD}"/>
              </a:ext>
            </a:extLst>
          </p:cNvPr>
          <p:cNvSpPr>
            <a:spLocks noGrp="1"/>
          </p:cNvSpPr>
          <p:nvPr/>
        </p:nvSpPr>
        <p:spPr>
          <a:xfrm>
            <a:off x="2857500" y="1790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执行的 semantic action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42453B-510F-4992-A193-F952AE21B316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得到的语义值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D4C0B9-BFF4-48FD-959D-734BFE168D09}"/>
              </a:ext>
            </a:extLst>
          </p:cNvPr>
          <p:cNvSpPr>
            <a:spLocks noGrp="1"/>
          </p:cNvSpPr>
          <p:nvPr/>
        </p:nvSpPr>
        <p:spPr>
          <a:xfrm>
            <a:off x="619125" y="2171700"/>
            <a:ext cx="83343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0F5A9B-C1D2-4AF6-8727-038D51D356B0}"/>
              </a:ext>
            </a:extLst>
          </p:cNvPr>
          <p:cNvSpPr>
            <a:spLocks noGrp="1"/>
          </p:cNvSpPr>
          <p:nvPr/>
        </p:nvSpPr>
        <p:spPr>
          <a:xfrm>
            <a:off x="742950" y="22860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42424"/>
                </a:solidFill>
              </a:defRPr>
            </a:pPr>
            <a:r>
              <a:rPr sz="1050" b="0">
                <a:solidFill>
                  <a:srgbClr val="242424"/>
                </a:solidFill>
              </a:rPr>
              <a:t>1. term → IDENT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A2F954-B890-4A29-97FC-52694F6A79D9}"/>
              </a:ext>
            </a:extLst>
          </p:cNvPr>
          <p:cNvSpPr>
            <a:spLocks noGrp="1"/>
          </p:cNvSpPr>
          <p:nvPr/>
        </p:nvSpPr>
        <p:spPr>
          <a:xfrm>
            <a:off x="2857500" y="2286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242424"/>
                </a:solidFill>
              </a:defRPr>
            </a:pPr>
            <a:r>
              <a:rPr sz="975" b="0">
                <a:solidFill>
                  <a:srgbClr val="242424"/>
                </a:solidFill>
              </a:rPr>
              <a:t>term.ast = NameExpr(IDENT.lexeme)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6538AC-E09A-41D0-BC67-9B6297C2F4CB}"/>
              </a:ext>
            </a:extLst>
          </p:cNvPr>
          <p:cNvSpPr>
            <a:spLocks noGrp="1"/>
          </p:cNvSpPr>
          <p:nvPr/>
        </p:nvSpPr>
        <p:spPr>
          <a:xfrm>
            <a:off x="6715125" y="2286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32788E"/>
                </a:solidFill>
              </a:defRPr>
            </a:pPr>
            <a:r>
              <a:rPr sz="975" b="1">
                <a:solidFill>
                  <a:srgbClr val="32788E"/>
                </a:solidFill>
              </a:rPr>
              <a:t>NameExpr("x")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5151CC-581C-487B-AA46-D4D7556FABED}"/>
              </a:ext>
            </a:extLst>
          </p:cNvPr>
          <p:cNvSpPr>
            <a:spLocks noGrp="1"/>
          </p:cNvSpPr>
          <p:nvPr/>
        </p:nvSpPr>
        <p:spPr>
          <a:xfrm>
            <a:off x="619125" y="2743200"/>
            <a:ext cx="83343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6E06ED-6813-4050-A5E7-5E4D2D4233C2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42424"/>
                </a:solidFill>
              </a:defRPr>
            </a:pPr>
            <a:r>
              <a:rPr sz="1050" b="0">
                <a:solidFill>
                  <a:srgbClr val="242424"/>
                </a:solidFill>
              </a:rPr>
              <a:t>2. expr → term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D5CFE2-80BF-4E11-AD1D-D84502E853FA}"/>
              </a:ext>
            </a:extLst>
          </p:cNvPr>
          <p:cNvSpPr>
            <a:spLocks noGrp="1"/>
          </p:cNvSpPr>
          <p:nvPr/>
        </p:nvSpPr>
        <p:spPr>
          <a:xfrm>
            <a:off x="2857500" y="2857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242424"/>
                </a:solidFill>
              </a:defRPr>
            </a:pPr>
            <a:r>
              <a:rPr sz="975" b="0">
                <a:solidFill>
                  <a:srgbClr val="242424"/>
                </a:solidFill>
              </a:rPr>
              <a:t>expr.ast = term.ast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207DE5-B285-44AD-931A-304FCAF05EA5}"/>
              </a:ext>
            </a:extLst>
          </p:cNvPr>
          <p:cNvSpPr>
            <a:spLocks noGrp="1"/>
          </p:cNvSpPr>
          <p:nvPr/>
        </p:nvSpPr>
        <p:spPr>
          <a:xfrm>
            <a:off x="6715125" y="2857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32788E"/>
                </a:solidFill>
              </a:defRPr>
            </a:pPr>
            <a:r>
              <a:rPr sz="975" b="1">
                <a:solidFill>
                  <a:srgbClr val="32788E"/>
                </a:solidFill>
              </a:rPr>
              <a:t>NameExpr("x")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18B79A-17DD-4B35-AA34-6508F442B851}"/>
              </a:ext>
            </a:extLst>
          </p:cNvPr>
          <p:cNvSpPr>
            <a:spLocks noGrp="1"/>
          </p:cNvSpPr>
          <p:nvPr/>
        </p:nvSpPr>
        <p:spPr>
          <a:xfrm>
            <a:off x="619125" y="3314700"/>
            <a:ext cx="8334375" cy="495300"/>
          </a:xfrm>
          <a:prstGeom prst="rect">
            <a:avLst/>
          </a:prstGeom>
          <a:solidFill>
            <a:srgbClr val="F7F7F7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F00BC7-0A28-4D77-BB13-1ABC2943AF7A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42424"/>
                </a:solidFill>
              </a:defRPr>
            </a:pPr>
            <a:r>
              <a:rPr sz="1050" b="0">
                <a:solidFill>
                  <a:srgbClr val="242424"/>
                </a:solidFill>
              </a:rPr>
              <a:t>3. term → INT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0675EB-8B71-4AFD-996B-41FEC988B731}"/>
              </a:ext>
            </a:extLst>
          </p:cNvPr>
          <p:cNvSpPr>
            <a:spLocks noGrp="1"/>
          </p:cNvSpPr>
          <p:nvPr/>
        </p:nvSpPr>
        <p:spPr>
          <a:xfrm>
            <a:off x="2857500" y="34290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242424"/>
                </a:solidFill>
              </a:defRPr>
            </a:pPr>
            <a:r>
              <a:rPr sz="975" b="0">
                <a:solidFill>
                  <a:srgbClr val="242424"/>
                </a:solidFill>
              </a:rPr>
              <a:t>term.ast = IntExpr(INT.value)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D6C445-4D1C-437D-9663-2C89D3AF23FD}"/>
              </a:ext>
            </a:extLst>
          </p:cNvPr>
          <p:cNvSpPr>
            <a:spLocks noGrp="1"/>
          </p:cNvSpPr>
          <p:nvPr/>
        </p:nvSpPr>
        <p:spPr>
          <a:xfrm>
            <a:off x="6715125" y="3429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32788E"/>
                </a:solidFill>
              </a:defRPr>
            </a:pPr>
            <a:r>
              <a:rPr sz="975" b="1">
                <a:solidFill>
                  <a:srgbClr val="32788E"/>
                </a:solidFill>
              </a:rPr>
              <a:t>IntExpr(1)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58BF86-2F59-46D3-897E-1011DC71B745}"/>
              </a:ext>
            </a:extLst>
          </p:cNvPr>
          <p:cNvSpPr>
            <a:spLocks noGrp="1"/>
          </p:cNvSpPr>
          <p:nvPr/>
        </p:nvSpPr>
        <p:spPr>
          <a:xfrm>
            <a:off x="619125" y="3886200"/>
            <a:ext cx="83343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4E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631B684-EBB1-4050-B8A0-DD0CFE4B40FB}"/>
              </a:ext>
            </a:extLst>
          </p:cNvPr>
          <p:cNvSpPr>
            <a:spLocks noGrp="1"/>
          </p:cNvSpPr>
          <p:nvPr/>
        </p:nvSpPr>
        <p:spPr>
          <a:xfrm>
            <a:off x="74295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0">
                <a:solidFill>
                  <a:srgbClr val="242424"/>
                </a:solidFill>
              </a:defRPr>
            </a:pPr>
            <a:r>
              <a:rPr sz="1050" b="0">
                <a:solidFill>
                  <a:srgbClr val="242424"/>
                </a:solidFill>
              </a:rPr>
              <a:t>4. expr → expr PLUS term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6D77D9A-C0F9-499C-882E-C8645E211F29}"/>
              </a:ext>
            </a:extLst>
          </p:cNvPr>
          <p:cNvSpPr>
            <a:spLocks noGrp="1"/>
          </p:cNvSpPr>
          <p:nvPr/>
        </p:nvSpPr>
        <p:spPr>
          <a:xfrm>
            <a:off x="2857500" y="40005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BE384B"/>
                </a:solidFill>
              </a:defRPr>
            </a:pPr>
            <a:r>
              <a:rPr sz="975" b="0">
                <a:solidFill>
                  <a:srgbClr val="BE384B"/>
                </a:solidFill>
              </a:rPr>
              <a:t>expr.ast = BinaryExpr(ADD, expr₁.ast, term.ast)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7DB47E1-CD5B-4E4D-BDC8-E60BA6FB9216}"/>
              </a:ext>
            </a:extLst>
          </p:cNvPr>
          <p:cNvSpPr>
            <a:spLocks noGrp="1"/>
          </p:cNvSpPr>
          <p:nvPr/>
        </p:nvSpPr>
        <p:spPr>
          <a:xfrm>
            <a:off x="6715125" y="4000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1">
                <a:solidFill>
                  <a:srgbClr val="32788E"/>
                </a:solidFill>
              </a:defRPr>
            </a:pPr>
            <a:r>
              <a:rPr sz="975" b="1">
                <a:solidFill>
                  <a:srgbClr val="32788E"/>
                </a:solidFill>
              </a:rPr>
              <a:t>BinaryExpr(ADD, ...)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341B8FA-7FCD-43D9-8083-16E6FD7FA46B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9268F60-22D8-4B3A-94D0-578C88653121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每次 action 只组合已经存在的子结果；最后一次 reduce 才得到整棵 AST。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常见写法：把语义值按产生式位置编号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AB55966-FA28-BC73-EA9E-53DF014DF033}" type="slidenum">
              <a:t>28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76419B-79A3-45AA-BF5F-ABCC8502B535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上一页用 expr₁.ast、term.ast 命名；parser generator 常按产生式中的位置引用它们。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EB76F6C-8554-4B60-BB39-C91C9B82B4CD}"/>
              </a:ext>
            </a:extLst>
          </p:cNvPr>
          <p:cNvSpPr>
            <a:spLocks noGrp="1"/>
          </p:cNvSpPr>
          <p:nvPr/>
        </p:nvSpPr>
        <p:spPr>
          <a:xfrm>
            <a:off x="742950" y="2047875"/>
            <a:ext cx="1428750" cy="552450"/>
          </a:xfrm>
          <a:prstGeom prst="roundRect">
            <a:avLst>
              <a:gd name="adj" fmla="val 6897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3FBDB89-AF66-4258-9EA1-59C192A17293}"/>
              </a:ext>
            </a:extLst>
          </p:cNvPr>
          <p:cNvSpPr>
            <a:spLocks noGrp="1"/>
          </p:cNvSpPr>
          <p:nvPr/>
        </p:nvSpPr>
        <p:spPr>
          <a:xfrm>
            <a:off x="819150" y="2162175"/>
            <a:ext cx="1276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expr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D02021-0FC4-4A74-96D0-B2DC0D62DC86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$$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F6A505D-1135-449D-9254-2B5B35513E1B}"/>
              </a:ext>
            </a:extLst>
          </p:cNvPr>
          <p:cNvSpPr>
            <a:spLocks noGrp="1"/>
          </p:cNvSpPr>
          <p:nvPr/>
        </p:nvSpPr>
        <p:spPr>
          <a:xfrm>
            <a:off x="2333625" y="2152650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6A868F"/>
                </a:solidFill>
              </a:defRPr>
            </a:pPr>
            <a:r>
              <a:rPr sz="1725" b="1">
                <a:solidFill>
                  <a:srgbClr val="6A868F"/>
                </a:solidFill>
              </a:rPr>
              <a:t>→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18CE2C5-F0A5-4EB9-A31C-E76FC03BCEF1}"/>
              </a:ext>
            </a:extLst>
          </p:cNvPr>
          <p:cNvSpPr>
            <a:spLocks noGrp="1"/>
          </p:cNvSpPr>
          <p:nvPr/>
        </p:nvSpPr>
        <p:spPr>
          <a:xfrm>
            <a:off x="2952750" y="2047875"/>
            <a:ext cx="1381125" cy="552450"/>
          </a:xfrm>
          <a:prstGeom prst="roundRect">
            <a:avLst>
              <a:gd name="adj" fmla="val 6897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EC5E82-7EA4-4DD9-8D28-99F6E87613AB}"/>
              </a:ext>
            </a:extLst>
          </p:cNvPr>
          <p:cNvSpPr>
            <a:spLocks noGrp="1"/>
          </p:cNvSpPr>
          <p:nvPr/>
        </p:nvSpPr>
        <p:spPr>
          <a:xfrm>
            <a:off x="3028950" y="2162175"/>
            <a:ext cx="1228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expr₁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9BC6B9-71A9-4891-8756-F62B2BB27B5A}"/>
              </a:ext>
            </a:extLst>
          </p:cNvPr>
          <p:cNvSpPr>
            <a:spLocks noGrp="1"/>
          </p:cNvSpPr>
          <p:nvPr/>
        </p:nvSpPr>
        <p:spPr>
          <a:xfrm>
            <a:off x="2952750" y="26860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$1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CD14402-8A86-4110-B923-523EF779F580}"/>
              </a:ext>
            </a:extLst>
          </p:cNvPr>
          <p:cNvSpPr>
            <a:spLocks noGrp="1"/>
          </p:cNvSpPr>
          <p:nvPr/>
        </p:nvSpPr>
        <p:spPr>
          <a:xfrm>
            <a:off x="4572000" y="2047875"/>
            <a:ext cx="1143000" cy="552450"/>
          </a:xfrm>
          <a:prstGeom prst="roundRect">
            <a:avLst>
              <a:gd name="adj" fmla="val 6897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744CD8-2C88-4BC1-8845-D371DAC6751F}"/>
              </a:ext>
            </a:extLst>
          </p:cNvPr>
          <p:cNvSpPr>
            <a:spLocks noGrp="1"/>
          </p:cNvSpPr>
          <p:nvPr/>
        </p:nvSpPr>
        <p:spPr>
          <a:xfrm>
            <a:off x="4648200" y="2162175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PLUS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3C7CEC-BDCE-4D30-9ED2-DC0B672AC931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$2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0BF49CA-2F53-491D-B234-75729EB7701B}"/>
              </a:ext>
            </a:extLst>
          </p:cNvPr>
          <p:cNvSpPr>
            <a:spLocks noGrp="1"/>
          </p:cNvSpPr>
          <p:nvPr/>
        </p:nvSpPr>
        <p:spPr>
          <a:xfrm>
            <a:off x="5953125" y="2047875"/>
            <a:ext cx="1381125" cy="552450"/>
          </a:xfrm>
          <a:prstGeom prst="roundRect">
            <a:avLst>
              <a:gd name="adj" fmla="val 6897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7DC0D6-F975-4D48-9BDB-EA4104A1557B}"/>
              </a:ext>
            </a:extLst>
          </p:cNvPr>
          <p:cNvSpPr>
            <a:spLocks noGrp="1"/>
          </p:cNvSpPr>
          <p:nvPr/>
        </p:nvSpPr>
        <p:spPr>
          <a:xfrm>
            <a:off x="6029325" y="2162175"/>
            <a:ext cx="12287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term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F6E2A2-7CBF-4468-BE61-40455E73AAA2}"/>
              </a:ext>
            </a:extLst>
          </p:cNvPr>
          <p:cNvSpPr>
            <a:spLocks noGrp="1"/>
          </p:cNvSpPr>
          <p:nvPr/>
        </p:nvSpPr>
        <p:spPr>
          <a:xfrm>
            <a:off x="5953125" y="2686050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$3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F3038C-F08A-4D09-A383-EF854D577525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13525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32788E"/>
                </a:solidFill>
              </a:defRPr>
            </a:pPr>
            <a:r>
              <a:rPr sz="1050" b="0">
                <a:solidFill>
                  <a:srgbClr val="32788E"/>
                </a:solidFill>
              </a:rPr>
              <a:t>左侧的语义值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B4313A-6C79-4373-A50A-D7C0C8A4593C}"/>
              </a:ext>
            </a:extLst>
          </p:cNvPr>
          <p:cNvSpPr>
            <a:spLocks noGrp="1"/>
          </p:cNvSpPr>
          <p:nvPr/>
        </p:nvSpPr>
        <p:spPr>
          <a:xfrm>
            <a:off x="2905125" y="3000375"/>
            <a:ext cx="447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6A868F"/>
                </a:solidFill>
              </a:defRPr>
            </a:pPr>
            <a:r>
              <a:rPr sz="1050" b="0">
                <a:solidFill>
                  <a:srgbClr val="6A868F"/>
                </a:solidFill>
              </a:rPr>
              <a:t>右侧第 1、2、3 个符号的语义值；本例不需要使用 PLUS 的 $2。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41A860-A213-4AC8-BF15-E171B5CD2304}"/>
              </a:ext>
            </a:extLst>
          </p:cNvPr>
          <p:cNvSpPr>
            <a:spLocks noGrp="1"/>
          </p:cNvSpPr>
          <p:nvPr/>
        </p:nvSpPr>
        <p:spPr>
          <a:xfrm>
            <a:off x="666750" y="34099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上一页的命名写法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EEC5D2-61C4-4F32-B695-C8E91EBC901A}"/>
              </a:ext>
            </a:extLst>
          </p:cNvPr>
          <p:cNvSpPr>
            <a:spLocks noGrp="1"/>
          </p:cNvSpPr>
          <p:nvPr/>
        </p:nvSpPr>
        <p:spPr>
          <a:xfrm>
            <a:off x="4762500" y="34099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parser generator 的位置简写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D9906B-E50A-4F6B-83A8-A46F3751C0C1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3714750" cy="6096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A546EB-DA86-412D-8CDE-B93DCE018600}"/>
              </a:ext>
            </a:extLst>
          </p:cNvPr>
          <p:cNvSpPr>
            <a:spLocks noGrp="1"/>
          </p:cNvSpPr>
          <p:nvPr/>
        </p:nvSpPr>
        <p:spPr>
          <a:xfrm>
            <a:off x="800100" y="38671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F4F4F4"/>
                </a:solidFill>
              </a:defRPr>
            </a:pPr>
            <a:r>
              <a:rPr sz="900" b="0">
                <a:solidFill>
                  <a:srgbClr val="F4F4F4"/>
                </a:solidFill>
              </a:rPr>
              <a:t>expr.ast = BinaryExpr(ADD, expr₁.ast, term.ast)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8846635-44ED-43D7-A04F-6A1A0B13C74F}"/>
              </a:ext>
            </a:extLst>
          </p:cNvPr>
          <p:cNvSpPr>
            <a:spLocks noGrp="1"/>
          </p:cNvSpPr>
          <p:nvPr/>
        </p:nvSpPr>
        <p:spPr>
          <a:xfrm>
            <a:off x="4762500" y="3771900"/>
            <a:ext cx="3714750" cy="6096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74CC25F-4AA8-4784-9BFE-5EB267671065}"/>
              </a:ext>
            </a:extLst>
          </p:cNvPr>
          <p:cNvSpPr>
            <a:spLocks noGrp="1"/>
          </p:cNvSpPr>
          <p:nvPr/>
        </p:nvSpPr>
        <p:spPr>
          <a:xfrm>
            <a:off x="4895850" y="38671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F4F4F4"/>
                </a:solidFill>
              </a:defRPr>
            </a:pPr>
            <a:r>
              <a:rPr sz="1050" b="0">
                <a:solidFill>
                  <a:srgbClr val="F4F4F4"/>
                </a:solidFill>
              </a:rPr>
              <a:t>$$ = BinaryExpr(ADD, $1, $3)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DD4AC3-48EE-41F3-916C-0E53DDD18913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8FD145-1FA2-4C18-B2AE-B82A0DEF91A0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$1、$3 和 $$ 不是源码变量，而是 parser generator 引用语义值的简写。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再看LL Parser：AST 在哪里构造？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02F15020-66A7-620A-7B7A-C05C4312DEAE}" type="slidenum">
              <a:t>29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D479DF-7137-428A-8BFF-8CB06B35A7C7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它会展开产生式、匹配 Token，却只给出接受或报错。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BACD3B-46B2-4621-BD8D-BB6C687DECFE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5191125" cy="2333625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D3B6A5-E6D8-42F6-AE56-392A0B9331BB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4886325" cy="2105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while stack not empty: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X = pop(stack)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if X is a terminal: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    require(X == current); consume()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else: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    production = table[X, current]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    push production.rhs onto stack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9204169-F643-451D-8A68-782824F60731}"/>
              </a:ext>
            </a:extLst>
          </p:cNvPr>
          <p:cNvSpPr>
            <a:spLocks noGrp="1"/>
          </p:cNvSpPr>
          <p:nvPr/>
        </p:nvSpPr>
        <p:spPr>
          <a:xfrm>
            <a:off x="6334125" y="1809750"/>
            <a:ext cx="904875" cy="457200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2F4CC2-53D1-4D8E-BF7C-2F467321B85C}"/>
              </a:ext>
            </a:extLst>
          </p:cNvPr>
          <p:cNvSpPr>
            <a:spLocks noGrp="1"/>
          </p:cNvSpPr>
          <p:nvPr/>
        </p:nvSpPr>
        <p:spPr>
          <a:xfrm>
            <a:off x="6410325" y="1876425"/>
            <a:ext cx="752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栈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61C0F66B-E8E0-47C6-8736-E52AFA13E925}"/>
              </a:ext>
            </a:extLst>
          </p:cNvPr>
          <p:cNvSpPr>
            <a:spLocks noGrp="1"/>
          </p:cNvSpPr>
          <p:nvPr/>
        </p:nvSpPr>
        <p:spPr>
          <a:xfrm>
            <a:off x="7477125" y="1809750"/>
            <a:ext cx="904875" cy="457200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D48597-3F64-452D-AA36-D4119F4D472A}"/>
              </a:ext>
            </a:extLst>
          </p:cNvPr>
          <p:cNvSpPr>
            <a:spLocks noGrp="1"/>
          </p:cNvSpPr>
          <p:nvPr/>
        </p:nvSpPr>
        <p:spPr>
          <a:xfrm>
            <a:off x="7553325" y="1876425"/>
            <a:ext cx="7524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077AA8-9452-4BBB-BBB1-6D8A3C0F8E9B}"/>
              </a:ext>
            </a:extLst>
          </p:cNvPr>
          <p:cNvSpPr>
            <a:spLocks noGrp="1"/>
          </p:cNvSpPr>
          <p:nvPr/>
        </p:nvSpPr>
        <p:spPr>
          <a:xfrm>
            <a:off x="7181850" y="1914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6A868F"/>
                </a:solidFill>
              </a:defRPr>
            </a:pPr>
            <a:r>
              <a:rPr sz="1500" b="1">
                <a:solidFill>
                  <a:srgbClr val="6A868F"/>
                </a:solidFill>
              </a:rPr>
              <a:t>+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E0349AA3-7856-4BAA-8328-0F464EF2485C}"/>
              </a:ext>
            </a:extLst>
          </p:cNvPr>
          <p:cNvSpPr>
            <a:spLocks noGrp="1"/>
          </p:cNvSpPr>
          <p:nvPr/>
        </p:nvSpPr>
        <p:spPr>
          <a:xfrm>
            <a:off x="6905625" y="2524125"/>
            <a:ext cx="1000125" cy="457200"/>
          </a:xfrm>
          <a:prstGeom prst="roundRect">
            <a:avLst>
              <a:gd name="adj" fmla="val 8333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2F3D2E-3A37-44A6-818D-05184877AF94}"/>
              </a:ext>
            </a:extLst>
          </p:cNvPr>
          <p:cNvSpPr>
            <a:spLocks noGrp="1"/>
          </p:cNvSpPr>
          <p:nvPr/>
        </p:nvSpPr>
        <p:spPr>
          <a:xfrm>
            <a:off x="6981825" y="2590800"/>
            <a:ext cx="8477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分析表</a:t>
            </a:r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32204F90-EC0E-46F1-91DA-9CA37FA2DB9E}"/>
              </a:ext>
            </a:extLst>
          </p:cNvPr>
          <p:cNvSpPr>
            <a:spLocks noGrp="1"/>
          </p:cNvSpPr>
          <p:nvPr/>
        </p:nvSpPr>
        <p:spPr>
          <a:xfrm rot="5400000">
            <a:off x="7191375" y="3190875"/>
            <a:ext cx="457200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4A5EB8F2-2E16-4570-A1D9-4440A031879D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1714500" cy="495300"/>
          </a:xfrm>
          <a:prstGeom prst="roundRect">
            <a:avLst>
              <a:gd name="adj" fmla="val 7692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7B8939-CD81-4550-BE60-5AABEF777CB2}"/>
              </a:ext>
            </a:extLst>
          </p:cNvPr>
          <p:cNvSpPr>
            <a:spLocks noGrp="1"/>
          </p:cNvSpPr>
          <p:nvPr/>
        </p:nvSpPr>
        <p:spPr>
          <a:xfrm>
            <a:off x="6648450" y="3638550"/>
            <a:ext cx="1562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接受 / 报错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5DCCA7-AEF0-42F5-A3B0-482DC7E1CD88}"/>
              </a:ext>
            </a:extLst>
          </p:cNvPr>
          <p:cNvSpPr>
            <a:spLocks noGrp="1"/>
          </p:cNvSpPr>
          <p:nvPr/>
        </p:nvSpPr>
        <p:spPr>
          <a:xfrm>
            <a:off x="6762750" y="4238625"/>
            <a:ext cx="133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800" b="1">
                <a:solidFill>
                  <a:srgbClr val="BE384B"/>
                </a:solidFill>
              </a:defRPr>
            </a:pPr>
            <a:r>
              <a:rPr sz="1800" b="1">
                <a:solidFill>
                  <a:srgbClr val="BE384B"/>
                </a:solidFill>
              </a:rPr>
              <a:t>AST ?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1578DF-40D5-4577-B01E-1D7F3465F849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70E595-25F2-4358-84E2-6DB6D5EC55F1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这里没有显式 reduce：AST 构造逻辑应该在什么时候、什么位置执行？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E5CC-B198-42E7-A225-E8CC986BA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回顾：左递归消除带来的右结合问题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44E025A-983C-6D44-79C6-4612AACD43FC}" type="slidenum">
              <a:t>30</a:t>
            </a:fld>
            <a:endParaRPr/>
          </a:p>
        </p:txBody>
      </p:sp>
      <p:sp>
        <p:nvSpPr>
          <p:cNvPr id="5" name="lr19-subtitle">
            <a:extLst>
              <a:ext uri="{FF2B5EF4-FFF2-40B4-BE49-F238E27FC236}">
                <a16:creationId xmlns:a16="http://schemas.microsoft.com/office/drawing/2014/main" id="{D786A127-4693-458F-9A2E-9A3200791596}"/>
              </a:ext>
            </a:extLst>
          </p:cNvPr>
          <p:cNvSpPr>
            <a:spLocks noGrp="1"/>
          </p:cNvSpPr>
          <p:nvPr/>
        </p:nvSpPr>
        <p:spPr>
          <a:xfrm>
            <a:off x="704850" y="1219200"/>
            <a:ext cx="7734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25" b="1">
                <a:solidFill>
                  <a:srgbClr val="454545"/>
                </a:solidFill>
              </a:defRPr>
            </a:pPr>
            <a:r>
              <a:rPr sz="1425" b="1">
                <a:solidFill>
                  <a:srgbClr val="454545"/>
                </a:solidFill>
              </a:rPr>
              <a:t>把 PLUS 换成 MINUS：expr_tail 在右侧递归，为什么结果仍是 (10 - 3) - 2？</a:t>
            </a:r>
          </a:p>
        </p:txBody>
      </p:sp>
      <p:sp>
        <p:nvSpPr>
          <p:cNvPr id="6" name="lr19-left-heading">
            <a:extLst>
              <a:ext uri="{FF2B5EF4-FFF2-40B4-BE49-F238E27FC236}">
                <a16:creationId xmlns:a16="http://schemas.microsoft.com/office/drawing/2014/main" id="{943B9F5E-278C-466C-9594-2846F9D4C099}"/>
              </a:ext>
            </a:extLst>
          </p:cNvPr>
          <p:cNvSpPr>
            <a:spLocks noGrp="1"/>
          </p:cNvSpPr>
          <p:nvPr/>
        </p:nvSpPr>
        <p:spPr>
          <a:xfrm>
            <a:off x="628650" y="16764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文法：重复项向右递归</a:t>
            </a:r>
          </a:p>
        </p:txBody>
      </p:sp>
      <p:sp>
        <p:nvSpPr>
          <p:cNvPr id="7" name="lr19-old-grammar">
            <a:extLst>
              <a:ext uri="{FF2B5EF4-FFF2-40B4-BE49-F238E27FC236}">
                <a16:creationId xmlns:a16="http://schemas.microsoft.com/office/drawing/2014/main" id="{59538D14-CC6B-4EDB-9AF0-43283684A32C}"/>
              </a:ext>
            </a:extLst>
          </p:cNvPr>
          <p:cNvSpPr>
            <a:spLocks noGrp="1"/>
          </p:cNvSpPr>
          <p:nvPr/>
        </p:nvSpPr>
        <p:spPr>
          <a:xfrm>
            <a:off x="628650" y="2000250"/>
            <a:ext cx="3667125" cy="742950"/>
          </a:xfrm>
          <a:prstGeom prst="rect">
            <a:avLst/>
          </a:prstGeom>
          <a:solidFill>
            <a:srgbClr val="FCEEF0"/>
          </a:solidFill>
          <a:ln w="9525">
            <a:solidFill>
              <a:srgbClr val="C4384D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 → term expr_tail</a:t>
            </a:r>
          </a:p>
          <a:p>
            <a:pPr algn="l">
              <a:buNone/>
              <a:defRPr sz="1313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313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 → MINUS term expr_tail | ε</a:t>
            </a:r>
          </a:p>
        </p:txBody>
      </p:sp>
      <p:sp>
        <p:nvSpPr>
          <p:cNvPr id="8" name="lr19-old-result-label">
            <a:extLst>
              <a:ext uri="{FF2B5EF4-FFF2-40B4-BE49-F238E27FC236}">
                <a16:creationId xmlns:a16="http://schemas.microsoft.com/office/drawing/2014/main" id="{88EA6601-D0EC-445B-ACFA-091BA1DF70B3}"/>
              </a:ext>
            </a:extLst>
          </p:cNvPr>
          <p:cNvSpPr>
            <a:spLocks noGrp="1"/>
          </p:cNvSpPr>
          <p:nvPr/>
        </p:nvSpPr>
        <p:spPr>
          <a:xfrm>
            <a:off x="685800" y="28003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C4384D"/>
                </a:solidFill>
              </a:defRPr>
            </a:pPr>
            <a:r>
              <a:rPr sz="1238" b="1">
                <a:solidFill>
                  <a:srgbClr val="C4384D"/>
                </a:solidFill>
              </a:rPr>
              <a:t>输入及尾部展开</a:t>
            </a:r>
          </a:p>
        </p:txBody>
      </p:sp>
      <p:sp>
        <p:nvSpPr>
          <p:cNvPr id="9" name="lr19-old-expansion">
            <a:extLst>
              <a:ext uri="{FF2B5EF4-FFF2-40B4-BE49-F238E27FC236}">
                <a16:creationId xmlns:a16="http://schemas.microsoft.com/office/drawing/2014/main" id="{D172E123-A30F-4F6B-9116-C9E2DE82F720}"/>
              </a:ext>
            </a:extLst>
          </p:cNvPr>
          <p:cNvSpPr>
            <a:spLocks noGrp="1"/>
          </p:cNvSpPr>
          <p:nvPr/>
        </p:nvSpPr>
        <p:spPr>
          <a:xfrm>
            <a:off x="628650" y="3057525"/>
            <a:ext cx="3667125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输入：10 MINUS 3 MINUS 2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 sz="1125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r>
              <a:rPr sz="1125">
                <a:solidFill>
                  <a:srgbClr val="454545"/>
                </a:solidFill>
                <a:latin typeface="Menlo"/>
                <a:ea typeface="Menlo"/>
                <a:cs typeface="Menlo"/>
              </a:rPr>
              <a:t>expr_tail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MINUS 3 expr_tail</a:t>
            </a:r>
          </a:p>
          <a:p>
            <a:pPr algn="l">
              <a:buNone/>
              <a:defRPr sz="1125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→ MINUS 3 MINUS 2 ε</a:t>
            </a:r>
          </a:p>
        </p:txBody>
      </p:sp>
      <p:sp>
        <p:nvSpPr>
          <p:cNvPr id="10" name="lr19-right-heading">
            <a:extLst>
              <a:ext uri="{FF2B5EF4-FFF2-40B4-BE49-F238E27FC236}">
                <a16:creationId xmlns:a16="http://schemas.microsoft.com/office/drawing/2014/main" id="{6487FD73-600D-4B53-A779-BC741D149AC6}"/>
              </a:ext>
            </a:extLst>
          </p:cNvPr>
          <p:cNvSpPr>
            <a:spLocks noGrp="1"/>
          </p:cNvSpPr>
          <p:nvPr/>
        </p:nvSpPr>
        <p:spPr>
          <a:xfrm>
            <a:off x="4810125" y="167640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88" b="1">
                <a:solidFill>
                  <a:srgbClr val="454545"/>
                </a:solidFill>
              </a:defRPr>
            </a:pPr>
            <a:r>
              <a:rPr sz="1388" b="1">
                <a:solidFill>
                  <a:srgbClr val="454545"/>
                </a:solidFill>
              </a:rPr>
              <a:t>实现：循环向左累积</a:t>
            </a:r>
          </a:p>
        </p:txBody>
      </p:sp>
      <p:sp>
        <p:nvSpPr>
          <p:cNvPr id="11" name="lr19-new-grammar">
            <a:extLst>
              <a:ext uri="{FF2B5EF4-FFF2-40B4-BE49-F238E27FC236}">
                <a16:creationId xmlns:a16="http://schemas.microsoft.com/office/drawing/2014/main" id="{18CCCFD1-3E59-4D60-83DC-D44EBB8CCE62}"/>
              </a:ext>
            </a:extLst>
          </p:cNvPr>
          <p:cNvSpPr>
            <a:spLocks noGrp="1"/>
          </p:cNvSpPr>
          <p:nvPr/>
        </p:nvSpPr>
        <p:spPr>
          <a:xfrm>
            <a:off x="4810125" y="2000250"/>
            <a:ext cx="3714750" cy="952500"/>
          </a:xfrm>
          <a:prstGeom prst="rect">
            <a:avLst/>
          </a:prstGeom>
          <a:solidFill>
            <a:srgbClr val="EAF5F8"/>
          </a:solidFill>
          <a:ln w="9525">
            <a:solidFill>
              <a:srgbClr val="2D7C93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parseTerm()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while current == MINUS: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right = parseTerm()</a:t>
            </a:r>
          </a:p>
          <a:p>
            <a:pPr algn="l">
              <a:buNone/>
              <a:defRPr sz="126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26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  left = MINUS(left, right)</a:t>
            </a:r>
          </a:p>
        </p:txBody>
      </p:sp>
      <p:sp>
        <p:nvSpPr>
          <p:cNvPr id="12" name="lr19-code-label">
            <a:extLst>
              <a:ext uri="{FF2B5EF4-FFF2-40B4-BE49-F238E27FC236}">
                <a16:creationId xmlns:a16="http://schemas.microsoft.com/office/drawing/2014/main" id="{B291B762-04AC-4FDD-8F48-D30BAB63F1BD}"/>
              </a:ext>
            </a:extLst>
          </p:cNvPr>
          <p:cNvSpPr>
            <a:spLocks noGrp="1"/>
          </p:cNvSpPr>
          <p:nvPr/>
        </p:nvSpPr>
        <p:spPr>
          <a:xfrm>
            <a:off x="4867275" y="30099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38" b="1">
                <a:solidFill>
                  <a:srgbClr val="2D7C93"/>
                </a:solidFill>
              </a:defRPr>
            </a:pPr>
            <a:r>
              <a:rPr sz="1238" b="1">
                <a:solidFill>
                  <a:srgbClr val="2D7C93"/>
                </a:solidFill>
              </a:rPr>
              <a:t>每读入一个右操作数，就更新 left</a:t>
            </a:r>
          </a:p>
        </p:txBody>
      </p:sp>
      <p:sp>
        <p:nvSpPr>
          <p:cNvPr id="13" name="lr19-tail-expansion">
            <a:extLst>
              <a:ext uri="{FF2B5EF4-FFF2-40B4-BE49-F238E27FC236}">
                <a16:creationId xmlns:a16="http://schemas.microsoft.com/office/drawing/2014/main" id="{F502B182-9675-4B9A-8D68-8E0DE7490E8A}"/>
              </a:ext>
            </a:extLst>
          </p:cNvPr>
          <p:cNvSpPr>
            <a:spLocks noGrp="1"/>
          </p:cNvSpPr>
          <p:nvPr/>
        </p:nvSpPr>
        <p:spPr>
          <a:xfrm>
            <a:off x="4810125" y="3286125"/>
            <a:ext cx="3714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8B8"/>
            </a:solidFill>
            <a:prstDash val="solid"/>
          </a:ln>
        </p:spPr>
        <p:txBody>
          <a:bodyPr anchor="t"/>
          <a:lstStyle/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10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MINUS(10, 3)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left = MINUS(MINUS(10, 3), 2)</a:t>
            </a: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endParaRPr sz="1080" b="0">
              <a:solidFill>
                <a:srgbClr val="454545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080" b="0">
                <a:solidFill>
                  <a:srgbClr val="454545"/>
                </a:solidFill>
                <a:latin typeface="Menlo"/>
                <a:ea typeface="Menlo"/>
                <a:cs typeface="Menlo"/>
              </a:defRPr>
            </a:pPr>
            <a:r>
              <a:rPr sz="1080" b="0">
                <a:solidFill>
                  <a:srgbClr val="454545"/>
                </a:solidFill>
                <a:latin typeface="Menlo"/>
                <a:ea typeface="Menlo"/>
                <a:cs typeface="Menlo"/>
              </a:rPr>
              <a:t>结果：(10 - 3) - 2 = 5</a:t>
            </a:r>
          </a:p>
        </p:txBody>
      </p:sp>
      <p:sp>
        <p:nvSpPr>
          <p:cNvPr id="14" name="lr19-common-language">
            <a:extLst>
              <a:ext uri="{FF2B5EF4-FFF2-40B4-BE49-F238E27FC236}">
                <a16:creationId xmlns:a16="http://schemas.microsoft.com/office/drawing/2014/main" id="{DD628899-F0DA-4B4B-8A47-29157FB23B66}"/>
              </a:ext>
            </a:extLst>
          </p:cNvPr>
          <p:cNvSpPr>
            <a:spLocks noGrp="1"/>
          </p:cNvSpPr>
          <p:nvPr/>
        </p:nvSpPr>
        <p:spPr>
          <a:xfrm>
            <a:off x="1381125" y="4887387"/>
            <a:ext cx="6381750" cy="409575"/>
          </a:xfrm>
          <a:prstGeom prst="rect">
            <a:avLst/>
          </a:prstGeom>
          <a:solidFill>
            <a:srgbClr val="FCEEF0"/>
          </a:solidFill>
          <a:ln w="9525">
            <a:solidFill>
              <a:srgbClr val="E9A3AE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425" b="1">
                <a:solidFill>
                  <a:srgbClr val="C4384D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C4384D"/>
                </a:solidFill>
                <a:latin typeface="Menlo"/>
                <a:ea typeface="Menlo"/>
                <a:cs typeface="Menlo"/>
              </a:rPr>
              <a:t>当时的实现是改为循环，其实本质是左边推理完毕后就立即建树。</a:t>
            </a:r>
          </a:p>
        </p:txBody>
      </p:sp>
    </p:spTree>
    <p:extLst>
      <p:ext uri="{BB962C8B-B14F-4D97-AF65-F5344CB8AC3E}">
        <p14:creationId xmlns:p14="http://schemas.microsoft.com/office/powerpoint/2010/main" val="1637883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思路：把 semantic action 也放进分析栈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8AD4375-9F50-F53A-6F9F-DD8473067C05}" type="slidenum">
              <a:t>31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750DD3-82D4-437A-80E4-CECEEC5F89DF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产生式不只包含语法符号，也可以包含到达该位置时需要执行的 action。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6DA788-EB56-4170-978B-3A5696382AE3}"/>
              </a:ext>
            </a:extLst>
          </p:cNvPr>
          <p:cNvSpPr>
            <a:spLocks noGrp="1"/>
          </p:cNvSpPr>
          <p:nvPr/>
        </p:nvSpPr>
        <p:spPr>
          <a:xfrm>
            <a:off x="666750" y="1857375"/>
            <a:ext cx="4000500" cy="2733675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97D23C-35F3-4E61-AB1E-44AC059DD21B}"/>
              </a:ext>
            </a:extLst>
          </p:cNvPr>
          <p:cNvSpPr>
            <a:spLocks noGrp="1"/>
          </p:cNvSpPr>
          <p:nvPr/>
        </p:nvSpPr>
        <p:spPr>
          <a:xfrm>
            <a:off x="819150" y="1971675"/>
            <a:ext cx="3695700" cy="2505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 → term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{ A₁: expr_tail.in = term.ast; }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expr_tail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{ A₂: expr.ast = expr_tail.ast; }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endParaRPr sz="1050" b="0">
              <a:solidFill>
                <a:srgbClr val="F4F4F4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expr_tail₀ → PLUS term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{ expr_tail₁.in = BinaryExpr(ADD,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      expr_tail₀.in, term.ast); }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expr_tail₁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{ expr_tail₀.ast = expr_tail₁.ast; }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| ε</a:t>
            </a:r>
          </a:p>
          <a:p>
            <a:pPr algn="l">
              <a:buNone/>
              <a:defRPr sz="105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       { expr_tail₀.ast = expr_tail₀.in; 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7ED9F6-34E5-45D6-94C0-FBD765EC3261}"/>
              </a:ext>
            </a:extLst>
          </p:cNvPr>
          <p:cNvSpPr>
            <a:spLocks noGrp="1"/>
          </p:cNvSpPr>
          <p:nvPr/>
        </p:nvSpPr>
        <p:spPr>
          <a:xfrm>
            <a:off x="5143500" y="18097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展开 expr 后，栈顶仍写在左侧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C8BAFCA1-7914-43F1-BE07-915409D9BD2B}"/>
              </a:ext>
            </a:extLst>
          </p:cNvPr>
          <p:cNvSpPr>
            <a:spLocks noGrp="1"/>
          </p:cNvSpPr>
          <p:nvPr/>
        </p:nvSpPr>
        <p:spPr>
          <a:xfrm>
            <a:off x="5048250" y="2286000"/>
            <a:ext cx="1000125" cy="514350"/>
          </a:xfrm>
          <a:prstGeom prst="roundRect">
            <a:avLst>
              <a:gd name="adj" fmla="val 7407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6A4EB4-0E30-4069-9DE7-44297926F68F}"/>
              </a:ext>
            </a:extLst>
          </p:cNvPr>
          <p:cNvSpPr>
            <a:spLocks noGrp="1"/>
          </p:cNvSpPr>
          <p:nvPr/>
        </p:nvSpPr>
        <p:spPr>
          <a:xfrm>
            <a:off x="5124450" y="2352675"/>
            <a:ext cx="8477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term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3AE105F-6C73-4C5A-A75A-8F71835847B7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666750" cy="514350"/>
          </a:xfrm>
          <a:prstGeom prst="roundRect">
            <a:avLst>
              <a:gd name="adj" fmla="val 7407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2215B4-BB71-4A07-A72D-6EBA804964E1}"/>
              </a:ext>
            </a:extLst>
          </p:cNvPr>
          <p:cNvSpPr>
            <a:spLocks noGrp="1"/>
          </p:cNvSpPr>
          <p:nvPr/>
        </p:nvSpPr>
        <p:spPr>
          <a:xfrm>
            <a:off x="6267450" y="2352675"/>
            <a:ext cx="514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A₁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71E2305-7A2A-4669-9F6F-8156D82AC33B}"/>
              </a:ext>
            </a:extLst>
          </p:cNvPr>
          <p:cNvSpPr>
            <a:spLocks noGrp="1"/>
          </p:cNvSpPr>
          <p:nvPr/>
        </p:nvSpPr>
        <p:spPr>
          <a:xfrm>
            <a:off x="7000875" y="2286000"/>
            <a:ext cx="1190625" cy="514350"/>
          </a:xfrm>
          <a:prstGeom prst="roundRect">
            <a:avLst>
              <a:gd name="adj" fmla="val 7407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E968BC-388A-41AE-A591-FE5F51A16A8C}"/>
              </a:ext>
            </a:extLst>
          </p:cNvPr>
          <p:cNvSpPr>
            <a:spLocks noGrp="1"/>
          </p:cNvSpPr>
          <p:nvPr/>
        </p:nvSpPr>
        <p:spPr>
          <a:xfrm>
            <a:off x="7077075" y="2352675"/>
            <a:ext cx="1038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expr_tail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7254734A-B0E5-4102-AD65-0C65758A3886}"/>
              </a:ext>
            </a:extLst>
          </p:cNvPr>
          <p:cNvSpPr>
            <a:spLocks noGrp="1"/>
          </p:cNvSpPr>
          <p:nvPr/>
        </p:nvSpPr>
        <p:spPr>
          <a:xfrm>
            <a:off x="8334375" y="2286000"/>
            <a:ext cx="571500" cy="514350"/>
          </a:xfrm>
          <a:prstGeom prst="roundRect">
            <a:avLst>
              <a:gd name="adj" fmla="val 7407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38F791-6D7F-4DB1-A65D-66828CFA649C}"/>
              </a:ext>
            </a:extLst>
          </p:cNvPr>
          <p:cNvSpPr>
            <a:spLocks noGrp="1"/>
          </p:cNvSpPr>
          <p:nvPr/>
        </p:nvSpPr>
        <p:spPr>
          <a:xfrm>
            <a:off x="8410575" y="23526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A₂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7BDFAA-EE6E-475B-BB34-D816307A1005}"/>
              </a:ext>
            </a:extLst>
          </p:cNvPr>
          <p:cNvSpPr>
            <a:spLocks noGrp="1"/>
          </p:cNvSpPr>
          <p:nvPr/>
        </p:nvSpPr>
        <p:spPr>
          <a:xfrm>
            <a:off x="5143500" y="314325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通用循环只需增加一种栈元素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B310DE-7D5F-4EC8-A1F4-9DAD7EAEB6B5}"/>
              </a:ext>
            </a:extLst>
          </p:cNvPr>
          <p:cNvSpPr>
            <a:spLocks noGrp="1"/>
          </p:cNvSpPr>
          <p:nvPr/>
        </p:nvSpPr>
        <p:spPr>
          <a:xfrm>
            <a:off x="5048250" y="3524250"/>
            <a:ext cx="3857625" cy="10668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535AB1-AC58-4DB6-BB15-B900D7A2F661}"/>
              </a:ext>
            </a:extLst>
          </p:cNvPr>
          <p:cNvSpPr>
            <a:spLocks noGrp="1"/>
          </p:cNvSpPr>
          <p:nvPr/>
        </p:nvSpPr>
        <p:spPr>
          <a:xfrm>
            <a:off x="5200650" y="3638550"/>
            <a:ext cx="35528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975" b="0">
                <a:solidFill>
                  <a:srgbClr val="F4F4F4"/>
                </a:solidFill>
              </a:defRPr>
            </a:pPr>
            <a:r>
              <a:rPr sz="975" b="0">
                <a:solidFill>
                  <a:srgbClr val="F4F4F4"/>
                </a:solidFill>
              </a:rPr>
              <a:t>if X is an action:</a:t>
            </a:r>
          </a:p>
          <a:p>
            <a:pPr algn="l">
              <a:buNone/>
              <a:defRPr sz="975" b="0">
                <a:solidFill>
                  <a:srgbClr val="F4F4F4"/>
                </a:solidFill>
              </a:defRPr>
            </a:pPr>
            <a:r>
              <a:rPr sz="975" b="0">
                <a:solidFill>
                  <a:srgbClr val="F4F4F4"/>
                </a:solidFill>
              </a:rPr>
              <a:t>    execute(X)</a:t>
            </a:r>
          </a:p>
          <a:p>
            <a:pPr algn="l">
              <a:buNone/>
              <a:defRPr sz="975" b="0">
                <a:solidFill>
                  <a:srgbClr val="F4F4F4"/>
                </a:solidFill>
              </a:defRPr>
            </a:pPr>
            <a:r>
              <a:rPr sz="975" b="0">
                <a:solidFill>
                  <a:srgbClr val="F4F4F4"/>
                </a:solidFill>
              </a:rPr>
              <a:t>else if X is a terminal:</a:t>
            </a:r>
          </a:p>
          <a:p>
            <a:pPr algn="l">
              <a:buNone/>
              <a:defRPr sz="975" b="0">
                <a:solidFill>
                  <a:srgbClr val="F4F4F4"/>
                </a:solidFill>
              </a:defRPr>
            </a:pPr>
            <a:r>
              <a:rPr sz="975" b="0">
                <a:solidFill>
                  <a:srgbClr val="F4F4F4"/>
                </a:solidFill>
              </a:rPr>
              <a:t>    match and consume</a:t>
            </a:r>
          </a:p>
          <a:p>
            <a:pPr algn="l">
              <a:buNone/>
              <a:defRPr sz="975" b="0">
                <a:solidFill>
                  <a:srgbClr val="F4F4F4"/>
                </a:solidFill>
              </a:defRPr>
            </a:pPr>
            <a:r>
              <a:rPr sz="975" b="0">
                <a:solidFill>
                  <a:srgbClr val="F4F4F4"/>
                </a:solidFill>
              </a:rPr>
              <a:t>else:</a:t>
            </a:r>
          </a:p>
          <a:p>
            <a:pPr algn="l">
              <a:buNone/>
              <a:defRPr sz="975" b="0">
                <a:solidFill>
                  <a:srgbClr val="F4F4F4"/>
                </a:solidFill>
              </a:defRPr>
            </a:pPr>
            <a:r>
              <a:rPr sz="975" b="0">
                <a:solidFill>
                  <a:srgbClr val="F4F4F4"/>
                </a:solidFill>
              </a:rPr>
              <a:t>    expand from table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EF07C9-E49F-46E0-AC19-7C5A846A2A8B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0CA023D-A3A5-4BC3-8C3E-59465664F10A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action 到达栈顶时执行；它在产生式中的位置，就是它的触发时机。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action 放在末尾：右侧完成后计算左侧结果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32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CD1D7-BE37-457A-A89C-EFE775A8645E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action 到达栈顶时，产生式右侧的 semantic values 已经全部就绪。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C37189-D0B2-47ED-80B0-F98229441FB8}"/>
              </a:ext>
            </a:extLst>
          </p:cNvPr>
          <p:cNvSpPr>
            <a:spLocks noGrp="1"/>
          </p:cNvSpPr>
          <p:nvPr/>
        </p:nvSpPr>
        <p:spPr>
          <a:xfrm>
            <a:off x="1428750" y="1857375"/>
            <a:ext cx="6286500" cy="5905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DE27E3-B3C8-4190-AD46-036ECB643E6D}"/>
              </a:ext>
            </a:extLst>
          </p:cNvPr>
          <p:cNvSpPr>
            <a:spLocks noGrp="1"/>
          </p:cNvSpPr>
          <p:nvPr/>
        </p:nvSpPr>
        <p:spPr>
          <a:xfrm>
            <a:off x="1562100" y="1952625"/>
            <a:ext cx="601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term → INT   { term.ast = IntExpr(INT.value); }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61DFFDF-480E-478F-B381-9179791546C3}"/>
              </a:ext>
            </a:extLst>
          </p:cNvPr>
          <p:cNvSpPr>
            <a:spLocks noGrp="1"/>
          </p:cNvSpPr>
          <p:nvPr/>
        </p:nvSpPr>
        <p:spPr>
          <a:xfrm>
            <a:off x="809625" y="3095625"/>
            <a:ext cx="2190750" cy="742950"/>
          </a:xfrm>
          <a:prstGeom prst="roundRect">
            <a:avLst>
              <a:gd name="adj" fmla="val 5128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58F337-BE21-4250-A254-E40920FE71D0}"/>
              </a:ext>
            </a:extLst>
          </p:cNvPr>
          <p:cNvSpPr>
            <a:spLocks noGrp="1"/>
          </p:cNvSpPr>
          <p:nvPr/>
        </p:nvSpPr>
        <p:spPr>
          <a:xfrm>
            <a:off x="885825" y="3162300"/>
            <a:ext cx="2038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匹配 INT(1)</a:t>
            </a:r>
          </a:p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得到 INT.value = 1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F0DBA672-7ED5-40AF-86CA-959694CDDD48}"/>
              </a:ext>
            </a:extLst>
          </p:cNvPr>
          <p:cNvSpPr>
            <a:spLocks noGrp="1"/>
          </p:cNvSpPr>
          <p:nvPr/>
        </p:nvSpPr>
        <p:spPr>
          <a:xfrm>
            <a:off x="3286125" y="3381375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DF431FA-90D3-4D0C-89B0-CB91E8816AE9}"/>
              </a:ext>
            </a:extLst>
          </p:cNvPr>
          <p:cNvSpPr>
            <a:spLocks noGrp="1"/>
          </p:cNvSpPr>
          <p:nvPr/>
        </p:nvSpPr>
        <p:spPr>
          <a:xfrm>
            <a:off x="4095750" y="3095625"/>
            <a:ext cx="1809750" cy="742950"/>
          </a:xfrm>
          <a:prstGeom prst="roundRect">
            <a:avLst>
              <a:gd name="adj" fmla="val 5128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F28E78-516D-442E-99CF-BC3479C7A85F}"/>
              </a:ext>
            </a:extLst>
          </p:cNvPr>
          <p:cNvSpPr>
            <a:spLocks noGrp="1"/>
          </p:cNvSpPr>
          <p:nvPr/>
        </p:nvSpPr>
        <p:spPr>
          <a:xfrm>
            <a:off x="4171950" y="3162300"/>
            <a:ext cx="1657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6A868F"/>
                </a:solidFill>
              </a:defRPr>
            </a:pPr>
            <a:r>
              <a:rPr sz="1125" b="1">
                <a:solidFill>
                  <a:srgbClr val="6A868F"/>
                </a:solidFill>
              </a:rPr>
              <a:t>action 到达栈顶</a:t>
            </a:r>
          </a:p>
          <a:p>
            <a:pPr algn="ctr">
              <a:buNone/>
              <a:defRPr sz="1125" b="1">
                <a:solidFill>
                  <a:srgbClr val="6A868F"/>
                </a:solidFill>
              </a:defRPr>
            </a:pPr>
            <a:r>
              <a:rPr sz="1125" b="1">
                <a:solidFill>
                  <a:srgbClr val="6A868F"/>
                </a:solidFill>
              </a:rPr>
              <a:t>读取 INT.value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E6958470-CA46-4630-A945-B0709AEEAD0B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17B30F9-E2F3-404F-8440-BE14FA4EA10F}"/>
              </a:ext>
            </a:extLst>
          </p:cNvPr>
          <p:cNvSpPr>
            <a:spLocks noGrp="1"/>
          </p:cNvSpPr>
          <p:nvPr/>
        </p:nvSpPr>
        <p:spPr>
          <a:xfrm>
            <a:off x="7000875" y="3095625"/>
            <a:ext cx="1809750" cy="742950"/>
          </a:xfrm>
          <a:prstGeom prst="roundRect">
            <a:avLst>
              <a:gd name="adj" fmla="val 5128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83D817-AF27-4894-946D-4767E625E775}"/>
              </a:ext>
            </a:extLst>
          </p:cNvPr>
          <p:cNvSpPr>
            <a:spLocks noGrp="1"/>
          </p:cNvSpPr>
          <p:nvPr/>
        </p:nvSpPr>
        <p:spPr>
          <a:xfrm>
            <a:off x="7077075" y="3162300"/>
            <a:ext cx="1657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写入 term.ast</a:t>
            </a:r>
          </a:p>
          <a:p>
            <a:pPr algn="ctr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IntExpr(1)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CC32A4-4F2A-477D-AB21-09CC1DDD2BED}"/>
              </a:ext>
            </a:extLst>
          </p:cNvPr>
          <p:cNvSpPr>
            <a:spLocks noGrp="1"/>
          </p:cNvSpPr>
          <p:nvPr/>
        </p:nvSpPr>
        <p:spPr>
          <a:xfrm>
            <a:off x="904875" y="40481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BE384B"/>
                </a:solidFill>
              </a:defRPr>
            </a:pPr>
            <a:r>
              <a:rPr sz="1125" b="0">
                <a:solidFill>
                  <a:srgbClr val="BE384B"/>
                </a:solidFill>
              </a:rPr>
              <a:t>右侧符号的结果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782FF1-329E-4770-884C-0FB048D0211C}"/>
              </a:ext>
            </a:extLst>
          </p:cNvPr>
          <p:cNvSpPr>
            <a:spLocks noGrp="1"/>
          </p:cNvSpPr>
          <p:nvPr/>
        </p:nvSpPr>
        <p:spPr>
          <a:xfrm>
            <a:off x="4238625" y="40481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A868F"/>
                </a:solidFill>
              </a:defRPr>
            </a:pPr>
            <a:r>
              <a:rPr sz="1125" b="0">
                <a:solidFill>
                  <a:srgbClr val="6A868F"/>
                </a:solidFill>
              </a:rPr>
              <a:t>执行计算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62D35C-1CEF-4334-B10F-A4D5F8BB026C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2788E"/>
                </a:solidFill>
              </a:defRPr>
            </a:pPr>
            <a:r>
              <a:rPr sz="1125" b="0">
                <a:solidFill>
                  <a:srgbClr val="32788E"/>
                </a:solidFill>
              </a:rPr>
              <a:t>成为左侧符号的结果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03DE30-DD74-472B-9039-BE9845AB35B3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CE6084-FBAC-4E3E-A1F6-8000EA3EF141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基本和自底向上分析的reduce情况一致。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  <a:defRPr sz="300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action 放在中间：先把已有结果传给后续符号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1680313-6E64-04FF-399A-57B7CADE95A9}" type="slidenum">
              <a:t>33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BCD1D7-BE37-457A-A89C-EFE775A8645E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action 到达栈顶时，前面的符号已经完成，后面的符号还没有展开。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C37189-D0B2-47ED-80B0-F98229441FB8}"/>
              </a:ext>
            </a:extLst>
          </p:cNvPr>
          <p:cNvSpPr>
            <a:spLocks noGrp="1"/>
          </p:cNvSpPr>
          <p:nvPr/>
        </p:nvSpPr>
        <p:spPr>
          <a:xfrm>
            <a:off x="1428750" y="1857375"/>
            <a:ext cx="6286500" cy="5905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DE27E3-B3C8-4190-AD46-036ECB643E6D}"/>
              </a:ext>
            </a:extLst>
          </p:cNvPr>
          <p:cNvSpPr>
            <a:spLocks noGrp="1"/>
          </p:cNvSpPr>
          <p:nvPr/>
        </p:nvSpPr>
        <p:spPr>
          <a:xfrm>
            <a:off x="1562100" y="1952625"/>
            <a:ext cx="6019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 → term   { A₁: expr_tail.in = term.ast; }   expr_tail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61DFFDF-480E-478F-B381-9179791546C3}"/>
              </a:ext>
            </a:extLst>
          </p:cNvPr>
          <p:cNvSpPr>
            <a:spLocks noGrp="1"/>
          </p:cNvSpPr>
          <p:nvPr/>
        </p:nvSpPr>
        <p:spPr>
          <a:xfrm>
            <a:off x="809625" y="3095625"/>
            <a:ext cx="2190750" cy="742950"/>
          </a:xfrm>
          <a:prstGeom prst="roundRect">
            <a:avLst>
              <a:gd name="adj" fmla="val 5128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58F337-BE21-4250-A254-E40920FE71D0}"/>
              </a:ext>
            </a:extLst>
          </p:cNvPr>
          <p:cNvSpPr>
            <a:spLocks noGrp="1"/>
          </p:cNvSpPr>
          <p:nvPr/>
        </p:nvSpPr>
        <p:spPr>
          <a:xfrm>
            <a:off x="885825" y="3162300"/>
            <a:ext cx="2038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term 已完成</a:t>
            </a:r>
          </a:p>
          <a:p>
            <a:pPr algn="ctr">
              <a:buNone/>
              <a:defRPr sz="10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term.ast = NameExpr("x")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F0DBA672-7ED5-40AF-86CA-959694CDDD48}"/>
              </a:ext>
            </a:extLst>
          </p:cNvPr>
          <p:cNvSpPr>
            <a:spLocks noGrp="1"/>
          </p:cNvSpPr>
          <p:nvPr/>
        </p:nvSpPr>
        <p:spPr>
          <a:xfrm>
            <a:off x="3286125" y="3381375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DF431FA-90D3-4D0C-89B0-CB91E8816AE9}"/>
              </a:ext>
            </a:extLst>
          </p:cNvPr>
          <p:cNvSpPr>
            <a:spLocks noGrp="1"/>
          </p:cNvSpPr>
          <p:nvPr/>
        </p:nvSpPr>
        <p:spPr>
          <a:xfrm>
            <a:off x="4095750" y="3095625"/>
            <a:ext cx="1809750" cy="742950"/>
          </a:xfrm>
          <a:prstGeom prst="roundRect">
            <a:avLst>
              <a:gd name="adj" fmla="val 5128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F28E78-516D-442E-99CF-BC3479C7A85F}"/>
              </a:ext>
            </a:extLst>
          </p:cNvPr>
          <p:cNvSpPr>
            <a:spLocks noGrp="1"/>
          </p:cNvSpPr>
          <p:nvPr/>
        </p:nvSpPr>
        <p:spPr>
          <a:xfrm>
            <a:off x="4171950" y="3162300"/>
            <a:ext cx="1657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A86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868F"/>
                </a:solidFill>
                <a:latin typeface="Arial"/>
                <a:ea typeface="Arial"/>
                <a:cs typeface="Arial"/>
              </a:rPr>
              <a:t>A₁ 到达栈顶</a:t>
            </a:r>
          </a:p>
          <a:p>
            <a:pPr algn="ctr">
              <a:buNone/>
              <a:defRPr sz="1050" b="1">
                <a:solidFill>
                  <a:srgbClr val="6A868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A868F"/>
                </a:solidFill>
                <a:latin typeface="Arial"/>
                <a:ea typeface="Arial"/>
                <a:cs typeface="Arial"/>
              </a:rPr>
              <a:t>写入 expr_tail.in</a:t>
            </a:r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E6958470-CA46-4630-A945-B0709AEEAD0B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17B30F9-E2F3-404F-8440-BE14FA4EA10F}"/>
              </a:ext>
            </a:extLst>
          </p:cNvPr>
          <p:cNvSpPr>
            <a:spLocks noGrp="1"/>
          </p:cNvSpPr>
          <p:nvPr/>
        </p:nvSpPr>
        <p:spPr>
          <a:xfrm>
            <a:off x="7000875" y="3095625"/>
            <a:ext cx="1809750" cy="742950"/>
          </a:xfrm>
          <a:prstGeom prst="roundRect">
            <a:avLst>
              <a:gd name="adj" fmla="val 5128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83D817-AF27-4894-946D-4767E625E775}"/>
              </a:ext>
            </a:extLst>
          </p:cNvPr>
          <p:cNvSpPr>
            <a:spLocks noGrp="1"/>
          </p:cNvSpPr>
          <p:nvPr/>
        </p:nvSpPr>
        <p:spPr>
          <a:xfrm>
            <a:off x="7077075" y="3162300"/>
            <a:ext cx="1657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再展开 expr_tail</a:t>
            </a:r>
          </a:p>
          <a:p>
            <a:pPr algn="ctr">
              <a:buNone/>
              <a:defRPr sz="105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从已有 AST 继续累积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CC32A4-4F2A-477D-AB21-09CC1DDD2BED}"/>
              </a:ext>
            </a:extLst>
          </p:cNvPr>
          <p:cNvSpPr>
            <a:spLocks noGrp="1"/>
          </p:cNvSpPr>
          <p:nvPr/>
        </p:nvSpPr>
        <p:spPr>
          <a:xfrm>
            <a:off x="904875" y="4048125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E384B"/>
                </a:solidFill>
                <a:latin typeface="Arial"/>
                <a:ea typeface="Arial"/>
                <a:cs typeface="Arial"/>
              </a:rPr>
              <a:t>前面已经得到的值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782FF1-329E-4770-884C-0FB048D0211C}"/>
              </a:ext>
            </a:extLst>
          </p:cNvPr>
          <p:cNvSpPr>
            <a:spLocks noGrp="1"/>
          </p:cNvSpPr>
          <p:nvPr/>
        </p:nvSpPr>
        <p:spPr>
          <a:xfrm>
            <a:off x="4238625" y="4048125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A868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A868F"/>
                </a:solidFill>
                <a:latin typeface="Arial"/>
                <a:ea typeface="Arial"/>
                <a:cs typeface="Arial"/>
              </a:rPr>
              <a:t>执行中间 action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62D35C-1CEF-4334-B10F-A4D5F8BB026C}"/>
              </a:ext>
            </a:extLst>
          </p:cNvPr>
          <p:cNvSpPr>
            <a:spLocks noGrp="1"/>
          </p:cNvSpPr>
          <p:nvPr/>
        </p:nvSpPr>
        <p:spPr>
          <a:xfrm>
            <a:off x="7096125" y="4048125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2788E"/>
                </a:solidFill>
                <a:latin typeface="Arial"/>
                <a:ea typeface="Arial"/>
                <a:cs typeface="Arial"/>
              </a:rPr>
              <a:t>后续符号收到输入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03DE30-DD74-472B-9039-BE9845AB35B3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CE6084-FBAC-4E3E-A1F6-8000EA3EF141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中间 action 把前面得到的值传给尚未展开的符号，这是 LL 构造左结合 AST 的关键。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  <a:defRPr sz="34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例子：表驱动 LL 构造 x + 1 的 AST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FEBBBCE-9E16-527A-0EE3-E5839422D847}" type="slidenum">
              <a:rPr/>
              <a:t>34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AC7A72-36C6-42A6-B64E-0F130B02622A}"/>
              </a:ext>
            </a:extLst>
          </p:cNvPr>
          <p:cNvSpPr>
            <a:spLocks noGrp="1"/>
          </p:cNvSpPr>
          <p:nvPr/>
        </p:nvSpPr>
        <p:spPr>
          <a:xfrm>
            <a:off x="666750" y="1314450"/>
            <a:ext cx="5095875" cy="6858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EE0724-C03A-4D85-96CB-7AF5F1A5C9B5}"/>
              </a:ext>
            </a:extLst>
          </p:cNvPr>
          <p:cNvSpPr>
            <a:spLocks noGrp="1"/>
          </p:cNvSpPr>
          <p:nvPr/>
        </p:nvSpPr>
        <p:spPr>
          <a:xfrm>
            <a:off x="800100" y="1362075"/>
            <a:ext cx="48291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4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 → term {A₁} expr_tail {A₂}</a:t>
            </a:r>
          </a:p>
          <a:p>
            <a:pPr algn="l">
              <a:buNone/>
              <a:defRPr sz="84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expr_tail₀ → PLUS term {A₃} expr_tail₁ {A₄} | ε {Aε}</a:t>
            </a:r>
          </a:p>
          <a:p>
            <a:pPr algn="l">
              <a:buNone/>
              <a:defRPr sz="840" b="0">
                <a:solidFill>
                  <a:srgbClr val="F4F4F4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F4F4F4"/>
                </a:solidFill>
                <a:latin typeface="Arial"/>
                <a:ea typeface="Arial"/>
                <a:cs typeface="Arial"/>
              </a:rPr>
              <a:t>term → IDENT {Aname} | INT {Aint}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FE9C9E-BCD5-45FD-8031-1F59FB86C2FC}"/>
              </a:ext>
            </a:extLst>
          </p:cNvPr>
          <p:cNvSpPr>
            <a:spLocks noGrp="1"/>
          </p:cNvSpPr>
          <p:nvPr/>
        </p:nvSpPr>
        <p:spPr>
          <a:xfrm>
            <a:off x="6048375" y="14287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输入：IDENT(x)  PLUS  INT(1)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CEE483-AAEE-49FA-9861-E4AF8391468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A868F"/>
                </a:solidFill>
              </a:defRPr>
            </a:pPr>
            <a:r>
              <a:rPr sz="1125" b="0">
                <a:solidFill>
                  <a:srgbClr val="6A868F"/>
                </a:solidFill>
              </a:rPr>
              <a:t>栈顶统一写在左侧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2BBC8B-58D8-46D5-BBA3-59B2856B071F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1285875" cy="36195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5FA75F-52DE-429B-88FF-CDD66E278FDF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1171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A868F"/>
                </a:solidFill>
              </a:defRPr>
            </a:pPr>
            <a:r>
              <a:rPr sz="1050" b="1">
                <a:solidFill>
                  <a:srgbClr val="6A868F"/>
                </a:solidFill>
              </a:rPr>
              <a:t>动作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3C81C6-2AE7-4800-9FEB-25A8F9325538}"/>
              </a:ext>
            </a:extLst>
          </p:cNvPr>
          <p:cNvSpPr>
            <a:spLocks noGrp="1"/>
          </p:cNvSpPr>
          <p:nvPr/>
        </p:nvSpPr>
        <p:spPr>
          <a:xfrm>
            <a:off x="1952625" y="2238375"/>
            <a:ext cx="2476500" cy="36195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1FA61B1-F74D-43AE-BCCA-40891B9B523C}"/>
              </a:ext>
            </a:extLst>
          </p:cNvPr>
          <p:cNvSpPr>
            <a:spLocks noGrp="1"/>
          </p:cNvSpPr>
          <p:nvPr/>
        </p:nvSpPr>
        <p:spPr>
          <a:xfrm>
            <a:off x="2009775" y="2305050"/>
            <a:ext cx="2362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A868F"/>
                </a:solidFill>
              </a:defRPr>
            </a:pPr>
            <a:r>
              <a:rPr sz="1050" b="1">
                <a:solidFill>
                  <a:srgbClr val="6A868F"/>
                </a:solidFill>
              </a:rPr>
              <a:t>分析栈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9E65C1-E44E-4199-823B-50F94D7DFB78}"/>
              </a:ext>
            </a:extLst>
          </p:cNvPr>
          <p:cNvSpPr>
            <a:spLocks noGrp="1"/>
          </p:cNvSpPr>
          <p:nvPr/>
        </p:nvSpPr>
        <p:spPr>
          <a:xfrm>
            <a:off x="4429125" y="2238375"/>
            <a:ext cx="1809750" cy="36195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4D986A-3BEA-4F67-9A0E-79DF4CE5E324}"/>
              </a:ext>
            </a:extLst>
          </p:cNvPr>
          <p:cNvSpPr>
            <a:spLocks noGrp="1"/>
          </p:cNvSpPr>
          <p:nvPr/>
        </p:nvSpPr>
        <p:spPr>
          <a:xfrm>
            <a:off x="4486275" y="230505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A868F"/>
                </a:solidFill>
              </a:defRPr>
            </a:pPr>
            <a:r>
              <a:rPr sz="1050" b="1">
                <a:solidFill>
                  <a:srgbClr val="6A868F"/>
                </a:solidFill>
              </a:rPr>
              <a:t>输入（current 在左）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4DB0D1-F5D7-46F3-863D-63081C67D305}"/>
              </a:ext>
            </a:extLst>
          </p:cNvPr>
          <p:cNvSpPr>
            <a:spLocks noGrp="1"/>
          </p:cNvSpPr>
          <p:nvPr/>
        </p:nvSpPr>
        <p:spPr>
          <a:xfrm>
            <a:off x="6238875" y="2238375"/>
            <a:ext cx="2238375" cy="361950"/>
          </a:xfrm>
          <a:prstGeom prst="rect">
            <a:avLst/>
          </a:prstGeom>
          <a:solidFill>
            <a:srgbClr val="E7F1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980DBB-9E26-4F06-8532-B95640244B12}"/>
              </a:ext>
            </a:extLst>
          </p:cNvPr>
          <p:cNvSpPr>
            <a:spLocks noGrp="1"/>
          </p:cNvSpPr>
          <p:nvPr/>
        </p:nvSpPr>
        <p:spPr>
          <a:xfrm>
            <a:off x="6296025" y="2305050"/>
            <a:ext cx="21240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semantic values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EE153C-6EC1-4899-8887-18608AC73C51}"/>
              </a:ext>
            </a:extLst>
          </p:cNvPr>
          <p:cNvSpPr>
            <a:spLocks noGrp="1"/>
          </p:cNvSpPr>
          <p:nvPr/>
        </p:nvSpPr>
        <p:spPr>
          <a:xfrm>
            <a:off x="666750" y="2600325"/>
            <a:ext cx="128587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EC76CC-5578-4DF5-BB2F-4A55B62C4B31}"/>
              </a:ext>
            </a:extLst>
          </p:cNvPr>
          <p:cNvSpPr>
            <a:spLocks noGrp="1"/>
          </p:cNvSpPr>
          <p:nvPr/>
        </p:nvSpPr>
        <p:spPr>
          <a:xfrm>
            <a:off x="742950" y="2676525"/>
            <a:ext cx="1133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825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展开 expr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6F6B7F-EA30-48AF-862D-249FA6B8FC4C}"/>
              </a:ext>
            </a:extLst>
          </p:cNvPr>
          <p:cNvSpPr>
            <a:spLocks noGrp="1"/>
          </p:cNvSpPr>
          <p:nvPr/>
        </p:nvSpPr>
        <p:spPr>
          <a:xfrm>
            <a:off x="1952625" y="2600325"/>
            <a:ext cx="24765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0CC7A8-19B7-4099-B12E-66DD77C710B3}"/>
              </a:ext>
            </a:extLst>
          </p:cNvPr>
          <p:cNvSpPr>
            <a:spLocks noGrp="1"/>
          </p:cNvSpPr>
          <p:nvPr/>
        </p:nvSpPr>
        <p:spPr>
          <a:xfrm>
            <a:off x="2028825" y="2676525"/>
            <a:ext cx="2324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term A₁ expr_tail₀ A₂ $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71F1415-44A7-4D43-81F4-213C0B5AB6C3}"/>
              </a:ext>
            </a:extLst>
          </p:cNvPr>
          <p:cNvSpPr>
            <a:spLocks noGrp="1"/>
          </p:cNvSpPr>
          <p:nvPr/>
        </p:nvSpPr>
        <p:spPr>
          <a:xfrm>
            <a:off x="4429125" y="2600325"/>
            <a:ext cx="180975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48D64DF-B876-4E2C-A7A2-FB8AA767F962}"/>
              </a:ext>
            </a:extLst>
          </p:cNvPr>
          <p:cNvSpPr>
            <a:spLocks noGrp="1"/>
          </p:cNvSpPr>
          <p:nvPr/>
        </p:nvSpPr>
        <p:spPr>
          <a:xfrm>
            <a:off x="4505325" y="267652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[IDENT(x)] PLUS INT(1) $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666B1B-6123-4171-847C-65B46CB40E81}"/>
              </a:ext>
            </a:extLst>
          </p:cNvPr>
          <p:cNvSpPr>
            <a:spLocks noGrp="1"/>
          </p:cNvSpPr>
          <p:nvPr/>
        </p:nvSpPr>
        <p:spPr>
          <a:xfrm>
            <a:off x="6238875" y="2600325"/>
            <a:ext cx="223837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30BBD2C-927D-443C-BE0B-11EDA976EA9C}"/>
              </a:ext>
            </a:extLst>
          </p:cNvPr>
          <p:cNvSpPr>
            <a:spLocks noGrp="1"/>
          </p:cNvSpPr>
          <p:nvPr/>
        </p:nvSpPr>
        <p:spPr>
          <a:xfrm>
            <a:off x="6315075" y="2676525"/>
            <a:ext cx="20859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32788E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DEAF9C3-B480-4D0C-B5A0-0F556BD16214}"/>
              </a:ext>
            </a:extLst>
          </p:cNvPr>
          <p:cNvSpPr>
            <a:spLocks noGrp="1"/>
          </p:cNvSpPr>
          <p:nvPr/>
        </p:nvSpPr>
        <p:spPr>
          <a:xfrm>
            <a:off x="666750" y="3000375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F0A7093-B22F-4A61-BDED-5EADE392A4EC}"/>
              </a:ext>
            </a:extLst>
          </p:cNvPr>
          <p:cNvSpPr>
            <a:spLocks noGrp="1"/>
          </p:cNvSpPr>
          <p:nvPr/>
        </p:nvSpPr>
        <p:spPr>
          <a:xfrm>
            <a:off x="742950" y="3076575"/>
            <a:ext cx="1133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88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匹配 IDENT；Aname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8AFEC4B-1C72-4FD6-A0F6-1B49273E4EDD}"/>
              </a:ext>
            </a:extLst>
          </p:cNvPr>
          <p:cNvSpPr>
            <a:spLocks noGrp="1"/>
          </p:cNvSpPr>
          <p:nvPr/>
        </p:nvSpPr>
        <p:spPr>
          <a:xfrm>
            <a:off x="1952625" y="3000375"/>
            <a:ext cx="2476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327472-0D3E-4750-BFBC-F2D829DC6C1A}"/>
              </a:ext>
            </a:extLst>
          </p:cNvPr>
          <p:cNvSpPr>
            <a:spLocks noGrp="1"/>
          </p:cNvSpPr>
          <p:nvPr/>
        </p:nvSpPr>
        <p:spPr>
          <a:xfrm>
            <a:off x="2028825" y="3076575"/>
            <a:ext cx="2324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A₁ expr_tail₀ A₂ $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79393C-B39A-4B1B-9567-12B8CB064DE2}"/>
              </a:ext>
            </a:extLst>
          </p:cNvPr>
          <p:cNvSpPr>
            <a:spLocks noGrp="1"/>
          </p:cNvSpPr>
          <p:nvPr/>
        </p:nvSpPr>
        <p:spPr>
          <a:xfrm>
            <a:off x="4429125" y="3000375"/>
            <a:ext cx="1809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466C43A-3EC3-4966-A00E-492F2D8A928A}"/>
              </a:ext>
            </a:extLst>
          </p:cNvPr>
          <p:cNvSpPr>
            <a:spLocks noGrp="1"/>
          </p:cNvSpPr>
          <p:nvPr/>
        </p:nvSpPr>
        <p:spPr>
          <a:xfrm>
            <a:off x="4505325" y="307657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[PLUS] INT(1) $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E0075C-05F4-4E74-A6E3-CC37989751D7}"/>
              </a:ext>
            </a:extLst>
          </p:cNvPr>
          <p:cNvSpPr>
            <a:spLocks noGrp="1"/>
          </p:cNvSpPr>
          <p:nvPr/>
        </p:nvSpPr>
        <p:spPr>
          <a:xfrm>
            <a:off x="6238875" y="3000375"/>
            <a:ext cx="2238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97C192-B37E-42D8-89D0-8CD4AD67C6DD}"/>
              </a:ext>
            </a:extLst>
          </p:cNvPr>
          <p:cNvSpPr>
            <a:spLocks noGrp="1"/>
          </p:cNvSpPr>
          <p:nvPr/>
        </p:nvSpPr>
        <p:spPr>
          <a:xfrm>
            <a:off x="6315075" y="3076575"/>
            <a:ext cx="20859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13" b="0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713" b="0">
                <a:solidFill>
                  <a:srgbClr val="32788E"/>
                </a:solidFill>
                <a:latin typeface="Arial"/>
                <a:ea typeface="Arial"/>
                <a:cs typeface="Arial"/>
              </a:rPr>
              <a:t>term.ast = NameExpr("x")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6488ED7-789D-48C6-A663-911F35EC2592}"/>
              </a:ext>
            </a:extLst>
          </p:cNvPr>
          <p:cNvSpPr>
            <a:spLocks noGrp="1"/>
          </p:cNvSpPr>
          <p:nvPr/>
        </p:nvSpPr>
        <p:spPr>
          <a:xfrm>
            <a:off x="666750" y="3400425"/>
            <a:ext cx="128587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E55531-86B0-4F55-897A-43E0960ED192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11334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13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执行 A₁；展开 expr_tail₀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7BC735E-4463-4C95-AB2B-23A2E9CAEF98}"/>
              </a:ext>
            </a:extLst>
          </p:cNvPr>
          <p:cNvSpPr>
            <a:spLocks noGrp="1"/>
          </p:cNvSpPr>
          <p:nvPr/>
        </p:nvSpPr>
        <p:spPr>
          <a:xfrm>
            <a:off x="1952625" y="3400425"/>
            <a:ext cx="24765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7286AA-C44F-4092-872A-78D2EF1B3212}"/>
              </a:ext>
            </a:extLst>
          </p:cNvPr>
          <p:cNvSpPr>
            <a:spLocks noGrp="1"/>
          </p:cNvSpPr>
          <p:nvPr/>
        </p:nvSpPr>
        <p:spPr>
          <a:xfrm>
            <a:off x="2028825" y="3476625"/>
            <a:ext cx="2324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PLUS term A₃ expr_tail₁ A₄ A₂ $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AB75E95-ADC8-4A18-AAE0-B78457330CCA}"/>
              </a:ext>
            </a:extLst>
          </p:cNvPr>
          <p:cNvSpPr>
            <a:spLocks noGrp="1"/>
          </p:cNvSpPr>
          <p:nvPr/>
        </p:nvSpPr>
        <p:spPr>
          <a:xfrm>
            <a:off x="4429125" y="3400425"/>
            <a:ext cx="180975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1A8734-EFAC-4A87-94B5-4B122AF628CC}"/>
              </a:ext>
            </a:extLst>
          </p:cNvPr>
          <p:cNvSpPr>
            <a:spLocks noGrp="1"/>
          </p:cNvSpPr>
          <p:nvPr/>
        </p:nvSpPr>
        <p:spPr>
          <a:xfrm>
            <a:off x="4505325" y="347662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[PLUS] INT(1) $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CD5BD9B-B72B-4933-95E3-9E7740CBBB75}"/>
              </a:ext>
            </a:extLst>
          </p:cNvPr>
          <p:cNvSpPr>
            <a:spLocks noGrp="1"/>
          </p:cNvSpPr>
          <p:nvPr/>
        </p:nvSpPr>
        <p:spPr>
          <a:xfrm>
            <a:off x="6238875" y="3400425"/>
            <a:ext cx="223837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A8E6F5B-EA25-44B3-A8DB-C0EC0DBC8CEB}"/>
              </a:ext>
            </a:extLst>
          </p:cNvPr>
          <p:cNvSpPr>
            <a:spLocks noGrp="1"/>
          </p:cNvSpPr>
          <p:nvPr/>
        </p:nvSpPr>
        <p:spPr>
          <a:xfrm>
            <a:off x="6315075" y="3476625"/>
            <a:ext cx="20859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75" b="0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32788E"/>
                </a:solidFill>
                <a:latin typeface="Arial"/>
                <a:ea typeface="Arial"/>
                <a:cs typeface="Arial"/>
              </a:rPr>
              <a:t>expr_tail₀.in = NameExpr("x")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66BA895-B6DF-45CF-8A62-135B510ED209}"/>
              </a:ext>
            </a:extLst>
          </p:cNvPr>
          <p:cNvSpPr>
            <a:spLocks noGrp="1"/>
          </p:cNvSpPr>
          <p:nvPr/>
        </p:nvSpPr>
        <p:spPr>
          <a:xfrm>
            <a:off x="666750" y="3800475"/>
            <a:ext cx="12858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A0BBFF4-8919-4044-8EC7-A60D8FD5BA43}"/>
              </a:ext>
            </a:extLst>
          </p:cNvPr>
          <p:cNvSpPr>
            <a:spLocks noGrp="1"/>
          </p:cNvSpPr>
          <p:nvPr/>
        </p:nvSpPr>
        <p:spPr>
          <a:xfrm>
            <a:off x="742950" y="3838575"/>
            <a:ext cx="1133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13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匹配 PLUS、INT</a:t>
            </a:r>
          </a:p>
          <a:p>
            <a:pPr algn="l">
              <a:buNone/>
              <a:defRPr sz="713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执行 Aint、A₃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1B69F08-829F-4ED0-9495-7D3223F17AB7}"/>
              </a:ext>
            </a:extLst>
          </p:cNvPr>
          <p:cNvSpPr>
            <a:spLocks noGrp="1"/>
          </p:cNvSpPr>
          <p:nvPr/>
        </p:nvSpPr>
        <p:spPr>
          <a:xfrm>
            <a:off x="1952625" y="3800475"/>
            <a:ext cx="2476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58CD734-2F7F-4C5A-9BAA-7D3A63BAB8EB}"/>
              </a:ext>
            </a:extLst>
          </p:cNvPr>
          <p:cNvSpPr>
            <a:spLocks noGrp="1"/>
          </p:cNvSpPr>
          <p:nvPr/>
        </p:nvSpPr>
        <p:spPr>
          <a:xfrm>
            <a:off x="2028825" y="3876675"/>
            <a:ext cx="2324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expr_tail₁ A₄ A₂ $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AA39EA7-C7EF-457F-8624-CF319E739906}"/>
              </a:ext>
            </a:extLst>
          </p:cNvPr>
          <p:cNvSpPr>
            <a:spLocks noGrp="1"/>
          </p:cNvSpPr>
          <p:nvPr/>
        </p:nvSpPr>
        <p:spPr>
          <a:xfrm>
            <a:off x="4429125" y="3800475"/>
            <a:ext cx="18097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1E80A99-E3D7-4884-BA5D-F72207F33CDE}"/>
              </a:ext>
            </a:extLst>
          </p:cNvPr>
          <p:cNvSpPr>
            <a:spLocks noGrp="1"/>
          </p:cNvSpPr>
          <p:nvPr/>
        </p:nvSpPr>
        <p:spPr>
          <a:xfrm>
            <a:off x="4505325" y="387667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[$]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87E8211-F3BD-4BC6-82F6-C9518B58AED6}"/>
              </a:ext>
            </a:extLst>
          </p:cNvPr>
          <p:cNvSpPr>
            <a:spLocks noGrp="1"/>
          </p:cNvSpPr>
          <p:nvPr/>
        </p:nvSpPr>
        <p:spPr>
          <a:xfrm>
            <a:off x="6238875" y="3800475"/>
            <a:ext cx="223837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53DE291-EEE8-4C6D-BAB8-98DB38ADAD4A}"/>
              </a:ext>
            </a:extLst>
          </p:cNvPr>
          <p:cNvSpPr>
            <a:spLocks noGrp="1"/>
          </p:cNvSpPr>
          <p:nvPr/>
        </p:nvSpPr>
        <p:spPr>
          <a:xfrm>
            <a:off x="6315075" y="3876675"/>
            <a:ext cx="20859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60" b="0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32788E"/>
                </a:solidFill>
                <a:latin typeface="Arial"/>
                <a:ea typeface="Arial"/>
                <a:cs typeface="Arial"/>
              </a:rPr>
              <a:t>expr_tail₁.in = BinaryExpr(ADD, ...)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3B8F3C1-9867-4A03-A817-82827B897FB0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128587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0CC23BB-32C7-4296-B086-972F4759B9C7}"/>
              </a:ext>
            </a:extLst>
          </p:cNvPr>
          <p:cNvSpPr>
            <a:spLocks noGrp="1"/>
          </p:cNvSpPr>
          <p:nvPr/>
        </p:nvSpPr>
        <p:spPr>
          <a:xfrm>
            <a:off x="742950" y="4238625"/>
            <a:ext cx="1133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713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展开 ε</a:t>
            </a:r>
          </a:p>
          <a:p>
            <a:pPr algn="l">
              <a:buNone/>
              <a:defRPr sz="713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执行 Aε、A₄、A₂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A8676D-0672-4E74-8107-79B18781265B}"/>
              </a:ext>
            </a:extLst>
          </p:cNvPr>
          <p:cNvSpPr>
            <a:spLocks noGrp="1"/>
          </p:cNvSpPr>
          <p:nvPr/>
        </p:nvSpPr>
        <p:spPr>
          <a:xfrm>
            <a:off x="1952625" y="4200525"/>
            <a:ext cx="247650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CEF5B38-7EC1-42E9-AD7C-2F57399873C0}"/>
              </a:ext>
            </a:extLst>
          </p:cNvPr>
          <p:cNvSpPr>
            <a:spLocks noGrp="1"/>
          </p:cNvSpPr>
          <p:nvPr/>
        </p:nvSpPr>
        <p:spPr>
          <a:xfrm>
            <a:off x="2028825" y="4276725"/>
            <a:ext cx="2324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$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0442F84-FE22-45A9-AA0C-6C27F83C8C82}"/>
              </a:ext>
            </a:extLst>
          </p:cNvPr>
          <p:cNvSpPr>
            <a:spLocks noGrp="1"/>
          </p:cNvSpPr>
          <p:nvPr/>
        </p:nvSpPr>
        <p:spPr>
          <a:xfrm>
            <a:off x="4429125" y="4200525"/>
            <a:ext cx="1809750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6606FBA-205C-459D-B0C5-590DB408D267}"/>
              </a:ext>
            </a:extLst>
          </p:cNvPr>
          <p:cNvSpPr>
            <a:spLocks noGrp="1"/>
          </p:cNvSpPr>
          <p:nvPr/>
        </p:nvSpPr>
        <p:spPr>
          <a:xfrm>
            <a:off x="4505325" y="4276725"/>
            <a:ext cx="16573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[$]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583F604-719F-43EC-AD1E-D5DCE2A3A9C2}"/>
              </a:ext>
            </a:extLst>
          </p:cNvPr>
          <p:cNvSpPr>
            <a:spLocks noGrp="1"/>
          </p:cNvSpPr>
          <p:nvPr/>
        </p:nvSpPr>
        <p:spPr>
          <a:xfrm>
            <a:off x="6238875" y="4200525"/>
            <a:ext cx="2238375" cy="40005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0B1FA79-9633-42A7-9ECC-F32E5D47D32C}"/>
              </a:ext>
            </a:extLst>
          </p:cNvPr>
          <p:cNvSpPr>
            <a:spLocks noGrp="1"/>
          </p:cNvSpPr>
          <p:nvPr/>
        </p:nvSpPr>
        <p:spPr>
          <a:xfrm>
            <a:off x="6315075" y="4276725"/>
            <a:ext cx="20859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69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69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expr.ast = BinaryExpr(ADD, ...)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DFF3FAF-C998-4DA6-9DED-8D4AFFE6EE1D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C2201E0-C8C3-43AD-83CE-1410C07488F7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A₁ 在展开 expr_tail 前传入已有 AST；后续 action 完成累积，并把结果返回给 expr。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补充术语：综合属性与继承属性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172A7C5-A0CC-7B36-F236-345181E6AD72}" type="slidenum">
              <a:t>35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3A980D-8184-45A6-BD90-6848691492A0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semantic values 的两种传递方向对应两种不同的属性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2BF7FF-2C34-46A2-84D2-319D5FC1F638}"/>
              </a:ext>
            </a:extLst>
          </p:cNvPr>
          <p:cNvSpPr>
            <a:spLocks noGrp="1"/>
          </p:cNvSpPr>
          <p:nvPr/>
        </p:nvSpPr>
        <p:spPr>
          <a:xfrm>
            <a:off x="629532" y="19050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32788E"/>
                </a:solidFill>
              </a:defRPr>
            </a:pPr>
            <a:r>
              <a:rPr sz="1575" b="1">
                <a:solidFill>
                  <a:srgbClr val="32788E"/>
                </a:solidFill>
              </a:rPr>
              <a:t>综合属性 synthesized attribute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571D9DC3-DCFE-4FD3-9FEA-3D649510387E}"/>
              </a:ext>
            </a:extLst>
          </p:cNvPr>
          <p:cNvSpPr>
            <a:spLocks noGrp="1"/>
          </p:cNvSpPr>
          <p:nvPr/>
        </p:nvSpPr>
        <p:spPr>
          <a:xfrm>
            <a:off x="724782" y="2571750"/>
            <a:ext cx="1524000" cy="552450"/>
          </a:xfrm>
          <a:prstGeom prst="roundRect">
            <a:avLst>
              <a:gd name="adj" fmla="val 6897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8088FC-23B3-405A-BA37-2F6660A4A11A}"/>
              </a:ext>
            </a:extLst>
          </p:cNvPr>
          <p:cNvSpPr>
            <a:spLocks noGrp="1"/>
          </p:cNvSpPr>
          <p:nvPr/>
        </p:nvSpPr>
        <p:spPr>
          <a:xfrm>
            <a:off x="800982" y="2638425"/>
            <a:ext cx="1371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BE384B"/>
                </a:solidFill>
              </a:defRPr>
            </a:pPr>
            <a:r>
              <a:rPr sz="1125" b="1">
                <a:solidFill>
                  <a:srgbClr val="BE384B"/>
                </a:solidFill>
              </a:rPr>
              <a:t>子结构 / 右侧结果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9403D3D1-FD00-4DDA-8A31-490D82B5C88B}"/>
              </a:ext>
            </a:extLst>
          </p:cNvPr>
          <p:cNvSpPr>
            <a:spLocks noGrp="1"/>
          </p:cNvSpPr>
          <p:nvPr/>
        </p:nvSpPr>
        <p:spPr>
          <a:xfrm>
            <a:off x="2486907" y="2762250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BB564FD-CBD6-432D-A31E-C5BC30A3E3B3}"/>
              </a:ext>
            </a:extLst>
          </p:cNvPr>
          <p:cNvSpPr>
            <a:spLocks noGrp="1"/>
          </p:cNvSpPr>
          <p:nvPr/>
        </p:nvSpPr>
        <p:spPr>
          <a:xfrm>
            <a:off x="3248907" y="2571750"/>
            <a:ext cx="1524000" cy="552450"/>
          </a:xfrm>
          <a:prstGeom prst="roundRect">
            <a:avLst>
              <a:gd name="adj" fmla="val 6897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9FF88C-4191-4534-8A15-7731019F7BFA}"/>
              </a:ext>
            </a:extLst>
          </p:cNvPr>
          <p:cNvSpPr>
            <a:spLocks noGrp="1"/>
          </p:cNvSpPr>
          <p:nvPr/>
        </p:nvSpPr>
        <p:spPr>
          <a:xfrm>
            <a:off x="3325107" y="2638425"/>
            <a:ext cx="1371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父结构 / 左侧结果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596E96-D69D-406F-8E70-4A44A835E135}"/>
              </a:ext>
            </a:extLst>
          </p:cNvPr>
          <p:cNvSpPr>
            <a:spLocks noGrp="1"/>
          </p:cNvSpPr>
          <p:nvPr/>
        </p:nvSpPr>
        <p:spPr>
          <a:xfrm>
            <a:off x="677157" y="3429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366FE01-8C8E-4C4E-BDB7-BBF72B1485E5}"/>
              </a:ext>
            </a:extLst>
          </p:cNvPr>
          <p:cNvSpPr>
            <a:spLocks noGrp="1"/>
          </p:cNvSpPr>
          <p:nvPr/>
        </p:nvSpPr>
        <p:spPr>
          <a:xfrm>
            <a:off x="943857" y="342900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242424"/>
                </a:solidFill>
              </a:defRPr>
            </a:pPr>
            <a:r>
              <a:rPr sz="1200">
                <a:solidFill>
                  <a:srgbClr val="242424"/>
                </a:solidFill>
              </a:rPr>
              <a:t>LR</a:t>
            </a:r>
            <a:r>
              <a:rPr sz="1200" b="0">
                <a:solidFill>
                  <a:srgbClr val="242424"/>
                </a:solidFill>
              </a:rPr>
              <a:t>：reduce 或末尾 action 计算父节点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0C5D57-B0A8-4AE0-AB9D-A830E9D3B7E1}"/>
              </a:ext>
            </a:extLst>
          </p:cNvPr>
          <p:cNvSpPr>
            <a:spLocks noGrp="1"/>
          </p:cNvSpPr>
          <p:nvPr/>
        </p:nvSpPr>
        <p:spPr>
          <a:xfrm>
            <a:off x="677157" y="39052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7B4A10-27C0-4C94-A23E-0A142E5282DF}"/>
              </a:ext>
            </a:extLst>
          </p:cNvPr>
          <p:cNvSpPr>
            <a:spLocks noGrp="1"/>
          </p:cNvSpPr>
          <p:nvPr/>
        </p:nvSpPr>
        <p:spPr>
          <a:xfrm>
            <a:off x="943857" y="390525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242424"/>
                </a:solidFill>
              </a:defRPr>
            </a:pPr>
            <a:r>
              <a:rPr sz="1200" b="0">
                <a:solidFill>
                  <a:srgbClr val="242424"/>
                </a:solidFill>
              </a:rPr>
              <a:t>代码中常表现为函数返回值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F45DF7-8331-4F15-AFC3-87015558F7B0}"/>
              </a:ext>
            </a:extLst>
          </p:cNvPr>
          <p:cNvSpPr>
            <a:spLocks noGrp="1"/>
          </p:cNvSpPr>
          <p:nvPr/>
        </p:nvSpPr>
        <p:spPr>
          <a:xfrm>
            <a:off x="5201532" y="19050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1">
                <a:solidFill>
                  <a:srgbClr val="6A868F"/>
                </a:solidFill>
              </a:defRPr>
            </a:pPr>
            <a:r>
              <a:rPr sz="1575" b="1">
                <a:solidFill>
                  <a:srgbClr val="6A868F"/>
                </a:solidFill>
              </a:rPr>
              <a:t>继承属性 inherited attribute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B38E13E-0BFA-4C81-A52B-77CF6489F523}"/>
              </a:ext>
            </a:extLst>
          </p:cNvPr>
          <p:cNvSpPr>
            <a:spLocks noGrp="1"/>
          </p:cNvSpPr>
          <p:nvPr/>
        </p:nvSpPr>
        <p:spPr>
          <a:xfrm>
            <a:off x="5201532" y="2571750"/>
            <a:ext cx="1666875" cy="552450"/>
          </a:xfrm>
          <a:prstGeom prst="roundRect">
            <a:avLst>
              <a:gd name="adj" fmla="val 6897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38BF6D-09BB-4658-BF5D-B82CC6967E88}"/>
              </a:ext>
            </a:extLst>
          </p:cNvPr>
          <p:cNvSpPr>
            <a:spLocks noGrp="1"/>
          </p:cNvSpPr>
          <p:nvPr/>
        </p:nvSpPr>
        <p:spPr>
          <a:xfrm>
            <a:off x="5277732" y="2638425"/>
            <a:ext cx="15144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6A868F"/>
                </a:solidFill>
              </a:defRPr>
            </a:pPr>
            <a:r>
              <a:rPr sz="1125" b="1">
                <a:solidFill>
                  <a:srgbClr val="6A868F"/>
                </a:solidFill>
              </a:rPr>
              <a:t>父结构 / 已有上下文</a:t>
            </a:r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69B2B348-8C19-4EBD-93BF-5874CC752E60}"/>
              </a:ext>
            </a:extLst>
          </p:cNvPr>
          <p:cNvSpPr>
            <a:spLocks noGrp="1"/>
          </p:cNvSpPr>
          <p:nvPr/>
        </p:nvSpPr>
        <p:spPr>
          <a:xfrm>
            <a:off x="7058907" y="2762250"/>
            <a:ext cx="523875" cy="1905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CC0A76C6-AB35-4DBF-8675-C9AB0B19BB3E}"/>
              </a:ext>
            </a:extLst>
          </p:cNvPr>
          <p:cNvSpPr>
            <a:spLocks noGrp="1"/>
          </p:cNvSpPr>
          <p:nvPr/>
        </p:nvSpPr>
        <p:spPr>
          <a:xfrm>
            <a:off x="7773282" y="2571750"/>
            <a:ext cx="1238250" cy="552450"/>
          </a:xfrm>
          <a:prstGeom prst="roundRect">
            <a:avLst>
              <a:gd name="adj" fmla="val 6897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719B092-14F6-4897-ADAD-7B7E064C96DB}"/>
              </a:ext>
            </a:extLst>
          </p:cNvPr>
          <p:cNvSpPr>
            <a:spLocks noGrp="1"/>
          </p:cNvSpPr>
          <p:nvPr/>
        </p:nvSpPr>
        <p:spPr>
          <a:xfrm>
            <a:off x="7849482" y="2638425"/>
            <a:ext cx="10858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32788E"/>
                </a:solidFill>
              </a:defRPr>
            </a:pPr>
            <a:r>
              <a:rPr sz="1050" b="1">
                <a:solidFill>
                  <a:srgbClr val="32788E"/>
                </a:solidFill>
              </a:rPr>
              <a:t>子结构 / 后续解析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7BBD8E-DFFB-473F-9164-6DE068225021}"/>
              </a:ext>
            </a:extLst>
          </p:cNvPr>
          <p:cNvSpPr>
            <a:spLocks noGrp="1"/>
          </p:cNvSpPr>
          <p:nvPr/>
        </p:nvSpPr>
        <p:spPr>
          <a:xfrm>
            <a:off x="5153907" y="3429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3CD99A-FCE0-4164-8412-775D5CCA0C78}"/>
              </a:ext>
            </a:extLst>
          </p:cNvPr>
          <p:cNvSpPr>
            <a:spLocks noGrp="1"/>
          </p:cNvSpPr>
          <p:nvPr/>
        </p:nvSpPr>
        <p:spPr>
          <a:xfrm>
            <a:off x="5420607" y="342900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242424"/>
                </a:solidFill>
              </a:defRPr>
            </a:pPr>
            <a:r>
              <a:rPr sz="1200">
                <a:solidFill>
                  <a:srgbClr val="242424"/>
                </a:solidFill>
              </a:rPr>
              <a:t>LL</a:t>
            </a:r>
            <a:r>
              <a:rPr sz="1200" b="0">
                <a:solidFill>
                  <a:srgbClr val="242424"/>
                </a:solidFill>
              </a:rPr>
              <a:t>：中间 action 在解析前传入结果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5174E7F-2B32-41D3-8A3E-A9F3BB8CCE20}"/>
              </a:ext>
            </a:extLst>
          </p:cNvPr>
          <p:cNvSpPr>
            <a:spLocks noGrp="1"/>
          </p:cNvSpPr>
          <p:nvPr/>
        </p:nvSpPr>
        <p:spPr>
          <a:xfrm>
            <a:off x="5153907" y="390525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9DFE07-C91E-4523-94D0-A55B3C35F7F5}"/>
              </a:ext>
            </a:extLst>
          </p:cNvPr>
          <p:cNvSpPr>
            <a:spLocks noGrp="1"/>
          </p:cNvSpPr>
          <p:nvPr/>
        </p:nvSpPr>
        <p:spPr>
          <a:xfrm>
            <a:off x="5420607" y="39052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0">
                <a:solidFill>
                  <a:srgbClr val="242424"/>
                </a:solidFill>
              </a:defRPr>
            </a:pPr>
            <a:r>
              <a:rPr sz="1200" b="0">
                <a:solidFill>
                  <a:srgbClr val="242424"/>
                </a:solidFill>
              </a:rPr>
              <a:t>代码中常表现为函数参数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4BFA-CD9F-BFAE-47E0-31869D2D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FA0E9-31C5-23AB-FBCB-D25C7DCD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上一讲回顾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B22481-E197-348D-480D-522C5CFE7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编辑器</a:t>
            </a:r>
            <a:r>
              <a:rPr lang="en-US" altLang="zh-CN"/>
              <a:t>parsing</a:t>
            </a:r>
            <a:endParaRPr lang="en-US" altLang="zh-CN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b="0" dirty="0"/>
              <a:t>增量</a:t>
            </a:r>
            <a:r>
              <a:rPr lang="en-US" altLang="zh-CN" sz="2000" b="0" dirty="0"/>
              <a:t>parsing</a:t>
            </a:r>
            <a:r>
              <a:rPr lang="zh-CN" altLang="en-US" sz="2000" b="0" dirty="0"/>
              <a:t>：</a:t>
            </a:r>
            <a:r>
              <a:rPr lang="en-US" altLang="zh-CN" sz="2000" b="0" dirty="0"/>
              <a:t>tree-sitter</a:t>
            </a:r>
            <a:endParaRPr lang="en-US" altLang="zh-CN" b="0" dirty="0"/>
          </a:p>
          <a:p>
            <a:pPr marL="0" indent="0"/>
            <a:r>
              <a:rPr lang="zh-CN" altLang="en-US" dirty="0"/>
              <a:t>抽象语法树</a:t>
            </a:r>
            <a:endParaRPr dirty="0"/>
          </a:p>
          <a:p>
            <a:pPr>
              <a:buFont typeface="Arial"/>
              <a:buChar char="•"/>
            </a:pPr>
            <a:r>
              <a:rPr lang="zh-CN" altLang="en-US" sz="2000" b="0" dirty="0">
                <a:solidFill>
                  <a:schemeClr val="tx1"/>
                </a:solidFill>
              </a:rPr>
              <a:t>概念：</a:t>
            </a:r>
            <a:r>
              <a:rPr lang="en-US" altLang="zh-CN" sz="2000" b="0" dirty="0">
                <a:solidFill>
                  <a:schemeClr val="tx1"/>
                </a:solidFill>
              </a:rPr>
              <a:t>parse tree</a:t>
            </a:r>
            <a:r>
              <a:rPr lang="zh-CN" altLang="en-US" sz="2000" b="0" dirty="0">
                <a:solidFill>
                  <a:schemeClr val="tx1"/>
                </a:solidFill>
              </a:rPr>
              <a:t>的简化版，该保留哪些内容？</a:t>
            </a:r>
            <a:endParaRPr sz="2000" b="0" dirty="0">
              <a:solidFill>
                <a:schemeClr val="tx1"/>
              </a:solidFill>
            </a:endParaRPr>
          </a:p>
          <a:p>
            <a:pPr>
              <a:buFont typeface="Arial"/>
              <a:buChar char="•"/>
            </a:pPr>
            <a:r>
              <a:rPr lang="zh-CN" altLang="en-US" sz="2000" b="0" dirty="0"/>
              <a:t>构造：如何在</a:t>
            </a:r>
            <a:r>
              <a:rPr lang="en-US" altLang="zh-CN" sz="2000" b="0" dirty="0"/>
              <a:t>parsing</a:t>
            </a:r>
            <a:r>
              <a:rPr lang="zh-CN" altLang="en-US" sz="2000" b="0" dirty="0"/>
              <a:t>过程中同时构造？</a:t>
            </a:r>
            <a:endParaRPr lang="en-US" altLang="zh-CN" sz="2000" b="0" dirty="0"/>
          </a:p>
          <a:p>
            <a:pPr lvl="1">
              <a:buFont typeface="Arial"/>
              <a:buChar char="•"/>
            </a:pPr>
            <a:r>
              <a:rPr lang="en-US" altLang="zh-CN" sz="1600" dirty="0"/>
              <a:t>LR</a:t>
            </a:r>
            <a:r>
              <a:rPr lang="zh-CN" altLang="en-US" sz="1600" dirty="0"/>
              <a:t>：</a:t>
            </a:r>
            <a:r>
              <a:rPr lang="en-US" altLang="zh-CN" sz="1600" dirty="0"/>
              <a:t>reduce</a:t>
            </a:r>
            <a:r>
              <a:rPr lang="zh-CN" altLang="en-US" sz="1600" dirty="0"/>
              <a:t>时触发构造动作（综合属性）</a:t>
            </a:r>
            <a:endParaRPr lang="en-US" altLang="zh-CN" sz="1600" dirty="0"/>
          </a:p>
          <a:p>
            <a:pPr lvl="1">
              <a:buFont typeface="Arial"/>
              <a:buChar char="•"/>
            </a:pPr>
            <a:r>
              <a:rPr lang="en-US" altLang="zh-CN" sz="1600" b="0" dirty="0"/>
              <a:t>LL</a:t>
            </a:r>
            <a:r>
              <a:rPr lang="zh-CN" altLang="en-US" sz="1600" b="0" dirty="0"/>
              <a:t>：展开过程中</a:t>
            </a:r>
            <a:r>
              <a:rPr lang="en-US" altLang="zh-CN" sz="1600" b="0" dirty="0"/>
              <a:t>/</a:t>
            </a:r>
            <a:r>
              <a:rPr lang="zh-CN" altLang="en-US" sz="1600" b="0" dirty="0"/>
              <a:t>结束时触发（继承</a:t>
            </a:r>
            <a:r>
              <a:rPr lang="en-US" altLang="zh-CN" sz="1600" b="0" dirty="0"/>
              <a:t>/</a:t>
            </a:r>
            <a:r>
              <a:rPr lang="zh-CN" altLang="en-US" sz="1600" b="0" dirty="0"/>
              <a:t>综合属性）</a:t>
            </a:r>
            <a:endParaRPr b="0" dirty="0"/>
          </a:p>
          <a:p>
            <a:pPr>
              <a:buFont typeface="Arial"/>
              <a:buChar char="•"/>
            </a:pPr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5C06E8-C539-7B6F-0AB7-A44E2F1FC3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rPr/>
              <a:t>36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8F38AF-F323-2E5A-4FAB-C45AAE050F1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t>上海交通大学并行与分布式系统研究所（IPADS@SJTU）</a:t>
            </a:r>
          </a:p>
        </p:txBody>
      </p:sp>
    </p:spTree>
    <p:extLst>
      <p:ext uri="{BB962C8B-B14F-4D97-AF65-F5344CB8AC3E}">
        <p14:creationId xmlns:p14="http://schemas.microsoft.com/office/powerpoint/2010/main" val="3298726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B944-2ED9-47EB-8A88-9B9C6188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8" y="3655047"/>
            <a:ext cx="7810500" cy="876300"/>
          </a:xfrm>
        </p:spPr>
        <p:txBody>
          <a:bodyPr anchor="t">
            <a:normAutofit/>
          </a:bodyPr>
          <a:lstStyle/>
          <a:p>
            <a:pPr algn="l">
              <a:buNone/>
              <a:defRPr sz="3525" b="1">
                <a:solidFill>
                  <a:srgbClr val="BE384B"/>
                </a:solidFill>
              </a:defRPr>
            </a:pPr>
            <a:r>
              <a:rPr sz="3525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名字解析与作用域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AAD551-D37B-6036-195C-593BEB7048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6C3428B-053E-6B4E-39FF-75B44F3F33F6}" type="slidenum">
              <a:t>37</a:t>
            </a:fld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D669AE-87C7-4392-BEE8-2DDD16C984CE}"/>
              </a:ext>
            </a:extLst>
          </p:cNvPr>
          <p:cNvSpPr>
            <a:spLocks noGrp="1"/>
          </p:cNvSpPr>
          <p:nvPr/>
        </p:nvSpPr>
        <p:spPr>
          <a:xfrm>
            <a:off x="574048" y="3197847"/>
            <a:ext cx="781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75" b="0">
                <a:solidFill>
                  <a:srgbClr val="8C8C8C"/>
                </a:solidFill>
              </a:defRPr>
            </a:pPr>
            <a:r>
              <a:rPr sz="1875" b="0">
                <a:solidFill>
                  <a:srgbClr val="8C8C8C"/>
                </a:solidFill>
              </a:rPr>
              <a:t>AST 已经有结构，但其中的名字究竟指向哪个声明？</a:t>
            </a:r>
          </a:p>
        </p:txBody>
      </p:sp>
    </p:spTree>
    <p:extLst>
      <p:ext uri="{BB962C8B-B14F-4D97-AF65-F5344CB8AC3E}">
        <p14:creationId xmlns:p14="http://schemas.microsoft.com/office/powerpoint/2010/main" val="8762114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AST 中的名字还只是字符串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59F9B2FD-F323-2D0A-D581-D6E61055F9A8}" type="slidenum">
              <a:t>38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711F03-F2A3-436D-8C66-C972EE54F7CB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3714750" cy="25717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9E4327-BD99-4321-9A12-4DF009BDAE33}"/>
              </a:ext>
            </a:extLst>
          </p:cNvPr>
          <p:cNvSpPr>
            <a:spLocks noGrp="1"/>
          </p:cNvSpPr>
          <p:nvPr/>
        </p:nvSpPr>
        <p:spPr>
          <a:xfrm>
            <a:off x="819150" y="1543050"/>
            <a:ext cx="340995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int x = 1;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int f(int x) {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    int y = x + 1;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    return y;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F7517C-A1F6-49D8-B28F-97B48100307D}"/>
              </a:ext>
            </a:extLst>
          </p:cNvPr>
          <p:cNvSpPr>
            <a:spLocks noGrp="1"/>
          </p:cNvSpPr>
          <p:nvPr/>
        </p:nvSpPr>
        <p:spPr>
          <a:xfrm>
            <a:off x="5238750" y="138112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Parser 能构造这些节点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392081B-9C14-475C-9DAB-0A3F43FF1D43}"/>
              </a:ext>
            </a:extLst>
          </p:cNvPr>
          <p:cNvSpPr>
            <a:spLocks noGrp="1"/>
          </p:cNvSpPr>
          <p:nvPr/>
        </p:nvSpPr>
        <p:spPr>
          <a:xfrm>
            <a:off x="5334000" y="1952625"/>
            <a:ext cx="2381250" cy="514350"/>
          </a:xfrm>
          <a:prstGeom prst="roundRect">
            <a:avLst>
              <a:gd name="adj" fmla="val 7407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E99AAD-B87E-482B-8E48-85F81ED5E0FC}"/>
              </a:ext>
            </a:extLst>
          </p:cNvPr>
          <p:cNvSpPr>
            <a:spLocks noGrp="1"/>
          </p:cNvSpPr>
          <p:nvPr/>
        </p:nvSpPr>
        <p:spPr>
          <a:xfrm>
            <a:off x="5410200" y="2019300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NameExpr("x")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907CDF1-6B88-4E2B-8FDD-398A976FD2F9}"/>
              </a:ext>
            </a:extLst>
          </p:cNvPr>
          <p:cNvSpPr>
            <a:spLocks noGrp="1"/>
          </p:cNvSpPr>
          <p:nvPr/>
        </p:nvSpPr>
        <p:spPr>
          <a:xfrm>
            <a:off x="5334000" y="2762250"/>
            <a:ext cx="2381250" cy="514350"/>
          </a:xfrm>
          <a:prstGeom prst="roundRect">
            <a:avLst>
              <a:gd name="adj" fmla="val 7407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2D0F5E-3874-40C9-88FE-FE5E431E5BF9}"/>
              </a:ext>
            </a:extLst>
          </p:cNvPr>
          <p:cNvSpPr>
            <a:spLocks noGrp="1"/>
          </p:cNvSpPr>
          <p:nvPr/>
        </p:nvSpPr>
        <p:spPr>
          <a:xfrm>
            <a:off x="5410200" y="2828925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NameExpr("x")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6E97EA-ACD7-43A8-8F27-851B3811AD04}"/>
              </a:ext>
            </a:extLst>
          </p:cNvPr>
          <p:cNvSpPr>
            <a:spLocks noGrp="1"/>
          </p:cNvSpPr>
          <p:nvPr/>
        </p:nvSpPr>
        <p:spPr>
          <a:xfrm>
            <a:off x="5048250" y="3619500"/>
            <a:ext cx="3524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同样的文本 "x"，一个是全局变量，</a:t>
            </a:r>
          </a:p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另一个是参数；使用处应该连接到谁？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2185F2-C819-49AB-9861-D21118A2FE6F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F8E8EB"/>
          </a:solidFill>
          <a:ln w="9525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8EDACF-B9CC-4CF1-90FE-9ECCB75BB6E0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语法正确只说明名字出现在合法位置，并没有确定它的含义。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Binding：把名字的使用连接到声明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D6C2EC43-E3B9-C9B0-67FF-5447EB7F3925}" type="slidenum">
              <a:t>39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A03BB9-69D4-4682-B7B9-C3BE572AAFC9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名字解析 resolver 读取 AST，并为每个名字使用找到唯一的声明身份。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B240CD3-2CB3-4800-B370-A6C07565311D}"/>
              </a:ext>
            </a:extLst>
          </p:cNvPr>
          <p:cNvSpPr>
            <a:spLocks noGrp="1"/>
          </p:cNvSpPr>
          <p:nvPr/>
        </p:nvSpPr>
        <p:spPr>
          <a:xfrm>
            <a:off x="714375" y="2428875"/>
            <a:ext cx="2238375" cy="647700"/>
          </a:xfrm>
          <a:prstGeom prst="roundRect">
            <a:avLst>
              <a:gd name="adj" fmla="val 5882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CF6AC06-6355-461A-AC07-CC1CF2933339}"/>
              </a:ext>
            </a:extLst>
          </p:cNvPr>
          <p:cNvSpPr>
            <a:spLocks noGrp="1"/>
          </p:cNvSpPr>
          <p:nvPr/>
        </p:nvSpPr>
        <p:spPr>
          <a:xfrm>
            <a:off x="790575" y="2495550"/>
            <a:ext cx="20859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NameExpr("x")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E22AFB33-602D-49E5-B64E-6EF3FB8687DF}"/>
              </a:ext>
            </a:extLst>
          </p:cNvPr>
          <p:cNvSpPr>
            <a:spLocks noGrp="1"/>
          </p:cNvSpPr>
          <p:nvPr/>
        </p:nvSpPr>
        <p:spPr>
          <a:xfrm>
            <a:off x="3286125" y="2647950"/>
            <a:ext cx="666750" cy="2095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F93FE3E-307F-437C-9874-4C22FD6697CD}"/>
              </a:ext>
            </a:extLst>
          </p:cNvPr>
          <p:cNvSpPr>
            <a:spLocks noGrp="1"/>
          </p:cNvSpPr>
          <p:nvPr/>
        </p:nvSpPr>
        <p:spPr>
          <a:xfrm>
            <a:off x="4286250" y="2428875"/>
            <a:ext cx="1381125" cy="647700"/>
          </a:xfrm>
          <a:prstGeom prst="roundRect">
            <a:avLst>
              <a:gd name="adj" fmla="val 5882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BD213F-2E56-4EF6-B821-F2A6CDB2D13D}"/>
              </a:ext>
            </a:extLst>
          </p:cNvPr>
          <p:cNvSpPr>
            <a:spLocks noGrp="1"/>
          </p:cNvSpPr>
          <p:nvPr/>
        </p:nvSpPr>
        <p:spPr>
          <a:xfrm>
            <a:off x="4362450" y="2495550"/>
            <a:ext cx="12287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6A868F"/>
                </a:solidFill>
              </a:defRPr>
            </a:pPr>
            <a:r>
              <a:rPr sz="1350" b="1">
                <a:solidFill>
                  <a:srgbClr val="6A868F"/>
                </a:solidFill>
              </a:rPr>
              <a:t>Resolver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F2240433-E10B-4F17-BCB6-881169A85D9A}"/>
              </a:ext>
            </a:extLst>
          </p:cNvPr>
          <p:cNvSpPr>
            <a:spLocks noGrp="1"/>
          </p:cNvSpPr>
          <p:nvPr/>
        </p:nvSpPr>
        <p:spPr>
          <a:xfrm>
            <a:off x="6000750" y="2647950"/>
            <a:ext cx="666750" cy="2095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FEEF585-863D-44BA-88BB-64BF84D49252}"/>
              </a:ext>
            </a:extLst>
          </p:cNvPr>
          <p:cNvSpPr>
            <a:spLocks noGrp="1"/>
          </p:cNvSpPr>
          <p:nvPr/>
        </p:nvSpPr>
        <p:spPr>
          <a:xfrm>
            <a:off x="7000875" y="2333625"/>
            <a:ext cx="1905000" cy="838200"/>
          </a:xfrm>
          <a:prstGeom prst="roundRect">
            <a:avLst>
              <a:gd name="adj" fmla="val 4545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1590C8-3003-4A61-B9DD-96C282F6CC4A}"/>
              </a:ext>
            </a:extLst>
          </p:cNvPr>
          <p:cNvSpPr>
            <a:spLocks noGrp="1"/>
          </p:cNvSpPr>
          <p:nvPr/>
        </p:nvSpPr>
        <p:spPr>
          <a:xfrm>
            <a:off x="7077075" y="2400300"/>
            <a:ext cx="1752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BoundNameExpr</a:t>
            </a:r>
          </a:p>
          <a:p>
            <a:pPr algn="ctr">
              <a:buNone/>
              <a:defRPr sz="1125" b="1">
                <a:solidFill>
                  <a:srgbClr val="32788E"/>
                </a:solidFill>
              </a:defRPr>
            </a:pPr>
            <a:r>
              <a:rPr sz="1125" b="1">
                <a:solidFill>
                  <a:srgbClr val="32788E"/>
                </a:solidFill>
              </a:rPr>
              <a:t>Symbol(param x #2)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026A6A-6EC2-40EC-BD5B-8C00657770E6}"/>
              </a:ext>
            </a:extLst>
          </p:cNvPr>
          <p:cNvSpPr>
            <a:spLocks noGrp="1"/>
          </p:cNvSpPr>
          <p:nvPr/>
        </p:nvSpPr>
        <p:spPr>
          <a:xfrm>
            <a:off x="1381125" y="333375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BE384B"/>
                </a:solidFill>
              </a:defRPr>
            </a:pPr>
            <a:r>
              <a:rPr sz="1200" b="0">
                <a:solidFill>
                  <a:srgbClr val="BE384B"/>
                </a:solidFill>
              </a:rPr>
              <a:t>AST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03559E8-7351-48DD-A585-9907FADFDCD3}"/>
              </a:ext>
            </a:extLst>
          </p:cNvPr>
          <p:cNvSpPr>
            <a:spLocks noGrp="1"/>
          </p:cNvSpPr>
          <p:nvPr/>
        </p:nvSpPr>
        <p:spPr>
          <a:xfrm>
            <a:off x="4105274" y="3333750"/>
            <a:ext cx="17430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A868F"/>
                </a:solidFill>
              </a:defRPr>
            </a:pPr>
            <a:r>
              <a:rPr sz="1200" b="0">
                <a:solidFill>
                  <a:srgbClr val="6A868F"/>
                </a:solidFill>
              </a:rPr>
              <a:t>AST → Bound AST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4789DC-9F05-4503-9EFA-8B0A7E8225D6}"/>
              </a:ext>
            </a:extLst>
          </p:cNvPr>
          <p:cNvSpPr>
            <a:spLocks noGrp="1"/>
          </p:cNvSpPr>
          <p:nvPr/>
        </p:nvSpPr>
        <p:spPr>
          <a:xfrm>
            <a:off x="7429500" y="33337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32788E"/>
                </a:solidFill>
              </a:defRPr>
            </a:pPr>
            <a:r>
              <a:rPr sz="1200" b="0">
                <a:solidFill>
                  <a:srgbClr val="32788E"/>
                </a:solidFill>
              </a:rPr>
              <a:t>Bound AST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278DF7-0741-437A-833F-6023C735496C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CA4A8C-3B29-44CE-8142-C16E4C82CE15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Binding工作结束后，编译器建立了“使用节点 → 声明 Symbol”的稳定连接。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解析结果：把 AST 改写为 Bound AST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1110800D-D5E6-B48B-B335-F070B0EAA3B9}" type="slidenum">
              <a:t>40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2B98E9-98F9-453A-AA6E-9A5B73D74D7C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结构基本不变，但名字节点增加了确定的 binding。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FBFAE-2104-4864-BF0B-FBDF76F91065}"/>
              </a:ext>
            </a:extLst>
          </p:cNvPr>
          <p:cNvSpPr>
            <a:spLocks noGrp="1"/>
          </p:cNvSpPr>
          <p:nvPr/>
        </p:nvSpPr>
        <p:spPr>
          <a:xfrm>
            <a:off x="1476375" y="18573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BE384B"/>
                </a:solidFill>
              </a:defRPr>
            </a:pPr>
            <a:r>
              <a:rPr sz="1575" b="1">
                <a:solidFill>
                  <a:srgbClr val="BE384B"/>
                </a:solidFill>
              </a:rPr>
              <a:t>AST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2ABF83-0C17-4672-838A-52D0DF7D6742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3143250" cy="14287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8A218B-1208-4FCE-B9C4-2502AA15B879}"/>
              </a:ext>
            </a:extLst>
          </p:cNvPr>
          <p:cNvSpPr>
            <a:spLocks noGrp="1"/>
          </p:cNvSpPr>
          <p:nvPr/>
        </p:nvSpPr>
        <p:spPr>
          <a:xfrm>
            <a:off x="914400" y="2447925"/>
            <a:ext cx="28384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ReturnStmt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└─ NameExpr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   └─ name: "x"</a:t>
            </a:r>
          </a:p>
        </p:txBody>
      </p:sp>
      <p:sp>
        <p:nvSpPr>
          <p:cNvPr id="9" name="右箭头 8">
            <a:extLst>
              <a:ext uri="{FF2B5EF4-FFF2-40B4-BE49-F238E27FC236}">
                <a16:creationId xmlns:a16="http://schemas.microsoft.com/office/drawing/2014/main" id="{D502D1D9-96B1-4FA8-A41A-508A0501032E}"/>
              </a:ext>
            </a:extLst>
          </p:cNvPr>
          <p:cNvSpPr>
            <a:spLocks noGrp="1"/>
          </p:cNvSpPr>
          <p:nvPr/>
        </p:nvSpPr>
        <p:spPr>
          <a:xfrm>
            <a:off x="4286250" y="2857500"/>
            <a:ext cx="571500" cy="2095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5C057C-CE09-4A0C-AC76-EA24E56CA4F6}"/>
              </a:ext>
            </a:extLst>
          </p:cNvPr>
          <p:cNvSpPr>
            <a:spLocks noGrp="1"/>
          </p:cNvSpPr>
          <p:nvPr/>
        </p:nvSpPr>
        <p:spPr>
          <a:xfrm>
            <a:off x="4238625" y="3143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6A868F"/>
                </a:solidFill>
              </a:defRPr>
            </a:pPr>
            <a:r>
              <a:rPr sz="1050" b="0">
                <a:solidFill>
                  <a:srgbClr val="6A868F"/>
                </a:solidFill>
              </a:rPr>
              <a:t>resolve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AF9353-8CC9-4588-BA57-2370B16323D2}"/>
              </a:ext>
            </a:extLst>
          </p:cNvPr>
          <p:cNvSpPr>
            <a:spLocks noGrp="1"/>
          </p:cNvSpPr>
          <p:nvPr/>
        </p:nvSpPr>
        <p:spPr>
          <a:xfrm>
            <a:off x="6096000" y="185737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75" b="1">
                <a:solidFill>
                  <a:srgbClr val="32788E"/>
                </a:solidFill>
              </a:defRPr>
            </a:pPr>
            <a:r>
              <a:rPr sz="1575" b="1">
                <a:solidFill>
                  <a:srgbClr val="32788E"/>
                </a:solidFill>
              </a:rPr>
              <a:t>Bound AST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D07ADF-B1CB-43BE-89BB-FD56A5F43A71}"/>
              </a:ext>
            </a:extLst>
          </p:cNvPr>
          <p:cNvSpPr>
            <a:spLocks noGrp="1"/>
          </p:cNvSpPr>
          <p:nvPr/>
        </p:nvSpPr>
        <p:spPr>
          <a:xfrm>
            <a:off x="5238750" y="2333625"/>
            <a:ext cx="3333750" cy="16192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DB324B-1B8A-4935-AA32-C1AD1E033614}"/>
              </a:ext>
            </a:extLst>
          </p:cNvPr>
          <p:cNvSpPr>
            <a:spLocks noGrp="1"/>
          </p:cNvSpPr>
          <p:nvPr/>
        </p:nvSpPr>
        <p:spPr>
          <a:xfrm>
            <a:off x="5391150" y="2447925"/>
            <a:ext cx="30289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ReturnStmt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└─ BoundNameExpr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├─ name: "x"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└─ symbol: LocalSymbol #4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DD16F0-03DD-48D8-BA70-260639316918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77AC8E-0388-4241-8B88-BA0898596D4E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Bound AST 保存声明身份；源码名字仍可保留，用于打印和诊断。</a:t>
            </a:r>
          </a:p>
        </p:txBody>
      </p:sp>
    </p:spTree>
    <p:extLst>
      <p:ext uri="{BB962C8B-B14F-4D97-AF65-F5344CB8AC3E}">
        <p14:creationId xmlns:p14="http://schemas.microsoft.com/office/powerpoint/2010/main" val="40341573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同名变量可能指向不同声明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4A4FA566-8B12-6DD2-DDB5-FA6393938FB6}" type="slidenum">
              <a:t>41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B17989-5821-41B7-B929-1EB41AF9B5A7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4476750" cy="30480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4535FC-3E3F-4D7E-AE8E-A8528B3F823F}"/>
              </a:ext>
            </a:extLst>
          </p:cNvPr>
          <p:cNvSpPr>
            <a:spLocks noGrp="1"/>
          </p:cNvSpPr>
          <p:nvPr/>
        </p:nvSpPr>
        <p:spPr>
          <a:xfrm>
            <a:off x="676275" y="1495425"/>
            <a:ext cx="4171950" cy="2819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int x = 1;              // D1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int f(int x) {           // D2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int y = x + 1;       // U1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{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    int x = y * 2;   // D3, U2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    return x;        // U3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    }</a:t>
            </a:r>
          </a:p>
          <a:p>
            <a:pPr algn="l">
              <a:buNone/>
              <a:defRPr sz="1125" b="0">
                <a:solidFill>
                  <a:srgbClr val="F4F4F4"/>
                </a:solidFill>
              </a:defRPr>
            </a:pPr>
            <a:r>
              <a:rPr sz="1125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F3C7D9-BE14-4EAA-9102-57D2803AEDCC}"/>
              </a:ext>
            </a:extLst>
          </p:cNvPr>
          <p:cNvSpPr>
            <a:spLocks noGrp="1"/>
          </p:cNvSpPr>
          <p:nvPr/>
        </p:nvSpPr>
        <p:spPr>
          <a:xfrm>
            <a:off x="5457825" y="15240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使用位置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CD647F-50E4-4FB3-A3E9-30B88FE82F09}"/>
              </a:ext>
            </a:extLst>
          </p:cNvPr>
          <p:cNvSpPr>
            <a:spLocks noGrp="1"/>
          </p:cNvSpPr>
          <p:nvPr/>
        </p:nvSpPr>
        <p:spPr>
          <a:xfrm>
            <a:off x="7077075" y="1524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解析结果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78EB0B8-4834-40DE-A12F-088CBD7AF865}"/>
              </a:ext>
            </a:extLst>
          </p:cNvPr>
          <p:cNvSpPr>
            <a:spLocks noGrp="1"/>
          </p:cNvSpPr>
          <p:nvPr/>
        </p:nvSpPr>
        <p:spPr>
          <a:xfrm>
            <a:off x="5314950" y="2095500"/>
            <a:ext cx="1285875" cy="495300"/>
          </a:xfrm>
          <a:prstGeom prst="roundRect">
            <a:avLst>
              <a:gd name="adj" fmla="val 7692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45D5E0-FEE7-4FF9-A34D-9B346F3BD6BA}"/>
              </a:ext>
            </a:extLst>
          </p:cNvPr>
          <p:cNvSpPr>
            <a:spLocks noGrp="1"/>
          </p:cNvSpPr>
          <p:nvPr/>
        </p:nvSpPr>
        <p:spPr>
          <a:xfrm>
            <a:off x="5391150" y="2162175"/>
            <a:ext cx="1133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U1: x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1BC71A49-6159-491E-88C1-E7CED6955B87}"/>
              </a:ext>
            </a:extLst>
          </p:cNvPr>
          <p:cNvSpPr>
            <a:spLocks noGrp="1"/>
          </p:cNvSpPr>
          <p:nvPr/>
        </p:nvSpPr>
        <p:spPr>
          <a:xfrm>
            <a:off x="6743700" y="2247900"/>
            <a:ext cx="428625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70343D0B-6473-4366-8715-9E2CAA504622}"/>
              </a:ext>
            </a:extLst>
          </p:cNvPr>
          <p:cNvSpPr>
            <a:spLocks noGrp="1"/>
          </p:cNvSpPr>
          <p:nvPr/>
        </p:nvSpPr>
        <p:spPr>
          <a:xfrm>
            <a:off x="7315200" y="2095500"/>
            <a:ext cx="1428750" cy="495300"/>
          </a:xfrm>
          <a:prstGeom prst="roundRect">
            <a:avLst>
              <a:gd name="adj" fmla="val 7692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E38297-8048-4134-9017-7218FFAEA127}"/>
              </a:ext>
            </a:extLst>
          </p:cNvPr>
          <p:cNvSpPr>
            <a:spLocks noGrp="1"/>
          </p:cNvSpPr>
          <p:nvPr/>
        </p:nvSpPr>
        <p:spPr>
          <a:xfrm>
            <a:off x="7391400" y="2162175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参数 D2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62DCFFC-DBEA-4095-9558-D76A8CBB327D}"/>
              </a:ext>
            </a:extLst>
          </p:cNvPr>
          <p:cNvSpPr>
            <a:spLocks noGrp="1"/>
          </p:cNvSpPr>
          <p:nvPr/>
        </p:nvSpPr>
        <p:spPr>
          <a:xfrm>
            <a:off x="5314950" y="2809875"/>
            <a:ext cx="1285875" cy="495300"/>
          </a:xfrm>
          <a:prstGeom prst="roundRect">
            <a:avLst>
              <a:gd name="adj" fmla="val 7692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D30BE3-159D-43BA-BB5C-BAA039F57AB2}"/>
              </a:ext>
            </a:extLst>
          </p:cNvPr>
          <p:cNvSpPr>
            <a:spLocks noGrp="1"/>
          </p:cNvSpPr>
          <p:nvPr/>
        </p:nvSpPr>
        <p:spPr>
          <a:xfrm>
            <a:off x="5391150" y="2876550"/>
            <a:ext cx="1133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U2: y</a:t>
            </a: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43A10409-B08F-4EC3-A6DB-CEDAA0079B22}"/>
              </a:ext>
            </a:extLst>
          </p:cNvPr>
          <p:cNvSpPr>
            <a:spLocks noGrp="1"/>
          </p:cNvSpPr>
          <p:nvPr/>
        </p:nvSpPr>
        <p:spPr>
          <a:xfrm>
            <a:off x="6743700" y="2962275"/>
            <a:ext cx="428625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6029BF7-20DC-49F8-A340-632CD66F039C}"/>
              </a:ext>
            </a:extLst>
          </p:cNvPr>
          <p:cNvSpPr>
            <a:spLocks noGrp="1"/>
          </p:cNvSpPr>
          <p:nvPr/>
        </p:nvSpPr>
        <p:spPr>
          <a:xfrm>
            <a:off x="7315200" y="2809875"/>
            <a:ext cx="1428750" cy="495300"/>
          </a:xfrm>
          <a:prstGeom prst="roundRect">
            <a:avLst>
              <a:gd name="adj" fmla="val 7692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0F575C-8204-49A1-9F65-2618636D2721}"/>
              </a:ext>
            </a:extLst>
          </p:cNvPr>
          <p:cNvSpPr>
            <a:spLocks noGrp="1"/>
          </p:cNvSpPr>
          <p:nvPr/>
        </p:nvSpPr>
        <p:spPr>
          <a:xfrm>
            <a:off x="7391400" y="2876550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局部变量 y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9E9F92D-73FE-44E6-90A6-F605EC92F5D1}"/>
              </a:ext>
            </a:extLst>
          </p:cNvPr>
          <p:cNvSpPr>
            <a:spLocks noGrp="1"/>
          </p:cNvSpPr>
          <p:nvPr/>
        </p:nvSpPr>
        <p:spPr>
          <a:xfrm>
            <a:off x="5314950" y="3524250"/>
            <a:ext cx="1285875" cy="495300"/>
          </a:xfrm>
          <a:prstGeom prst="roundRect">
            <a:avLst>
              <a:gd name="adj" fmla="val 7692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6D47B5-C1FA-4ACD-91F3-DC27E9F2F6C4}"/>
              </a:ext>
            </a:extLst>
          </p:cNvPr>
          <p:cNvSpPr>
            <a:spLocks noGrp="1"/>
          </p:cNvSpPr>
          <p:nvPr/>
        </p:nvSpPr>
        <p:spPr>
          <a:xfrm>
            <a:off x="5391150" y="3590925"/>
            <a:ext cx="11334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U3: x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9A2A20F8-F923-4664-BCDB-1448C2D553AC}"/>
              </a:ext>
            </a:extLst>
          </p:cNvPr>
          <p:cNvSpPr>
            <a:spLocks noGrp="1"/>
          </p:cNvSpPr>
          <p:nvPr/>
        </p:nvSpPr>
        <p:spPr>
          <a:xfrm>
            <a:off x="6743700" y="3676650"/>
            <a:ext cx="428625" cy="17145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10D685E-65AF-478A-8E58-5B2AC236B81E}"/>
              </a:ext>
            </a:extLst>
          </p:cNvPr>
          <p:cNvSpPr>
            <a:spLocks noGrp="1"/>
          </p:cNvSpPr>
          <p:nvPr/>
        </p:nvSpPr>
        <p:spPr>
          <a:xfrm>
            <a:off x="7315200" y="3524250"/>
            <a:ext cx="1428750" cy="495300"/>
          </a:xfrm>
          <a:prstGeom prst="roundRect">
            <a:avLst>
              <a:gd name="adj" fmla="val 7692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1C44EBF-08D4-4DF5-97D5-F4F036DB2A56}"/>
              </a:ext>
            </a:extLst>
          </p:cNvPr>
          <p:cNvSpPr>
            <a:spLocks noGrp="1"/>
          </p:cNvSpPr>
          <p:nvPr/>
        </p:nvSpPr>
        <p:spPr>
          <a:xfrm>
            <a:off x="7391400" y="3590925"/>
            <a:ext cx="1276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内层变量 D3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C9BB3A3-B8EF-4C68-A001-821884E5E535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83D762-A237-4711-A838-5FBEC09DEAA6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名字解析需要依赖其使用位置所在的词法作用域。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622"/>
          </a:bodyPr>
          <a:lstStyle/>
          <a:p>
            <a:r>
              <a:rPr>
                <a:latin typeface="Arial"/>
                <a:ea typeface="Arial"/>
                <a:cs typeface="Arial"/>
              </a:rPr>
              <a:t>词法作用域：从当前位置向外寻找最近声明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E39A338D-B192-3127-EB9A-53A2665A0BB7}" type="slidenum">
              <a:t>42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34040-48B2-4B2D-A236-F1AE393C0E21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查找从最内层作用域开始；当前层没有，再逐层向外。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C84F79-F763-4D46-B907-9A3AC1CE8BF7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6858000" cy="2333625"/>
          </a:xfrm>
          <a:prstGeom prst="rect">
            <a:avLst/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780964-424E-40A5-8DE5-FC507F322B84}"/>
              </a:ext>
            </a:extLst>
          </p:cNvPr>
          <p:cNvSpPr>
            <a:spLocks noGrp="1"/>
          </p:cNvSpPr>
          <p:nvPr/>
        </p:nvSpPr>
        <p:spPr>
          <a:xfrm>
            <a:off x="1381125" y="20955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全局作用域：x #1, f #5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EBC97E-0361-4A76-BA9C-77554D4658BD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191000" cy="1381125"/>
          </a:xfrm>
          <a:prstGeom prst="rect">
            <a:avLst/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7A6E3F-5E8E-4982-94DA-A41CADCFDD54}"/>
              </a:ext>
            </a:extLst>
          </p:cNvPr>
          <p:cNvSpPr>
            <a:spLocks noGrp="1"/>
          </p:cNvSpPr>
          <p:nvPr/>
        </p:nvSpPr>
        <p:spPr>
          <a:xfrm>
            <a:off x="2428875" y="2714625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函数作用域：参数 x #2, y #3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E833EC-AE92-4863-944B-6A6860B0CB9A}"/>
              </a:ext>
            </a:extLst>
          </p:cNvPr>
          <p:cNvSpPr>
            <a:spLocks noGrp="1"/>
          </p:cNvSpPr>
          <p:nvPr/>
        </p:nvSpPr>
        <p:spPr>
          <a:xfrm>
            <a:off x="3381375" y="3143250"/>
            <a:ext cx="2905125" cy="552450"/>
          </a:xfrm>
          <a:prstGeom prst="rect">
            <a:avLst/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B2469B-C4A4-424F-AE99-22FE66F44113}"/>
              </a:ext>
            </a:extLst>
          </p:cNvPr>
          <p:cNvSpPr>
            <a:spLocks noGrp="1"/>
          </p:cNvSpPr>
          <p:nvPr/>
        </p:nvSpPr>
        <p:spPr>
          <a:xfrm>
            <a:off x="3571875" y="3276600"/>
            <a:ext cx="2524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内层块：x #4   ← 当前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6FCFD4-2182-433C-BDA2-85CCF22CDEE5}"/>
              </a:ext>
            </a:extLst>
          </p:cNvPr>
          <p:cNvSpPr>
            <a:spLocks noGrp="1"/>
          </p:cNvSpPr>
          <p:nvPr/>
        </p:nvSpPr>
        <p:spPr>
          <a:xfrm>
            <a:off x="6572250" y="31908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lookup(x): #4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4EFA42-1146-4A0E-8A0F-2BC72742BEED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lookup(y): #3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27A511-3BEB-4DA6-991E-AB0A2A86AF58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186AEB-FA4C-4A1C-B693-1F50609C1504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最先找到的声明优先使用：什么样的数据结构适合实现这样的需求？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Resolver 的核心：scope stack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D334276-4C85-190E-BA41-5CA1CBB04E4E}" type="slidenum">
              <a:t>43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E81195-DD14-4022-A978-3E70434FEFF4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每个作用域是一张 name → Symbol 的表；栈顶就是当前作用域。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7B227C7-553F-4FCE-8AEE-76BAECA5BF61}"/>
              </a:ext>
            </a:extLst>
          </p:cNvPr>
          <p:cNvSpPr>
            <a:spLocks noGrp="1"/>
          </p:cNvSpPr>
          <p:nvPr/>
        </p:nvSpPr>
        <p:spPr>
          <a:xfrm>
            <a:off x="1190625" y="1952625"/>
            <a:ext cx="2476500" cy="685800"/>
          </a:xfrm>
          <a:prstGeom prst="roundRect">
            <a:avLst>
              <a:gd name="adj" fmla="val 5556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E9F7F3-8D0B-4B78-9547-4F7DB10A5085}"/>
              </a:ext>
            </a:extLst>
          </p:cNvPr>
          <p:cNvSpPr>
            <a:spLocks noGrp="1"/>
          </p:cNvSpPr>
          <p:nvPr/>
        </p:nvSpPr>
        <p:spPr>
          <a:xfrm>
            <a:off x="1266825" y="201930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内层块</a:t>
            </a:r>
          </a:p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{ x → #4 }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22F7423-BC9B-4379-92A5-A272C1C84ABB}"/>
              </a:ext>
            </a:extLst>
          </p:cNvPr>
          <p:cNvSpPr>
            <a:spLocks noGrp="1"/>
          </p:cNvSpPr>
          <p:nvPr/>
        </p:nvSpPr>
        <p:spPr>
          <a:xfrm>
            <a:off x="1190625" y="2857500"/>
            <a:ext cx="2476500" cy="685800"/>
          </a:xfrm>
          <a:prstGeom prst="roundRect">
            <a:avLst>
              <a:gd name="adj" fmla="val 5556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CD5532-1BA5-4B9D-BB51-D4C00893FC19}"/>
              </a:ext>
            </a:extLst>
          </p:cNvPr>
          <p:cNvSpPr>
            <a:spLocks noGrp="1"/>
          </p:cNvSpPr>
          <p:nvPr/>
        </p:nvSpPr>
        <p:spPr>
          <a:xfrm>
            <a:off x="1266825" y="2924175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函数</a:t>
            </a:r>
          </a:p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{ x → #2, y → #3 }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CA562164-DAEA-47B3-AB2C-40E1C76DB54C}"/>
              </a:ext>
            </a:extLst>
          </p:cNvPr>
          <p:cNvSpPr>
            <a:spLocks noGrp="1"/>
          </p:cNvSpPr>
          <p:nvPr/>
        </p:nvSpPr>
        <p:spPr>
          <a:xfrm>
            <a:off x="1190625" y="3762375"/>
            <a:ext cx="2476500" cy="685800"/>
          </a:xfrm>
          <a:prstGeom prst="roundRect">
            <a:avLst>
              <a:gd name="adj" fmla="val 5556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AC90459-DF4F-4DAC-BF2E-B6B782D2F0B7}"/>
              </a:ext>
            </a:extLst>
          </p:cNvPr>
          <p:cNvSpPr>
            <a:spLocks noGrp="1"/>
          </p:cNvSpPr>
          <p:nvPr/>
        </p:nvSpPr>
        <p:spPr>
          <a:xfrm>
            <a:off x="1266825" y="3829050"/>
            <a:ext cx="2324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全局</a:t>
            </a:r>
          </a:p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{ x → #1, f → #5 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3D5429-A8E1-415B-9A4A-DA340E0C6E33}"/>
              </a:ext>
            </a:extLst>
          </p:cNvPr>
          <p:cNvSpPr>
            <a:spLocks noGrp="1"/>
          </p:cNvSpPr>
          <p:nvPr/>
        </p:nvSpPr>
        <p:spPr>
          <a:xfrm>
            <a:off x="523875" y="2143125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栈顶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BF3344-E6BC-4FE6-903A-DBFE527771FC}"/>
              </a:ext>
            </a:extLst>
          </p:cNvPr>
          <p:cNvSpPr>
            <a:spLocks noGrp="1"/>
          </p:cNvSpPr>
          <p:nvPr/>
        </p:nvSpPr>
        <p:spPr>
          <a:xfrm>
            <a:off x="4953000" y="17621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基本操作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E43F20-4ACC-4662-9748-CDBF457F5257}"/>
              </a:ext>
            </a:extLst>
          </p:cNvPr>
          <p:cNvSpPr>
            <a:spLocks noGrp="1"/>
          </p:cNvSpPr>
          <p:nvPr/>
        </p:nvSpPr>
        <p:spPr>
          <a:xfrm>
            <a:off x="4953000" y="2286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978E18-EAD0-48FC-A5BF-E45300D854B0}"/>
              </a:ext>
            </a:extLst>
          </p:cNvPr>
          <p:cNvSpPr>
            <a:spLocks noGrp="1"/>
          </p:cNvSpPr>
          <p:nvPr/>
        </p:nvSpPr>
        <p:spPr>
          <a:xfrm>
            <a:off x="5219700" y="2286000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beginScope()：压入一张空表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BC4C5A-E2FE-4679-9443-A49FD68DE82E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AEEA90-0827-4FA6-ADCB-F003C729B4DD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declare(name)：写入栈顶表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047FA9-3060-4ED6-9476-371726294D1C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1E8E4D-6458-4CC6-8904-EA91D94ED137}"/>
              </a:ext>
            </a:extLst>
          </p:cNvPr>
          <p:cNvSpPr>
            <a:spLocks noGrp="1"/>
          </p:cNvSpPr>
          <p:nvPr/>
        </p:nvSpPr>
        <p:spPr>
          <a:xfrm>
            <a:off x="5219700" y="342900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lookup(name)：从栈顶向下查找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8EB033-C3B6-4E32-9B96-2283FC2B7C32}"/>
              </a:ext>
            </a:extLst>
          </p:cNvPr>
          <p:cNvSpPr>
            <a:spLocks noGrp="1"/>
          </p:cNvSpPr>
          <p:nvPr/>
        </p:nvSpPr>
        <p:spPr>
          <a:xfrm>
            <a:off x="4953000" y="4000500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936AD7E-59D0-4708-A868-28B1B557EC8A}"/>
              </a:ext>
            </a:extLst>
          </p:cNvPr>
          <p:cNvSpPr>
            <a:spLocks noGrp="1"/>
          </p:cNvSpPr>
          <p:nvPr/>
        </p:nvSpPr>
        <p:spPr>
          <a:xfrm>
            <a:off x="5219700" y="4000500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r>
              <a:rPr sz="1275" b="0">
                <a:solidFill>
                  <a:srgbClr val="242424"/>
                </a:solidFill>
              </a:rPr>
              <a:t>endScope()：弹出整张表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12D9B52-AED3-4A39-AA2D-D98432D8A19C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3DCCA3-F9B7-4D40-B129-26AB0DB3747E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/>
              <a:t>scope stack 用从栈顶向下的查找顺序，实现词法作用域的“就近声明优先”规则。</a:t>
            </a:r>
            <a:endParaRPr sz="1275" b="1">
              <a:solidFill>
                <a:srgbClr val="32788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9136"/>
          </a:bodyPr>
          <a:lstStyle/>
          <a:p>
            <a:r>
              <a:rPr>
                <a:latin typeface="Arial"/>
                <a:ea typeface="Arial"/>
                <a:cs typeface="Arial"/>
              </a:rPr>
              <a:t>Resolver 随程序结构进入和离开作用域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855A7F00-3259-A23D-D734-A322A9F9DD63}" type="slidenum">
              <a:t>44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4448F0-A7F3-4436-AAFD-4319A7216DA1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4000500" cy="27622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0ECEF3-907C-42D7-9C6B-45B8E5A75071}"/>
              </a:ext>
            </a:extLst>
          </p:cNvPr>
          <p:cNvSpPr>
            <a:spLocks noGrp="1"/>
          </p:cNvSpPr>
          <p:nvPr/>
        </p:nvSpPr>
        <p:spPr>
          <a:xfrm>
            <a:off x="866775" y="1638300"/>
            <a:ext cx="3695700" cy="2533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resolveBlock(block):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beginScope()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for item in block.items: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    resolve(item)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endScope()</a:t>
            </a:r>
          </a:p>
          <a:p>
            <a:endParaRPr sz="1200" b="0">
              <a:solidFill>
                <a:srgbClr val="F4F4F4"/>
              </a:solidFill>
            </a:endParaRP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resolveName(node):</a:t>
            </a:r>
          </a:p>
          <a:p>
            <a:pPr algn="l">
              <a:buNone/>
              <a:defRPr sz="1200" b="0">
                <a:solidFill>
                  <a:srgbClr val="F4F4F4"/>
                </a:solidFill>
              </a:defRPr>
            </a:pPr>
            <a:r>
              <a:rPr sz="1200" b="0">
                <a:solidFill>
                  <a:srgbClr val="F4F4F4"/>
                </a:solidFill>
              </a:rPr>
              <a:t>    node.symbol = lookup(node.name)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C6FE76-70ED-4643-BDA2-DEC82B241879}"/>
              </a:ext>
            </a:extLst>
          </p:cNvPr>
          <p:cNvSpPr>
            <a:spLocks noGrp="1"/>
          </p:cNvSpPr>
          <p:nvPr/>
        </p:nvSpPr>
        <p:spPr>
          <a:xfrm>
            <a:off x="5572125" y="14763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1">
                <a:solidFill>
                  <a:srgbClr val="32788E"/>
                </a:solidFill>
              </a:defRPr>
            </a:pPr>
            <a:r>
              <a:rPr sz="1500" b="1">
                <a:solidFill>
                  <a:srgbClr val="32788E"/>
                </a:solidFill>
              </a:rPr>
              <a:t>遍历事件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D20A4262-4761-4C7A-8F5B-978C86122CDA}"/>
              </a:ext>
            </a:extLst>
          </p:cNvPr>
          <p:cNvSpPr>
            <a:spLocks noGrp="1"/>
          </p:cNvSpPr>
          <p:nvPr/>
        </p:nvSpPr>
        <p:spPr>
          <a:xfrm>
            <a:off x="5429250" y="2047875"/>
            <a:ext cx="1619250" cy="495300"/>
          </a:xfrm>
          <a:prstGeom prst="roundRect">
            <a:avLst>
              <a:gd name="adj" fmla="val 7692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CE0C94-7B09-44C5-BE13-994088DD8056}"/>
              </a:ext>
            </a:extLst>
          </p:cNvPr>
          <p:cNvSpPr>
            <a:spLocks noGrp="1"/>
          </p:cNvSpPr>
          <p:nvPr/>
        </p:nvSpPr>
        <p:spPr>
          <a:xfrm>
            <a:off x="5505450" y="211455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进入 block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39EF52-AE18-4E69-9431-F54DFDFE8979}"/>
              </a:ext>
            </a:extLst>
          </p:cNvPr>
          <p:cNvSpPr>
            <a:spLocks noGrp="1"/>
          </p:cNvSpPr>
          <p:nvPr/>
        </p:nvSpPr>
        <p:spPr>
          <a:xfrm>
            <a:off x="7334250" y="2143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BE384B"/>
                </a:solidFill>
              </a:defRPr>
            </a:pPr>
            <a:r>
              <a:rPr sz="1125" b="0">
                <a:solidFill>
                  <a:srgbClr val="BE384B"/>
                </a:solidFill>
              </a:rPr>
              <a:t>push scope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75816C6-98EA-447E-AB3D-866C5B928937}"/>
              </a:ext>
            </a:extLst>
          </p:cNvPr>
          <p:cNvSpPr>
            <a:spLocks noGrp="1"/>
          </p:cNvSpPr>
          <p:nvPr/>
        </p:nvSpPr>
        <p:spPr>
          <a:xfrm>
            <a:off x="5429250" y="2809875"/>
            <a:ext cx="1619250" cy="495300"/>
          </a:xfrm>
          <a:prstGeom prst="roundRect">
            <a:avLst>
              <a:gd name="adj" fmla="val 7692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CADB6C-E533-454C-88F6-B6DD1DF7B278}"/>
              </a:ext>
            </a:extLst>
          </p:cNvPr>
          <p:cNvSpPr>
            <a:spLocks noGrp="1"/>
          </p:cNvSpPr>
          <p:nvPr/>
        </p:nvSpPr>
        <p:spPr>
          <a:xfrm>
            <a:off x="5505450" y="287655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遇到声明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E70DCA-C1C9-45C0-AEAC-3B8643B22932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6A868F"/>
                </a:solidFill>
              </a:defRPr>
            </a:pPr>
            <a:r>
              <a:rPr sz="1125" b="0">
                <a:solidFill>
                  <a:srgbClr val="6A868F"/>
                </a:solidFill>
              </a:rPr>
              <a:t>declare symbol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10A7CE2-53E5-4BA2-86E7-117B024F0E36}"/>
              </a:ext>
            </a:extLst>
          </p:cNvPr>
          <p:cNvSpPr>
            <a:spLocks noGrp="1"/>
          </p:cNvSpPr>
          <p:nvPr/>
        </p:nvSpPr>
        <p:spPr>
          <a:xfrm>
            <a:off x="5429250" y="3571875"/>
            <a:ext cx="1619250" cy="495300"/>
          </a:xfrm>
          <a:prstGeom prst="roundRect">
            <a:avLst>
              <a:gd name="adj" fmla="val 7692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D4D6F6-CEE3-4C97-9312-0D5BE2E24F84}"/>
              </a:ext>
            </a:extLst>
          </p:cNvPr>
          <p:cNvSpPr>
            <a:spLocks noGrp="1"/>
          </p:cNvSpPr>
          <p:nvPr/>
        </p:nvSpPr>
        <p:spPr>
          <a:xfrm>
            <a:off x="5505450" y="3638550"/>
            <a:ext cx="1466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遇到名字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3411FD-62DE-4934-85D8-2E055C7E38B8}"/>
              </a:ext>
            </a:extLst>
          </p:cNvPr>
          <p:cNvSpPr>
            <a:spLocks noGrp="1"/>
          </p:cNvSpPr>
          <p:nvPr/>
        </p:nvSpPr>
        <p:spPr>
          <a:xfrm>
            <a:off x="7334250" y="36671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125" b="0">
                <a:solidFill>
                  <a:srgbClr val="32788E"/>
                </a:solidFill>
              </a:defRPr>
            </a:pPr>
            <a:r>
              <a:rPr sz="1125" b="0">
                <a:solidFill>
                  <a:srgbClr val="32788E"/>
                </a:solidFill>
              </a:rPr>
              <a:t>lookup + bind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F0D9B5-6B47-4B56-8D3B-4076235528E6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136D1B6-434D-483D-9AA0-282607A517DB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进入 block 时压入作用域，遇到声明时记录 Symbol，遇到名字时查找 binding。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例子：名字解析的前半程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166C477-A387-35CF-F492-F54B4FA4FEC9}" type="slidenum">
              <a:t>45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A791AC-F9EA-40B8-92B1-D8C227853C11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71D90-1F04-4BF7-A2DD-476F71C68CD8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095625" cy="25527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BA6039-78FA-4E18-9C9C-17AF599B2F3C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2790825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int x = 1;              // #1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int f(int x) {          // f #5, x #2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int y = x + 1;      // y #3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{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    int x = y * 2;  // x #4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    return x;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}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423FFD-5341-4149-83F0-6B965236A93E}"/>
              </a:ext>
            </a:extLst>
          </p:cNvPr>
          <p:cNvSpPr>
            <a:spLocks noGrp="1"/>
          </p:cNvSpPr>
          <p:nvPr/>
        </p:nvSpPr>
        <p:spPr>
          <a:xfrm>
            <a:off x="4953000" y="133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Resolver 的状态变化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738A77-24DE-4894-9982-82FB0792600B}"/>
              </a:ext>
            </a:extLst>
          </p:cNvPr>
          <p:cNvSpPr>
            <a:spLocks noGrp="1"/>
          </p:cNvSpPr>
          <p:nvPr/>
        </p:nvSpPr>
        <p:spPr>
          <a:xfrm>
            <a:off x="4095750" y="1714500"/>
            <a:ext cx="1333500" cy="38100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293647-7692-42F2-81FC-43FB0BC24EDD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6A868F"/>
                </a:solidFill>
              </a:defRPr>
            </a:pPr>
            <a:r>
              <a:rPr sz="975" b="1">
                <a:solidFill>
                  <a:srgbClr val="6A868F"/>
                </a:solidFill>
              </a:rPr>
              <a:t>事件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C0290EF-8133-4A6D-8BF0-AB520ADA5B54}"/>
              </a:ext>
            </a:extLst>
          </p:cNvPr>
          <p:cNvSpPr>
            <a:spLocks noGrp="1"/>
          </p:cNvSpPr>
          <p:nvPr/>
        </p:nvSpPr>
        <p:spPr>
          <a:xfrm>
            <a:off x="5429250" y="1714500"/>
            <a:ext cx="1857375" cy="38100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812AFF-5630-4110-8458-1F4063ECA148}"/>
              </a:ext>
            </a:extLst>
          </p:cNvPr>
          <p:cNvSpPr>
            <a:spLocks noGrp="1"/>
          </p:cNvSpPr>
          <p:nvPr/>
        </p:nvSpPr>
        <p:spPr>
          <a:xfrm>
            <a:off x="5486400" y="1790700"/>
            <a:ext cx="17430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6A868F"/>
                </a:solidFill>
              </a:defRPr>
            </a:pPr>
            <a:r>
              <a:rPr sz="975" b="1">
                <a:solidFill>
                  <a:srgbClr val="6A868F"/>
                </a:solidFill>
              </a:rPr>
              <a:t>scope stack（栈顶在上）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05742B-3AAB-4246-97D8-F4E3A38E15CB}"/>
              </a:ext>
            </a:extLst>
          </p:cNvPr>
          <p:cNvSpPr>
            <a:spLocks noGrp="1"/>
          </p:cNvSpPr>
          <p:nvPr/>
        </p:nvSpPr>
        <p:spPr>
          <a:xfrm>
            <a:off x="7286625" y="1714500"/>
            <a:ext cx="1285875" cy="381000"/>
          </a:xfrm>
          <a:prstGeom prst="rect">
            <a:avLst/>
          </a:prstGeom>
          <a:solidFill>
            <a:srgbClr val="E7F1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4B1FE1-C3C9-4BA0-9523-0C5033762FC6}"/>
              </a:ext>
            </a:extLst>
          </p:cNvPr>
          <p:cNvSpPr>
            <a:spLocks noGrp="1"/>
          </p:cNvSpPr>
          <p:nvPr/>
        </p:nvSpPr>
        <p:spPr>
          <a:xfrm>
            <a:off x="7343775" y="1790700"/>
            <a:ext cx="11715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2788E"/>
                </a:solidFill>
              </a:defRPr>
            </a:pPr>
            <a:r>
              <a:rPr sz="975" b="1">
                <a:solidFill>
                  <a:srgbClr val="32788E"/>
                </a:solidFill>
              </a:rPr>
              <a:t>得到的 binding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A7B96E-3943-411F-80C4-7E2DC1770EC6}"/>
              </a:ext>
            </a:extLst>
          </p:cNvPr>
          <p:cNvSpPr>
            <a:spLocks noGrp="1"/>
          </p:cNvSpPr>
          <p:nvPr/>
        </p:nvSpPr>
        <p:spPr>
          <a:xfrm>
            <a:off x="4095750" y="2095500"/>
            <a:ext cx="1333500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11FA2D3-942B-4B4C-B4EA-3BCE572EF85E}"/>
              </a:ext>
            </a:extLst>
          </p:cNvPr>
          <p:cNvSpPr>
            <a:spLocks noGrp="1"/>
          </p:cNvSpPr>
          <p:nvPr/>
        </p:nvSpPr>
        <p:spPr>
          <a:xfrm>
            <a:off x="4162425" y="2162175"/>
            <a:ext cx="1200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进入 f</a:t>
            </a:r>
          </a:p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声明参数 x #2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B0C407-5A6D-4B57-9947-8B730DC35936}"/>
              </a:ext>
            </a:extLst>
          </p:cNvPr>
          <p:cNvSpPr>
            <a:spLocks noGrp="1"/>
          </p:cNvSpPr>
          <p:nvPr/>
        </p:nvSpPr>
        <p:spPr>
          <a:xfrm>
            <a:off x="5429250" y="2095500"/>
            <a:ext cx="18573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BDC091-D74E-4235-B2C9-D7DD57DE1ECF}"/>
              </a:ext>
            </a:extLst>
          </p:cNvPr>
          <p:cNvSpPr>
            <a:spLocks noGrp="1"/>
          </p:cNvSpPr>
          <p:nvPr/>
        </p:nvSpPr>
        <p:spPr>
          <a:xfrm>
            <a:off x="5495925" y="2162175"/>
            <a:ext cx="1724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function: {x#2}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global: {x#1,f#5}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683E8A-6C10-4A10-AB90-1E3B41A931B0}"/>
              </a:ext>
            </a:extLst>
          </p:cNvPr>
          <p:cNvSpPr>
            <a:spLocks noGrp="1"/>
          </p:cNvSpPr>
          <p:nvPr/>
        </p:nvSpPr>
        <p:spPr>
          <a:xfrm>
            <a:off x="7286625" y="2095500"/>
            <a:ext cx="12858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A46B1B-0131-4A9E-AAA3-890C86E8C3F1}"/>
              </a:ext>
            </a:extLst>
          </p:cNvPr>
          <p:cNvSpPr>
            <a:spLocks noGrp="1"/>
          </p:cNvSpPr>
          <p:nvPr/>
        </p:nvSpPr>
        <p:spPr>
          <a:xfrm>
            <a:off x="7353300" y="2162175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32788E"/>
                </a:solidFill>
              </a:defRPr>
            </a:pPr>
            <a:r>
              <a:rPr sz="1013" b="0">
                <a:solidFill>
                  <a:srgbClr val="32788E"/>
                </a:solidFill>
              </a:rPr>
              <a:t>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38F3BA-3928-4966-B5A4-BA10E32987D8}"/>
              </a:ext>
            </a:extLst>
          </p:cNvPr>
          <p:cNvSpPr>
            <a:spLocks noGrp="1"/>
          </p:cNvSpPr>
          <p:nvPr/>
        </p:nvSpPr>
        <p:spPr>
          <a:xfrm>
            <a:off x="4095750" y="2819400"/>
            <a:ext cx="1333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B8A916F-5129-4BDB-8541-CF7835C96968}"/>
              </a:ext>
            </a:extLst>
          </p:cNvPr>
          <p:cNvSpPr>
            <a:spLocks noGrp="1"/>
          </p:cNvSpPr>
          <p:nvPr/>
        </p:nvSpPr>
        <p:spPr>
          <a:xfrm>
            <a:off x="4162425" y="2886075"/>
            <a:ext cx="1200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声明 y #3</a:t>
            </a:r>
          </a:p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使用 x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C9A4C9-21C1-4E11-BB52-E5AD052F4CFF}"/>
              </a:ext>
            </a:extLst>
          </p:cNvPr>
          <p:cNvSpPr>
            <a:spLocks noGrp="1"/>
          </p:cNvSpPr>
          <p:nvPr/>
        </p:nvSpPr>
        <p:spPr>
          <a:xfrm>
            <a:off x="5429250" y="2819400"/>
            <a:ext cx="1857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AA1E52A-2FD3-4A59-80EC-6C7F58751CEA}"/>
              </a:ext>
            </a:extLst>
          </p:cNvPr>
          <p:cNvSpPr>
            <a:spLocks noGrp="1"/>
          </p:cNvSpPr>
          <p:nvPr/>
        </p:nvSpPr>
        <p:spPr>
          <a:xfrm>
            <a:off x="5495925" y="2886075"/>
            <a:ext cx="1724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function: {x#2,y#3}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global: {x#1,f#5}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499CCC2-02C1-41E1-B33D-DE3C44E7F94B}"/>
              </a:ext>
            </a:extLst>
          </p:cNvPr>
          <p:cNvSpPr>
            <a:spLocks noGrp="1"/>
          </p:cNvSpPr>
          <p:nvPr/>
        </p:nvSpPr>
        <p:spPr>
          <a:xfrm>
            <a:off x="7286625" y="2819400"/>
            <a:ext cx="12858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14A4D46-5FBF-4657-9085-CA89A1648629}"/>
              </a:ext>
            </a:extLst>
          </p:cNvPr>
          <p:cNvSpPr>
            <a:spLocks noGrp="1"/>
          </p:cNvSpPr>
          <p:nvPr/>
        </p:nvSpPr>
        <p:spPr>
          <a:xfrm>
            <a:off x="7353300" y="2886075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32788E"/>
                </a:solidFill>
              </a:defRPr>
            </a:pPr>
            <a:r>
              <a:rPr sz="1013" b="1">
                <a:solidFill>
                  <a:srgbClr val="32788E"/>
                </a:solidFill>
              </a:rPr>
              <a:t>x → #2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CE66EB0-6091-48DD-84BF-26C443EA8525}"/>
              </a:ext>
            </a:extLst>
          </p:cNvPr>
          <p:cNvSpPr>
            <a:spLocks noGrp="1"/>
          </p:cNvSpPr>
          <p:nvPr/>
        </p:nvSpPr>
        <p:spPr>
          <a:xfrm>
            <a:off x="4095750" y="3543300"/>
            <a:ext cx="1333500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BFA771-7BD9-4AB2-BB5F-82918471A77E}"/>
              </a:ext>
            </a:extLst>
          </p:cNvPr>
          <p:cNvSpPr>
            <a:spLocks noGrp="1"/>
          </p:cNvSpPr>
          <p:nvPr/>
        </p:nvSpPr>
        <p:spPr>
          <a:xfrm>
            <a:off x="4162425" y="3609975"/>
            <a:ext cx="1200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进入内层块</a:t>
            </a:r>
          </a:p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声明 x #4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B4AACB6-CCDD-46F4-9E1D-174A9F5EC5DB}"/>
              </a:ext>
            </a:extLst>
          </p:cNvPr>
          <p:cNvSpPr>
            <a:spLocks noGrp="1"/>
          </p:cNvSpPr>
          <p:nvPr/>
        </p:nvSpPr>
        <p:spPr>
          <a:xfrm>
            <a:off x="5429250" y="3543300"/>
            <a:ext cx="18573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AA847B9-223A-4284-9161-5B6D60B6B1E1}"/>
              </a:ext>
            </a:extLst>
          </p:cNvPr>
          <p:cNvSpPr>
            <a:spLocks noGrp="1"/>
          </p:cNvSpPr>
          <p:nvPr/>
        </p:nvSpPr>
        <p:spPr>
          <a:xfrm>
            <a:off x="5495925" y="3609975"/>
            <a:ext cx="1724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block: {x#4}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function: {x#2,y#3}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global: {x#1,f#5}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6E3D9AB-10CD-4554-9E8D-08C61CC2119E}"/>
              </a:ext>
            </a:extLst>
          </p:cNvPr>
          <p:cNvSpPr>
            <a:spLocks noGrp="1"/>
          </p:cNvSpPr>
          <p:nvPr/>
        </p:nvSpPr>
        <p:spPr>
          <a:xfrm>
            <a:off x="7286625" y="3543300"/>
            <a:ext cx="12858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EA10310-8E31-4490-A21D-61C4F43FA41F}"/>
              </a:ext>
            </a:extLst>
          </p:cNvPr>
          <p:cNvSpPr>
            <a:spLocks noGrp="1"/>
          </p:cNvSpPr>
          <p:nvPr/>
        </p:nvSpPr>
        <p:spPr>
          <a:xfrm>
            <a:off x="7353300" y="3609975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32788E"/>
                </a:solidFill>
              </a:defRPr>
            </a:pPr>
            <a:r>
              <a:rPr sz="1013" b="0">
                <a:solidFill>
                  <a:srgbClr val="32788E"/>
                </a:solidFill>
              </a:rPr>
              <a:t>—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884CA9B-781C-454D-9B16-B86BFDF66190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D77EDE-A21D-44BF-B08D-D4F6C942E646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参数 x #2 遮蔽全局 x #1；初始化 y 时，lookup(x) 在函数作用域命中 #2。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例子：进入内层块以后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C0C89EF0-BE71-8D92-BDDF-FF7D05F0AC04}" type="slidenum">
              <a:t>46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00607B-ECE8-4652-95B6-AF7A9E83604D}"/>
              </a:ext>
            </a:extLst>
          </p:cNvPr>
          <p:cNvSpPr>
            <a:spLocks noGrp="1"/>
          </p:cNvSpPr>
          <p:nvPr/>
        </p:nvSpPr>
        <p:spPr>
          <a:xfrm>
            <a:off x="762000" y="133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程序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64C54F-1AD2-46DA-8A23-C0E755841E9F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3095625" cy="255270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702095C-AE46-454C-BBE1-F4064E6EB414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2790825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int x = 1;              // #1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int f(int x) {          // f #5, x #2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int y = x + 1;      // y #3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{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    int x = y * 2;  // x #4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    return x;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    }</a:t>
            </a:r>
          </a:p>
          <a:p>
            <a:pPr algn="l">
              <a:buNone/>
              <a:defRPr sz="1088" b="0">
                <a:solidFill>
                  <a:srgbClr val="F4F4F4"/>
                </a:solidFill>
              </a:defRPr>
            </a:pPr>
            <a:r>
              <a:rPr sz="1088" b="0">
                <a:solidFill>
                  <a:srgbClr val="F4F4F4"/>
                </a:solidFill>
              </a:rPr>
              <a:t>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9F04C4-3A4F-4916-9C39-5D3429FA9446}"/>
              </a:ext>
            </a:extLst>
          </p:cNvPr>
          <p:cNvSpPr>
            <a:spLocks noGrp="1"/>
          </p:cNvSpPr>
          <p:nvPr/>
        </p:nvSpPr>
        <p:spPr>
          <a:xfrm>
            <a:off x="4953000" y="13335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32788E"/>
                </a:solidFill>
              </a:defRPr>
            </a:pPr>
            <a:r>
              <a:rPr sz="1425" b="1">
                <a:solidFill>
                  <a:srgbClr val="32788E"/>
                </a:solidFill>
              </a:rPr>
              <a:t>Resolver 的状态变化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7B6528-3A53-4D4E-B1B2-3734F9C9BF2E}"/>
              </a:ext>
            </a:extLst>
          </p:cNvPr>
          <p:cNvSpPr>
            <a:spLocks noGrp="1"/>
          </p:cNvSpPr>
          <p:nvPr/>
        </p:nvSpPr>
        <p:spPr>
          <a:xfrm>
            <a:off x="4095750" y="1714500"/>
            <a:ext cx="1333500" cy="38100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7BC5E6-379B-4C86-9E51-B3497A3F5A58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12192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6A868F"/>
                </a:solidFill>
              </a:defRPr>
            </a:pPr>
            <a:r>
              <a:rPr sz="975" b="1">
                <a:solidFill>
                  <a:srgbClr val="6A868F"/>
                </a:solidFill>
              </a:rPr>
              <a:t>事件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37653E2-F0FF-4D48-85FD-28521C1728B8}"/>
              </a:ext>
            </a:extLst>
          </p:cNvPr>
          <p:cNvSpPr>
            <a:spLocks noGrp="1"/>
          </p:cNvSpPr>
          <p:nvPr/>
        </p:nvSpPr>
        <p:spPr>
          <a:xfrm>
            <a:off x="5429250" y="1714500"/>
            <a:ext cx="1857375" cy="381000"/>
          </a:xfrm>
          <a:prstGeom prst="rect">
            <a:avLst/>
          </a:prstGeom>
          <a:solidFill>
            <a:srgbClr val="EEF3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B383B9-1C6C-4A0C-ACB9-DE0182E8DF3F}"/>
              </a:ext>
            </a:extLst>
          </p:cNvPr>
          <p:cNvSpPr>
            <a:spLocks noGrp="1"/>
          </p:cNvSpPr>
          <p:nvPr/>
        </p:nvSpPr>
        <p:spPr>
          <a:xfrm>
            <a:off x="5486400" y="1790700"/>
            <a:ext cx="17430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6A868F"/>
                </a:solidFill>
              </a:defRPr>
            </a:pPr>
            <a:r>
              <a:rPr sz="975" b="1">
                <a:solidFill>
                  <a:srgbClr val="6A868F"/>
                </a:solidFill>
              </a:rPr>
              <a:t>scope stack（栈顶在上）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5B6A94-96B9-4EA2-8151-08723897C920}"/>
              </a:ext>
            </a:extLst>
          </p:cNvPr>
          <p:cNvSpPr>
            <a:spLocks noGrp="1"/>
          </p:cNvSpPr>
          <p:nvPr/>
        </p:nvSpPr>
        <p:spPr>
          <a:xfrm>
            <a:off x="7286625" y="1714500"/>
            <a:ext cx="1285875" cy="381000"/>
          </a:xfrm>
          <a:prstGeom prst="rect">
            <a:avLst/>
          </a:prstGeom>
          <a:solidFill>
            <a:srgbClr val="E7F1F4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CE253C-408B-4ED4-B2A7-0F9C86C4D8A9}"/>
              </a:ext>
            </a:extLst>
          </p:cNvPr>
          <p:cNvSpPr>
            <a:spLocks noGrp="1"/>
          </p:cNvSpPr>
          <p:nvPr/>
        </p:nvSpPr>
        <p:spPr>
          <a:xfrm>
            <a:off x="7343775" y="1790700"/>
            <a:ext cx="11715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32788E"/>
                </a:solidFill>
              </a:defRPr>
            </a:pPr>
            <a:r>
              <a:rPr sz="975" b="1">
                <a:solidFill>
                  <a:srgbClr val="32788E"/>
                </a:solidFill>
              </a:rPr>
              <a:t>得到的 binding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78232A-9603-4302-B010-43C7A1BDE715}"/>
              </a:ext>
            </a:extLst>
          </p:cNvPr>
          <p:cNvSpPr>
            <a:spLocks noGrp="1"/>
          </p:cNvSpPr>
          <p:nvPr/>
        </p:nvSpPr>
        <p:spPr>
          <a:xfrm>
            <a:off x="4095750" y="2095500"/>
            <a:ext cx="1333500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9C3BB-E49B-423B-AC72-EB0AFD42CAF4}"/>
              </a:ext>
            </a:extLst>
          </p:cNvPr>
          <p:cNvSpPr>
            <a:spLocks noGrp="1"/>
          </p:cNvSpPr>
          <p:nvPr/>
        </p:nvSpPr>
        <p:spPr>
          <a:xfrm>
            <a:off x="4162425" y="2162175"/>
            <a:ext cx="1200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使用 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35FC83-870B-436A-AD5A-B87CA64A7052}"/>
              </a:ext>
            </a:extLst>
          </p:cNvPr>
          <p:cNvSpPr>
            <a:spLocks noGrp="1"/>
          </p:cNvSpPr>
          <p:nvPr/>
        </p:nvSpPr>
        <p:spPr>
          <a:xfrm>
            <a:off x="5429250" y="2095500"/>
            <a:ext cx="18573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E7AEDB-2807-4B88-87CB-739D35827BA7}"/>
              </a:ext>
            </a:extLst>
          </p:cNvPr>
          <p:cNvSpPr>
            <a:spLocks noGrp="1"/>
          </p:cNvSpPr>
          <p:nvPr/>
        </p:nvSpPr>
        <p:spPr>
          <a:xfrm>
            <a:off x="5495925" y="2162175"/>
            <a:ext cx="1724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block: {x#4}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function: {x#2,y#3}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global: {x#1,f#5}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52A397-EA72-4D01-9FEC-7653A0B9D4B5}"/>
              </a:ext>
            </a:extLst>
          </p:cNvPr>
          <p:cNvSpPr>
            <a:spLocks noGrp="1"/>
          </p:cNvSpPr>
          <p:nvPr/>
        </p:nvSpPr>
        <p:spPr>
          <a:xfrm>
            <a:off x="7286625" y="2095500"/>
            <a:ext cx="12858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9BE342-1DA7-40D3-825A-0600AA2C1DDA}"/>
              </a:ext>
            </a:extLst>
          </p:cNvPr>
          <p:cNvSpPr>
            <a:spLocks noGrp="1"/>
          </p:cNvSpPr>
          <p:nvPr/>
        </p:nvSpPr>
        <p:spPr>
          <a:xfrm>
            <a:off x="7353300" y="2162175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32788E"/>
                </a:solidFill>
              </a:defRPr>
            </a:pPr>
            <a:r>
              <a:rPr sz="1013" b="1">
                <a:solidFill>
                  <a:srgbClr val="32788E"/>
                </a:solidFill>
              </a:rPr>
              <a:t>y → #3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514870-BEAB-4D49-885F-83176E702602}"/>
              </a:ext>
            </a:extLst>
          </p:cNvPr>
          <p:cNvSpPr>
            <a:spLocks noGrp="1"/>
          </p:cNvSpPr>
          <p:nvPr/>
        </p:nvSpPr>
        <p:spPr>
          <a:xfrm>
            <a:off x="4095750" y="2819400"/>
            <a:ext cx="13335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98A5BD-53F7-4F20-B0AF-792257242447}"/>
              </a:ext>
            </a:extLst>
          </p:cNvPr>
          <p:cNvSpPr>
            <a:spLocks noGrp="1"/>
          </p:cNvSpPr>
          <p:nvPr/>
        </p:nvSpPr>
        <p:spPr>
          <a:xfrm>
            <a:off x="4162425" y="2886075"/>
            <a:ext cx="1200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return x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9A73B4-1FC9-4D12-AB0C-40DFA3B81384}"/>
              </a:ext>
            </a:extLst>
          </p:cNvPr>
          <p:cNvSpPr>
            <a:spLocks noGrp="1"/>
          </p:cNvSpPr>
          <p:nvPr/>
        </p:nvSpPr>
        <p:spPr>
          <a:xfrm>
            <a:off x="5429250" y="2819400"/>
            <a:ext cx="1857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B35BAE-DE56-4133-9D8E-2D5A9877FE5A}"/>
              </a:ext>
            </a:extLst>
          </p:cNvPr>
          <p:cNvSpPr>
            <a:spLocks noGrp="1"/>
          </p:cNvSpPr>
          <p:nvPr/>
        </p:nvSpPr>
        <p:spPr>
          <a:xfrm>
            <a:off x="5495925" y="2886075"/>
            <a:ext cx="1724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block: {x#4}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function: {x#2,y#3}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global: {x#1,f#5}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334115F-0C47-4243-B65E-EF9149CF968F}"/>
              </a:ext>
            </a:extLst>
          </p:cNvPr>
          <p:cNvSpPr>
            <a:spLocks noGrp="1"/>
          </p:cNvSpPr>
          <p:nvPr/>
        </p:nvSpPr>
        <p:spPr>
          <a:xfrm>
            <a:off x="7286625" y="2819400"/>
            <a:ext cx="12858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B8C558-88CC-4B15-8DEE-6A944AD4F335}"/>
              </a:ext>
            </a:extLst>
          </p:cNvPr>
          <p:cNvSpPr>
            <a:spLocks noGrp="1"/>
          </p:cNvSpPr>
          <p:nvPr/>
        </p:nvSpPr>
        <p:spPr>
          <a:xfrm>
            <a:off x="7353300" y="2886075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32788E"/>
                </a:solidFill>
              </a:defRPr>
            </a:pPr>
            <a:r>
              <a:rPr sz="1013" b="1">
                <a:solidFill>
                  <a:srgbClr val="32788E"/>
                </a:solidFill>
              </a:rPr>
              <a:t>x → #4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D7F5B65-5648-4D0B-A571-9659EB5130DE}"/>
              </a:ext>
            </a:extLst>
          </p:cNvPr>
          <p:cNvSpPr>
            <a:spLocks noGrp="1"/>
          </p:cNvSpPr>
          <p:nvPr/>
        </p:nvSpPr>
        <p:spPr>
          <a:xfrm>
            <a:off x="4095750" y="3543300"/>
            <a:ext cx="1333500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16F12B6-8C7F-47D2-9E55-508DAA0CD448}"/>
              </a:ext>
            </a:extLst>
          </p:cNvPr>
          <p:cNvSpPr>
            <a:spLocks noGrp="1"/>
          </p:cNvSpPr>
          <p:nvPr/>
        </p:nvSpPr>
        <p:spPr>
          <a:xfrm>
            <a:off x="4162425" y="3609975"/>
            <a:ext cx="1200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0">
                <a:solidFill>
                  <a:srgbClr val="242424"/>
                </a:solidFill>
              </a:defRPr>
            </a:pPr>
            <a:r>
              <a:rPr sz="1013" b="0">
                <a:solidFill>
                  <a:srgbClr val="242424"/>
                </a:solidFill>
              </a:rPr>
              <a:t>离开内层块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D4D9FAD-5336-47FE-8DE1-D792F77D3082}"/>
              </a:ext>
            </a:extLst>
          </p:cNvPr>
          <p:cNvSpPr>
            <a:spLocks noGrp="1"/>
          </p:cNvSpPr>
          <p:nvPr/>
        </p:nvSpPr>
        <p:spPr>
          <a:xfrm>
            <a:off x="5429250" y="3543300"/>
            <a:ext cx="18573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AE6C30E-75D7-45A0-ACA3-AFB8D2750B2B}"/>
              </a:ext>
            </a:extLst>
          </p:cNvPr>
          <p:cNvSpPr>
            <a:spLocks noGrp="1"/>
          </p:cNvSpPr>
          <p:nvPr/>
        </p:nvSpPr>
        <p:spPr>
          <a:xfrm>
            <a:off x="5495925" y="3609975"/>
            <a:ext cx="17240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function: {x#2,y#3}</a:t>
            </a:r>
          </a:p>
          <a:p>
            <a:pPr algn="ctr">
              <a:buNone/>
              <a:defRPr sz="863" b="0">
                <a:solidFill>
                  <a:srgbClr val="242424"/>
                </a:solidFill>
              </a:defRPr>
            </a:pPr>
            <a:r>
              <a:rPr sz="863" b="0">
                <a:solidFill>
                  <a:srgbClr val="242424"/>
                </a:solidFill>
              </a:rPr>
              <a:t>global: {x#1,f#5}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E2CD91-0D8B-4CDA-9B6C-5CCD277ACA17}"/>
              </a:ext>
            </a:extLst>
          </p:cNvPr>
          <p:cNvSpPr>
            <a:spLocks noGrp="1"/>
          </p:cNvSpPr>
          <p:nvPr/>
        </p:nvSpPr>
        <p:spPr>
          <a:xfrm>
            <a:off x="7286625" y="3543300"/>
            <a:ext cx="1285875" cy="723900"/>
          </a:xfrm>
          <a:prstGeom prst="rect">
            <a:avLst/>
          </a:prstGeom>
          <a:solidFill>
            <a:srgbClr val="F7F7F7"/>
          </a:solidFill>
          <a:ln w="9525">
            <a:solidFill>
              <a:srgbClr val="D8D8D8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612E9C8-D2E1-40B5-AA67-AEBC2395DFAB}"/>
              </a:ext>
            </a:extLst>
          </p:cNvPr>
          <p:cNvSpPr>
            <a:spLocks noGrp="1"/>
          </p:cNvSpPr>
          <p:nvPr/>
        </p:nvSpPr>
        <p:spPr>
          <a:xfrm>
            <a:off x="7353300" y="3609975"/>
            <a:ext cx="1152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13" b="1">
                <a:solidFill>
                  <a:srgbClr val="32788E"/>
                </a:solidFill>
              </a:defRPr>
            </a:pPr>
            <a:r>
              <a:rPr sz="1013" b="1">
                <a:solidFill>
                  <a:srgbClr val="32788E"/>
                </a:solidFill>
              </a:rPr>
              <a:t>#4 不再可见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A84175B-4759-41C9-B423-8AF198CDDBAD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F96DC37-0228-45DA-8153-5AA1A3089706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同一个文本 x 在不同位置绑定到 #2 或 #4；离开块后，#4 随作用域一起消失。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解析结果：Symbol/Symbol Table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9CAEC632-A9E6-82AB-6034-3014BC3905A0}" type="slidenum">
              <a:t>47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EC1CB3-8859-44E6-A031-A528A0E46EF1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三个声明都叫 x，但它们是三个不同对象。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9E2FEB7-5CE4-438C-81FA-D5098002159E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2143125" cy="1047750"/>
          </a:xfrm>
          <a:prstGeom prst="roundRect">
            <a:avLst>
              <a:gd name="adj" fmla="val 3636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CE86A3-EEA6-4276-AFE3-E59519497535}"/>
              </a:ext>
            </a:extLst>
          </p:cNvPr>
          <p:cNvSpPr>
            <a:spLocks noGrp="1"/>
          </p:cNvSpPr>
          <p:nvPr/>
        </p:nvSpPr>
        <p:spPr>
          <a:xfrm>
            <a:off x="885825" y="2209800"/>
            <a:ext cx="19907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Symbol #1</a:t>
            </a:r>
          </a:p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name = "x"</a:t>
            </a:r>
          </a:p>
          <a:p>
            <a:pPr algn="ctr">
              <a:buNone/>
              <a:defRPr sz="1200" b="1">
                <a:solidFill>
                  <a:srgbClr val="6A868F"/>
                </a:solidFill>
              </a:defRPr>
            </a:pPr>
            <a:r>
              <a:rPr sz="1200" b="1">
                <a:solidFill>
                  <a:srgbClr val="6A868F"/>
                </a:solidFill>
              </a:rPr>
              <a:t>kind = global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9DE74CAD-1BD6-45D4-ACBC-F4266126FCE4}"/>
              </a:ext>
            </a:extLst>
          </p:cNvPr>
          <p:cNvSpPr>
            <a:spLocks noGrp="1"/>
          </p:cNvSpPr>
          <p:nvPr/>
        </p:nvSpPr>
        <p:spPr>
          <a:xfrm>
            <a:off x="3476625" y="2143125"/>
            <a:ext cx="2143125" cy="1047750"/>
          </a:xfrm>
          <a:prstGeom prst="roundRect">
            <a:avLst>
              <a:gd name="adj" fmla="val 3636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D6FCD8-8174-469A-9FD3-680D7AD38ADB}"/>
              </a:ext>
            </a:extLst>
          </p:cNvPr>
          <p:cNvSpPr>
            <a:spLocks noGrp="1"/>
          </p:cNvSpPr>
          <p:nvPr/>
        </p:nvSpPr>
        <p:spPr>
          <a:xfrm>
            <a:off x="3552825" y="2209800"/>
            <a:ext cx="19907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Symbol #2</a:t>
            </a:r>
          </a:p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name = "x"</a:t>
            </a:r>
          </a:p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kind = parameter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354AF3E-F9CC-4D8B-8F5E-F433E43B600C}"/>
              </a:ext>
            </a:extLst>
          </p:cNvPr>
          <p:cNvSpPr>
            <a:spLocks noGrp="1"/>
          </p:cNvSpPr>
          <p:nvPr/>
        </p:nvSpPr>
        <p:spPr>
          <a:xfrm>
            <a:off x="6143625" y="2143125"/>
            <a:ext cx="2143125" cy="1047750"/>
          </a:xfrm>
          <a:prstGeom prst="roundRect">
            <a:avLst>
              <a:gd name="adj" fmla="val 3636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4EDFCD-10B5-4A26-8E1B-833A4F8C8203}"/>
              </a:ext>
            </a:extLst>
          </p:cNvPr>
          <p:cNvSpPr>
            <a:spLocks noGrp="1"/>
          </p:cNvSpPr>
          <p:nvPr/>
        </p:nvSpPr>
        <p:spPr>
          <a:xfrm>
            <a:off x="6219825" y="2209800"/>
            <a:ext cx="19907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Symbol #4</a:t>
            </a:r>
          </a:p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name = "x"</a:t>
            </a:r>
          </a:p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kind = local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7BDDAE-10D9-4AD6-A521-7A766BF6D79D}"/>
              </a:ext>
            </a:extLst>
          </p:cNvPr>
          <p:cNvSpPr>
            <a:spLocks noGrp="1"/>
          </p:cNvSpPr>
          <p:nvPr/>
        </p:nvSpPr>
        <p:spPr>
          <a:xfrm>
            <a:off x="1285875" y="361950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文本相同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B92ADF-3D9F-4614-8CBA-7A48A78548DB}"/>
              </a:ext>
            </a:extLst>
          </p:cNvPr>
          <p:cNvSpPr>
            <a:spLocks noGrp="1"/>
          </p:cNvSpPr>
          <p:nvPr/>
        </p:nvSpPr>
        <p:spPr>
          <a:xfrm>
            <a:off x="3952875" y="361950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身份不同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612591-425C-41BE-9167-603C1C0D8F80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32788E"/>
                </a:solidFill>
              </a:defRPr>
            </a:pPr>
            <a:r>
              <a:rPr sz="1200" b="1">
                <a:solidFill>
                  <a:srgbClr val="32788E"/>
                </a:solidFill>
              </a:rPr>
              <a:t>生命周期不同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6A23F9-7A11-4CA8-B266-0F674C30A5A3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E6556A-2C81-4BE6-9B79-EC5867A4A877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后续阶段比较 Symbol 身份将以对象粒度，不会直接比较名字。</a:t>
            </a:r>
          </a:p>
        </p:txBody>
      </p:sp>
    </p:spTree>
    <p:extLst>
      <p:ext uri="{BB962C8B-B14F-4D97-AF65-F5344CB8AC3E}">
        <p14:creationId xmlns:p14="http://schemas.microsoft.com/office/powerpoint/2010/main" val="17324866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真实语言往往有多张 Symbol Table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675CE1F1-F8E2-E359-8FD1-A9FA98B3A676}" type="slidenum">
              <a:t>48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6EB935-D6DD-43DF-B00B-9E8A2E7CCCE4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同一个拼写是否冲突，取决于它处于哪一种“名字空间”（namespace）。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A8D5CD9-66E3-4B47-BC0F-C772F46B6E15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2333625" cy="857250"/>
          </a:xfrm>
          <a:prstGeom prst="roundRect">
            <a:avLst>
              <a:gd name="adj" fmla="val 4444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405670-6F01-4BEE-8F89-3763F5DBE125}"/>
              </a:ext>
            </a:extLst>
          </p:cNvPr>
          <p:cNvSpPr>
            <a:spLocks noGrp="1"/>
          </p:cNvSpPr>
          <p:nvPr/>
        </p:nvSpPr>
        <p:spPr>
          <a:xfrm>
            <a:off x="790575" y="2162175"/>
            <a:ext cx="2181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值名字</a:t>
            </a:r>
          </a:p>
          <a:p>
            <a:pPr algn="ctr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变量、参数、函数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CD660C2-7998-4A99-B7F5-533D0BF1BA70}"/>
              </a:ext>
            </a:extLst>
          </p:cNvPr>
          <p:cNvSpPr>
            <a:spLocks noGrp="1"/>
          </p:cNvSpPr>
          <p:nvPr/>
        </p:nvSpPr>
        <p:spPr>
          <a:xfrm>
            <a:off x="3429000" y="2095500"/>
            <a:ext cx="2333625" cy="857250"/>
          </a:xfrm>
          <a:prstGeom prst="roundRect">
            <a:avLst>
              <a:gd name="adj" fmla="val 4444"/>
            </a:avLst>
          </a:prstGeom>
          <a:solidFill>
            <a:srgbClr val="EEF3F4"/>
          </a:solidFill>
          <a:ln w="14288">
            <a:solidFill>
              <a:srgbClr val="6A868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C28AE4-EA5E-46B1-91EF-C2A33325E3BA}"/>
              </a:ext>
            </a:extLst>
          </p:cNvPr>
          <p:cNvSpPr>
            <a:spLocks noGrp="1"/>
          </p:cNvSpPr>
          <p:nvPr/>
        </p:nvSpPr>
        <p:spPr>
          <a:xfrm>
            <a:off x="3505200" y="2162175"/>
            <a:ext cx="2181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类型名字</a:t>
            </a:r>
          </a:p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class、struct、type alias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C4864E1-5B72-4B99-B6B8-827A0E3FD4F3}"/>
              </a:ext>
            </a:extLst>
          </p:cNvPr>
          <p:cNvSpPr>
            <a:spLocks noGrp="1"/>
          </p:cNvSpPr>
          <p:nvPr/>
        </p:nvSpPr>
        <p:spPr>
          <a:xfrm>
            <a:off x="6143625" y="2095500"/>
            <a:ext cx="2333625" cy="857250"/>
          </a:xfrm>
          <a:prstGeom prst="roundRect">
            <a:avLst>
              <a:gd name="adj" fmla="val 4444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E80EC-2176-4EAF-97DC-874F53EAFD22}"/>
              </a:ext>
            </a:extLst>
          </p:cNvPr>
          <p:cNvSpPr>
            <a:spLocks noGrp="1"/>
          </p:cNvSpPr>
          <p:nvPr/>
        </p:nvSpPr>
        <p:spPr>
          <a:xfrm>
            <a:off x="6219825" y="2162175"/>
            <a:ext cx="21812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成员名字</a:t>
            </a:r>
          </a:p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字段、方法、模块成员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DD26BA-878F-4642-97D3-916EDC9A3F58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BE384B"/>
                </a:solidFill>
              </a:defRPr>
            </a:pPr>
            <a:r>
              <a:rPr sz="1125" b="0">
                <a:solidFill>
                  <a:srgbClr val="BE384B"/>
                </a:solidFill>
              </a:rPr>
              <a:t>lookupValue(name)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1ED6A9-F1ED-4C06-906F-9A9707625D5A}"/>
              </a:ext>
            </a:extLst>
          </p:cNvPr>
          <p:cNvSpPr>
            <a:spLocks noGrp="1"/>
          </p:cNvSpPr>
          <p:nvPr/>
        </p:nvSpPr>
        <p:spPr>
          <a:xfrm>
            <a:off x="3524250" y="3381375"/>
            <a:ext cx="2143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125" b="0">
                <a:solidFill>
                  <a:srgbClr val="6A868F"/>
                </a:solidFill>
              </a:defRPr>
            </a:pPr>
            <a:r>
              <a:rPr sz="1125" b="0">
                <a:solidFill>
                  <a:srgbClr val="6A868F"/>
                </a:solidFill>
              </a:rPr>
              <a:t>lookupType(name)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E6245B-B211-4A64-AC1C-E72EB0070589}"/>
              </a:ext>
            </a:extLst>
          </p:cNvPr>
          <p:cNvSpPr>
            <a:spLocks noGrp="1"/>
          </p:cNvSpPr>
          <p:nvPr/>
        </p:nvSpPr>
        <p:spPr>
          <a:xfrm>
            <a:off x="6191250" y="3381375"/>
            <a:ext cx="2238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50" b="0">
                <a:solidFill>
                  <a:srgbClr val="32788E"/>
                </a:solidFill>
              </a:defRPr>
            </a:pPr>
            <a:r>
              <a:rPr sz="1050" b="0">
                <a:solidFill>
                  <a:srgbClr val="32788E"/>
                </a:solidFill>
              </a:rPr>
              <a:t>lookupMember(owner, name)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F7EE64D-9D3C-4D70-8034-2A040036346B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B59BD9-BEA4-4F20-889E-783A2E2D6EA1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这里的 namespace 指标识符的分类，不特指 C++ 的 namespace 语法。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命名空间也是语言设计选择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270EE3B2-1325-F8E9-D276-8EA80C32ED19}" type="slidenum">
              <a:t>49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99C483-2A09-4737-94B0-5B2F414D667B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不同语言在简单性、兼容性与扩展能力之间做出不同取舍。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470602-C3F5-4499-8DB8-84C65A2730FF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BE384B"/>
                </a:solidFill>
              </a:defRPr>
            </a:pPr>
            <a:r>
              <a:rPr sz="1650" b="1">
                <a:solidFill>
                  <a:srgbClr val="BE384B"/>
                </a:solidFill>
              </a:rPr>
              <a:t>Go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A33193-F0F6-4264-9E8F-9010F72F0B3F}"/>
              </a:ext>
            </a:extLst>
          </p:cNvPr>
          <p:cNvSpPr>
            <a:spLocks noGrp="1"/>
          </p:cNvSpPr>
          <p:nvPr/>
        </p:nvSpPr>
        <p:spPr>
          <a:xfrm>
            <a:off x="619125" y="2190750"/>
            <a:ext cx="2381250" cy="495300"/>
          </a:xfrm>
          <a:prstGeom prst="rect">
            <a:avLst/>
          </a:prstGeom>
          <a:solidFill>
            <a:srgbClr val="F8E8EB"/>
          </a:solidFill>
          <a:ln w="13335">
            <a:solidFill>
              <a:srgbClr val="BE38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427A9A-0CBE-4A5C-BEB1-7FBC9474CA2F}"/>
              </a:ext>
            </a:extLst>
          </p:cNvPr>
          <p:cNvSpPr>
            <a:spLocks noGrp="1"/>
          </p:cNvSpPr>
          <p:nvPr/>
        </p:nvSpPr>
        <p:spPr>
          <a:xfrm>
            <a:off x="714375" y="22955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共享 package 名字空间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A1EF7F-F7EF-4FBD-B4CA-F47278C3962C}"/>
              </a:ext>
            </a:extLst>
          </p:cNvPr>
          <p:cNvSpPr>
            <a:spLocks noGrp="1"/>
          </p:cNvSpPr>
          <p:nvPr/>
        </p:nvSpPr>
        <p:spPr>
          <a:xfrm>
            <a:off x="619125" y="2905125"/>
            <a:ext cx="238125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9CF06E-8857-4937-BB87-1C6A17055C40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type User struct{}</a:t>
            </a:r>
          </a:p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func User() {}  // conflict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13DED1-6B47-4B58-B0BD-8389CDC826F0}"/>
              </a:ext>
            </a:extLst>
          </p:cNvPr>
          <p:cNvSpPr>
            <a:spLocks noGrp="1"/>
          </p:cNvSpPr>
          <p:nvPr/>
        </p:nvSpPr>
        <p:spPr>
          <a:xfrm>
            <a:off x="676275" y="3857625"/>
            <a:ext cx="2266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242424"/>
                </a:solidFill>
              </a:defRPr>
            </a:pPr>
            <a:r>
              <a:rPr sz="1163" b="0">
                <a:solidFill>
                  <a:srgbClr val="242424"/>
                </a:solidFill>
              </a:rPr>
              <a:t>同一 package block 内，</a:t>
            </a:r>
          </a:p>
          <a:p>
            <a:pPr algn="ctr">
              <a:buNone/>
              <a:defRPr sz="1163" b="0">
                <a:solidFill>
                  <a:srgbClr val="242424"/>
                </a:solidFill>
              </a:defRPr>
            </a:pPr>
            <a:r>
              <a:rPr sz="1163" b="0">
                <a:solidFill>
                  <a:srgbClr val="242424"/>
                </a:solidFill>
              </a:rPr>
              <a:t>类型、函数、变量不能重名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03002B-01A0-4EE4-87B0-E4D5B11B3794}"/>
              </a:ext>
            </a:extLst>
          </p:cNvPr>
          <p:cNvSpPr>
            <a:spLocks noGrp="1"/>
          </p:cNvSpPr>
          <p:nvPr/>
        </p:nvSpPr>
        <p:spPr>
          <a:xfrm>
            <a:off x="676275" y="4429125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88" b="1">
                <a:solidFill>
                  <a:srgbClr val="BE384B"/>
                </a:solidFill>
              </a:defRPr>
            </a:pPr>
            <a:r>
              <a:rPr sz="1088" b="1">
                <a:solidFill>
                  <a:srgbClr val="BE384B"/>
                </a:solidFill>
              </a:rPr>
              <a:t>规则简单，命名自由较少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FE6F13-A097-4F4D-83BC-2DB31E45BCF5}"/>
              </a:ext>
            </a:extLst>
          </p:cNvPr>
          <p:cNvSpPr>
            <a:spLocks noGrp="1"/>
          </p:cNvSpPr>
          <p:nvPr/>
        </p:nvSpPr>
        <p:spPr>
          <a:xfrm>
            <a:off x="3381375" y="1809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32788E"/>
                </a:solidFill>
              </a:defRPr>
            </a:pPr>
            <a:r>
              <a:rPr sz="1650" b="1">
                <a:solidFill>
                  <a:srgbClr val="32788E"/>
                </a:solidFill>
              </a:rPr>
              <a:t>TypeScript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23FDEC-8EBA-4F87-A7F0-FC49188BF733}"/>
              </a:ext>
            </a:extLst>
          </p:cNvPr>
          <p:cNvSpPr>
            <a:spLocks noGrp="1"/>
          </p:cNvSpPr>
          <p:nvPr/>
        </p:nvSpPr>
        <p:spPr>
          <a:xfrm>
            <a:off x="3381375" y="2190750"/>
            <a:ext cx="2381250" cy="495300"/>
          </a:xfrm>
          <a:prstGeom prst="rect">
            <a:avLst/>
          </a:prstGeom>
          <a:solidFill>
            <a:srgbClr val="E7F1F4"/>
          </a:solidFill>
          <a:ln w="13335">
            <a:solidFill>
              <a:srgbClr val="32788E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42A038-7C84-437B-9C5A-DFBDE04C08ED}"/>
              </a:ext>
            </a:extLst>
          </p:cNvPr>
          <p:cNvSpPr>
            <a:spLocks noGrp="1"/>
          </p:cNvSpPr>
          <p:nvPr/>
        </p:nvSpPr>
        <p:spPr>
          <a:xfrm>
            <a:off x="3476625" y="22955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type / value 分离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9F88CF-36BB-4E9D-AA82-3DB8C71DA420}"/>
              </a:ext>
            </a:extLst>
          </p:cNvPr>
          <p:cNvSpPr>
            <a:spLocks noGrp="1"/>
          </p:cNvSpPr>
          <p:nvPr/>
        </p:nvSpPr>
        <p:spPr>
          <a:xfrm>
            <a:off x="3381375" y="2905125"/>
            <a:ext cx="238125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4ED16A-4EB9-4644-BCF7-CD6B2748FE2A}"/>
              </a:ext>
            </a:extLst>
          </p:cNvPr>
          <p:cNvSpPr>
            <a:spLocks noGrp="1"/>
          </p:cNvSpPr>
          <p:nvPr/>
        </p:nvSpPr>
        <p:spPr>
          <a:xfrm>
            <a:off x="3505200" y="299085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type User = {...}</a:t>
            </a:r>
          </a:p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const User = {...}  // OK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B367A6-8ED7-4D83-BF83-C92427149F80}"/>
              </a:ext>
            </a:extLst>
          </p:cNvPr>
          <p:cNvSpPr>
            <a:spLocks noGrp="1"/>
          </p:cNvSpPr>
          <p:nvPr/>
        </p:nvSpPr>
        <p:spPr>
          <a:xfrm>
            <a:off x="3438525" y="3857625"/>
            <a:ext cx="2266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242424"/>
                </a:solidFill>
              </a:defRPr>
            </a:pPr>
            <a:r>
              <a:rPr sz="1163" b="0">
                <a:solidFill>
                  <a:srgbClr val="242424"/>
                </a:solidFill>
              </a:rPr>
              <a:t>语法位置决定查哪一类名字；</a:t>
            </a:r>
          </a:p>
          <a:p>
            <a:pPr algn="ctr">
              <a:buNone/>
              <a:defRPr sz="1163" b="0">
                <a:solidFill>
                  <a:srgbClr val="242424"/>
                </a:solidFill>
              </a:defRPr>
            </a:pPr>
            <a:r>
              <a:rPr sz="1163" b="0">
                <a:solidFill>
                  <a:srgbClr val="242424"/>
                </a:solidFill>
              </a:rPr>
              <a:t>同时保持 JavaScript 兼容性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F1A361F-F71A-4AF5-98AB-3D94E774FCF2}"/>
              </a:ext>
            </a:extLst>
          </p:cNvPr>
          <p:cNvSpPr>
            <a:spLocks noGrp="1"/>
          </p:cNvSpPr>
          <p:nvPr/>
        </p:nvSpPr>
        <p:spPr>
          <a:xfrm>
            <a:off x="3438525" y="4429125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88" b="1">
                <a:solidFill>
                  <a:srgbClr val="32788E"/>
                </a:solidFill>
              </a:defRPr>
            </a:pPr>
            <a:r>
              <a:rPr sz="1088" b="1">
                <a:solidFill>
                  <a:srgbClr val="32788E"/>
                </a:solidFill>
              </a:rPr>
              <a:t>同名复用更加灵活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67750A-DA60-4AA6-AA78-9FAF10C2EB9D}"/>
              </a:ext>
            </a:extLst>
          </p:cNvPr>
          <p:cNvSpPr>
            <a:spLocks noGrp="1"/>
          </p:cNvSpPr>
          <p:nvPr/>
        </p:nvSpPr>
        <p:spPr>
          <a:xfrm>
            <a:off x="6143625" y="18097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6A868F"/>
                </a:solidFill>
              </a:defRPr>
            </a:pPr>
            <a:r>
              <a:rPr sz="1650" b="1">
                <a:solidFill>
                  <a:srgbClr val="6A868F"/>
                </a:solidFill>
              </a:rPr>
              <a:t>Rust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5D3351-65B1-43A6-90A2-DC960D97FA73}"/>
              </a:ext>
            </a:extLst>
          </p:cNvPr>
          <p:cNvSpPr>
            <a:spLocks noGrp="1"/>
          </p:cNvSpPr>
          <p:nvPr/>
        </p:nvSpPr>
        <p:spPr>
          <a:xfrm>
            <a:off x="6143625" y="2190750"/>
            <a:ext cx="2381250" cy="495300"/>
          </a:xfrm>
          <a:prstGeom prst="rect">
            <a:avLst/>
          </a:prstGeom>
          <a:solidFill>
            <a:srgbClr val="EEF3F4"/>
          </a:solidFill>
          <a:ln w="13335">
            <a:solidFill>
              <a:srgbClr val="6A868F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5AAA7AF-4CB2-4F8D-AFF3-D9A1EFED7272}"/>
              </a:ext>
            </a:extLst>
          </p:cNvPr>
          <p:cNvSpPr>
            <a:spLocks noGrp="1"/>
          </p:cNvSpPr>
          <p:nvPr/>
        </p:nvSpPr>
        <p:spPr>
          <a:xfrm>
            <a:off x="6238875" y="22955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6A868F"/>
                </a:solidFill>
              </a:defRPr>
            </a:pPr>
            <a:r>
              <a:rPr sz="1275" b="1">
                <a:solidFill>
                  <a:srgbClr val="6A868F"/>
                </a:solidFill>
              </a:rPr>
              <a:t>type / value / macro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B137AB-FD30-4A3C-A0F7-1E0A7FEC7C42}"/>
              </a:ext>
            </a:extLst>
          </p:cNvPr>
          <p:cNvSpPr>
            <a:spLocks noGrp="1"/>
          </p:cNvSpPr>
          <p:nvPr/>
        </p:nvSpPr>
        <p:spPr>
          <a:xfrm>
            <a:off x="6143625" y="2905125"/>
            <a:ext cx="2381250" cy="781050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123643-228B-48AB-B919-13DA9AA6AD74}"/>
              </a:ext>
            </a:extLst>
          </p:cNvPr>
          <p:cNvSpPr>
            <a:spLocks noGrp="1"/>
          </p:cNvSpPr>
          <p:nvPr/>
        </p:nvSpPr>
        <p:spPr>
          <a:xfrm>
            <a:off x="6267450" y="2990850"/>
            <a:ext cx="2133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type namespace</a:t>
            </a:r>
          </a:p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value namespace</a:t>
            </a:r>
          </a:p>
          <a:p>
            <a:pPr algn="l">
              <a:buNone/>
              <a:defRPr sz="1013" b="0">
                <a:solidFill>
                  <a:srgbClr val="F4F4F4"/>
                </a:solidFill>
              </a:defRPr>
            </a:pPr>
            <a:r>
              <a:rPr sz="1013" b="0">
                <a:solidFill>
                  <a:srgbClr val="F4F4F4"/>
                </a:solidFill>
              </a:rPr>
              <a:t>macro namespace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709C1C-685B-464D-A429-35273D580D96}"/>
              </a:ext>
            </a:extLst>
          </p:cNvPr>
          <p:cNvSpPr>
            <a:spLocks noGrp="1"/>
          </p:cNvSpPr>
          <p:nvPr/>
        </p:nvSpPr>
        <p:spPr>
          <a:xfrm>
            <a:off x="6200775" y="3857625"/>
            <a:ext cx="2266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63" b="0">
                <a:solidFill>
                  <a:srgbClr val="242424"/>
                </a:solidFill>
              </a:defRPr>
            </a:pPr>
            <a:r>
              <a:rPr sz="1163" b="0">
                <a:solidFill>
                  <a:srgbClr val="242424"/>
                </a:solidFill>
              </a:rPr>
              <a:t>为构造器、宏等语言特性</a:t>
            </a:r>
          </a:p>
          <a:p>
            <a:pPr algn="ctr">
              <a:buNone/>
              <a:defRPr sz="1163" b="0">
                <a:solidFill>
                  <a:srgbClr val="242424"/>
                </a:solidFill>
              </a:defRPr>
            </a:pPr>
            <a:r>
              <a:rPr sz="1163" b="0">
                <a:solidFill>
                  <a:srgbClr val="242424"/>
                </a:solidFill>
              </a:rPr>
              <a:t>保留独立的命名空间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6A2EEB-12CE-41B8-93A4-72631025E58E}"/>
              </a:ext>
            </a:extLst>
          </p:cNvPr>
          <p:cNvSpPr>
            <a:spLocks noGrp="1"/>
          </p:cNvSpPr>
          <p:nvPr/>
        </p:nvSpPr>
        <p:spPr>
          <a:xfrm>
            <a:off x="6200775" y="4429125"/>
            <a:ext cx="2266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088" b="1">
                <a:solidFill>
                  <a:srgbClr val="6A868F"/>
                </a:solidFill>
              </a:defRPr>
            </a:pPr>
            <a:r>
              <a:rPr sz="1088" b="1">
                <a:solidFill>
                  <a:srgbClr val="6A868F"/>
                </a:solidFill>
              </a:rPr>
              <a:t>扩展能力强，查找规则更复杂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BAB1F20-1863-4524-BE94-D2A651C94CDA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7810500" cy="419100"/>
          </a:xfrm>
          <a:prstGeom prst="rect">
            <a:avLst/>
          </a:prstGeom>
          <a:solidFill>
            <a:srgbClr val="E7F1F4"/>
          </a:solidFill>
          <a:ln w="9525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47EC3DD-FEA6-43EE-8C82-E07BBC3ED449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7543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32788E"/>
                </a:solidFill>
              </a:defRPr>
            </a:pPr>
            <a:r>
              <a:rPr sz="1275" b="1">
                <a:solidFill>
                  <a:srgbClr val="32788E"/>
                </a:solidFill>
              </a:rPr>
              <a:t>更多 namespace 换来命名自由与扩展能力，也增加导入、解析、诊断和工具实现的复杂度。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Arial"/>
                <a:ea typeface="Arial"/>
                <a:cs typeface="Arial"/>
              </a:rPr>
              <a:t>错误恢复：生成临时Symbol，继续产生结构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E060EEA-E29B-CF3D-E7B7-BE01DFE3A2D2}" type="slidenum">
              <a:t>50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484D1C-881C-4AD4-AC90-2C639807F258}"/>
              </a:ext>
            </a:extLst>
          </p:cNvPr>
          <p:cNvSpPr>
            <a:spLocks noGrp="1"/>
          </p:cNvSpPr>
          <p:nvPr/>
        </p:nvSpPr>
        <p:spPr>
          <a:xfrm>
            <a:off x="714375" y="2093947"/>
            <a:ext cx="3333750" cy="1000125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5C87A3D-07A3-4EB6-B18C-57C3469D5173}"/>
              </a:ext>
            </a:extLst>
          </p:cNvPr>
          <p:cNvSpPr>
            <a:spLocks noGrp="1"/>
          </p:cNvSpPr>
          <p:nvPr/>
        </p:nvSpPr>
        <p:spPr>
          <a:xfrm>
            <a:off x="866775" y="2208247"/>
            <a:ext cx="3028950" cy="771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int total = 0;</a:t>
            </a:r>
          </a:p>
          <a:p>
            <a:pPr algn="l">
              <a:buNone/>
              <a:defRPr sz="1350" b="0">
                <a:solidFill>
                  <a:srgbClr val="F4F4F4"/>
                </a:solidFill>
              </a:defRPr>
            </a:pPr>
            <a:r>
              <a:rPr sz="1350" b="0">
                <a:solidFill>
                  <a:srgbClr val="F4F4F4"/>
                </a:solidFill>
              </a:rPr>
              <a:t>return totla + 1;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DE774B-132C-489A-9A7B-9C62D7783C0F}"/>
              </a:ext>
            </a:extLst>
          </p:cNvPr>
          <p:cNvSpPr>
            <a:spLocks noGrp="1"/>
          </p:cNvSpPr>
          <p:nvPr/>
        </p:nvSpPr>
        <p:spPr>
          <a:xfrm>
            <a:off x="714375" y="3475072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200" b="1">
                <a:solidFill>
                  <a:srgbClr val="BE384B"/>
                </a:solidFill>
              </a:defRPr>
            </a:pPr>
            <a:r>
              <a:rPr sz="1200" b="1">
                <a:solidFill>
                  <a:srgbClr val="BE384B"/>
                </a:solidFill>
              </a:rPr>
              <a:t>lookup("totla") → not found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698E565-3A90-444A-80E9-5599FF6FB02D}"/>
              </a:ext>
            </a:extLst>
          </p:cNvPr>
          <p:cNvSpPr>
            <a:spLocks noGrp="1"/>
          </p:cNvSpPr>
          <p:nvPr/>
        </p:nvSpPr>
        <p:spPr>
          <a:xfrm>
            <a:off x="5381625" y="2236822"/>
            <a:ext cx="2571750" cy="742950"/>
          </a:xfrm>
          <a:prstGeom prst="roundRect">
            <a:avLst>
              <a:gd name="adj" fmla="val 5128"/>
            </a:avLst>
          </a:prstGeom>
          <a:solidFill>
            <a:srgbClr val="F8E8EB"/>
          </a:solidFill>
          <a:ln w="14288">
            <a:solidFill>
              <a:srgbClr val="BE38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18E789-A15A-49B1-ABD4-172FC3C9B6DD}"/>
              </a:ext>
            </a:extLst>
          </p:cNvPr>
          <p:cNvSpPr>
            <a:spLocks noGrp="1"/>
          </p:cNvSpPr>
          <p:nvPr/>
        </p:nvSpPr>
        <p:spPr>
          <a:xfrm>
            <a:off x="5457825" y="2303497"/>
            <a:ext cx="2419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ErrorSymbol</a:t>
            </a:r>
          </a:p>
          <a:p>
            <a:pPr algn="ctr">
              <a:buNone/>
              <a:defRPr sz="1275" b="1">
                <a:solidFill>
                  <a:srgbClr val="BE384B"/>
                </a:solidFill>
              </a:defRPr>
            </a:pPr>
            <a:r>
              <a:rPr sz="1275" b="1">
                <a:solidFill>
                  <a:srgbClr val="BE384B"/>
                </a:solidFill>
              </a:rPr>
              <a:t>name = "totla"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5E77BF-B371-4512-AEF6-47F26D351F0D}"/>
              </a:ext>
            </a:extLst>
          </p:cNvPr>
          <p:cNvSpPr>
            <a:spLocks noGrp="1"/>
          </p:cNvSpPr>
          <p:nvPr/>
        </p:nvSpPr>
        <p:spPr>
          <a:xfrm>
            <a:off x="5381625" y="3427447"/>
            <a:ext cx="95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1">
                <a:solidFill>
                  <a:srgbClr val="BE384B"/>
                </a:solidFill>
              </a:defRPr>
            </a:pPr>
            <a:r>
              <a:rPr sz="1350" b="1">
                <a:solidFill>
                  <a:srgbClr val="BE384B"/>
                </a:solidFill>
              </a:rPr>
              <a:t>诊断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5CB379-6EED-4C1F-A795-C335BB86B72D}"/>
              </a:ext>
            </a:extLst>
          </p:cNvPr>
          <p:cNvSpPr>
            <a:spLocks noGrp="1"/>
          </p:cNvSpPr>
          <p:nvPr/>
        </p:nvSpPr>
        <p:spPr>
          <a:xfrm>
            <a:off x="5381625" y="3856072"/>
            <a:ext cx="304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350" b="0">
                <a:solidFill>
                  <a:srgbClr val="242424"/>
                </a:solidFill>
              </a:defRPr>
            </a:pPr>
            <a:r>
              <a:rPr sz="1350" b="0">
                <a:solidFill>
                  <a:srgbClr val="242424"/>
                </a:solidFill>
              </a:rPr>
              <a:t>未声明的名字 totla；是否想写 total？</a:t>
            </a:r>
          </a:p>
        </p:txBody>
      </p:sp>
      <p:sp>
        <p:nvSpPr>
          <p:cNvPr id="12" name="error-symbol-core-idea">
            <a:extLst>
              <a:ext uri="{FF2B5EF4-FFF2-40B4-BE49-F238E27FC236}">
                <a16:creationId xmlns:a16="http://schemas.microsoft.com/office/drawing/2014/main" id="{B994381E-0F51-468E-882D-16876CEE5443}"/>
              </a:ext>
            </a:extLst>
          </p:cNvPr>
          <p:cNvSpPr>
            <a:spLocks noGrp="1"/>
          </p:cNvSpPr>
          <p:nvPr/>
        </p:nvSpPr>
        <p:spPr>
          <a:xfrm>
            <a:off x="762000" y="12192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将未解析的名字绑定到特殊的 ErrorSymbol，让名字解析在错误之后继续。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本讲结论：从 AST 到 Bound AST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74175A-4E66-87FD-D56A-AAD4D4BBF877}" type="slidenum">
              <a:t>51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5C35D4-78D2-42F7-9F37-46242A2666D5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147EB9-4138-464A-AB4A-21291E0C131B}"/>
              </a:ext>
            </a:extLst>
          </p:cNvPr>
          <p:cNvSpPr>
            <a:spLocks noGrp="1"/>
          </p:cNvSpPr>
          <p:nvPr/>
        </p:nvSpPr>
        <p:spPr>
          <a:xfrm>
            <a:off x="1162050" y="1609725"/>
            <a:ext cx="714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42424"/>
                </a:solidFill>
                <a:latin typeface="Arial"/>
                <a:ea typeface="Arial"/>
                <a:cs typeface="Arial"/>
              </a:rPr>
              <a:t>S</a:t>
            </a:r>
            <a:r>
              <a:rPr sz="15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emantic action 让 Parser 在识别结构的同时构造 AST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9813B9-78CB-4384-A430-2037B8B0F7A5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BE3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E384B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DA8D6F-AEA4-4700-BC83-0EDC9E57A8F9}"/>
              </a:ext>
            </a:extLst>
          </p:cNvPr>
          <p:cNvSpPr>
            <a:spLocks noGrp="1"/>
          </p:cNvSpPr>
          <p:nvPr/>
        </p:nvSpPr>
        <p:spPr>
          <a:xfrm>
            <a:off x="1162050" y="2705100"/>
            <a:ext cx="714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Resolver 用 scope stack 按词法作用域查找，将名字绑定到唯一 Symbol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52333E-7DBF-419F-9F88-5E477CA59879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22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1">
                <a:solidFill>
                  <a:srgbClr val="32788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2788E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59E68C-2330-4BE0-8FA4-728DADE1847C}"/>
              </a:ext>
            </a:extLst>
          </p:cNvPr>
          <p:cNvSpPr>
            <a:spLocks noGrp="1"/>
          </p:cNvSpPr>
          <p:nvPr/>
        </p:nvSpPr>
        <p:spPr>
          <a:xfrm>
            <a:off x="1162050" y="3800475"/>
            <a:ext cx="714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42424"/>
                </a:solidFill>
                <a:latin typeface="Arial"/>
                <a:ea typeface="Arial"/>
                <a:cs typeface="Arial"/>
              </a:rPr>
              <a:t>Bound AST 保存程序结构和稳定的声明身份，成为类型检查的输入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C81B84-C00F-477B-914D-B7A759AB1BC3}"/>
              </a:ext>
            </a:extLst>
          </p:cNvPr>
          <p:cNvSpPr>
            <a:spLocks noGrp="1"/>
          </p:cNvSpPr>
          <p:nvPr/>
        </p:nvSpPr>
        <p:spPr>
          <a:xfrm>
            <a:off x="857250" y="309562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B0EAF-FCCA-4EE0-A177-72C071777049}"/>
              </a:ext>
            </a:extLst>
          </p:cNvPr>
          <p:cNvSpPr>
            <a:spLocks noGrp="1"/>
          </p:cNvSpPr>
          <p:nvPr/>
        </p:nvSpPr>
        <p:spPr>
          <a:xfrm>
            <a:off x="1123950" y="3095625"/>
            <a:ext cx="725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0696A9A-AFD3-4C99-9017-35EA6FFC3291}"/>
              </a:ext>
            </a:extLst>
          </p:cNvPr>
          <p:cNvSpPr>
            <a:spLocks noGrp="1"/>
          </p:cNvSpPr>
          <p:nvPr/>
        </p:nvSpPr>
        <p:spPr>
          <a:xfrm>
            <a:off x="857250" y="366712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BE384B"/>
                </a:solidFill>
              </a:defRPr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E9614F-8D34-4D5D-BE4F-52A8DF8FA3FA}"/>
              </a:ext>
            </a:extLst>
          </p:cNvPr>
          <p:cNvSpPr>
            <a:spLocks noGrp="1"/>
          </p:cNvSpPr>
          <p:nvPr/>
        </p:nvSpPr>
        <p:spPr>
          <a:xfrm>
            <a:off x="1123950" y="3667125"/>
            <a:ext cx="725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75D1F3-1706-40C3-AFCC-EA2F29123A59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209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1">
                <a:solidFill>
                  <a:srgbClr val="32788E"/>
                </a:solidFill>
              </a:defRPr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4B035D-EC2B-4A37-812C-3444F1B87933}"/>
              </a:ext>
            </a:extLst>
          </p:cNvPr>
          <p:cNvSpPr>
            <a:spLocks noGrp="1"/>
          </p:cNvSpPr>
          <p:nvPr/>
        </p:nvSpPr>
        <p:spPr>
          <a:xfrm>
            <a:off x="1123950" y="4238625"/>
            <a:ext cx="725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275" b="0">
                <a:solidFill>
                  <a:srgbClr val="242424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A78E-818E-4F3A-A789-3220620A1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下一讲：类型检查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E7E178-3CA4-651F-3DB0-2E664971BC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79CF87E8-8F71-04A5-6F3A-BEE8F630D5E2}" type="slidenum">
              <a:t>52</a:t>
            </a:fld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C4DE732-1F33-41D3-9493-A6B58E99DA94}"/>
              </a:ext>
            </a:extLst>
          </p:cNvPr>
          <p:cNvSpPr>
            <a:spLocks noGrp="1"/>
          </p:cNvSpPr>
          <p:nvPr/>
        </p:nvSpPr>
        <p:spPr>
          <a:xfrm>
            <a:off x="666750" y="1285875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425" b="1">
                <a:solidFill>
                  <a:srgbClr val="BE384B"/>
                </a:solidFill>
              </a:defRPr>
            </a:pPr>
            <a:r>
              <a:rPr sz="1425" b="1">
                <a:solidFill>
                  <a:srgbClr val="BE384B"/>
                </a:solidFill>
              </a:rPr>
              <a:t>从Bound AST的Symbol出发，进一步做更多的语义分析和检查。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11769E4-EE93-4976-85D9-5B3D3C8D71C3}"/>
              </a:ext>
            </a:extLst>
          </p:cNvPr>
          <p:cNvSpPr>
            <a:spLocks noGrp="1"/>
          </p:cNvSpPr>
          <p:nvPr/>
        </p:nvSpPr>
        <p:spPr>
          <a:xfrm>
            <a:off x="762000" y="2343151"/>
            <a:ext cx="3476625" cy="1476375"/>
          </a:xfrm>
          <a:prstGeom prst="rect">
            <a:avLst/>
          </a:prstGeom>
          <a:solidFill>
            <a:srgbClr val="202124"/>
          </a:solidFill>
          <a:ln w="9525">
            <a:solidFill>
              <a:srgbClr val="202124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3D4EAB-F0C6-4D3E-821C-A84E5EE9E6BC}"/>
              </a:ext>
            </a:extLst>
          </p:cNvPr>
          <p:cNvSpPr>
            <a:spLocks noGrp="1"/>
          </p:cNvSpPr>
          <p:nvPr/>
        </p:nvSpPr>
        <p:spPr>
          <a:xfrm>
            <a:off x="914400" y="2457451"/>
            <a:ext cx="3171825" cy="1247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BoundBinaryExpr(ADD)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├─ BoundNameExpr(symbol = param x #2)</a:t>
            </a:r>
          </a:p>
          <a:p>
            <a:pPr algn="l">
              <a:buNone/>
              <a:defRPr sz="1275" b="0">
                <a:solidFill>
                  <a:srgbClr val="F4F4F4"/>
                </a:solidFill>
              </a:defRPr>
            </a:pPr>
            <a:r>
              <a:rPr sz="1275" b="0">
                <a:solidFill>
                  <a:srgbClr val="F4F4F4"/>
                </a:solidFill>
              </a:rPr>
              <a:t>└─ IntExpr(1)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2407E68F-49B9-4914-B44B-02AF2AA31E91}"/>
              </a:ext>
            </a:extLst>
          </p:cNvPr>
          <p:cNvSpPr>
            <a:spLocks noGrp="1"/>
          </p:cNvSpPr>
          <p:nvPr/>
        </p:nvSpPr>
        <p:spPr>
          <a:xfrm>
            <a:off x="4476750" y="2914651"/>
            <a:ext cx="666750" cy="228600"/>
          </a:xfrm>
          <a:prstGeom prst="rightArrow">
            <a:avLst/>
          </a:prstGeom>
          <a:solidFill>
            <a:srgbClr val="6A868F"/>
          </a:solidFill>
          <a:ln w="0">
            <a:solidFill>
              <a:srgbClr val="6A868F"/>
            </a:solidFill>
            <a:prstDash val="solid"/>
          </a:ln>
        </p:spPr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AEAB94C-AB94-4244-84EF-462F348C92A4}"/>
              </a:ext>
            </a:extLst>
          </p:cNvPr>
          <p:cNvSpPr>
            <a:spLocks noGrp="1"/>
          </p:cNvSpPr>
          <p:nvPr/>
        </p:nvSpPr>
        <p:spPr>
          <a:xfrm>
            <a:off x="5476875" y="2438401"/>
            <a:ext cx="2667000" cy="781050"/>
          </a:xfrm>
          <a:prstGeom prst="roundRect">
            <a:avLst>
              <a:gd name="adj" fmla="val 4878"/>
            </a:avLst>
          </a:prstGeom>
          <a:solidFill>
            <a:srgbClr val="E7F1F4"/>
          </a:solidFill>
          <a:ln w="14288">
            <a:solidFill>
              <a:srgbClr val="32788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24226F-A089-49BF-9F0C-BC510937D4A6}"/>
              </a:ext>
            </a:extLst>
          </p:cNvPr>
          <p:cNvSpPr>
            <a:spLocks noGrp="1"/>
          </p:cNvSpPr>
          <p:nvPr/>
        </p:nvSpPr>
        <p:spPr>
          <a:xfrm>
            <a:off x="5553075" y="2505076"/>
            <a:ext cx="2514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类型环境 Γ</a:t>
            </a:r>
          </a:p>
          <a:p>
            <a:pPr algn="ctr">
              <a:buNone/>
              <a:defRPr sz="1350" b="1">
                <a:solidFill>
                  <a:srgbClr val="32788E"/>
                </a:solidFill>
              </a:defRPr>
            </a:pPr>
            <a:r>
              <a:rPr sz="1350" b="1">
                <a:solidFill>
                  <a:srgbClr val="32788E"/>
                </a:solidFill>
              </a:rPr>
              <a:t>Symbol #2 → int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DFE438-143E-4EC3-8348-6032E2813410}"/>
              </a:ext>
            </a:extLst>
          </p:cNvPr>
          <p:cNvSpPr>
            <a:spLocks noGrp="1"/>
          </p:cNvSpPr>
          <p:nvPr/>
        </p:nvSpPr>
        <p:spPr>
          <a:xfrm>
            <a:off x="5619750" y="3629026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500" b="1">
                <a:solidFill>
                  <a:srgbClr val="BE384B"/>
                </a:solidFill>
              </a:defRPr>
            </a:pPr>
            <a:r>
              <a:rPr sz="1500" b="1">
                <a:solidFill>
                  <a:srgbClr val="BE384B"/>
                </a:solidFill>
              </a:rPr>
              <a:t>下一讲要回答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554913-FB90-47F3-8FFA-62B449AD9EF8}"/>
              </a:ext>
            </a:extLst>
          </p:cNvPr>
          <p:cNvSpPr>
            <a:spLocks noGrp="1"/>
          </p:cNvSpPr>
          <p:nvPr/>
        </p:nvSpPr>
        <p:spPr>
          <a:xfrm>
            <a:off x="5381625" y="4105276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425" b="1">
                <a:solidFill>
                  <a:srgbClr val="242424"/>
                </a:solidFill>
              </a:defRPr>
            </a:pPr>
            <a:r>
              <a:rPr sz="1425" b="1">
                <a:solidFill>
                  <a:srgbClr val="242424"/>
                </a:solidFill>
              </a:rPr>
              <a:t>ADD 两侧类型是否兼容？</a:t>
            </a:r>
          </a:p>
          <a:p>
            <a:pPr algn="ctr">
              <a:buNone/>
              <a:defRPr sz="1425" b="1">
                <a:solidFill>
                  <a:srgbClr val="242424"/>
                </a:solidFill>
              </a:defRPr>
            </a:pPr>
            <a:r>
              <a:rPr sz="1425" b="1">
                <a:solidFill>
                  <a:srgbClr val="242424"/>
                </a:solidFill>
              </a:rPr>
              <a:t>整个表达式得到什么类型？</a:t>
            </a:r>
          </a:p>
        </p:txBody>
      </p:sp>
    </p:spTree>
    <p:extLst>
      <p:ext uri="{BB962C8B-B14F-4D97-AF65-F5344CB8AC3E}">
        <p14:creationId xmlns:p14="http://schemas.microsoft.com/office/powerpoint/2010/main" val="341798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3517</Words>
  <Application>Microsoft Macintosh PowerPoint</Application>
  <DocSecurity>0</DocSecurity>
  <PresentationFormat>全屏显示(16:10)</PresentationFormat>
  <Paragraphs>859</Paragraphs>
  <Slides>52</Slides>
  <Notes>52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7" baseType="lpstr">
      <vt:lpstr>DengXian</vt:lpstr>
      <vt:lpstr>微软雅黑</vt:lpstr>
      <vt:lpstr>Arial</vt:lpstr>
      <vt:lpstr>Menlo</vt:lpstr>
      <vt:lpstr>Office 主题​​</vt:lpstr>
      <vt:lpstr>抽象语法树与名字解析</vt:lpstr>
      <vt:lpstr>大纲：从 Parse Tree 到前端共享的数据模型</vt:lpstr>
      <vt:lpstr>为什么还需要另一颗树——AST？</vt:lpstr>
      <vt:lpstr>回顾：Parser 在输出 accept/error 决策的同时，也能输出 Parse Tree</vt:lpstr>
      <vt:lpstr>到目前为止：Parser 已经构造了树形程序结构</vt:lpstr>
      <vt:lpstr>但是：Parse Tree 仍然混合了两类信息</vt:lpstr>
      <vt:lpstr>同一个表达式：Parse Tree 展示推导，AST 展示运算</vt:lpstr>
      <vt:lpstr>AST 通常删除语法脚手架</vt:lpstr>
      <vt:lpstr>AST 必须保留后续阶段仍需回答的问题</vt:lpstr>
      <vt:lpstr>Parse Tree 与 AST 面向不同“消费者”</vt:lpstr>
      <vt:lpstr>AST的节点设计</vt:lpstr>
      <vt:lpstr>这些 AST 节点可以任意组合吗？</vt:lpstr>
      <vt:lpstr>基本思路：用节点类别表示这些角色</vt:lpstr>
      <vt:lpstr>表达式节点直接记录运算关系</vt:lpstr>
      <vt:lpstr>语句与声明节点记录各自必需的角色</vt:lpstr>
      <vt:lpstr>优先级和结合性：编码在 AST 的父子关系中</vt:lpstr>
      <vt:lpstr>括号要不要成为 AST 节点？取决于后续需求</vt:lpstr>
      <vt:lpstr>for 循环应该保留，还是立即改写？</vt:lpstr>
      <vt:lpstr>语法糖：让程序更“可餐”的写法</vt:lpstr>
      <vt:lpstr>语法糖在 AST 中应该保留多久？</vt:lpstr>
      <vt:lpstr>源码位置信息记录</vt:lpstr>
      <vt:lpstr>错误恢复：AST 也要能表示“不完整”</vt:lpstr>
      <vt:lpstr>Parser 如何构造 AST？</vt:lpstr>
      <vt:lpstr>语义、语义值与 semantic action</vt:lpstr>
      <vt:lpstr>本节使用的两套表达式文法</vt:lpstr>
      <vt:lpstr>自底向上 Parser 中的 AST 构造</vt:lpstr>
      <vt:lpstr>例子：x + 1 的 AST 按 reduce 顺序逐层构造</vt:lpstr>
      <vt:lpstr>常见写法：把语义值按产生式位置编号</vt:lpstr>
      <vt:lpstr>再看LL Parser：AST 在哪里构造？</vt:lpstr>
      <vt:lpstr>回顾：左递归消除带来的右结合问题</vt:lpstr>
      <vt:lpstr>思路：把 semantic action 也放进分析栈</vt:lpstr>
      <vt:lpstr>action 放在末尾：右侧完成后计算左侧结果</vt:lpstr>
      <vt:lpstr>action 放在中间：先把已有结果传给后续符号</vt:lpstr>
      <vt:lpstr>例子：表驱动 LL 构造 x + 1 的 AST</vt:lpstr>
      <vt:lpstr>补充术语：综合属性与继承属性</vt:lpstr>
      <vt:lpstr>上一讲回顾</vt:lpstr>
      <vt:lpstr>名字解析与作用域</vt:lpstr>
      <vt:lpstr>AST 中的名字还只是字符串</vt:lpstr>
      <vt:lpstr>Binding：把名字的使用连接到声明</vt:lpstr>
      <vt:lpstr>解析结果：把 AST 改写为 Bound AST</vt:lpstr>
      <vt:lpstr>同名变量可能指向不同声明</vt:lpstr>
      <vt:lpstr>词法作用域：从当前位置向外寻找最近声明</vt:lpstr>
      <vt:lpstr>Resolver 的核心：scope stack</vt:lpstr>
      <vt:lpstr>Resolver 随程序结构进入和离开作用域</vt:lpstr>
      <vt:lpstr>例子：名字解析的前半程</vt:lpstr>
      <vt:lpstr>例子：进入内层块以后</vt:lpstr>
      <vt:lpstr>解析结果：Symbol/Symbol Table</vt:lpstr>
      <vt:lpstr>真实语言往往有多张 Symbol Table</vt:lpstr>
      <vt:lpstr>命名空间也是语言设计选择</vt:lpstr>
      <vt:lpstr>错误恢复：生成临时Symbol，继续产生结构</vt:lpstr>
      <vt:lpstr>本讲结论：从 AST 到 Bound AST</vt:lpstr>
      <vt:lpstr>下一讲：类型检查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wu mingyu</cp:lastModifiedBy>
  <cp:revision>12</cp:revision>
  <dcterms:created xsi:type="dcterms:W3CDTF">2026-10-15T15:20:38Z</dcterms:created>
  <dcterms:modified xsi:type="dcterms:W3CDTF">2026-10-16T01:42:28Z</dcterms:modified>
</cp:coreProperties>
</file>