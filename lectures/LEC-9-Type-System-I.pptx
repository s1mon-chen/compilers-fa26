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5715000" type="screen16x10"/>
  <p:notesSz cx="6858000" cy="9144000"/>
  <p:defaultTextStyle>
    <a:defPPr>
      <a:buNone/>
    </a:defPPr>
    <a:lvl1pPr marL="0" indent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indent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indent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indent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indent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indent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indent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indent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indent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/>
  </p:normalViewPr>
  <p:slideViewPr>
    <p:cSldViewPr snapToGrid="0">
      <p:cViewPr varScale="1">
        <p:scale>
          <a:sx n="136" d="100"/>
          <a:sy n="136" d="100"/>
        </p:scale>
        <p:origin x="9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There are instances in your application where you want to be able to store runtime-specific information.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Things like connection info, SSL certs, certain flags that you will inevitably change over time.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Kubernetes takes that into account and has a solution with ConfigMaps and Secrets.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ConfigMaps and Secrets are kind of like Volumes, as you’ll see.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There are instances in your application where you want to be able to store runtime-specific information.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Things like connection info, SSL certs, certain flags that you will inevitably change over time.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Kubernetes takes that into account and has a solution with ConfigMaps and Secrets.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ConfigMaps and Secrets are kind of like Volumes, as you’ll see.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There are instances in your application where you want to be able to store runtime-specific information.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Things like connection info, SSL certs, certain flags that you will inevitably change over time.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Kubernetes takes that into account and has a solution with ConfigMaps and Secrets.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ConfigMaps and Secrets are kind of like Volumes, as you’ll see.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C++示例避免使用常量3，因为优化后可能直接折叠为3.0，看不到sitofp。Clang用CXXStaticCastExpr表示显式static_cast，并记录CK_IntegralToFloating；LLVM sitofp把有符号整数转换为浮点数。Java的i2d与.NET IL的conv.r8展示相同思想在其他执行平台上的形式。参考：https://clang.llvm.org/doxygen/classclang_1_1CXXStaticCastExpr.html；https://clang.llvm.org/doxygen/OperationKinds_8def.html；https://llvm.org/docs/LangRef.html#sitofp-to-instruction；https://docs.oracle.com/javase/specs/jvms/se25/html/jvms-6.html#jvms-6.5.i2d；https://learn.microsoft.com/en-us/dotnet/api/system.reflection.emit.opcodes.conv_r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89CF9-F8D8-4CCC-A257-6DE6A370C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buNone/>
              <a:defRPr sz="4400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489163-420C-40B9-A6B0-7D024352F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04E3C-C592-4BBA-AA67-012927511F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BB9DF-2129-4B30-A0CB-00B5CCA4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buNone/>
              <a:defRPr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FB2FD2-58C9-4D2B-B2D7-B77DBB83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2400" b="1" i="0">
                <a:latin typeface="+mn-lt"/>
                <a:ea typeface="+mn-lt"/>
                <a:cs typeface="+mn-lt"/>
              </a:defRPr>
            </a:lvl1pPr>
            <a:lvl2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2pPr>
            <a:lvl3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3pPr>
            <a:lvl4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4pPr>
            <a:lvl5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18343-6F26-4180-9F15-3490C5654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789912-585E-44ED-9A35-D3CD6481964A}"/>
              </a:ext>
            </a:extLst>
          </p:cNvPr>
          <p:cNvSpPr>
            <a:spLocks noGrp="1"/>
          </p:cNvSpPr>
          <p:nvPr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>
            <a:spLocks noGrp="1"/>
          </p:cNvSpPr>
          <p:nvPr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737EC-50D8-4066-9A5B-B2F2B326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buNone/>
              <a:defRPr sz="4000" b="1" cap="all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8D66DC-4DFE-41C3-A681-70661511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54206-11C3-46BD-9C89-5FEA6F6F7C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C5D61-0DF4-429D-A479-13E085A0A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>
            <a:spLocks noGrp="1"/>
          </p:cNvSpPr>
          <p:nvPr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E3681A-3E02-46ED-85DF-1DEF2F99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6D934-6CA7-459A-B5C1-5CA900321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A96C8E-B259-4316-A5FF-F1EDB1F7850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B98837-A74E-40F6-88FA-DB372DDABD2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ea"/>
              </a:defRPr>
            </a:lvl1pPr>
          </a:lstStyle>
          <a:p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lnSpc>
          <a:spcPct val="120000"/>
        </a:lnSpc>
        <a:spcBef>
          <a:spcPts val="1200"/>
        </a:spcBef>
        <a:buFont typeface="Arial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914400">
        <a:lnSpc>
          <a:spcPct val="120000"/>
        </a:lnSpc>
        <a:spcBef>
          <a:spcPct val="20000"/>
        </a:spcBef>
        <a:buFont typeface="Arial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ct val="20000"/>
        </a:spcBef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ct val="20000"/>
        </a:spcBef>
        <a:buFont typeface="Arial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ct val="20000"/>
        </a:spcBef>
        <a:buFont typeface="Arial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345332"/>
            <a:ext cx="7772400" cy="230425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4800"/>
              <a:t>类型系统（一）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吴明瑜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50000"/>
                    <a:lumOff val="50000"/>
                  </a:schemeClr>
                </a:solidFill>
              </a:rPr>
              <a:t>https://ipads.se.sjtu.edu.cn/courses/compilers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>
            <a:spLocks noGrp="1"/>
          </p:cNvSpPr>
          <p:nvPr/>
        </p:nvSpPr>
        <p:spPr>
          <a:xfrm>
            <a:off x="467544" y="252559"/>
            <a:ext cx="3600400" cy="50405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>
              <a:lnSpc>
                <a:spcPct val="120000"/>
              </a:lnSpc>
              <a:spcBef>
                <a:spcPts val="1200"/>
              </a:spcBef>
              <a:buFont typeface="Arial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2pPr>
            <a:lvl3pPr marL="9144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3pPr>
            <a:lvl4pPr marL="13716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4pPr>
            <a:lvl5pPr marL="18288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5pPr>
            <a:lvl6pPr marL="22860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40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  <a:cs typeface="Arial"/>
              </a:rPr>
              <a:t>SE3355 · 编译原理（2026秋）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800">
                <a:latin typeface="Arial"/>
                <a:ea typeface="Arial"/>
                <a:cs typeface="Arial"/>
              </a:rPr>
              <a:t>这三个程序也许能解析，但它们真的有意义吗？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/>
          </a:bodyPr>
          <a:lstStyle/>
          <a:p>
            <a:r>
              <a:t>1 + true</a:t>
            </a:r>
          </a:p>
          <a:p>
            <a:pPr>
              <a:buNone/>
            </a:pPr>
            <a:r>
              <a:t>if 1 then 2 else 3</a:t>
            </a:r>
          </a:p>
          <a:p>
            <a:pPr>
              <a:buNone/>
            </a:pPr>
            <a:r>
              <a:t>false(42)</a:t>
            </a:r>
          </a:p>
          <a:p>
            <a:endParaRPr/>
          </a:p>
          <a:p>
            <a:pPr>
              <a:buNone/>
            </a:pPr>
            <a:r>
              <a:t>• Parser 只能告诉我们结构合法</a:t>
            </a:r>
          </a:p>
          <a:p>
            <a:pPr>
              <a:buNone/>
            </a:pPr>
            <a:r>
              <a:t>• 类型检查负责拒绝“结构合法、语义不成立”的程序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2598689-54C9-18A7-3A19-ED76AA08988F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A887F-C051-48C8-9475-C3AD04AC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大纲：从错误程序到类型检查器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C47E3-DDE8-49FF-88C3-B8892AE0F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/>
              <a:buChar char="•"/>
            </a:pPr>
            <a:r>
              <a:t>为什么需要类型？</a:t>
            </a:r>
          </a:p>
          <a:p>
            <a:endParaRPr/>
          </a:p>
          <a:p>
            <a:pPr>
              <a:buFont typeface="Arial"/>
              <a:buChar char="•"/>
            </a:pPr>
            <a:r>
              <a:t>把语义写成规则</a:t>
            </a:r>
          </a:p>
          <a:p>
            <a:pPr>
              <a:buNone/>
            </a:pPr>
            <a:endParaRPr/>
          </a:p>
          <a:p>
            <a:pPr>
              <a:buFont typeface="Arial"/>
              <a:buChar char="•"/>
            </a:pPr>
            <a:r>
              <a:t>规则如何变成代码</a:t>
            </a:r>
          </a:p>
          <a:p>
            <a:endParaRPr/>
          </a:p>
          <a:p>
            <a:pPr>
              <a:buFont typeface="Arial"/>
              <a:buChar char="•"/>
            </a:pPr>
            <a:r>
              <a:t>类型设计的边界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462658-914F-4930-9B4C-4EAC684270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234C2A-2A87-4683-A602-E8583A97202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2079819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为什么需要类型？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类型系统承诺发现什么，又不承诺什么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FD6AB9A-5F9E-5F59-51AB-3C8734130965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错误发生在不同阶段，修复位置也不同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/>
          </a:bodyPr>
          <a:lstStyle/>
          <a:p>
            <a:r>
              <a:t>• 语法错误：缺少括号、关键字或分隔符等</a:t>
            </a:r>
          </a:p>
          <a:p>
            <a:pPr>
              <a:buNone/>
            </a:pPr>
            <a:r>
              <a:t>• 名字错误：变量未定义、重复声明、作用域越界</a:t>
            </a:r>
          </a:p>
          <a:p>
            <a:pPr>
              <a:buNone/>
            </a:pPr>
            <a:r>
              <a:t>• </a:t>
            </a:r>
            <a:r>
              <a:rPr>
                <a:solidFill>
                  <a:srgbClr val="C00000"/>
                </a:solidFill>
              </a:rPr>
              <a:t>类型错误：操作数或函数参数不满足约定</a:t>
            </a:r>
          </a:p>
          <a:p>
            <a:r>
              <a:t>• 运行时错误：除零、越界、资源耗尽</a:t>
            </a:r>
          </a:p>
          <a:p>
            <a:pPr>
              <a:buNone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E5B3003-2C54-13C6-9832-7637201064DE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  <a:defRPr sz="36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静态类型与动态类型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92500" lnSpcReduction="20000"/>
          </a:bodyPr>
          <a:lstStyle/>
          <a:p>
            <a:pPr algn="l">
              <a:buNone/>
              <a:defRPr sz="21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静态类型（static typing）</a:t>
            </a:r>
          </a:p>
          <a:p>
            <a:pPr algn="l">
              <a:buNone/>
              <a:defRPr sz="21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• 编译时为表达式建立类型结论</a:t>
            </a:r>
          </a:p>
          <a:p>
            <a:pPr algn="l">
              <a:buNone/>
              <a:defRPr sz="21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• 未通过检查的程序不能执行</a:t>
            </a:r>
          </a:p>
          <a:p>
            <a:endParaRPr sz="2100" b="1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21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动态类型（dynamic typing）</a:t>
            </a:r>
          </a:p>
          <a:p>
            <a:pPr algn="l">
              <a:buNone/>
              <a:defRPr sz="21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• 值在运行时携带类型信息</a:t>
            </a:r>
          </a:p>
          <a:p>
            <a:pPr algn="l">
              <a:buNone/>
              <a:defRPr sz="21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• 非法操作执行到时才报错</a:t>
            </a:r>
          </a:p>
          <a:p>
            <a:pPr algn="l">
              <a:buNone/>
              <a:defRPr sz="21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2100" b="1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21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二者可在同一种语言中并存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C630A04-5A25-9E0C-9436-126091DB86B3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  <a:defRPr sz="36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案例：静态检查与运行时检查并存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352550"/>
            <a:ext cx="8001000" cy="457200"/>
          </a:xfrm>
        </p:spPr>
        <p:txBody>
          <a:bodyPr>
            <a:normAutofit/>
          </a:bodyPr>
          <a:lstStyle/>
          <a:p>
            <a:pPr algn="l">
              <a:buNone/>
              <a:defRPr sz="19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Java 是静态类型语言，但强制类型转换仍需要运行时检查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3D7D1C8-AE23-AA48-DF65-C742588DBE47}" type="slidenum">
              <a:t>7</a:t>
            </a:fld>
            <a:endParaRPr/>
          </a:p>
        </p:txBody>
      </p:sp>
      <p:sp>
        <p:nvSpPr>
          <p:cNvPr id="5" name="Java cast example">
            <a:extLst>
              <a:ext uri="{FF2B5EF4-FFF2-40B4-BE49-F238E27FC236}">
                <a16:creationId xmlns:a16="http://schemas.microsoft.com/office/drawing/2014/main" id="{6E21B8EC-16D3-42C7-ACCF-DA3D1066F3D6}"/>
              </a:ext>
            </a:extLst>
          </p:cNvPr>
          <p:cNvSpPr>
            <a:spLocks noGrp="1"/>
          </p:cNvSpPr>
          <p:nvPr/>
        </p:nvSpPr>
        <p:spPr>
          <a:xfrm>
            <a:off x="1047750" y="1971675"/>
            <a:ext cx="7048500" cy="1000125"/>
          </a:xfrm>
          <a:prstGeom prst="rect">
            <a:avLst/>
          </a:prstGeom>
          <a:solidFill>
            <a:srgbClr val="292D32"/>
          </a:solidFill>
          <a:ln w="0">
            <a:noFill/>
          </a:ln>
        </p:spPr>
        <p:txBody>
          <a:bodyPr/>
          <a:lstStyle/>
          <a:p>
            <a:pPr algn="l">
              <a:buNone/>
              <a:defRPr sz="18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8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Object x = read();</a:t>
            </a:r>
          </a:p>
          <a:p>
            <a:pPr algn="l">
              <a:buNone/>
              <a:defRPr sz="18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8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String s = (String) x;</a:t>
            </a:r>
          </a:p>
        </p:txBody>
      </p:sp>
      <p:sp>
        <p:nvSpPr>
          <p:cNvPr id="6" name="Compile-time heading">
            <a:extLst>
              <a:ext uri="{FF2B5EF4-FFF2-40B4-BE49-F238E27FC236}">
                <a16:creationId xmlns:a16="http://schemas.microsoft.com/office/drawing/2014/main" id="{5A4E3A9E-04DA-453B-B3D1-BB5B99483C59}"/>
              </a:ext>
            </a:extLst>
          </p:cNvPr>
          <p:cNvSpPr>
            <a:spLocks noGrp="1"/>
          </p:cNvSpPr>
          <p:nvPr/>
        </p:nvSpPr>
        <p:spPr>
          <a:xfrm>
            <a:off x="1047750" y="32575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900" b="1">
                <a:solidFill>
                  <a:srgbClr val="C8384E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C8384E"/>
                </a:solidFill>
                <a:latin typeface="Arial"/>
                <a:ea typeface="Arial"/>
                <a:cs typeface="Arial"/>
              </a:rPr>
              <a:t>编译期</a:t>
            </a:r>
          </a:p>
        </p:txBody>
      </p:sp>
      <p:sp>
        <p:nvSpPr>
          <p:cNvPr id="7" name="Compile-time explanation">
            <a:extLst>
              <a:ext uri="{FF2B5EF4-FFF2-40B4-BE49-F238E27FC236}">
                <a16:creationId xmlns:a16="http://schemas.microsoft.com/office/drawing/2014/main" id="{5F4836AB-FB1A-4F02-8247-505BE38544BF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314325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7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s 的静态类型是 String</a:t>
            </a:r>
          </a:p>
          <a:p>
            <a:pPr>
              <a:buNone/>
              <a:defRPr sz="17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后续使用按照 String 检查</a:t>
            </a:r>
          </a:p>
        </p:txBody>
      </p:sp>
      <p:sp>
        <p:nvSpPr>
          <p:cNvPr id="8" name="Runtime heading">
            <a:extLst>
              <a:ext uri="{FF2B5EF4-FFF2-40B4-BE49-F238E27FC236}">
                <a16:creationId xmlns:a16="http://schemas.microsoft.com/office/drawing/2014/main" id="{2E581619-D571-43AA-BA46-84006CA33713}"/>
              </a:ext>
            </a:extLst>
          </p:cNvPr>
          <p:cNvSpPr>
            <a:spLocks noGrp="1"/>
          </p:cNvSpPr>
          <p:nvPr/>
        </p:nvSpPr>
        <p:spPr>
          <a:xfrm>
            <a:off x="4857750" y="32575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900" b="1">
                <a:solidFill>
                  <a:srgbClr val="C8384E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C8384E"/>
                </a:solidFill>
                <a:latin typeface="Arial"/>
                <a:ea typeface="Arial"/>
                <a:cs typeface="Arial"/>
              </a:rPr>
              <a:t>运行时</a:t>
            </a:r>
          </a:p>
        </p:txBody>
      </p:sp>
      <p:sp>
        <p:nvSpPr>
          <p:cNvPr id="9" name="Runtime explanation">
            <a:extLst>
              <a:ext uri="{FF2B5EF4-FFF2-40B4-BE49-F238E27FC236}">
                <a16:creationId xmlns:a16="http://schemas.microsoft.com/office/drawing/2014/main" id="{964873EE-6A23-4F3D-A97A-2D99F63ADC3E}"/>
              </a:ext>
            </a:extLst>
          </p:cNvPr>
          <p:cNvSpPr>
            <a:spLocks noGrp="1"/>
          </p:cNvSpPr>
          <p:nvPr/>
        </p:nvSpPr>
        <p:spPr>
          <a:xfrm>
            <a:off x="4857750" y="3638550"/>
            <a:ext cx="333375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7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检查 x 实际指向的对象</a:t>
            </a:r>
          </a:p>
          <a:p>
            <a:pPr>
              <a:buNone/>
              <a:defRPr sz="17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不是 String 则抛出异常</a:t>
            </a:r>
          </a:p>
        </p:txBody>
      </p:sp>
      <p:sp>
        <p:nvSpPr>
          <p:cNvPr id="10" name="Combined checks conclusion">
            <a:extLst>
              <a:ext uri="{FF2B5EF4-FFF2-40B4-BE49-F238E27FC236}">
                <a16:creationId xmlns:a16="http://schemas.microsoft.com/office/drawing/2014/main" id="{EDD48980-9712-4A6A-AFAA-E12B64D4796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7239000" cy="457200"/>
          </a:xfrm>
          <a:prstGeom prst="rect">
            <a:avLst/>
          </a:prstGeom>
          <a:solidFill>
            <a:srgbClr val="F9E9EB"/>
          </a:solidFill>
          <a:ln w="12668">
            <a:solidFill>
              <a:srgbClr val="E3A8B0"/>
            </a:solidFill>
          </a:ln>
        </p:spPr>
        <p:txBody>
          <a:bodyPr/>
          <a:lstStyle/>
          <a:p>
            <a:pPr algn="ctr">
              <a:buNone/>
              <a:defRPr sz="1600" b="1">
                <a:solidFill>
                  <a:srgbClr val="C8384E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C8384E"/>
                </a:solidFill>
                <a:latin typeface="Arial"/>
                <a:ea typeface="Arial"/>
                <a:cs typeface="Arial"/>
              </a:rPr>
              <a:t>编译期能确定的先检查；其余约束保留到运行时检查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本讲的目标：把类型规则变成一个可执行检查器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/>
          </a:bodyPr>
          <a:lstStyle/>
          <a:p>
            <a:r>
              <a:t>学完后，你应该能够：</a:t>
            </a:r>
          </a:p>
          <a:p>
            <a:pPr>
              <a:buNone/>
            </a:pPr>
            <a:r>
              <a:t>• 读懂 Γ ⊢ e : T</a:t>
            </a:r>
          </a:p>
          <a:p>
            <a:pPr>
              <a:buNone/>
            </a:pPr>
            <a:r>
              <a:t>• 为一个新语言构造写出类型规则</a:t>
            </a:r>
          </a:p>
          <a:p>
            <a:r>
              <a:t>• 手工推导简单表达式的类型</a:t>
            </a:r>
          </a:p>
          <a:p>
            <a:pPr>
              <a:buNone/>
            </a:pPr>
            <a:r>
              <a:t>• 把规则翻译成递归检查代码</a:t>
            </a:r>
          </a:p>
          <a:p>
            <a:pPr>
              <a:buNone/>
            </a:pPr>
            <a:r>
              <a:t>• 学会把类型规则的思想应用在其他领域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A58DA2A-B818-18A9-29C1-B697728D5BCE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52500"/>
          </a:xfrm>
        </p:spPr>
        <p:txBody>
          <a:bodyPr>
            <a:normAutofit/>
          </a:bodyPr>
          <a:lstStyle/>
          <a:p>
            <a:pPr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RT（OSDI '26）：Shell 也可以加类型？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88657AE-30A1-5A7A-6A7F-315D84436430}" type="slidenum">
              <a:t>9</a:t>
            </a:fld>
            <a:endParaRPr/>
          </a:p>
        </p:txBody>
      </p:sp>
      <p:sp>
        <p:nvSpPr>
          <p:cNvPr id="5" name="rt-problem-heading">
            <a:extLst>
              <a:ext uri="{FF2B5EF4-FFF2-40B4-BE49-F238E27FC236}">
                <a16:creationId xmlns:a16="http://schemas.microsoft.com/office/drawing/2014/main" id="{51BB4896-605F-4BBD-88CB-E52AB01CFB19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803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3F3F3F"/>
                </a:solidFill>
              </a:defRPr>
            </a:pPr>
            <a:r>
              <a:rPr sz="1800" b="1">
                <a:solidFill>
                  <a:srgbClr val="3F3F3F"/>
                </a:solidFill>
              </a:rPr>
              <a:t>一个合法文件名，为什么会让管道失败？</a:t>
            </a:r>
          </a:p>
        </p:txBody>
      </p:sp>
      <p:sp>
        <p:nvSpPr>
          <p:cNvPr id="6" name="rt-shell-code-bg">
            <a:extLst>
              <a:ext uri="{FF2B5EF4-FFF2-40B4-BE49-F238E27FC236}">
                <a16:creationId xmlns:a16="http://schemas.microsoft.com/office/drawing/2014/main" id="{2DDB5659-84BE-4F6E-8BA6-A838F47E961E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3714750" cy="1971675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rt-shell-code">
            <a:extLst>
              <a:ext uri="{FF2B5EF4-FFF2-40B4-BE49-F238E27FC236}">
                <a16:creationId xmlns:a16="http://schemas.microsoft.com/office/drawing/2014/main" id="{C97C24DC-6529-48D7-A8EB-E9144CAD8DAE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32575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020"/>
                </a:solidFill>
              </a:defRPr>
            </a:pPr>
            <a:r>
              <a:rPr sz="1575">
                <a:solidFill>
                  <a:srgbClr val="202020"/>
                </a:solidFill>
              </a:rPr>
              <a:t>find . |</a:t>
            </a:r>
          </a:p>
          <a:p>
            <a:pPr>
              <a:buNone/>
              <a:defRPr sz="1575">
                <a:solidFill>
                  <a:srgbClr val="202020"/>
                </a:solidFill>
              </a:defRPr>
            </a:pPr>
            <a:r>
              <a:rPr sz="1575">
                <a:solidFill>
                  <a:srgbClr val="202020"/>
                </a:solidFill>
              </a:rPr>
              <a:t>grep -E 'book[0-9]+[.]txt' |</a:t>
            </a:r>
          </a:p>
          <a:p>
            <a:pPr>
              <a:buNone/>
              <a:defRPr sz="1575">
                <a:solidFill>
                  <a:srgbClr val="202020"/>
                </a:solidFill>
              </a:defRPr>
            </a:pPr>
            <a:r>
              <a:rPr sz="1575">
                <a:solidFill>
                  <a:srgbClr val="202020"/>
                </a:solidFill>
              </a:rPr>
              <a:t>xargs cat</a:t>
            </a:r>
          </a:p>
        </p:txBody>
      </p:sp>
      <p:sp>
        <p:nvSpPr>
          <p:cNvPr id="8" name="rt-counterexample-label">
            <a:extLst>
              <a:ext uri="{FF2B5EF4-FFF2-40B4-BE49-F238E27FC236}">
                <a16:creationId xmlns:a16="http://schemas.microsoft.com/office/drawing/2014/main" id="{3CB84C53-75A1-4981-BC42-D24EB333DEAF}"/>
              </a:ext>
            </a:extLst>
          </p:cNvPr>
          <p:cNvSpPr>
            <a:spLocks noGrp="1"/>
          </p:cNvSpPr>
          <p:nvPr/>
        </p:nvSpPr>
        <p:spPr>
          <a:xfrm>
            <a:off x="4905375" y="1800225"/>
            <a:ext cx="352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目录中存在一个合法文件名（有空格）</a:t>
            </a:r>
          </a:p>
        </p:txBody>
      </p:sp>
      <p:sp>
        <p:nvSpPr>
          <p:cNvPr id="9" name="rt-counterexample">
            <a:extLst>
              <a:ext uri="{FF2B5EF4-FFF2-40B4-BE49-F238E27FC236}">
                <a16:creationId xmlns:a16="http://schemas.microsoft.com/office/drawing/2014/main" id="{4F6B6578-BBAC-432E-A211-8E7C3A0CEFAA}"/>
              </a:ext>
            </a:extLst>
          </p:cNvPr>
          <p:cNvSpPr>
            <a:spLocks noGrp="1"/>
          </p:cNvSpPr>
          <p:nvPr/>
        </p:nvSpPr>
        <p:spPr>
          <a:xfrm>
            <a:off x="4905375" y="2181225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25" b="1">
                <a:solidFill>
                  <a:srgbClr val="BE384B"/>
                </a:solidFill>
              </a:defRPr>
            </a:pPr>
            <a:r>
              <a:rPr sz="1725" b="1">
                <a:solidFill>
                  <a:srgbClr val="BE384B"/>
                </a:solidFill>
                <a:highlight>
                  <a:srgbClr val="00FF00"/>
                </a:highlight>
              </a:rPr>
              <a:t> </a:t>
            </a:r>
            <a:r>
              <a:rPr sz="1725" b="1">
                <a:solidFill>
                  <a:srgbClr val="BE384B"/>
                </a:solidFill>
              </a:rPr>
              <a:t>book0.txt</a:t>
            </a:r>
          </a:p>
        </p:txBody>
      </p:sp>
      <p:sp>
        <p:nvSpPr>
          <p:cNvPr id="10" name="rt-problem-explanation">
            <a:extLst>
              <a:ext uri="{FF2B5EF4-FFF2-40B4-BE49-F238E27FC236}">
                <a16:creationId xmlns:a16="http://schemas.microsoft.com/office/drawing/2014/main" id="{4C154F97-642E-4D96-B2DD-F26D76A9063B}"/>
              </a:ext>
            </a:extLst>
          </p:cNvPr>
          <p:cNvSpPr>
            <a:spLocks noGrp="1"/>
          </p:cNvSpPr>
          <p:nvPr/>
        </p:nvSpPr>
        <p:spPr>
          <a:xfrm>
            <a:off x="4905375" y="2743200"/>
            <a:ext cx="3619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3F3F3F"/>
                </a:solidFill>
              </a:defRPr>
            </a:pPr>
            <a:r>
              <a:rPr sz="1350">
                <a:solidFill>
                  <a:srgbClr val="3F3F3F"/>
                </a:solidFill>
              </a:rPr>
              <a:t>期望：cat  "./ book0.txt"</a:t>
            </a:r>
          </a:p>
          <a:p>
            <a:pPr>
              <a:buNone/>
              <a:defRPr sz="1350">
                <a:solidFill>
                  <a:srgbClr val="3F3F3F"/>
                </a:solidFill>
              </a:defRPr>
            </a:pPr>
            <a:r>
              <a:rPr sz="1350">
                <a:solidFill>
                  <a:srgbClr val="3F3F3F"/>
                </a:solidFill>
              </a:rPr>
              <a:t>实际：cat  ./  book0.txt</a:t>
            </a:r>
          </a:p>
        </p:txBody>
      </p:sp>
      <p:sp>
        <p:nvSpPr>
          <p:cNvPr id="19" name="rt-takeaway-rule">
            <a:extLst>
              <a:ext uri="{FF2B5EF4-FFF2-40B4-BE49-F238E27FC236}">
                <a16:creationId xmlns:a16="http://schemas.microsoft.com/office/drawing/2014/main" id="{7DC6D1D0-8BF2-4941-884B-A2F6F4BB87F9}"/>
              </a:ext>
            </a:extLst>
          </p:cNvPr>
          <p:cNvSpPr>
            <a:spLocks noGrp="1"/>
          </p:cNvSpPr>
          <p:nvPr/>
        </p:nvSpPr>
        <p:spPr>
          <a:xfrm>
            <a:off x="476250" y="4877500"/>
            <a:ext cx="8191500" cy="419462"/>
          </a:xfrm>
          <a:prstGeom prst="rect">
            <a:avLst/>
          </a:prstGeom>
          <a:solidFill>
            <a:srgbClr val="FCECEF"/>
          </a:solidFill>
          <a:ln w="0">
            <a:noFill/>
            <a:prstDash val="solid"/>
          </a:ln>
        </p:spPr>
      </p:sp>
      <p:sp>
        <p:nvSpPr>
          <p:cNvPr id="20" name="rt-takeaway">
            <a:extLst>
              <a:ext uri="{FF2B5EF4-FFF2-40B4-BE49-F238E27FC236}">
                <a16:creationId xmlns:a16="http://schemas.microsoft.com/office/drawing/2014/main" id="{E1BB2802-C557-4035-A82B-8D149EFA0533}"/>
              </a:ext>
            </a:extLst>
          </p:cNvPr>
          <p:cNvSpPr>
            <a:spLocks noGrp="1"/>
          </p:cNvSpPr>
          <p:nvPr/>
        </p:nvSpPr>
        <p:spPr>
          <a:xfrm>
            <a:off x="600075" y="4944175"/>
            <a:ext cx="794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BE384B"/>
                </a:solidFill>
              </a:defRPr>
            </a:pPr>
            <a:r>
              <a:rPr sz="1600" b="1">
                <a:solidFill>
                  <a:srgbClr val="BE384B"/>
                </a:solidFill>
              </a:rPr>
              <a:t>语法正确不等于组合正确：错误发生在命令之间未被声明的接口约定。</a:t>
            </a:r>
          </a:p>
        </p:txBody>
      </p:sp>
      <p:sp>
        <p:nvSpPr>
          <p:cNvPr id="21" name="rt-script-label">
            <a:extLst>
              <a:ext uri="{FF2B5EF4-FFF2-40B4-BE49-F238E27FC236}">
                <a16:creationId xmlns:a16="http://schemas.microsoft.com/office/drawing/2014/main" id="{E2F669A2-F24D-49E5-8690-5143BC4DCB21}"/>
              </a:ext>
            </a:extLst>
          </p:cNvPr>
          <p:cNvSpPr>
            <a:spLocks noGrp="1"/>
          </p:cNvSpPr>
          <p:nvPr/>
        </p:nvSpPr>
        <p:spPr>
          <a:xfrm>
            <a:off x="552450" y="1800225"/>
            <a:ext cx="1714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Shell 脚本</a:t>
            </a:r>
          </a:p>
        </p:txBody>
      </p:sp>
      <p:sp>
        <p:nvSpPr>
          <p:cNvPr id="22" name="rt-runtime-error">
            <a:extLst>
              <a:ext uri="{FF2B5EF4-FFF2-40B4-BE49-F238E27FC236}">
                <a16:creationId xmlns:a16="http://schemas.microsoft.com/office/drawing/2014/main" id="{59F1F134-50C1-4E9B-AE9E-2EB03BEDE470}"/>
              </a:ext>
            </a:extLst>
          </p:cNvPr>
          <p:cNvSpPr>
            <a:spLocks noGrp="1"/>
          </p:cNvSpPr>
          <p:nvPr/>
        </p:nvSpPr>
        <p:spPr>
          <a:xfrm>
            <a:off x="4905375" y="3514725"/>
            <a:ext cx="3619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cat: ./: Is a directory</a:t>
            </a:r>
          </a:p>
          <a:p>
            <a:pPr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cat: book0.txt: No such file or directory</a:t>
            </a:r>
          </a:p>
        </p:txBody>
      </p:sp>
      <p:sp>
        <p:nvSpPr>
          <p:cNvPr id="23" name="rt-error-cause">
            <a:extLst>
              <a:ext uri="{FF2B5EF4-FFF2-40B4-BE49-F238E27FC236}">
                <a16:creationId xmlns:a16="http://schemas.microsoft.com/office/drawing/2014/main" id="{1B91EF52-EFE0-4B03-98AA-B47BA2A05B14}"/>
              </a:ext>
            </a:extLst>
          </p:cNvPr>
          <p:cNvSpPr>
            <a:spLocks noGrp="1"/>
          </p:cNvSpPr>
          <p:nvPr/>
        </p:nvSpPr>
        <p:spPr>
          <a:xfrm>
            <a:off x="4905375" y="42481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3F3F3F"/>
                </a:solidFill>
              </a:defRPr>
            </a:pPr>
            <a:r>
              <a:rPr sz="1275">
                <a:solidFill>
                  <a:srgbClr val="3F3F3F"/>
                </a:solidFill>
              </a:rPr>
              <a:t>原因：xargs 把空格当作分隔符，一个路径变成两个参数。</a:t>
            </a:r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52500"/>
          </a:xfrm>
        </p:spPr>
        <p:txBody>
          <a:bodyPr>
            <a:normAutofit/>
          </a:bodyPr>
          <a:lstStyle/>
          <a:p>
            <a:pPr>
              <a:buNone/>
              <a:defRPr sz="2925" b="1">
                <a:solidFill>
                  <a:srgbClr val="BE384B"/>
                </a:solidFill>
              </a:defRPr>
            </a:pPr>
            <a:r>
              <a:rPr sz="29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RT：把字节流的形状写成类型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B7BEEEC-A170-5376-2B6E-CB54687B0CB1}" type="slidenum">
              <a:t>10</a:t>
            </a:fld>
            <a:endParaRPr/>
          </a:p>
        </p:txBody>
      </p:sp>
      <p:sp>
        <p:nvSpPr>
          <p:cNvPr id="6" name="rt-shell-code-bg">
            <a:extLst>
              <a:ext uri="{FF2B5EF4-FFF2-40B4-BE49-F238E27FC236}">
                <a16:creationId xmlns:a16="http://schemas.microsoft.com/office/drawing/2014/main" id="{2DDB5659-84BE-4F6E-8BA6-A838F47E961E}"/>
              </a:ext>
            </a:extLst>
          </p:cNvPr>
          <p:cNvSpPr>
            <a:spLocks noGrp="1"/>
          </p:cNvSpPr>
          <p:nvPr/>
        </p:nvSpPr>
        <p:spPr>
          <a:xfrm>
            <a:off x="4895850" y="1952625"/>
            <a:ext cx="3695700" cy="158115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rt-shell-code">
            <a:extLst>
              <a:ext uri="{FF2B5EF4-FFF2-40B4-BE49-F238E27FC236}">
                <a16:creationId xmlns:a16="http://schemas.microsoft.com/office/drawing/2014/main" id="{C97C24DC-6529-48D7-A8EB-E9144CAD8DAE}"/>
              </a:ext>
            </a:extLst>
          </p:cNvPr>
          <p:cNvSpPr>
            <a:spLocks noGrp="1"/>
          </p:cNvSpPr>
          <p:nvPr/>
        </p:nvSpPr>
        <p:spPr>
          <a:xfrm>
            <a:off x="5219700" y="2181225"/>
            <a:ext cx="3048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Output(grep)</a:t>
            </a:r>
          </a:p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      ⊆</a:t>
            </a:r>
          </a:p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SafePath?</a:t>
            </a:r>
          </a:p>
        </p:txBody>
      </p:sp>
      <p:sp>
        <p:nvSpPr>
          <p:cNvPr id="11" name="rt-column-divider">
            <a:extLst>
              <a:ext uri="{FF2B5EF4-FFF2-40B4-BE49-F238E27FC236}">
                <a16:creationId xmlns:a16="http://schemas.microsoft.com/office/drawing/2014/main" id="{4E5EF68C-6458-41AF-A5DE-A8732FA82BB5}"/>
              </a:ext>
            </a:extLst>
          </p:cNvPr>
          <p:cNvSpPr>
            <a:spLocks noGrp="1"/>
          </p:cNvSpPr>
          <p:nvPr/>
        </p:nvSpPr>
        <p:spPr>
          <a:xfrm>
            <a:off x="4572000" y="1381125"/>
            <a:ext cx="9525" cy="30956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12" name="rt-method-heading">
            <a:extLst>
              <a:ext uri="{FF2B5EF4-FFF2-40B4-BE49-F238E27FC236}">
                <a16:creationId xmlns:a16="http://schemas.microsoft.com/office/drawing/2014/main" id="{551AC5DF-8140-4BFC-A95D-215F1A8A2D45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3F3F3F"/>
                </a:solidFill>
              </a:defRPr>
            </a:pPr>
            <a:r>
              <a:rPr sz="1650" b="1">
                <a:solidFill>
                  <a:srgbClr val="3F3F3F"/>
                </a:solidFill>
              </a:rPr>
              <a:t>1. 为每个命令声明流接口</a:t>
            </a:r>
          </a:p>
        </p:txBody>
      </p:sp>
      <p:sp>
        <p:nvSpPr>
          <p:cNvPr id="13" name="rt-overlay">
            <a:extLst>
              <a:ext uri="{FF2B5EF4-FFF2-40B4-BE49-F238E27FC236}">
                <a16:creationId xmlns:a16="http://schemas.microsoft.com/office/drawing/2014/main" id="{54B31910-68BB-4906-914E-4FB3555EEA63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606060"/>
                </a:solidFill>
              </a:defRPr>
            </a:pPr>
            <a:r>
              <a:rPr sz="1275">
                <a:solidFill>
                  <a:srgbClr val="606060"/>
                </a:solidFill>
              </a:rPr>
              <a:t>不修改 Shell 和命令，只在其上叠加类型规范：</a:t>
            </a:r>
          </a:p>
        </p:txBody>
      </p:sp>
      <p:sp>
        <p:nvSpPr>
          <p:cNvPr id="14" name="rt-stream-type">
            <a:extLst>
              <a:ext uri="{FF2B5EF4-FFF2-40B4-BE49-F238E27FC236}">
                <a16:creationId xmlns:a16="http://schemas.microsoft.com/office/drawing/2014/main" id="{1F674A12-9759-43B2-91B5-8F0C5B4F4442}"/>
              </a:ext>
            </a:extLst>
          </p:cNvPr>
          <p:cNvSpPr>
            <a:spLocks noGrp="1"/>
          </p:cNvSpPr>
          <p:nvPr/>
        </p:nvSpPr>
        <p:spPr>
          <a:xfrm>
            <a:off x="552450" y="2171700"/>
            <a:ext cx="36957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3F3F3F"/>
                </a:solidFill>
              </a:defRPr>
            </a:pPr>
            <a:r>
              <a:rPr sz="1350">
                <a:solidFill>
                  <a:srgbClr val="C00000"/>
                </a:solidFill>
              </a:rPr>
              <a:t>流类型</a:t>
            </a:r>
            <a:r>
              <a:rPr sz="1350">
                <a:solidFill>
                  <a:srgbClr val="3F3F3F"/>
                </a:solidFill>
              </a:rPr>
              <a:t>：正则语言，描述每行可能的形状</a:t>
            </a:r>
          </a:p>
          <a:p>
            <a:pPr>
              <a:buNone/>
              <a:defRPr sz="1350">
                <a:solidFill>
                  <a:srgbClr val="3F3F3F"/>
                </a:solidFill>
              </a:defRPr>
            </a:pPr>
            <a:r>
              <a:rPr sz="1350">
                <a:solidFill>
                  <a:srgbClr val="00B0F0"/>
                </a:solidFill>
              </a:rPr>
              <a:t>命令类型</a:t>
            </a:r>
            <a:r>
              <a:rPr sz="1350">
                <a:solidFill>
                  <a:srgbClr val="3F3F3F"/>
                </a:solidFill>
              </a:rPr>
              <a:t>：输入流类型  →  输出流类型</a:t>
            </a:r>
          </a:p>
        </p:txBody>
      </p:sp>
      <p:sp>
        <p:nvSpPr>
          <p:cNvPr id="15" name="rt-types-bg">
            <a:extLst>
              <a:ext uri="{FF2B5EF4-FFF2-40B4-BE49-F238E27FC236}">
                <a16:creationId xmlns:a16="http://schemas.microsoft.com/office/drawing/2014/main" id="{9BCB7C87-E6DE-48CD-9C3D-57A00855C957}"/>
              </a:ext>
            </a:extLst>
          </p:cNvPr>
          <p:cNvSpPr>
            <a:spLocks noGrp="1"/>
          </p:cNvSpPr>
          <p:nvPr/>
        </p:nvSpPr>
        <p:spPr>
          <a:xfrm>
            <a:off x="552450" y="2933700"/>
            <a:ext cx="3695700" cy="1171575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rt-types">
            <a:extLst>
              <a:ext uri="{FF2B5EF4-FFF2-40B4-BE49-F238E27FC236}">
                <a16:creationId xmlns:a16="http://schemas.microsoft.com/office/drawing/2014/main" id="{86E58757-6022-48EC-953D-E9D2B320C57E}"/>
              </a:ext>
            </a:extLst>
          </p:cNvPr>
          <p:cNvSpPr>
            <a:spLocks noGrp="1"/>
          </p:cNvSpPr>
          <p:nvPr/>
        </p:nvSpPr>
        <p:spPr>
          <a:xfrm>
            <a:off x="733425" y="3105150"/>
            <a:ext cx="33337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>
                <a:solidFill>
                  <a:srgbClr val="202020"/>
                </a:solidFill>
              </a:defRPr>
            </a:pPr>
            <a:r>
              <a:rPr sz="1125">
                <a:solidFill>
                  <a:srgbClr val="00B0F0"/>
                </a:solidFill>
              </a:rPr>
              <a:t>grep</a:t>
            </a:r>
            <a:r>
              <a:rPr sz="1125">
                <a:solidFill>
                  <a:srgbClr val="202020"/>
                </a:solidFill>
              </a:rPr>
              <a:t> ...  : .*  →  .*book[0-9]+[.]txt.*</a:t>
            </a:r>
          </a:p>
          <a:p>
            <a:pPr>
              <a:buNone/>
              <a:defRPr sz="1125">
                <a:solidFill>
                  <a:srgbClr val="202020"/>
                </a:solidFill>
              </a:defRPr>
            </a:pPr>
            <a:r>
              <a:rPr sz="1125">
                <a:solidFill>
                  <a:srgbClr val="00B0F0"/>
                </a:solidFill>
              </a:rPr>
              <a:t>xargs cat</a:t>
            </a:r>
            <a:r>
              <a:rPr sz="1125">
                <a:solidFill>
                  <a:srgbClr val="202020"/>
                </a:solidFill>
              </a:rPr>
              <a:t> : SafePath  →  .*</a:t>
            </a:r>
          </a:p>
          <a:p>
            <a:pPr>
              <a:buNone/>
              <a:defRPr sz="1163">
                <a:solidFill>
                  <a:srgbClr val="202020"/>
                </a:solidFill>
              </a:defRPr>
            </a:pPr>
            <a:endParaRPr sz="1125">
              <a:solidFill>
                <a:srgbClr val="202020"/>
              </a:solidFill>
            </a:endParaRPr>
          </a:p>
          <a:p>
            <a:pPr>
              <a:buNone/>
              <a:defRPr sz="1125">
                <a:solidFill>
                  <a:srgbClr val="202020"/>
                </a:solidFill>
              </a:defRPr>
            </a:pPr>
            <a:r>
              <a:rPr sz="1125">
                <a:solidFill>
                  <a:srgbClr val="C00000"/>
                </a:solidFill>
              </a:rPr>
              <a:t>SafePath</a:t>
            </a:r>
            <a:r>
              <a:rPr sz="1125">
                <a:solidFill>
                  <a:srgbClr val="202020"/>
                </a:solidFill>
              </a:rPr>
              <a:t> = [^ \t]+ | ".+" | '.+'</a:t>
            </a:r>
          </a:p>
        </p:txBody>
      </p:sp>
      <p:sp>
        <p:nvSpPr>
          <p:cNvPr id="17" name="rt-check">
            <a:extLst>
              <a:ext uri="{FF2B5EF4-FFF2-40B4-BE49-F238E27FC236}">
                <a16:creationId xmlns:a16="http://schemas.microsoft.com/office/drawing/2014/main" id="{D53E9093-CE50-497D-99FF-12F53B434307}"/>
              </a:ext>
            </a:extLst>
          </p:cNvPr>
          <p:cNvSpPr>
            <a:spLocks noGrp="1"/>
          </p:cNvSpPr>
          <p:nvPr/>
        </p:nvSpPr>
        <p:spPr>
          <a:xfrm>
            <a:off x="4895850" y="1362075"/>
            <a:ext cx="3695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3F3F3F"/>
                </a:solidFill>
              </a:defRPr>
            </a:pPr>
            <a:r>
              <a:rPr sz="1650" b="1">
                <a:solidFill>
                  <a:srgbClr val="3F3F3F"/>
                </a:solidFill>
              </a:rPr>
              <a:t>2. 检查相邻命令能否组合</a:t>
            </a:r>
          </a:p>
        </p:txBody>
      </p:sp>
      <p:sp>
        <p:nvSpPr>
          <p:cNvPr id="18" name="rt-check-result">
            <a:extLst>
              <a:ext uri="{FF2B5EF4-FFF2-40B4-BE49-F238E27FC236}">
                <a16:creationId xmlns:a16="http://schemas.microsoft.com/office/drawing/2014/main" id="{D63209F4-4AA0-41A0-B026-A5BB530A22EC}"/>
              </a:ext>
            </a:extLst>
          </p:cNvPr>
          <p:cNvSpPr>
            <a:spLocks noGrp="1"/>
          </p:cNvSpPr>
          <p:nvPr/>
        </p:nvSpPr>
        <p:spPr>
          <a:xfrm>
            <a:off x="4895850" y="3724275"/>
            <a:ext cx="3695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BE384B"/>
                </a:solidFill>
              </a:defRPr>
            </a:pPr>
            <a:r>
              <a:rPr sz="1725" b="1">
                <a:solidFill>
                  <a:srgbClr val="BE384B"/>
                </a:solidFill>
              </a:rPr>
              <a:t>不成立</a:t>
            </a:r>
          </a:p>
        </p:txBody>
      </p:sp>
      <p:sp>
        <p:nvSpPr>
          <p:cNvPr id="19" name="rt-takeaway-rule">
            <a:extLst>
              <a:ext uri="{FF2B5EF4-FFF2-40B4-BE49-F238E27FC236}">
                <a16:creationId xmlns:a16="http://schemas.microsoft.com/office/drawing/2014/main" id="{7DC6D1D0-8BF2-4941-884B-A2F6F4BB87F9}"/>
              </a:ext>
            </a:extLst>
          </p:cNvPr>
          <p:cNvSpPr>
            <a:spLocks noGrp="1"/>
          </p:cNvSpPr>
          <p:nvPr/>
        </p:nvSpPr>
        <p:spPr>
          <a:xfrm>
            <a:off x="476250" y="4819749"/>
            <a:ext cx="8191500" cy="410637"/>
          </a:xfrm>
          <a:prstGeom prst="rect">
            <a:avLst/>
          </a:prstGeom>
          <a:solidFill>
            <a:srgbClr val="FCECEF"/>
          </a:solidFill>
          <a:ln w="0">
            <a:noFill/>
            <a:prstDash val="solid"/>
          </a:ln>
        </p:spPr>
      </p:sp>
      <p:sp>
        <p:nvSpPr>
          <p:cNvPr id="20" name="rt-takeaway">
            <a:extLst>
              <a:ext uri="{FF2B5EF4-FFF2-40B4-BE49-F238E27FC236}">
                <a16:creationId xmlns:a16="http://schemas.microsoft.com/office/drawing/2014/main" id="{E1BB2802-C557-4035-A82B-8D149EFA0533}"/>
              </a:ext>
            </a:extLst>
          </p:cNvPr>
          <p:cNvSpPr>
            <a:spLocks noGrp="1"/>
          </p:cNvSpPr>
          <p:nvPr/>
        </p:nvSpPr>
        <p:spPr>
          <a:xfrm>
            <a:off x="600075" y="4876800"/>
            <a:ext cx="794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88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【类型】把组件之间的隐含约定变成机器可以检查的接口规范。</a:t>
            </a:r>
          </a:p>
        </p:txBody>
      </p:sp>
      <p:sp>
        <p:nvSpPr>
          <p:cNvPr id="21" name="rt-method-counterexample">
            <a:extLst>
              <a:ext uri="{FF2B5EF4-FFF2-40B4-BE49-F238E27FC236}">
                <a16:creationId xmlns:a16="http://schemas.microsoft.com/office/drawing/2014/main" id="{2DB0A09C-0766-40D7-BC06-DC8C533B2620}"/>
              </a:ext>
            </a:extLst>
          </p:cNvPr>
          <p:cNvSpPr>
            <a:spLocks noGrp="1"/>
          </p:cNvSpPr>
          <p:nvPr/>
        </p:nvSpPr>
        <p:spPr>
          <a:xfrm>
            <a:off x="4895850" y="4133850"/>
            <a:ext cx="3695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反例：./ book0.txt</a:t>
            </a:r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把语义写成规则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 Γ ⊢ e : τ 开始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0394428-F1DC-E5F6-DB0C-7DE31F3D8A23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46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5724"/>
          </a:bodyPr>
          <a:lstStyle/>
          <a:p>
            <a:r>
              <a:rPr>
                <a:latin typeface="Arial"/>
                <a:ea typeface="Arial"/>
                <a:cs typeface="Arial"/>
              </a:rPr>
              <a:t>从一个简单语言开始：SimpleType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92500" lnSpcReduction="20000"/>
          </a:bodyPr>
          <a:lstStyle/>
          <a:p>
            <a:r>
              <a:t>类型：  </a:t>
            </a:r>
            <a:r>
              <a:rPr sz="2200"/>
              <a:t>T</a:t>
            </a:r>
            <a:r>
              <a:t> ::= Int | Bool | T -&gt; T</a:t>
            </a:r>
          </a:p>
          <a:p>
            <a:pPr>
              <a:buNone/>
            </a:pPr>
            <a:r>
              <a:t>表达式：</a:t>
            </a:r>
          </a:p>
          <a:p>
            <a:r>
              <a:t>  e ::= n | true | false | x</a:t>
            </a:r>
          </a:p>
          <a:p>
            <a:pPr>
              <a:buNone/>
            </a:pPr>
            <a:r>
              <a:t>      | e + e | e &lt; e</a:t>
            </a:r>
          </a:p>
          <a:p>
            <a:pPr>
              <a:buNone/>
            </a:pPr>
            <a:r>
              <a:t>      | if e then e else e</a:t>
            </a:r>
          </a:p>
          <a:p>
            <a:pPr>
              <a:buNone/>
            </a:pPr>
            <a:r>
              <a:t>      | let x : T = e in e</a:t>
            </a:r>
          </a:p>
          <a:p>
            <a:r>
              <a:t>      | fun (x : T) -&gt; T { e }</a:t>
            </a:r>
          </a:p>
          <a:p>
            <a:pPr>
              <a:buNone/>
            </a:pPr>
            <a:r>
              <a:t>      | e(e)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DB16885-0D3F-A391-B669-3211DB3B26E8}" type="slidenum">
              <a:t>12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A096D9-98D2-B2C8-C2E7-33EFCEF65A28}"/>
              </a:ext>
            </a:extLst>
          </p:cNvPr>
          <p:cNvSpPr>
            <a:spLocks noGrp="1"/>
          </p:cNvSpPr>
          <p:nvPr/>
        </p:nvSpPr>
        <p:spPr>
          <a:xfrm>
            <a:off x="3559277" y="1417340"/>
            <a:ext cx="845575" cy="4016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E2A927-9DB9-F4CC-7E64-05A2E9DB00CF}"/>
              </a:ext>
            </a:extLst>
          </p:cNvPr>
          <p:cNvSpPr>
            <a:spLocks noGrp="1"/>
          </p:cNvSpPr>
          <p:nvPr/>
        </p:nvSpPr>
        <p:spPr>
          <a:xfrm>
            <a:off x="5040051" y="1818968"/>
            <a:ext cx="29546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C00000"/>
                </a:solidFill>
              </a:rPr>
              <a:t>函数类型：用箭头作为分界</a:t>
            </a:r>
          </a:p>
        </p:txBody>
      </p:sp>
      <p:cxnSp>
        <p:nvCxnSpPr>
          <p:cNvPr id="194" name="直线箭头连接符 7"/>
          <p:cNvCxnSpPr>
            <a:stCxn id="5" idx="3"/>
            <a:endCxn id="6" idx="1"/>
          </p:cNvCxnSpPr>
          <p:nvPr/>
        </p:nvCxnSpPr>
        <p:spPr>
          <a:xfrm>
            <a:off x="4404852" y="1618154"/>
            <a:ext cx="635199" cy="385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形式化的推理方式：Γ ⊢ e : 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/>
          </a:bodyPr>
          <a:lstStyle/>
          <a:p>
            <a:r>
              <a:t>Γ：类型环境（typing environment）</a:t>
            </a:r>
          </a:p>
          <a:p>
            <a:pPr>
              <a:buNone/>
            </a:pPr>
            <a:r>
              <a:t>⊢：在这些假设下，可以推出</a:t>
            </a:r>
          </a:p>
          <a:p>
            <a:pPr>
              <a:buNone/>
            </a:pPr>
            <a:r>
              <a:t>e：正在检查的表达式</a:t>
            </a:r>
          </a:p>
          <a:p>
            <a:r>
              <a:t>T：表达式的类型</a:t>
            </a:r>
          </a:p>
          <a:p>
            <a:pPr>
              <a:buNone/>
            </a:pPr>
            <a:endParaRPr/>
          </a:p>
          <a:p>
            <a:pPr>
              <a:buNone/>
            </a:pPr>
            <a:r>
              <a:t>读作：在环境 Γ 中，表达式 e 的类型是 T。</a:t>
            </a:r>
          </a:p>
          <a:p>
            <a:pPr>
              <a:buNone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DD23107-4986-8758-3A93-3D74F35908CC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622"/>
          </a:bodyPr>
          <a:lstStyle/>
          <a:p>
            <a:r>
              <a:rPr>
                <a:latin typeface="Arial"/>
                <a:ea typeface="Arial"/>
                <a:cs typeface="Arial"/>
              </a:rPr>
              <a:t>常量规则没有前提，因此是类型推导的叶子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68118" lnSpcReduction="20000"/>
          </a:bodyPr>
          <a:lstStyle/>
          <a:p>
            <a:r>
              <a:t>────────────  [INT]</a:t>
            </a:r>
          </a:p>
          <a:p>
            <a:pPr>
              <a:buNone/>
            </a:pPr>
            <a:r>
              <a:t>Γ ⊢ n : Int</a:t>
            </a:r>
          </a:p>
          <a:p>
            <a:pPr>
              <a:buNone/>
            </a:pPr>
            <a:endParaRPr/>
          </a:p>
          <a:p>
            <a:r>
              <a:t>────────────────  [TRUE]</a:t>
            </a:r>
          </a:p>
          <a:p>
            <a:pPr>
              <a:buNone/>
            </a:pPr>
            <a:r>
              <a:t>Γ ⊢ true : Bool</a:t>
            </a:r>
          </a:p>
          <a:p>
            <a:pPr>
              <a:buNone/>
            </a:pPr>
            <a:endParaRPr/>
          </a:p>
          <a:p>
            <a:pPr>
              <a:buNone/>
            </a:pPr>
            <a:r>
              <a:t>─────────────────  [FALSE]</a:t>
            </a:r>
          </a:p>
          <a:p>
            <a:r>
              <a:t>Γ ⊢ false : Bool</a:t>
            </a:r>
          </a:p>
          <a:p>
            <a:pPr>
              <a:buNone/>
            </a:pPr>
            <a:endParaRPr/>
          </a:p>
          <a:p>
            <a:r>
              <a:t>环境 Γ 可以存在，但这些表达式不需要查询它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27921A4-25C4-3DB4-06B1-32693CEE2241}" type="slidenum">
              <a:t>14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4DEA29-8AB1-CFAC-3816-F507040971C0}"/>
              </a:ext>
            </a:extLst>
          </p:cNvPr>
          <p:cNvSpPr>
            <a:spLocks noGrp="1"/>
          </p:cNvSpPr>
          <p:nvPr/>
        </p:nvSpPr>
        <p:spPr>
          <a:xfrm>
            <a:off x="353961" y="1347019"/>
            <a:ext cx="2625213" cy="9045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338129-E866-18E3-4D7D-1340612BDC71}"/>
              </a:ext>
            </a:extLst>
          </p:cNvPr>
          <p:cNvSpPr>
            <a:spLocks noGrp="1"/>
          </p:cNvSpPr>
          <p:nvPr/>
        </p:nvSpPr>
        <p:spPr>
          <a:xfrm>
            <a:off x="4163063" y="1302241"/>
            <a:ext cx="318548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>
                <a:solidFill>
                  <a:srgbClr val="C00000"/>
                </a:solidFill>
              </a:rPr>
              <a:t>用横线隔开上下，</a:t>
            </a:r>
          </a:p>
          <a:p>
            <a:pPr algn="ctr">
              <a:buNone/>
            </a:pPr>
            <a:r>
              <a:rPr>
                <a:solidFill>
                  <a:srgbClr val="C00000"/>
                </a:solidFill>
              </a:rPr>
              <a:t>横线上方是条件（如果…）；</a:t>
            </a:r>
          </a:p>
          <a:p>
            <a:pPr algn="ctr">
              <a:buNone/>
            </a:pPr>
            <a:r>
              <a:rPr>
                <a:solidFill>
                  <a:srgbClr val="C00000"/>
                </a:solidFill>
              </a:rPr>
              <a:t>横线下方是结论（那么…）</a:t>
            </a:r>
          </a:p>
        </p:txBody>
      </p:sp>
      <p:cxnSp>
        <p:nvCxnSpPr>
          <p:cNvPr id="194" name="直线箭头连接符 7"/>
          <p:cNvCxnSpPr>
            <a:endCxn id="6" idx="1"/>
          </p:cNvCxnSpPr>
          <p:nvPr/>
        </p:nvCxnSpPr>
        <p:spPr>
          <a:xfrm>
            <a:off x="2979174" y="1660634"/>
            <a:ext cx="1183889" cy="103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622"/>
          </a:bodyPr>
          <a:lstStyle/>
          <a:p>
            <a:r>
              <a:rPr>
                <a:latin typeface="Arial"/>
                <a:ea typeface="Arial"/>
                <a:cs typeface="Arial"/>
              </a:rPr>
              <a:t>变量的类型来自环境，而不是变量节点本身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68118" lnSpcReduction="20000"/>
          </a:bodyPr>
          <a:lstStyle/>
          <a:p>
            <a:r>
              <a:t>Γ(x) = T</a:t>
            </a:r>
          </a:p>
          <a:p>
            <a:pPr>
              <a:buNone/>
            </a:pPr>
            <a:r>
              <a:t>──────────  [VAR]</a:t>
            </a:r>
          </a:p>
          <a:p>
            <a:pPr>
              <a:buNone/>
            </a:pPr>
            <a:r>
              <a:t>Γ ⊢ x : T</a:t>
            </a:r>
          </a:p>
          <a:p>
            <a:endParaRPr/>
          </a:p>
          <a:p>
            <a:pPr>
              <a:buNone/>
            </a:pPr>
            <a:r>
              <a:t>例：</a:t>
            </a:r>
          </a:p>
          <a:p>
            <a:pPr>
              <a:buNone/>
            </a:pPr>
            <a:r>
              <a:t>Γ = { x : Int, flag : Bool }</a:t>
            </a:r>
          </a:p>
          <a:p>
            <a:pPr>
              <a:buNone/>
            </a:pPr>
            <a:endParaRPr/>
          </a:p>
          <a:p>
            <a:r>
              <a:t>Γ ⊢ x : Int        Γ ⊢ flag : Bool</a:t>
            </a:r>
          </a:p>
          <a:p>
            <a:pPr>
              <a:buNone/>
            </a:pPr>
            <a:endParaRPr/>
          </a:p>
          <a:p>
            <a:r>
              <a:t>若 Γ 中没有 x，检查器应报告“未定义变量”。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A83FA91-883A-0168-8075-96CEB9DCA3C2}" type="slidenum"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运算符同时约束输入类型和结果类型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85000" lnSpcReduction="20000"/>
          </a:bodyPr>
          <a:lstStyle/>
          <a:p>
            <a:r>
              <a:t>Γ ⊢ e₁ : Int     Γ ⊢ e₂ : Int</a:t>
            </a:r>
          </a:p>
          <a:p>
            <a:pPr>
              <a:buNone/>
            </a:pPr>
            <a:r>
              <a:t>────────────────────────────  [ADD]</a:t>
            </a:r>
          </a:p>
          <a:p>
            <a:pPr>
              <a:buNone/>
            </a:pPr>
            <a:r>
              <a:t>        Γ ⊢ e₁ + e₂ : Int</a:t>
            </a:r>
          </a:p>
          <a:p>
            <a:endParaRPr/>
          </a:p>
          <a:p>
            <a:pPr>
              <a:buNone/>
            </a:pPr>
            <a:r>
              <a:t>Γ ⊢ e₁ : Int     Γ ⊢ e₂ : Int</a:t>
            </a:r>
          </a:p>
          <a:p>
            <a:pPr>
              <a:buNone/>
            </a:pPr>
            <a:r>
              <a:t>────────────────────────────  [LT]</a:t>
            </a:r>
          </a:p>
          <a:p>
            <a:pPr>
              <a:buNone/>
            </a:pPr>
            <a:r>
              <a:t>        Γ ⊢ e₁ &lt; e₂ : Bool</a:t>
            </a:r>
          </a:p>
          <a:p>
            <a:endParaRPr/>
          </a:p>
          <a:p>
            <a:pPr>
              <a:buNone/>
            </a:pPr>
            <a:r>
              <a:t>同样的输入类型，可以得到不同的结果类型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C9C7607-4BA3-B4DC-A00F-2E67A9FCFF7E}" type="slidenum"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if 的两个分支必须给出同一种结果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85000" lnSpcReduction="10000"/>
          </a:bodyPr>
          <a:lstStyle/>
          <a:p>
            <a:r>
              <a:t>Γ ⊢ c : Bool    Γ ⊢ e₁ : T    Γ ⊢ e₂ : T</a:t>
            </a:r>
          </a:p>
          <a:p>
            <a:pPr>
              <a:buNone/>
            </a:pPr>
            <a:r>
              <a:t>──────────────────────────────────────  [IF]</a:t>
            </a:r>
          </a:p>
          <a:p>
            <a:pPr>
              <a:buNone/>
            </a:pPr>
            <a:r>
              <a:t>       Γ ⊢ if c then e₁ else e₂ : T</a:t>
            </a:r>
          </a:p>
          <a:p>
            <a:endParaRPr/>
          </a:p>
          <a:p>
            <a:pPr>
              <a:buNone/>
            </a:pPr>
            <a:r>
              <a:t>三个检查点：</a:t>
            </a:r>
          </a:p>
          <a:p>
            <a:pPr>
              <a:buNone/>
            </a:pPr>
            <a:r>
              <a:t>• 条件必须是 Bool</a:t>
            </a:r>
          </a:p>
          <a:p>
            <a:pPr>
              <a:buNone/>
            </a:pPr>
            <a:r>
              <a:t>• 两个分支类型相同</a:t>
            </a:r>
          </a:p>
          <a:p>
            <a:r>
              <a:t>• 整个 if 的类型就是分支类型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0F7333B-44AC-F7E9-D49D-FE92F45E0477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3684"/>
          </a:bodyPr>
          <a:lstStyle/>
          <a:p>
            <a:r>
              <a:rPr>
                <a:latin typeface="Arial"/>
                <a:ea typeface="Arial"/>
                <a:cs typeface="Arial"/>
              </a:rPr>
              <a:t>let 先检查定义，再扩展环境检查使用位置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/>
          </a:bodyPr>
          <a:lstStyle/>
          <a:p>
            <a:r>
              <a:t>Γ ⊢ e₁ : T₁      Γ, x:T₁ ⊢ e₂ : T₂</a:t>
            </a:r>
          </a:p>
          <a:p>
            <a:pPr>
              <a:buNone/>
            </a:pPr>
            <a:r>
              <a:t>────────────────────────────────  [LET]</a:t>
            </a:r>
          </a:p>
          <a:p>
            <a:pPr>
              <a:buNone/>
            </a:pPr>
            <a:r>
              <a:t> Γ ⊢ let x:T₁ = e₁ in e₂ : T₂</a:t>
            </a:r>
          </a:p>
          <a:p>
            <a:endParaRPr/>
          </a:p>
          <a:p>
            <a:pPr>
              <a:buNone/>
            </a:pPr>
            <a:r>
              <a:t>• e₁ 在旧环境 Γ 中检查</a:t>
            </a:r>
          </a:p>
          <a:p>
            <a:pPr>
              <a:buNone/>
            </a:pPr>
            <a:r>
              <a:t>• x 只在 e₂ 中可见</a:t>
            </a:r>
          </a:p>
          <a:p>
            <a:pPr>
              <a:buNone/>
            </a:pPr>
            <a:r>
              <a:t>• 离开 let 后，扩展环境失效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1C6C81E-38B9-7560-621D-5A151A79DF9B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检查函数体时，参数进入局部类型环境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85000" lnSpcReduction="20000"/>
          </a:bodyPr>
          <a:lstStyle/>
          <a:p>
            <a:r>
              <a:t>Γ, x:T₁ ⊢ e : T₂</a:t>
            </a:r>
          </a:p>
          <a:p>
            <a:pPr>
              <a:buNone/>
            </a:pPr>
            <a:r>
              <a:t>──────────────────────────  [FUN]</a:t>
            </a:r>
          </a:p>
          <a:p>
            <a:pPr>
              <a:buNone/>
            </a:pPr>
            <a:r>
              <a:t>Γ ⊢ fun(x:T₁)-&gt;T₂{e} : T₁ → T₂</a:t>
            </a:r>
          </a:p>
          <a:p>
            <a:endParaRPr/>
          </a:p>
          <a:p>
            <a:pPr>
              <a:buNone/>
            </a:pPr>
            <a:r>
              <a:t>显式标注提供：</a:t>
            </a:r>
          </a:p>
          <a:p>
            <a:pPr>
              <a:buNone/>
            </a:pPr>
            <a:r>
              <a:rPr sz="2100" b="0"/>
              <a:t>• 参数类型 T₁</a:t>
            </a:r>
          </a:p>
          <a:p>
            <a:pPr>
              <a:buNone/>
            </a:pPr>
            <a:r>
              <a:rPr sz="2100" b="0"/>
              <a:t>• 声明的返回类型 T₂</a:t>
            </a:r>
          </a:p>
          <a:p>
            <a:endParaRPr b="0"/>
          </a:p>
          <a:p>
            <a:pPr>
              <a:buNone/>
            </a:pPr>
            <a:r>
              <a:t>检查器还要确认函数体（e）确实得到 T₂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CF91274-D221-1BB4-3BF9-836E3AD31EBE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函数调用要求实参类型匹配形参类型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92500" lnSpcReduction="20000"/>
          </a:bodyPr>
          <a:lstStyle/>
          <a:p>
            <a:r>
              <a:t>Γ ⊢ f : T₁ → T₂      Γ ⊢ a : T₁</a:t>
            </a:r>
          </a:p>
          <a:p>
            <a:pPr>
              <a:buNone/>
            </a:pPr>
            <a:r>
              <a:t>────────────────────────────────  [APP]</a:t>
            </a:r>
          </a:p>
          <a:p>
            <a:pPr>
              <a:buNone/>
            </a:pPr>
            <a:r>
              <a:t>             Γ ⊢ f(a) : T₂</a:t>
            </a:r>
          </a:p>
          <a:p>
            <a:endParaRPr/>
          </a:p>
          <a:p>
            <a:pPr>
              <a:buNone/>
            </a:pPr>
            <a:r>
              <a:t>需要先知道：</a:t>
            </a:r>
          </a:p>
          <a:p>
            <a:pPr>
              <a:buNone/>
            </a:pPr>
            <a:r>
              <a:t>• 被调用表达式确实是函数</a:t>
            </a:r>
          </a:p>
          <a:p>
            <a:pPr>
              <a:buNone/>
            </a:pPr>
            <a:r>
              <a:t>• 参数类型是 T₁</a:t>
            </a:r>
          </a:p>
          <a:p>
            <a:r>
              <a:t>• 返回类型是 T₂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44E025A-983C-6D44-79C6-4612AACD43FC}" type="slidenum"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课堂推导：这个表达式的类型是什么？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85000" lnSpcReduction="20000"/>
          </a:bodyPr>
          <a:lstStyle/>
          <a:p>
            <a:r>
              <a:t>Γ = { x : Int }</a:t>
            </a:r>
          </a:p>
          <a:p>
            <a:pPr>
              <a:buNone/>
            </a:pPr>
            <a:endParaRPr/>
          </a:p>
          <a:p>
            <a:pPr>
              <a:buNone/>
            </a:pPr>
            <a:r>
              <a:t>if x &lt; 0 then 0 else x + 1</a:t>
            </a:r>
          </a:p>
          <a:p>
            <a:endParaRPr/>
          </a:p>
          <a:p>
            <a:pPr>
              <a:buNone/>
            </a:pPr>
            <a:r>
              <a:t>请依次回答：</a:t>
            </a:r>
          </a:p>
          <a:p>
            <a:pPr>
              <a:buNone/>
            </a:pPr>
            <a:r>
              <a:t>1. x &lt; 0 的类型是什么？</a:t>
            </a:r>
          </a:p>
          <a:p>
            <a:pPr>
              <a:buNone/>
            </a:pPr>
            <a:r>
              <a:t>2. 两个分支分别是什么类型？</a:t>
            </a:r>
          </a:p>
          <a:p>
            <a:r>
              <a:t>3. 能否应用 [IF]？</a:t>
            </a:r>
          </a:p>
          <a:p>
            <a:pPr>
              <a:buNone/>
            </a:pPr>
            <a:r>
              <a:t>4. 整个表达式的类型是什么？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6DF2BE2-2DFA-1C03-677D-BDC2260D6D92}" type="slidenum"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规则失败的位置，就是错误诊断的依据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92500" lnSpcReduction="20000"/>
          </a:bodyPr>
          <a:lstStyle/>
          <a:p>
            <a:r>
              <a:t>if x &lt; 0 then true else x + 1</a:t>
            </a:r>
          </a:p>
          <a:p>
            <a:pPr>
              <a:buNone/>
            </a:pPr>
            <a:endParaRPr/>
          </a:p>
          <a:p>
            <a:pPr>
              <a:buNone/>
            </a:pPr>
            <a:r>
              <a:t>• 条件 x &lt; 0 : Bool，满足要求</a:t>
            </a:r>
          </a:p>
          <a:p>
            <a:r>
              <a:t>• then 分支 : Bool</a:t>
            </a:r>
          </a:p>
          <a:p>
            <a:pPr>
              <a:buNone/>
            </a:pPr>
            <a:r>
              <a:t>• else 分支 : Int</a:t>
            </a:r>
          </a:p>
          <a:p>
            <a:pPr>
              <a:buNone/>
            </a:pPr>
            <a:r>
              <a:t>• [IF] 要求两个分支具有同一类型 T</a:t>
            </a:r>
          </a:p>
          <a:p>
            <a:pPr>
              <a:buNone/>
            </a:pPr>
            <a:endParaRPr/>
          </a:p>
          <a:p>
            <a:r>
              <a:t>错误：if 的两个分支类型不一致：Bool 与 Int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BB18BA8-60F4-C50D-CD9B-1BB87D3E8506}" type="slidenum"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978ED-85F5-C6BB-A9EF-4D727015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小结：对语义“祛魅”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F1999-3B59-7371-7567-A843081BB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t>“语义”相比“语法”，字面意思似乎更重“内容”、更非规则化</a:t>
            </a:r>
          </a:p>
          <a:p>
            <a:pPr>
              <a:buFont typeface="Arial"/>
              <a:buChar char="•"/>
            </a:pPr>
            <a:r>
              <a:t>但它依然是可以定义和验证的</a:t>
            </a:r>
          </a:p>
          <a:p>
            <a:pPr>
              <a:buFont typeface="Arial"/>
              <a:buChar char="•"/>
            </a:pPr>
            <a:r>
              <a:t>类型就是其中重要的一部分</a:t>
            </a:r>
          </a:p>
          <a:p>
            <a:pPr>
              <a:buFont typeface="Arial"/>
              <a:buChar char="•"/>
            </a:pPr>
            <a:endParaRPr/>
          </a:p>
          <a:p>
            <a:pPr marL="0" indent="0">
              <a:buNone/>
            </a:pPr>
            <a:r>
              <a:t>反过来，可以定义意味着：</a:t>
            </a:r>
          </a:p>
          <a:p>
            <a:pPr>
              <a:buFont typeface="Arial"/>
              <a:buChar char="•"/>
            </a:pPr>
            <a:r>
              <a:t>我们可以为语义性质提供规则限制，让编译器自动验证程序是否满足</a:t>
            </a:r>
          </a:p>
          <a:p>
            <a:pPr>
              <a:buFont typeface="Arial"/>
              <a:buChar char="•"/>
            </a:pPr>
            <a:r>
              <a:t>这也是shell那篇工作的核心思想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1A192B-DAC8-68C5-2561-6FA196BEA1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E99CEF-AF55-BA3C-ADF8-4E52E186DD8F}" type="slidenum">
              <a:t>23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4A2F9-FE03-4C9F-2811-E3FE27D9950D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4287466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规则如何变成代码？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有规则了，如何执行？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59AF09-D197-0193-A7DE-FAAF0B691058}" type="slidenum"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类型检查器的形状与推导树相同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3AE1AE4-D79E-94D6-E825-3FC6C21A77D2}" type="slidenum">
              <a:t>25</a:t>
            </a:fld>
            <a:endParaRPr/>
          </a:p>
        </p:txBody>
      </p:sp>
      <p:sp>
        <p:nvSpPr>
          <p:cNvPr id="10" name="Example expression">
            <a:extLst>
              <a:ext uri="{FF2B5EF4-FFF2-40B4-BE49-F238E27FC236}">
                <a16:creationId xmlns:a16="http://schemas.microsoft.com/office/drawing/2014/main" id="{A74C49DA-F0CF-4CFC-82BB-645024150080}"/>
              </a:ext>
            </a:extLst>
          </p:cNvPr>
          <p:cNvSpPr>
            <a:spLocks noGrp="1"/>
          </p:cNvSpPr>
          <p:nvPr/>
        </p:nvSpPr>
        <p:spPr>
          <a:xfrm>
            <a:off x="658368" y="1287379"/>
            <a:ext cx="800100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sz="22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Γ = { x : Int }    ⊢    if x &lt; 0 then 0 else x + 1 : Int</a:t>
            </a:r>
          </a:p>
        </p:txBody>
      </p:sp>
      <p:sp>
        <p:nvSpPr>
          <p:cNvPr id="11" name="Derivation heading">
            <a:extLst>
              <a:ext uri="{FF2B5EF4-FFF2-40B4-BE49-F238E27FC236}">
                <a16:creationId xmlns:a16="http://schemas.microsoft.com/office/drawing/2014/main" id="{A45E3EE9-AA6C-4EF2-A5FD-393A2E880E16}"/>
              </a:ext>
            </a:extLst>
          </p:cNvPr>
          <p:cNvSpPr>
            <a:spLocks noGrp="1"/>
          </p:cNvSpPr>
          <p:nvPr/>
        </p:nvSpPr>
        <p:spPr>
          <a:xfrm>
            <a:off x="594360" y="175950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18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类型推导：先得到前提，再应用规则</a:t>
            </a:r>
          </a:p>
        </p:txBody>
      </p:sp>
      <p:sp>
        <p:nvSpPr>
          <p:cNvPr id="12" name="Step 1">
            <a:extLst>
              <a:ext uri="{FF2B5EF4-FFF2-40B4-BE49-F238E27FC236}">
                <a16:creationId xmlns:a16="http://schemas.microsoft.com/office/drawing/2014/main" id="{766273DD-275A-4372-89E6-7A68585F2E39}"/>
              </a:ext>
            </a:extLst>
          </p:cNvPr>
          <p:cNvSpPr>
            <a:spLocks noGrp="1"/>
          </p:cNvSpPr>
          <p:nvPr/>
        </p:nvSpPr>
        <p:spPr>
          <a:xfrm>
            <a:off x="658368" y="2302363"/>
            <a:ext cx="292608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  <a:defRPr sz="16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①  x:Int，0:Int  →  x &lt; 0 : Bool</a:t>
            </a:r>
          </a:p>
        </p:txBody>
      </p:sp>
      <p:sp>
        <p:nvSpPr>
          <p:cNvPr id="13" name="Rule 1">
            <a:extLst>
              <a:ext uri="{FF2B5EF4-FFF2-40B4-BE49-F238E27FC236}">
                <a16:creationId xmlns:a16="http://schemas.microsoft.com/office/drawing/2014/main" id="{2246A9C7-164D-476C-8F65-F434F19E9F46}"/>
              </a:ext>
            </a:extLst>
          </p:cNvPr>
          <p:cNvSpPr>
            <a:spLocks noGrp="1"/>
          </p:cNvSpPr>
          <p:nvPr/>
        </p:nvSpPr>
        <p:spPr>
          <a:xfrm>
            <a:off x="3813048" y="2302363"/>
            <a:ext cx="621792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r">
              <a:buNone/>
            </a:pPr>
            <a:r>
              <a:rPr sz="14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[LT]</a:t>
            </a:r>
          </a:p>
        </p:txBody>
      </p:sp>
      <p:sp>
        <p:nvSpPr>
          <p:cNvPr id="14" name="Step 2">
            <a:extLst>
              <a:ext uri="{FF2B5EF4-FFF2-40B4-BE49-F238E27FC236}">
                <a16:creationId xmlns:a16="http://schemas.microsoft.com/office/drawing/2014/main" id="{E2FC9ECF-6C95-4B6F-95B3-31FF764228A6}"/>
              </a:ext>
            </a:extLst>
          </p:cNvPr>
          <p:cNvSpPr>
            <a:spLocks noGrp="1"/>
          </p:cNvSpPr>
          <p:nvPr/>
        </p:nvSpPr>
        <p:spPr>
          <a:xfrm>
            <a:off x="658368" y="2832715"/>
            <a:ext cx="292608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  <a:defRPr sz="16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②  0 : Int</a:t>
            </a:r>
          </a:p>
        </p:txBody>
      </p:sp>
      <p:sp>
        <p:nvSpPr>
          <p:cNvPr id="15" name="Rule 2">
            <a:extLst>
              <a:ext uri="{FF2B5EF4-FFF2-40B4-BE49-F238E27FC236}">
                <a16:creationId xmlns:a16="http://schemas.microsoft.com/office/drawing/2014/main" id="{6AC8D146-6294-405E-A075-7E3D247AC3FC}"/>
              </a:ext>
            </a:extLst>
          </p:cNvPr>
          <p:cNvSpPr>
            <a:spLocks noGrp="1"/>
          </p:cNvSpPr>
          <p:nvPr/>
        </p:nvSpPr>
        <p:spPr>
          <a:xfrm>
            <a:off x="3813048" y="2832715"/>
            <a:ext cx="621792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r">
              <a:buNone/>
            </a:pPr>
            <a:r>
              <a:rPr sz="14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[INT]</a:t>
            </a:r>
          </a:p>
        </p:txBody>
      </p:sp>
      <p:sp>
        <p:nvSpPr>
          <p:cNvPr id="16" name="Step 3">
            <a:extLst>
              <a:ext uri="{FF2B5EF4-FFF2-40B4-BE49-F238E27FC236}">
                <a16:creationId xmlns:a16="http://schemas.microsoft.com/office/drawing/2014/main" id="{24E785F4-D51C-4F46-BEC8-DBEA149762BA}"/>
              </a:ext>
            </a:extLst>
          </p:cNvPr>
          <p:cNvSpPr>
            <a:spLocks noGrp="1"/>
          </p:cNvSpPr>
          <p:nvPr/>
        </p:nvSpPr>
        <p:spPr>
          <a:xfrm>
            <a:off x="658368" y="3363067"/>
            <a:ext cx="292608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  <a:defRPr sz="160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③  x:Int，1:Int  →  x + 1 : Int</a:t>
            </a:r>
          </a:p>
        </p:txBody>
      </p:sp>
      <p:sp>
        <p:nvSpPr>
          <p:cNvPr id="17" name="Rule 3">
            <a:extLst>
              <a:ext uri="{FF2B5EF4-FFF2-40B4-BE49-F238E27FC236}">
                <a16:creationId xmlns:a16="http://schemas.microsoft.com/office/drawing/2014/main" id="{E736143D-AF4A-4699-86AD-F282E136B9AA}"/>
              </a:ext>
            </a:extLst>
          </p:cNvPr>
          <p:cNvSpPr>
            <a:spLocks noGrp="1"/>
          </p:cNvSpPr>
          <p:nvPr/>
        </p:nvSpPr>
        <p:spPr>
          <a:xfrm>
            <a:off x="3813048" y="3363067"/>
            <a:ext cx="621792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r">
              <a:buNone/>
            </a:pPr>
            <a:r>
              <a:rPr sz="14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[ADD]</a:t>
            </a:r>
          </a:p>
        </p:txBody>
      </p:sp>
      <p:sp>
        <p:nvSpPr>
          <p:cNvPr id="18" name="Step 4">
            <a:extLst>
              <a:ext uri="{FF2B5EF4-FFF2-40B4-BE49-F238E27FC236}">
                <a16:creationId xmlns:a16="http://schemas.microsoft.com/office/drawing/2014/main" id="{9774B7EE-9D32-41FB-81F0-BAE523E04E5C}"/>
              </a:ext>
            </a:extLst>
          </p:cNvPr>
          <p:cNvSpPr>
            <a:spLocks noGrp="1"/>
          </p:cNvSpPr>
          <p:nvPr/>
        </p:nvSpPr>
        <p:spPr>
          <a:xfrm>
            <a:off x="658368" y="3893419"/>
            <a:ext cx="2926080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  <a:defRPr sz="150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④  Bool，Int，Int  →  整体 : Int</a:t>
            </a:r>
          </a:p>
        </p:txBody>
      </p:sp>
      <p:sp>
        <p:nvSpPr>
          <p:cNvPr id="19" name="Rule 4">
            <a:extLst>
              <a:ext uri="{FF2B5EF4-FFF2-40B4-BE49-F238E27FC236}">
                <a16:creationId xmlns:a16="http://schemas.microsoft.com/office/drawing/2014/main" id="{77D9DFB9-DCFB-4A41-A80D-430392EF4BE5}"/>
              </a:ext>
            </a:extLst>
          </p:cNvPr>
          <p:cNvSpPr>
            <a:spLocks noGrp="1"/>
          </p:cNvSpPr>
          <p:nvPr/>
        </p:nvSpPr>
        <p:spPr>
          <a:xfrm>
            <a:off x="3813048" y="3893419"/>
            <a:ext cx="621792" cy="420624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r">
              <a:buNone/>
            </a:pPr>
            <a:r>
              <a:rPr sz="14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[IF]</a:t>
            </a:r>
          </a:p>
        </p:txBody>
      </p:sp>
      <p:sp>
        <p:nvSpPr>
          <p:cNvPr id="20" name="AST heading">
            <a:extLst>
              <a:ext uri="{FF2B5EF4-FFF2-40B4-BE49-F238E27FC236}">
                <a16:creationId xmlns:a16="http://schemas.microsoft.com/office/drawing/2014/main" id="{BF4304AB-D92E-4044-BF9C-8433DBEEC4AC}"/>
              </a:ext>
            </a:extLst>
          </p:cNvPr>
          <p:cNvSpPr>
            <a:spLocks noGrp="1"/>
          </p:cNvSpPr>
          <p:nvPr/>
        </p:nvSpPr>
        <p:spPr>
          <a:xfrm>
            <a:off x="4663440" y="17595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sz="20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AST：相同的递归结构</a:t>
            </a:r>
          </a:p>
        </p:txBody>
      </p:sp>
      <p:sp>
        <p:nvSpPr>
          <p:cNvPr id="21" name="if-to-lt">
            <a:extLst>
              <a:ext uri="{FF2B5EF4-FFF2-40B4-BE49-F238E27FC236}">
                <a16:creationId xmlns:a16="http://schemas.microsoft.com/office/drawing/2014/main" id="{BE927A48-99B4-4ED0-B081-B71E25BBB91B}"/>
              </a:ext>
            </a:extLst>
          </p:cNvPr>
          <p:cNvSpPr>
            <a:spLocks noGrp="1"/>
          </p:cNvSpPr>
          <p:nvPr/>
        </p:nvSpPr>
        <p:spPr>
          <a:xfrm flipH="1">
            <a:off x="5257800" y="2503531"/>
            <a:ext cx="1325880" cy="301752"/>
          </a:xfrm>
          <a:prstGeom prst="line">
            <a:avLst/>
          </a:prstGeom>
          <a:ln w="19050">
            <a:solidFill>
              <a:srgbClr val="9AA0A6"/>
            </a:solidFill>
          </a:ln>
        </p:spPr>
      </p:sp>
      <p:sp>
        <p:nvSpPr>
          <p:cNvPr id="22" name="if-to-then">
            <a:extLst>
              <a:ext uri="{FF2B5EF4-FFF2-40B4-BE49-F238E27FC236}">
                <a16:creationId xmlns:a16="http://schemas.microsoft.com/office/drawing/2014/main" id="{6B4E0F0F-0A86-4245-AF09-A8643B189074}"/>
              </a:ext>
            </a:extLst>
          </p:cNvPr>
          <p:cNvSpPr>
            <a:spLocks noGrp="1"/>
          </p:cNvSpPr>
          <p:nvPr/>
        </p:nvSpPr>
        <p:spPr>
          <a:xfrm>
            <a:off x="6583680" y="2503531"/>
            <a:ext cx="0" cy="301752"/>
          </a:xfrm>
          <a:prstGeom prst="line">
            <a:avLst/>
          </a:prstGeom>
          <a:ln w="19050">
            <a:solidFill>
              <a:srgbClr val="9AA0A6"/>
            </a:solidFill>
          </a:ln>
        </p:spPr>
      </p:sp>
      <p:sp>
        <p:nvSpPr>
          <p:cNvPr id="23" name="if-to-add">
            <a:extLst>
              <a:ext uri="{FF2B5EF4-FFF2-40B4-BE49-F238E27FC236}">
                <a16:creationId xmlns:a16="http://schemas.microsoft.com/office/drawing/2014/main" id="{39F74133-5345-4C65-86ED-5CDC943F0E05}"/>
              </a:ext>
            </a:extLst>
          </p:cNvPr>
          <p:cNvSpPr>
            <a:spLocks noGrp="1"/>
          </p:cNvSpPr>
          <p:nvPr/>
        </p:nvSpPr>
        <p:spPr>
          <a:xfrm>
            <a:off x="6583680" y="2503531"/>
            <a:ext cx="1325880" cy="301752"/>
          </a:xfrm>
          <a:prstGeom prst="line">
            <a:avLst/>
          </a:prstGeom>
          <a:ln w="19050">
            <a:solidFill>
              <a:srgbClr val="9AA0A6"/>
            </a:solidFill>
          </a:ln>
        </p:spPr>
      </p:sp>
      <p:sp>
        <p:nvSpPr>
          <p:cNvPr id="24" name="lt-to-x">
            <a:extLst>
              <a:ext uri="{FF2B5EF4-FFF2-40B4-BE49-F238E27FC236}">
                <a16:creationId xmlns:a16="http://schemas.microsoft.com/office/drawing/2014/main" id="{7C8CB074-0271-4BE4-80D3-9390A8DA654D}"/>
              </a:ext>
            </a:extLst>
          </p:cNvPr>
          <p:cNvSpPr>
            <a:spLocks noGrp="1"/>
          </p:cNvSpPr>
          <p:nvPr/>
        </p:nvSpPr>
        <p:spPr>
          <a:xfrm flipH="1">
            <a:off x="4846320" y="3189331"/>
            <a:ext cx="411480" cy="320040"/>
          </a:xfrm>
          <a:prstGeom prst="line">
            <a:avLst/>
          </a:prstGeom>
          <a:ln w="19050">
            <a:solidFill>
              <a:srgbClr val="9AA0A6"/>
            </a:solidFill>
          </a:ln>
        </p:spPr>
      </p:sp>
      <p:sp>
        <p:nvSpPr>
          <p:cNvPr id="25" name="lt-to-zero">
            <a:extLst>
              <a:ext uri="{FF2B5EF4-FFF2-40B4-BE49-F238E27FC236}">
                <a16:creationId xmlns:a16="http://schemas.microsoft.com/office/drawing/2014/main" id="{D8820494-2F07-4FB0-B202-33C791B6606D}"/>
              </a:ext>
            </a:extLst>
          </p:cNvPr>
          <p:cNvSpPr>
            <a:spLocks noGrp="1"/>
          </p:cNvSpPr>
          <p:nvPr/>
        </p:nvSpPr>
        <p:spPr>
          <a:xfrm>
            <a:off x="5257800" y="3189331"/>
            <a:ext cx="411480" cy="320040"/>
          </a:xfrm>
          <a:prstGeom prst="line">
            <a:avLst/>
          </a:prstGeom>
          <a:ln w="19050">
            <a:solidFill>
              <a:srgbClr val="9AA0A6"/>
            </a:solidFill>
          </a:ln>
        </p:spPr>
      </p:sp>
      <p:sp>
        <p:nvSpPr>
          <p:cNvPr id="26" name="add-to-x">
            <a:extLst>
              <a:ext uri="{FF2B5EF4-FFF2-40B4-BE49-F238E27FC236}">
                <a16:creationId xmlns:a16="http://schemas.microsoft.com/office/drawing/2014/main" id="{C3D20C7A-456C-4555-B704-42376AD3E8D8}"/>
              </a:ext>
            </a:extLst>
          </p:cNvPr>
          <p:cNvSpPr>
            <a:spLocks noGrp="1"/>
          </p:cNvSpPr>
          <p:nvPr/>
        </p:nvSpPr>
        <p:spPr>
          <a:xfrm flipH="1">
            <a:off x="7498080" y="3189331"/>
            <a:ext cx="411480" cy="320040"/>
          </a:xfrm>
          <a:prstGeom prst="line">
            <a:avLst/>
          </a:prstGeom>
          <a:ln w="19050">
            <a:solidFill>
              <a:srgbClr val="9AA0A6"/>
            </a:solidFill>
          </a:ln>
        </p:spPr>
      </p:sp>
      <p:sp>
        <p:nvSpPr>
          <p:cNvPr id="27" name="add-to-one">
            <a:extLst>
              <a:ext uri="{FF2B5EF4-FFF2-40B4-BE49-F238E27FC236}">
                <a16:creationId xmlns:a16="http://schemas.microsoft.com/office/drawing/2014/main" id="{3FBCC6E4-89F0-4D85-8A47-91A490D2EB6F}"/>
              </a:ext>
            </a:extLst>
          </p:cNvPr>
          <p:cNvSpPr>
            <a:spLocks noGrp="1"/>
          </p:cNvSpPr>
          <p:nvPr/>
        </p:nvSpPr>
        <p:spPr>
          <a:xfrm>
            <a:off x="7909560" y="3189331"/>
            <a:ext cx="411480" cy="320040"/>
          </a:xfrm>
          <a:prstGeom prst="line">
            <a:avLst/>
          </a:prstGeom>
          <a:ln w="19050">
            <a:solidFill>
              <a:srgbClr val="9AA0A6"/>
            </a:solidFill>
          </a:ln>
        </p:spPr>
      </p:sp>
      <p:sp>
        <p:nvSpPr>
          <p:cNvPr id="28" name="AST node ④ if : Int">
            <a:extLst>
              <a:ext uri="{FF2B5EF4-FFF2-40B4-BE49-F238E27FC236}">
                <a16:creationId xmlns:a16="http://schemas.microsoft.com/office/drawing/2014/main" id="{7DA6BCB6-D06C-4158-B647-193F6E9CB22C}"/>
              </a:ext>
            </a:extLst>
          </p:cNvPr>
          <p:cNvSpPr>
            <a:spLocks noGrp="1"/>
          </p:cNvSpPr>
          <p:nvPr/>
        </p:nvSpPr>
        <p:spPr>
          <a:xfrm>
            <a:off x="6012180" y="2156059"/>
            <a:ext cx="1143000" cy="384048"/>
          </a:xfrm>
          <a:prstGeom prst="rect">
            <a:avLst/>
          </a:prstGeom>
          <a:solidFill>
            <a:srgbClr val="F9E9EB"/>
          </a:solidFill>
          <a:ln w="12700">
            <a:solidFill>
              <a:srgbClr val="C8384E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④ if : Int</a:t>
            </a:r>
          </a:p>
        </p:txBody>
      </p:sp>
      <p:sp>
        <p:nvSpPr>
          <p:cNvPr id="29" name="AST node ① &lt; : Bool">
            <a:extLst>
              <a:ext uri="{FF2B5EF4-FFF2-40B4-BE49-F238E27FC236}">
                <a16:creationId xmlns:a16="http://schemas.microsoft.com/office/drawing/2014/main" id="{182A6CE9-9F8B-4375-B63C-0F9A63F9E25F}"/>
              </a:ext>
            </a:extLst>
          </p:cNvPr>
          <p:cNvSpPr>
            <a:spLocks noGrp="1"/>
          </p:cNvSpPr>
          <p:nvPr/>
        </p:nvSpPr>
        <p:spPr>
          <a:xfrm>
            <a:off x="4686300" y="2805283"/>
            <a:ext cx="1143000" cy="384048"/>
          </a:xfrm>
          <a:prstGeom prst="rect">
            <a:avLst/>
          </a:prstGeom>
          <a:solidFill>
            <a:srgbClr val="F9E9EB"/>
          </a:solidFill>
          <a:ln w="12700">
            <a:solidFill>
              <a:srgbClr val="C8384E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① &lt; : Bool</a:t>
            </a:r>
          </a:p>
        </p:txBody>
      </p:sp>
      <p:sp>
        <p:nvSpPr>
          <p:cNvPr id="30" name="AST node ② 0 : Int">
            <a:extLst>
              <a:ext uri="{FF2B5EF4-FFF2-40B4-BE49-F238E27FC236}">
                <a16:creationId xmlns:a16="http://schemas.microsoft.com/office/drawing/2014/main" id="{94139476-51FF-47CF-8155-8FECFC406578}"/>
              </a:ext>
            </a:extLst>
          </p:cNvPr>
          <p:cNvSpPr>
            <a:spLocks noGrp="1"/>
          </p:cNvSpPr>
          <p:nvPr/>
        </p:nvSpPr>
        <p:spPr>
          <a:xfrm>
            <a:off x="6012180" y="2805283"/>
            <a:ext cx="1143000" cy="384048"/>
          </a:xfrm>
          <a:prstGeom prst="rect">
            <a:avLst/>
          </a:prstGeom>
          <a:solidFill>
            <a:srgbClr val="F9E9EB"/>
          </a:solidFill>
          <a:ln w="12700">
            <a:solidFill>
              <a:srgbClr val="C8384E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② 0 : Int</a:t>
            </a:r>
          </a:p>
        </p:txBody>
      </p:sp>
      <p:sp>
        <p:nvSpPr>
          <p:cNvPr id="31" name="AST node ③ + : Int">
            <a:extLst>
              <a:ext uri="{FF2B5EF4-FFF2-40B4-BE49-F238E27FC236}">
                <a16:creationId xmlns:a16="http://schemas.microsoft.com/office/drawing/2014/main" id="{E4FB3C7D-C1E7-421B-B529-3841A3B8AC00}"/>
              </a:ext>
            </a:extLst>
          </p:cNvPr>
          <p:cNvSpPr>
            <a:spLocks noGrp="1"/>
          </p:cNvSpPr>
          <p:nvPr/>
        </p:nvSpPr>
        <p:spPr>
          <a:xfrm>
            <a:off x="7338060" y="2805283"/>
            <a:ext cx="1143000" cy="384048"/>
          </a:xfrm>
          <a:prstGeom prst="rect">
            <a:avLst/>
          </a:prstGeom>
          <a:solidFill>
            <a:srgbClr val="F9E9EB"/>
          </a:solidFill>
          <a:ln w="12700">
            <a:solidFill>
              <a:srgbClr val="C8384E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③ + : Int</a:t>
            </a:r>
          </a:p>
        </p:txBody>
      </p:sp>
      <p:sp>
        <p:nvSpPr>
          <p:cNvPr id="32" name="AST node x : Int">
            <a:extLst>
              <a:ext uri="{FF2B5EF4-FFF2-40B4-BE49-F238E27FC236}">
                <a16:creationId xmlns:a16="http://schemas.microsoft.com/office/drawing/2014/main" id="{B9F5C757-B76F-4D65-ADF5-80531204EE88}"/>
              </a:ext>
            </a:extLst>
          </p:cNvPr>
          <p:cNvSpPr>
            <a:spLocks noGrp="1"/>
          </p:cNvSpPr>
          <p:nvPr/>
        </p:nvSpPr>
        <p:spPr>
          <a:xfrm>
            <a:off x="4480560" y="3509371"/>
            <a:ext cx="731520" cy="347472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5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x : Int</a:t>
            </a:r>
          </a:p>
        </p:txBody>
      </p:sp>
      <p:sp>
        <p:nvSpPr>
          <p:cNvPr id="33" name="AST node 0 : Int">
            <a:extLst>
              <a:ext uri="{FF2B5EF4-FFF2-40B4-BE49-F238E27FC236}">
                <a16:creationId xmlns:a16="http://schemas.microsoft.com/office/drawing/2014/main" id="{B12B7C5E-FFBB-4481-9079-9983D3C2498A}"/>
              </a:ext>
            </a:extLst>
          </p:cNvPr>
          <p:cNvSpPr>
            <a:spLocks noGrp="1"/>
          </p:cNvSpPr>
          <p:nvPr/>
        </p:nvSpPr>
        <p:spPr>
          <a:xfrm>
            <a:off x="5303520" y="3509371"/>
            <a:ext cx="731520" cy="347472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5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0 : Int</a:t>
            </a:r>
          </a:p>
        </p:txBody>
      </p:sp>
      <p:sp>
        <p:nvSpPr>
          <p:cNvPr id="34" name="AST node x : Int">
            <a:extLst>
              <a:ext uri="{FF2B5EF4-FFF2-40B4-BE49-F238E27FC236}">
                <a16:creationId xmlns:a16="http://schemas.microsoft.com/office/drawing/2014/main" id="{F3510A79-D628-4EAE-9901-87C28EFEABF3}"/>
              </a:ext>
            </a:extLst>
          </p:cNvPr>
          <p:cNvSpPr>
            <a:spLocks noGrp="1"/>
          </p:cNvSpPr>
          <p:nvPr/>
        </p:nvSpPr>
        <p:spPr>
          <a:xfrm>
            <a:off x="7132320" y="3509371"/>
            <a:ext cx="731520" cy="347472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5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x : Int</a:t>
            </a:r>
          </a:p>
        </p:txBody>
      </p:sp>
      <p:sp>
        <p:nvSpPr>
          <p:cNvPr id="35" name="AST node 1 : Int">
            <a:extLst>
              <a:ext uri="{FF2B5EF4-FFF2-40B4-BE49-F238E27FC236}">
                <a16:creationId xmlns:a16="http://schemas.microsoft.com/office/drawing/2014/main" id="{617CE2FD-F55B-4BA8-861B-9EDC4D4E5A48}"/>
              </a:ext>
            </a:extLst>
          </p:cNvPr>
          <p:cNvSpPr>
            <a:spLocks noGrp="1"/>
          </p:cNvSpPr>
          <p:nvPr/>
        </p:nvSpPr>
        <p:spPr>
          <a:xfrm>
            <a:off x="7955280" y="3509371"/>
            <a:ext cx="731520" cy="347472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5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1 : Int</a:t>
            </a:r>
          </a:p>
        </p:txBody>
      </p:sp>
      <p:sp>
        <p:nvSpPr>
          <p:cNvPr id="36" name="Conclusion">
            <a:extLst>
              <a:ext uri="{FF2B5EF4-FFF2-40B4-BE49-F238E27FC236}">
                <a16:creationId xmlns:a16="http://schemas.microsoft.com/office/drawing/2014/main" id="{698F1E75-384C-42F5-B339-44800EB33C4A}"/>
              </a:ext>
            </a:extLst>
          </p:cNvPr>
          <p:cNvSpPr>
            <a:spLocks noGrp="1"/>
          </p:cNvSpPr>
          <p:nvPr/>
        </p:nvSpPr>
        <p:spPr>
          <a:xfrm>
            <a:off x="662940" y="4554373"/>
            <a:ext cx="8001000" cy="475488"/>
          </a:xfrm>
          <a:prstGeom prst="rect">
            <a:avLst/>
          </a:prstGeom>
          <a:solidFill>
            <a:srgbClr val="F9E9EB"/>
          </a:solidFill>
          <a:ln w="12700">
            <a:solidFill>
              <a:srgbClr val="E3A8B0"/>
            </a:solidFill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sz="1600" b="1">
                <a:solidFill>
                  <a:srgbClr val="C8384E"/>
                </a:solidFill>
                <a:latin typeface="Arial"/>
                <a:ea typeface="Arial"/>
                <a:cs typeface="Arial"/>
              </a:rPr>
              <a:t>方法：后</a:t>
            </a:r>
            <a:r>
              <a:rPr sz="16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序遍历 AST，递归检查子节点 → 在当前节点应用类型规则 → 返回节点类型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68363-A200-FBF8-DF97-6195550F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题外话：AST与pass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7B17F1-C319-4AF5-1E82-0A96383F80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B55966-FA28-BC73-EA9E-53DF014DF033}" type="slidenum">
              <a:t>26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EFDD66-9567-8C19-87AB-E10354AEF23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  <p:sp>
        <p:nvSpPr>
          <p:cNvPr id="10" name="AST role">
            <a:extLst>
              <a:ext uri="{FF2B5EF4-FFF2-40B4-BE49-F238E27FC236}">
                <a16:creationId xmlns:a16="http://schemas.microsoft.com/office/drawing/2014/main" id="{4181B3B3-04B9-4499-910D-77A0483061BF}"/>
              </a:ext>
            </a:extLst>
          </p:cNvPr>
          <p:cNvSpPr>
            <a:spLocks noGrp="1"/>
          </p:cNvSpPr>
          <p:nvPr/>
        </p:nvSpPr>
        <p:spPr>
          <a:xfrm>
            <a:off x="658368" y="1307592"/>
            <a:ext cx="80010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9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AST 是语法分析之后，各类分析与变换共同处理的程序结构</a:t>
            </a:r>
          </a:p>
        </p:txBody>
      </p:sp>
      <p:sp>
        <p:nvSpPr>
          <p:cNvPr id="11" name="Traversal question">
            <a:extLst>
              <a:ext uri="{FF2B5EF4-FFF2-40B4-BE49-F238E27FC236}">
                <a16:creationId xmlns:a16="http://schemas.microsoft.com/office/drawing/2014/main" id="{69489101-6971-4522-9C1D-EC1B97DEB7D2}"/>
              </a:ext>
            </a:extLst>
          </p:cNvPr>
          <p:cNvSpPr>
            <a:spLocks noGrp="1"/>
          </p:cNvSpPr>
          <p:nvPr/>
        </p:nvSpPr>
        <p:spPr>
          <a:xfrm>
            <a:off x="658368" y="1719072"/>
            <a:ext cx="800100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7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遍历 AST，可以做什么？</a:t>
            </a:r>
          </a:p>
        </p:txBody>
      </p:sp>
      <p:sp>
        <p:nvSpPr>
          <p:cNvPr id="12" name="Column separator 1">
            <a:extLst>
              <a:ext uri="{FF2B5EF4-FFF2-40B4-BE49-F238E27FC236}">
                <a16:creationId xmlns:a16="http://schemas.microsoft.com/office/drawing/2014/main" id="{22A66D7F-F5CD-4893-B084-23DBCAF55333}"/>
              </a:ext>
            </a:extLst>
          </p:cNvPr>
          <p:cNvSpPr>
            <a:spLocks noGrp="1"/>
          </p:cNvSpPr>
          <p:nvPr/>
        </p:nvSpPr>
        <p:spPr>
          <a:xfrm>
            <a:off x="2999232" y="2075688"/>
            <a:ext cx="0" cy="941832"/>
          </a:xfrm>
          <a:prstGeom prst="line">
            <a:avLst/>
          </a:prstGeom>
          <a:ln w="19050">
            <a:solidFill>
              <a:srgbClr val="9AA0A6"/>
            </a:solidFill>
          </a:ln>
        </p:spPr>
      </p:sp>
      <p:sp>
        <p:nvSpPr>
          <p:cNvPr id="13" name="Column separator 2">
            <a:extLst>
              <a:ext uri="{FF2B5EF4-FFF2-40B4-BE49-F238E27FC236}">
                <a16:creationId xmlns:a16="http://schemas.microsoft.com/office/drawing/2014/main" id="{BDDCDD90-51B1-49DC-9F1B-12E0847B49D8}"/>
              </a:ext>
            </a:extLst>
          </p:cNvPr>
          <p:cNvSpPr>
            <a:spLocks noGrp="1"/>
          </p:cNvSpPr>
          <p:nvPr/>
        </p:nvSpPr>
        <p:spPr>
          <a:xfrm>
            <a:off x="6053328" y="2075688"/>
            <a:ext cx="0" cy="941832"/>
          </a:xfrm>
          <a:prstGeom prst="line">
            <a:avLst/>
          </a:prstGeom>
          <a:ln w="19050">
            <a:solidFill>
              <a:srgbClr val="9AA0A6"/>
            </a:solidFill>
          </a:ln>
        </p:spPr>
      </p:sp>
      <p:sp>
        <p:nvSpPr>
          <p:cNvPr id="14" name="Standard semantics">
            <a:extLst>
              <a:ext uri="{FF2B5EF4-FFF2-40B4-BE49-F238E27FC236}">
                <a16:creationId xmlns:a16="http://schemas.microsoft.com/office/drawing/2014/main" id="{F5C23906-2883-4333-A657-FC6B697696DF}"/>
              </a:ext>
            </a:extLst>
          </p:cNvPr>
          <p:cNvSpPr>
            <a:spLocks noGrp="1"/>
          </p:cNvSpPr>
          <p:nvPr/>
        </p:nvSpPr>
        <p:spPr>
          <a:xfrm>
            <a:off x="658368" y="2084832"/>
            <a:ext cx="2240280" cy="8412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7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常见语义分析</a:t>
            </a:r>
            <a:br/>
            <a:r>
              <a:rPr sz="17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名称解析、类型检查</a:t>
            </a:r>
          </a:p>
        </p:txBody>
      </p:sp>
      <p:sp>
        <p:nvSpPr>
          <p:cNvPr id="15" name="Custom semantics">
            <a:extLst>
              <a:ext uri="{FF2B5EF4-FFF2-40B4-BE49-F238E27FC236}">
                <a16:creationId xmlns:a16="http://schemas.microsoft.com/office/drawing/2014/main" id="{303160A6-4AB0-4433-A434-49ED8ED4BD33}"/>
              </a:ext>
            </a:extLst>
          </p:cNvPr>
          <p:cNvSpPr>
            <a:spLocks noGrp="1"/>
          </p:cNvSpPr>
          <p:nvPr/>
        </p:nvSpPr>
        <p:spPr>
          <a:xfrm>
            <a:off x="3108960" y="2084832"/>
            <a:ext cx="2834640" cy="8412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6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自定义语义检查</a:t>
            </a:r>
            <a:br/>
            <a:r>
              <a:rPr sz="16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API 规则 / 安全策略</a:t>
            </a:r>
            <a:br/>
            <a:r>
              <a:rPr sz="16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框架约束</a:t>
            </a:r>
          </a:p>
        </p:txBody>
      </p:sp>
      <p:sp>
        <p:nvSpPr>
          <p:cNvPr id="16" name="Lowering">
            <a:extLst>
              <a:ext uri="{FF2B5EF4-FFF2-40B4-BE49-F238E27FC236}">
                <a16:creationId xmlns:a16="http://schemas.microsoft.com/office/drawing/2014/main" id="{4EFFCD57-1BAC-484A-83AA-6F0C2FAFFBBA}"/>
              </a:ext>
            </a:extLst>
          </p:cNvPr>
          <p:cNvSpPr>
            <a:spLocks noGrp="1"/>
          </p:cNvSpPr>
          <p:nvPr/>
        </p:nvSpPr>
        <p:spPr>
          <a:xfrm>
            <a:off x="6172200" y="2084832"/>
            <a:ext cx="2468880" cy="8412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7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Lowering / 代码生成</a:t>
            </a:r>
            <a:br/>
            <a:r>
              <a:rPr sz="17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AST → LLVM IR</a:t>
            </a:r>
          </a:p>
        </p:txBody>
      </p:sp>
      <p:sp>
        <p:nvSpPr>
          <p:cNvPr id="17" name="Why multi pass">
            <a:extLst>
              <a:ext uri="{FF2B5EF4-FFF2-40B4-BE49-F238E27FC236}">
                <a16:creationId xmlns:a16="http://schemas.microsoft.com/office/drawing/2014/main" id="{F4E80D9D-D327-40FC-9298-C1BCBE5EB18B}"/>
              </a:ext>
            </a:extLst>
          </p:cNvPr>
          <p:cNvSpPr>
            <a:spLocks noGrp="1"/>
          </p:cNvSpPr>
          <p:nvPr/>
        </p:nvSpPr>
        <p:spPr>
          <a:xfrm>
            <a:off x="658368" y="3054096"/>
            <a:ext cx="80010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8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目标不同、产物不同，而且后面的工作常常依赖前面 pass 产生的信息</a:t>
            </a:r>
          </a:p>
        </p:txBody>
      </p:sp>
      <p:sp>
        <p:nvSpPr>
          <p:cNvPr id="18" name="Pipeline heading">
            <a:extLst>
              <a:ext uri="{FF2B5EF4-FFF2-40B4-BE49-F238E27FC236}">
                <a16:creationId xmlns:a16="http://schemas.microsoft.com/office/drawing/2014/main" id="{6CCA35E3-8ECD-45C8-AB7D-C6EC689657CB}"/>
              </a:ext>
            </a:extLst>
          </p:cNvPr>
          <p:cNvSpPr>
            <a:spLocks noGrp="1"/>
          </p:cNvSpPr>
          <p:nvPr/>
        </p:nvSpPr>
        <p:spPr>
          <a:xfrm>
            <a:off x="658368" y="3438144"/>
            <a:ext cx="800100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600" b="1" i="0">
                <a:solidFill>
                  <a:srgbClr val="606060"/>
                </a:solidFill>
                <a:latin typeface="Arial"/>
                <a:ea typeface="Arial"/>
                <a:cs typeface="Arial"/>
              </a:rPr>
              <a:t>Multi-pass pipeline：按依赖关系，一次次处理 AST / IR</a:t>
            </a:r>
          </a:p>
        </p:txBody>
      </p:sp>
      <p:sp>
        <p:nvSpPr>
          <p:cNvPr id="19" name="Pipeline arrow 1">
            <a:extLst>
              <a:ext uri="{FF2B5EF4-FFF2-40B4-BE49-F238E27FC236}">
                <a16:creationId xmlns:a16="http://schemas.microsoft.com/office/drawing/2014/main" id="{0C3E6C80-B058-42BD-AA01-3791F8892145}"/>
              </a:ext>
            </a:extLst>
          </p:cNvPr>
          <p:cNvSpPr>
            <a:spLocks noGrp="1"/>
          </p:cNvSpPr>
          <p:nvPr/>
        </p:nvSpPr>
        <p:spPr>
          <a:xfrm>
            <a:off x="1216152" y="4041648"/>
            <a:ext cx="320040" cy="0"/>
          </a:xfrm>
          <a:prstGeom prst="line">
            <a:avLst/>
          </a:prstGeom>
          <a:ln w="19050">
            <a:solidFill>
              <a:srgbClr val="9AA0A6"/>
            </a:solidFill>
            <a:tailEnd type="triangle"/>
          </a:ln>
        </p:spPr>
      </p:sp>
      <p:sp>
        <p:nvSpPr>
          <p:cNvPr id="20" name="Pipeline arrow 2">
            <a:extLst>
              <a:ext uri="{FF2B5EF4-FFF2-40B4-BE49-F238E27FC236}">
                <a16:creationId xmlns:a16="http://schemas.microsoft.com/office/drawing/2014/main" id="{472654BB-6FA3-41EE-BE90-A7DEF0DAC3DD}"/>
              </a:ext>
            </a:extLst>
          </p:cNvPr>
          <p:cNvSpPr>
            <a:spLocks noGrp="1"/>
          </p:cNvSpPr>
          <p:nvPr/>
        </p:nvSpPr>
        <p:spPr>
          <a:xfrm>
            <a:off x="2587752" y="4041648"/>
            <a:ext cx="320040" cy="0"/>
          </a:xfrm>
          <a:prstGeom prst="line">
            <a:avLst/>
          </a:prstGeom>
          <a:ln w="19050">
            <a:solidFill>
              <a:srgbClr val="9AA0A6"/>
            </a:solidFill>
            <a:tailEnd type="triangle"/>
          </a:ln>
        </p:spPr>
      </p:sp>
      <p:sp>
        <p:nvSpPr>
          <p:cNvPr id="21" name="Pipeline arrow 3">
            <a:extLst>
              <a:ext uri="{FF2B5EF4-FFF2-40B4-BE49-F238E27FC236}">
                <a16:creationId xmlns:a16="http://schemas.microsoft.com/office/drawing/2014/main" id="{02448DE4-869F-4952-BC7C-C4C2B061C653}"/>
              </a:ext>
            </a:extLst>
          </p:cNvPr>
          <p:cNvSpPr>
            <a:spLocks noGrp="1"/>
          </p:cNvSpPr>
          <p:nvPr/>
        </p:nvSpPr>
        <p:spPr>
          <a:xfrm>
            <a:off x="4096512" y="4041648"/>
            <a:ext cx="320040" cy="0"/>
          </a:xfrm>
          <a:prstGeom prst="line">
            <a:avLst/>
          </a:prstGeom>
          <a:ln w="19050">
            <a:solidFill>
              <a:srgbClr val="9AA0A6"/>
            </a:solidFill>
            <a:tailEnd type="triangle"/>
          </a:ln>
        </p:spPr>
      </p:sp>
      <p:sp>
        <p:nvSpPr>
          <p:cNvPr id="22" name="Pipeline arrow 4">
            <a:extLst>
              <a:ext uri="{FF2B5EF4-FFF2-40B4-BE49-F238E27FC236}">
                <a16:creationId xmlns:a16="http://schemas.microsoft.com/office/drawing/2014/main" id="{29E843F7-F872-40D7-81C9-85CB3F363AEE}"/>
              </a:ext>
            </a:extLst>
          </p:cNvPr>
          <p:cNvSpPr>
            <a:spLocks noGrp="1"/>
          </p:cNvSpPr>
          <p:nvPr/>
        </p:nvSpPr>
        <p:spPr>
          <a:xfrm>
            <a:off x="5769864" y="4041648"/>
            <a:ext cx="320040" cy="0"/>
          </a:xfrm>
          <a:prstGeom prst="line">
            <a:avLst/>
          </a:prstGeom>
          <a:ln w="19050">
            <a:solidFill>
              <a:srgbClr val="9AA0A6"/>
            </a:solidFill>
            <a:tailEnd type="triangle"/>
          </a:ln>
        </p:spPr>
      </p:sp>
      <p:sp>
        <p:nvSpPr>
          <p:cNvPr id="23" name="Pipeline arrow 5">
            <a:extLst>
              <a:ext uri="{FF2B5EF4-FFF2-40B4-BE49-F238E27FC236}">
                <a16:creationId xmlns:a16="http://schemas.microsoft.com/office/drawing/2014/main" id="{222AEFD7-ACC7-4FDF-9340-5B2958FD9744}"/>
              </a:ext>
            </a:extLst>
          </p:cNvPr>
          <p:cNvSpPr>
            <a:spLocks noGrp="1"/>
          </p:cNvSpPr>
          <p:nvPr/>
        </p:nvSpPr>
        <p:spPr>
          <a:xfrm>
            <a:off x="7187184" y="4041648"/>
            <a:ext cx="356616" cy="0"/>
          </a:xfrm>
          <a:prstGeom prst="line">
            <a:avLst/>
          </a:prstGeom>
          <a:ln w="19050">
            <a:solidFill>
              <a:srgbClr val="9AA0A6"/>
            </a:solidFill>
            <a:tailEnd type="triangle"/>
          </a:ln>
        </p:spPr>
      </p:sp>
      <p:sp>
        <p:nvSpPr>
          <p:cNvPr id="24" name="Pipeline AST">
            <a:extLst>
              <a:ext uri="{FF2B5EF4-FFF2-40B4-BE49-F238E27FC236}">
                <a16:creationId xmlns:a16="http://schemas.microsoft.com/office/drawing/2014/main" id="{D3E9BFB6-1BB0-4DE4-8DBD-09A7DEB5BF46}"/>
              </a:ext>
            </a:extLst>
          </p:cNvPr>
          <p:cNvSpPr>
            <a:spLocks noGrp="1"/>
          </p:cNvSpPr>
          <p:nvPr/>
        </p:nvSpPr>
        <p:spPr>
          <a:xfrm>
            <a:off x="502920" y="3794760"/>
            <a:ext cx="713232" cy="493776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4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AST</a:t>
            </a:r>
          </a:p>
        </p:txBody>
      </p:sp>
      <p:sp>
        <p:nvSpPr>
          <p:cNvPr id="25" name="Pipeline Resolve">
            <a:extLst>
              <a:ext uri="{FF2B5EF4-FFF2-40B4-BE49-F238E27FC236}">
                <a16:creationId xmlns:a16="http://schemas.microsoft.com/office/drawing/2014/main" id="{69F9C356-A224-4A1A-A612-27A9F6B71173}"/>
              </a:ext>
            </a:extLst>
          </p:cNvPr>
          <p:cNvSpPr>
            <a:spLocks noGrp="1"/>
          </p:cNvSpPr>
          <p:nvPr/>
        </p:nvSpPr>
        <p:spPr>
          <a:xfrm>
            <a:off x="1536192" y="3794760"/>
            <a:ext cx="1051560" cy="493776"/>
          </a:xfrm>
          <a:prstGeom prst="rect">
            <a:avLst/>
          </a:prstGeom>
          <a:solidFill>
            <a:srgbClr val="F9E9EB"/>
          </a:solidFill>
          <a:ln w="12700">
            <a:solidFill>
              <a:srgbClr val="C8384E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4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26" name="Pipeline TypeCheck">
            <a:extLst>
              <a:ext uri="{FF2B5EF4-FFF2-40B4-BE49-F238E27FC236}">
                <a16:creationId xmlns:a16="http://schemas.microsoft.com/office/drawing/2014/main" id="{C7B0A032-2581-432A-9F94-FCBFF3F7A9F0}"/>
              </a:ext>
            </a:extLst>
          </p:cNvPr>
          <p:cNvSpPr>
            <a:spLocks noGrp="1"/>
          </p:cNvSpPr>
          <p:nvPr/>
        </p:nvSpPr>
        <p:spPr>
          <a:xfrm>
            <a:off x="2907792" y="3794760"/>
            <a:ext cx="1188720" cy="493776"/>
          </a:xfrm>
          <a:prstGeom prst="rect">
            <a:avLst/>
          </a:prstGeom>
          <a:solidFill>
            <a:srgbClr val="F9E9EB"/>
          </a:solidFill>
          <a:ln w="12700">
            <a:solidFill>
              <a:srgbClr val="C8384E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4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TypeCheck</a:t>
            </a:r>
          </a:p>
        </p:txBody>
      </p:sp>
      <p:sp>
        <p:nvSpPr>
          <p:cNvPr id="27" name="Pipeline CustomCheck">
            <a:extLst>
              <a:ext uri="{FF2B5EF4-FFF2-40B4-BE49-F238E27FC236}">
                <a16:creationId xmlns:a16="http://schemas.microsoft.com/office/drawing/2014/main" id="{855556EC-D250-4489-BC15-E55A1FE8A306}"/>
              </a:ext>
            </a:extLst>
          </p:cNvPr>
          <p:cNvSpPr>
            <a:spLocks noGrp="1"/>
          </p:cNvSpPr>
          <p:nvPr/>
        </p:nvSpPr>
        <p:spPr>
          <a:xfrm>
            <a:off x="4416552" y="3794760"/>
            <a:ext cx="1353312" cy="493776"/>
          </a:xfrm>
          <a:prstGeom prst="rect">
            <a:avLst/>
          </a:prstGeom>
          <a:solidFill>
            <a:srgbClr val="F9E9EB"/>
          </a:solidFill>
          <a:ln w="12700">
            <a:solidFill>
              <a:srgbClr val="C8384E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4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CustomCheck</a:t>
            </a:r>
          </a:p>
        </p:txBody>
      </p:sp>
      <p:sp>
        <p:nvSpPr>
          <p:cNvPr id="28" name="Pipeline Lowering">
            <a:extLst>
              <a:ext uri="{FF2B5EF4-FFF2-40B4-BE49-F238E27FC236}">
                <a16:creationId xmlns:a16="http://schemas.microsoft.com/office/drawing/2014/main" id="{5074C9EB-9331-4590-87B9-C3E1CA849091}"/>
              </a:ext>
            </a:extLst>
          </p:cNvPr>
          <p:cNvSpPr>
            <a:spLocks noGrp="1"/>
          </p:cNvSpPr>
          <p:nvPr/>
        </p:nvSpPr>
        <p:spPr>
          <a:xfrm>
            <a:off x="6089904" y="3794760"/>
            <a:ext cx="1097280" cy="493776"/>
          </a:xfrm>
          <a:prstGeom prst="rect">
            <a:avLst/>
          </a:prstGeom>
          <a:solidFill>
            <a:srgbClr val="F9E9EB"/>
          </a:solidFill>
          <a:ln w="12700">
            <a:solidFill>
              <a:srgbClr val="C8384E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4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Lowering</a:t>
            </a:r>
          </a:p>
        </p:txBody>
      </p:sp>
      <p:sp>
        <p:nvSpPr>
          <p:cNvPr id="29" name="Pipeline LLVM IR">
            <a:extLst>
              <a:ext uri="{FF2B5EF4-FFF2-40B4-BE49-F238E27FC236}">
                <a16:creationId xmlns:a16="http://schemas.microsoft.com/office/drawing/2014/main" id="{85F2D3DB-F9B8-4DB0-A801-EDF6F799AD5A}"/>
              </a:ext>
            </a:extLst>
          </p:cNvPr>
          <p:cNvSpPr>
            <a:spLocks noGrp="1"/>
          </p:cNvSpPr>
          <p:nvPr/>
        </p:nvSpPr>
        <p:spPr>
          <a:xfrm>
            <a:off x="7543800" y="3794760"/>
            <a:ext cx="1051560" cy="493776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18288" tIns="18288" rIns="18288" bIns="18288" anchor="ctr"/>
          <a:lstStyle/>
          <a:p>
            <a:pPr algn="ctr">
              <a:buNone/>
            </a:pPr>
            <a:r>
              <a:rPr sz="14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LLVM IR</a:t>
            </a:r>
          </a:p>
        </p:txBody>
      </p:sp>
      <p:sp>
        <p:nvSpPr>
          <p:cNvPr id="30" name="Pipeline products">
            <a:extLst>
              <a:ext uri="{FF2B5EF4-FFF2-40B4-BE49-F238E27FC236}">
                <a16:creationId xmlns:a16="http://schemas.microsoft.com/office/drawing/2014/main" id="{1BF8A9FD-86EF-4E83-A4D5-D5B99617BEC1}"/>
              </a:ext>
            </a:extLst>
          </p:cNvPr>
          <p:cNvSpPr>
            <a:spLocks noGrp="1"/>
          </p:cNvSpPr>
          <p:nvPr/>
        </p:nvSpPr>
        <p:spPr>
          <a:xfrm>
            <a:off x="1298448" y="429768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30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绑定关系              类型标注              诊断结果              新的 IR</a:t>
            </a:r>
          </a:p>
        </p:txBody>
      </p:sp>
      <p:sp>
        <p:nvSpPr>
          <p:cNvPr id="31" name="Pass definition">
            <a:extLst>
              <a:ext uri="{FF2B5EF4-FFF2-40B4-BE49-F238E27FC236}">
                <a16:creationId xmlns:a16="http://schemas.microsoft.com/office/drawing/2014/main" id="{E676933E-4DF3-4A4E-9DEE-35D10823CE50}"/>
              </a:ext>
            </a:extLst>
          </p:cNvPr>
          <p:cNvSpPr>
            <a:spLocks noGrp="1"/>
          </p:cNvSpPr>
          <p:nvPr/>
        </p:nvSpPr>
        <p:spPr>
          <a:xfrm>
            <a:off x="658368" y="4590288"/>
            <a:ext cx="8001000" cy="493776"/>
          </a:xfrm>
          <a:prstGeom prst="rect">
            <a:avLst/>
          </a:prstGeom>
          <a:solidFill>
            <a:srgbClr val="F9E9EB"/>
          </a:solidFill>
          <a:ln w="12700">
            <a:solidFill>
              <a:srgbClr val="E3A8B0"/>
            </a:solidFill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5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Pass = 针对一个目标、具有输入/输出契约的一次分析或变换</a:t>
            </a:r>
            <a:br/>
            <a:r>
              <a:rPr sz="15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Multi-pass = 按依赖关系组织多个 pass，这是编译器的常见架构</a:t>
            </a:r>
          </a:p>
        </p:txBody>
      </p:sp>
    </p:spTree>
    <p:extLst>
      <p:ext uri="{BB962C8B-B14F-4D97-AF65-F5344CB8AC3E}">
        <p14:creationId xmlns:p14="http://schemas.microsoft.com/office/powerpoint/2010/main" val="2255120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为什么不在类型检查时顺便解析名字？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2F15020-66A7-620A-7B7A-C05C4312DEAE}" type="slidenum">
              <a:t>27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CF4FD8-3B77-469A-8D8C-479C80CA1597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因为“指向哪个声明”和“这个声明是什么类型”是两个独立问题。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5492232-161E-4823-B591-70CABB12C74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809750" cy="685800"/>
          </a:xfrm>
          <a:prstGeom prst="roundRect">
            <a:avLst>
              <a:gd name="adj" fmla="val 5556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EC3782-20DD-48A5-821B-D51BC8780D59}"/>
              </a:ext>
            </a:extLst>
          </p:cNvPr>
          <p:cNvSpPr>
            <a:spLocks noGrp="1"/>
          </p:cNvSpPr>
          <p:nvPr/>
        </p:nvSpPr>
        <p:spPr>
          <a:xfrm>
            <a:off x="742950" y="2447925"/>
            <a:ext cx="1657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Parser</a:t>
            </a:r>
          </a:p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恢复语法结构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A3C9ED1D-C100-4927-80D8-6BBC0E2A2882}"/>
              </a:ext>
            </a:extLst>
          </p:cNvPr>
          <p:cNvSpPr>
            <a:spLocks noGrp="1"/>
          </p:cNvSpPr>
          <p:nvPr/>
        </p:nvSpPr>
        <p:spPr>
          <a:xfrm>
            <a:off x="2714625" y="2628900"/>
            <a:ext cx="523875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CBB3482-514B-48A2-B661-5BFAB52E1F57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00250" cy="685800"/>
          </a:xfrm>
          <a:prstGeom prst="roundRect">
            <a:avLst>
              <a:gd name="adj" fmla="val 5556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2C70C6-BE8C-4C26-824D-DC56889F39BE}"/>
              </a:ext>
            </a:extLst>
          </p:cNvPr>
          <p:cNvSpPr>
            <a:spLocks noGrp="1"/>
          </p:cNvSpPr>
          <p:nvPr/>
        </p:nvSpPr>
        <p:spPr>
          <a:xfrm>
            <a:off x="3552825" y="2447925"/>
            <a:ext cx="1847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Resolver</a:t>
            </a:r>
          </a:p>
          <a:p>
            <a:pPr algn="ctr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确定 Symbol 身份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B538E98A-DB1D-4B9A-B3F8-31CC5B72DFFE}"/>
              </a:ext>
            </a:extLst>
          </p:cNvPr>
          <p:cNvSpPr>
            <a:spLocks noGrp="1"/>
          </p:cNvSpPr>
          <p:nvPr/>
        </p:nvSpPr>
        <p:spPr>
          <a:xfrm>
            <a:off x="5715000" y="2628900"/>
            <a:ext cx="523875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7DECA64-7222-4014-ADB1-5930864BB2C4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2095500" cy="685800"/>
          </a:xfrm>
          <a:prstGeom prst="roundRect">
            <a:avLst>
              <a:gd name="adj" fmla="val 5556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2F2F25-A4C4-4DA6-AE1A-D589BDFC8756}"/>
              </a:ext>
            </a:extLst>
          </p:cNvPr>
          <p:cNvSpPr>
            <a:spLocks noGrp="1"/>
          </p:cNvSpPr>
          <p:nvPr/>
        </p:nvSpPr>
        <p:spPr>
          <a:xfrm>
            <a:off x="6553200" y="2447925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Type Checker</a:t>
            </a:r>
          </a:p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检查 Symbol 的类型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B0310B-E990-48B6-80B5-2CB78797B389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A229EB-1AE8-4745-BB01-A16C95DDC032}"/>
              </a:ext>
            </a:extLst>
          </p:cNvPr>
          <p:cNvSpPr>
            <a:spLocks noGrp="1"/>
          </p:cNvSpPr>
          <p:nvPr/>
        </p:nvSpPr>
        <p:spPr>
          <a:xfrm>
            <a:off x="1409700" y="36195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名字解析错误可以独立、准确地报告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A9FE29-DD12-4AAB-B68B-AB9E5340F93F}"/>
              </a:ext>
            </a:extLst>
          </p:cNvPr>
          <p:cNvSpPr>
            <a:spLocks noGrp="1"/>
          </p:cNvSpPr>
          <p:nvPr/>
        </p:nvSpPr>
        <p:spPr>
          <a:xfrm>
            <a:off x="4953000" y="36195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F49E27-44BD-4F09-A8D8-CCC8171A2553}"/>
              </a:ext>
            </a:extLst>
          </p:cNvPr>
          <p:cNvSpPr>
            <a:spLocks noGrp="1"/>
          </p:cNvSpPr>
          <p:nvPr/>
        </p:nvSpPr>
        <p:spPr>
          <a:xfrm>
            <a:off x="5219700" y="36195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多次后续遍历复用同一binding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9CC8D1-A1F0-4875-BC7F-8AFCBCA628C2}"/>
              </a:ext>
            </a:extLst>
          </p:cNvPr>
          <p:cNvSpPr>
            <a:spLocks noGrp="1"/>
          </p:cNvSpPr>
          <p:nvPr/>
        </p:nvSpPr>
        <p:spPr>
          <a:xfrm>
            <a:off x="666750" y="4772025"/>
            <a:ext cx="7810500" cy="419100"/>
          </a:xfrm>
          <a:prstGeom prst="rect">
            <a:avLst/>
          </a:prstGeom>
          <a:solidFill>
            <a:srgbClr val="F8E8EB"/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E2F518-DBB8-485E-BAEC-12906721A22F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分阶段不是为了形式整齐，而是让每一遍可以专注回答一个稳定的问题。</a:t>
            </a:r>
          </a:p>
        </p:txBody>
      </p:sp>
    </p:spTree>
    <p:extLst>
      <p:ext uri="{BB962C8B-B14F-4D97-AF65-F5344CB8AC3E}">
        <p14:creationId xmlns:p14="http://schemas.microsoft.com/office/powerpoint/2010/main" val="3445330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4D1F7-E6C6-0224-17C2-B276CF4C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 中的类型环境如何变化？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F75904-A868-7047-20F7-6044108C0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Γ ⊢ e₁ : T₁</a:t>
            </a:r>
          </a:p>
          <a:p>
            <a:r>
              <a:t>② Resolver：x → Symbol x#k</a:t>
            </a:r>
          </a:p>
          <a:p>
            <a:r>
              <a:t>③ Γ′ = Γ[x#k ↦ T₁]</a:t>
            </a:r>
          </a:p>
          <a:p>
            <a:r>
              <a:t>    在 Γ′ 中检查 e₂</a:t>
            </a:r>
          </a:p>
          <a:p>
            <a:r>
              <a:t>④ 完成后恢复 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83021B-64F7-6B37-BB5F-E2F99C9301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8AD4375-9F50-F53A-6F9F-DD8473067C05}" type="slidenum">
              <a:t>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59326E-574D-17DC-D384-252454B9822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  <p:pic>
        <p:nvPicPr>
          <p:cNvPr id="11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572" y="2454443"/>
            <a:ext cx="4722421" cy="103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3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类型检查复用名字解析结果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1680313-6E64-04FF-399A-57B7CADE95A9}" type="slidenum">
              <a:t>29</a:t>
            </a:fld>
            <a:endParaRPr/>
          </a:p>
        </p:txBody>
      </p:sp>
      <p:sp>
        <p:nvSpPr>
          <p:cNvPr id="10" name="Interface heading">
            <a:extLst>
              <a:ext uri="{FF2B5EF4-FFF2-40B4-BE49-F238E27FC236}">
                <a16:creationId xmlns:a16="http://schemas.microsoft.com/office/drawing/2014/main" id="{4C3E229E-81B6-43DA-AD9B-D672ECDC1E03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20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Resolver 已完成</a:t>
            </a:r>
          </a:p>
        </p:txBody>
      </p:sp>
      <p:sp>
        <p:nvSpPr>
          <p:cNvPr id="11" name="Interface code 1">
            <a:extLst>
              <a:ext uri="{FF2B5EF4-FFF2-40B4-BE49-F238E27FC236}">
                <a16:creationId xmlns:a16="http://schemas.microsoft.com/office/drawing/2014/main" id="{5CF9D8A5-1AAC-4919-8FFD-CDC96A75A3E1}"/>
              </a:ext>
            </a:extLst>
          </p:cNvPr>
          <p:cNvSpPr>
            <a:spLocks noGrp="1"/>
          </p:cNvSpPr>
          <p:nvPr/>
        </p:nvSpPr>
        <p:spPr>
          <a:xfrm>
            <a:off x="713232" y="1920240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18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外层使用 x</a:t>
            </a:r>
          </a:p>
        </p:txBody>
      </p:sp>
      <p:sp>
        <p:nvSpPr>
          <p:cNvPr id="12" name="Interface meaning 1">
            <a:extLst>
              <a:ext uri="{FF2B5EF4-FFF2-40B4-BE49-F238E27FC236}">
                <a16:creationId xmlns:a16="http://schemas.microsoft.com/office/drawing/2014/main" id="{BD44AE2F-04EB-4309-BD85-143A7D974A21}"/>
              </a:ext>
            </a:extLst>
          </p:cNvPr>
          <p:cNvSpPr>
            <a:spLocks noGrp="1"/>
          </p:cNvSpPr>
          <p:nvPr/>
        </p:nvSpPr>
        <p:spPr>
          <a:xfrm>
            <a:off x="2633472" y="1920240"/>
            <a:ext cx="2029968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17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→ Symbol x#2</a:t>
            </a:r>
          </a:p>
        </p:txBody>
      </p:sp>
      <p:sp>
        <p:nvSpPr>
          <p:cNvPr id="13" name="Interface code 2">
            <a:extLst>
              <a:ext uri="{FF2B5EF4-FFF2-40B4-BE49-F238E27FC236}">
                <a16:creationId xmlns:a16="http://schemas.microsoft.com/office/drawing/2014/main" id="{B859937C-3EF8-4078-BCB7-925757B408CE}"/>
              </a:ext>
            </a:extLst>
          </p:cNvPr>
          <p:cNvSpPr>
            <a:spLocks noGrp="1"/>
          </p:cNvSpPr>
          <p:nvPr/>
        </p:nvSpPr>
        <p:spPr>
          <a:xfrm>
            <a:off x="713232" y="2450592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18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内层使用 x</a:t>
            </a:r>
          </a:p>
        </p:txBody>
      </p:sp>
      <p:sp>
        <p:nvSpPr>
          <p:cNvPr id="14" name="Interface meaning 2">
            <a:extLst>
              <a:ext uri="{FF2B5EF4-FFF2-40B4-BE49-F238E27FC236}">
                <a16:creationId xmlns:a16="http://schemas.microsoft.com/office/drawing/2014/main" id="{A78F3D21-1032-477B-9AA4-1A9C04B65EE6}"/>
              </a:ext>
            </a:extLst>
          </p:cNvPr>
          <p:cNvSpPr>
            <a:spLocks noGrp="1"/>
          </p:cNvSpPr>
          <p:nvPr/>
        </p:nvSpPr>
        <p:spPr>
          <a:xfrm>
            <a:off x="2633472" y="2450592"/>
            <a:ext cx="2029968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17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→ Symbol x#4</a:t>
            </a:r>
          </a:p>
        </p:txBody>
      </p:sp>
      <p:sp>
        <p:nvSpPr>
          <p:cNvPr id="15" name="Interface code 3">
            <a:extLst>
              <a:ext uri="{FF2B5EF4-FFF2-40B4-BE49-F238E27FC236}">
                <a16:creationId xmlns:a16="http://schemas.microsoft.com/office/drawing/2014/main" id="{9394939D-8F6A-48A8-81EA-43872986B3AA}"/>
              </a:ext>
            </a:extLst>
          </p:cNvPr>
          <p:cNvSpPr>
            <a:spLocks noGrp="1"/>
          </p:cNvSpPr>
          <p:nvPr/>
        </p:nvSpPr>
        <p:spPr>
          <a:xfrm>
            <a:off x="713232" y="2980944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18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未定义名字</a:t>
            </a:r>
          </a:p>
        </p:txBody>
      </p:sp>
      <p:sp>
        <p:nvSpPr>
          <p:cNvPr id="16" name="Interface meaning 3">
            <a:extLst>
              <a:ext uri="{FF2B5EF4-FFF2-40B4-BE49-F238E27FC236}">
                <a16:creationId xmlns:a16="http://schemas.microsoft.com/office/drawing/2014/main" id="{B4D22D76-F809-46B7-95B4-D7BB22685404}"/>
              </a:ext>
            </a:extLst>
          </p:cNvPr>
          <p:cNvSpPr>
            <a:spLocks noGrp="1"/>
          </p:cNvSpPr>
          <p:nvPr/>
        </p:nvSpPr>
        <p:spPr>
          <a:xfrm>
            <a:off x="2633472" y="2980944"/>
            <a:ext cx="2029968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17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→ Resolver 报错</a:t>
            </a:r>
          </a:p>
        </p:txBody>
      </p:sp>
      <p:sp>
        <p:nvSpPr>
          <p:cNvPr id="17" name="Interface code 4">
            <a:extLst>
              <a:ext uri="{FF2B5EF4-FFF2-40B4-BE49-F238E27FC236}">
                <a16:creationId xmlns:a16="http://schemas.microsoft.com/office/drawing/2014/main" id="{80F513C7-17A0-4456-9C65-583ABCF0F69E}"/>
              </a:ext>
            </a:extLst>
          </p:cNvPr>
          <p:cNvSpPr>
            <a:spLocks noGrp="1"/>
          </p:cNvSpPr>
          <p:nvPr/>
        </p:nvSpPr>
        <p:spPr>
          <a:xfrm>
            <a:off x="713232" y="3511296"/>
            <a:ext cx="1874520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18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进入 Type Checker</a:t>
            </a:r>
          </a:p>
        </p:txBody>
      </p:sp>
      <p:sp>
        <p:nvSpPr>
          <p:cNvPr id="18" name="Interface meaning 4">
            <a:extLst>
              <a:ext uri="{FF2B5EF4-FFF2-40B4-BE49-F238E27FC236}">
                <a16:creationId xmlns:a16="http://schemas.microsoft.com/office/drawing/2014/main" id="{43C36D34-EC47-4198-9A4F-E827A4A79CDA}"/>
              </a:ext>
            </a:extLst>
          </p:cNvPr>
          <p:cNvSpPr>
            <a:spLocks noGrp="1"/>
          </p:cNvSpPr>
          <p:nvPr/>
        </p:nvSpPr>
        <p:spPr>
          <a:xfrm>
            <a:off x="2633472" y="3511296"/>
            <a:ext cx="2029968" cy="402336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l">
              <a:buNone/>
            </a:pPr>
            <a:r>
              <a:rPr sz="17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携带确定的 Symbol</a:t>
            </a:r>
          </a:p>
        </p:txBody>
      </p:sp>
      <p:sp>
        <p:nvSpPr>
          <p:cNvPr id="19" name="Shadowing summary">
            <a:extLst>
              <a:ext uri="{FF2B5EF4-FFF2-40B4-BE49-F238E27FC236}">
                <a16:creationId xmlns:a16="http://schemas.microsoft.com/office/drawing/2014/main" id="{78D11458-4EFB-47E0-8C09-5D0BC5B7D245}"/>
              </a:ext>
            </a:extLst>
          </p:cNvPr>
          <p:cNvSpPr>
            <a:spLocks noGrp="1"/>
          </p:cNvSpPr>
          <p:nvPr/>
        </p:nvSpPr>
        <p:spPr>
          <a:xfrm>
            <a:off x="658368" y="4224528"/>
            <a:ext cx="3977640" cy="640080"/>
          </a:xfrm>
          <a:prstGeom prst="rect">
            <a:avLst/>
          </a:prstGeom>
          <a:solidFill>
            <a:srgbClr val="F9E9EB"/>
          </a:solidFill>
          <a:ln w="12700">
            <a:solidFill>
              <a:srgbClr val="E3A8B0"/>
            </a:solidFill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sz="18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名字解析已经完成</a:t>
            </a:r>
          </a:p>
          <a:p>
            <a:pPr algn="ctr">
              <a:buNone/>
            </a:pPr>
            <a:r>
              <a:rPr sz="18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遮蔽关系不再重算</a:t>
            </a:r>
          </a:p>
        </p:txBody>
      </p:sp>
      <p:sp>
        <p:nvSpPr>
          <p:cNvPr id="20" name="Stack heading">
            <a:extLst>
              <a:ext uri="{FF2B5EF4-FFF2-40B4-BE49-F238E27FC236}">
                <a16:creationId xmlns:a16="http://schemas.microsoft.com/office/drawing/2014/main" id="{D933C5E5-B6A4-4EAA-AE58-DDD587025C54}"/>
              </a:ext>
            </a:extLst>
          </p:cNvPr>
          <p:cNvSpPr>
            <a:spLocks noGrp="1"/>
          </p:cNvSpPr>
          <p:nvPr/>
        </p:nvSpPr>
        <p:spPr>
          <a:xfrm>
            <a:off x="4892040" y="1353312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sz="17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Γ 保存 Symbol → Type</a:t>
            </a:r>
          </a:p>
          <a:p>
            <a:pPr algn="ctr">
              <a:buNone/>
            </a:pPr>
            <a:r>
              <a:rPr sz="17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按声明身份查询类型</a:t>
            </a:r>
          </a:p>
        </p:txBody>
      </p:sp>
      <p:sp>
        <p:nvSpPr>
          <p:cNvPr id="21" name="Current scope">
            <a:extLst>
              <a:ext uri="{FF2B5EF4-FFF2-40B4-BE49-F238E27FC236}">
                <a16:creationId xmlns:a16="http://schemas.microsoft.com/office/drawing/2014/main" id="{E89B9A4D-9775-497E-A0C2-5E86D1C5A684}"/>
              </a:ext>
            </a:extLst>
          </p:cNvPr>
          <p:cNvSpPr>
            <a:spLocks noGrp="1"/>
          </p:cNvSpPr>
          <p:nvPr/>
        </p:nvSpPr>
        <p:spPr>
          <a:xfrm>
            <a:off x="5166360" y="2057400"/>
            <a:ext cx="3063240" cy="658368"/>
          </a:xfrm>
          <a:prstGeom prst="rect">
            <a:avLst/>
          </a:prstGeom>
          <a:solidFill>
            <a:srgbClr val="F9E9EB"/>
          </a:solidFill>
          <a:ln w="12700">
            <a:solidFill>
              <a:srgbClr val="C8384E"/>
            </a:solidFill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6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参数声明</a:t>
            </a:r>
          </a:p>
          <a:p>
            <a:pPr algn="ctr">
              <a:buNone/>
            </a:pPr>
            <a:r>
              <a:rPr sz="16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x#2 : Int</a:t>
            </a:r>
          </a:p>
        </p:txBody>
      </p:sp>
      <p:sp>
        <p:nvSpPr>
          <p:cNvPr id="22" name="Function scope">
            <a:extLst>
              <a:ext uri="{FF2B5EF4-FFF2-40B4-BE49-F238E27FC236}">
                <a16:creationId xmlns:a16="http://schemas.microsoft.com/office/drawing/2014/main" id="{913C7798-4FCD-4D7B-A6D2-DD2A5794B60D}"/>
              </a:ext>
            </a:extLst>
          </p:cNvPr>
          <p:cNvSpPr>
            <a:spLocks noGrp="1"/>
          </p:cNvSpPr>
          <p:nvPr/>
        </p:nvSpPr>
        <p:spPr>
          <a:xfrm>
            <a:off x="5166360" y="2788920"/>
            <a:ext cx="3063240" cy="658368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6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内层局部变量</a:t>
            </a:r>
          </a:p>
          <a:p>
            <a:pPr algn="ctr">
              <a:buNone/>
            </a:pPr>
            <a:r>
              <a:rPr sz="16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x#4 : String</a:t>
            </a:r>
          </a:p>
        </p:txBody>
      </p:sp>
      <p:sp>
        <p:nvSpPr>
          <p:cNvPr id="23" name="Global scope">
            <a:extLst>
              <a:ext uri="{FF2B5EF4-FFF2-40B4-BE49-F238E27FC236}">
                <a16:creationId xmlns:a16="http://schemas.microsoft.com/office/drawing/2014/main" id="{52ED8D6D-9209-449E-AA07-891A7DE925E6}"/>
              </a:ext>
            </a:extLst>
          </p:cNvPr>
          <p:cNvSpPr>
            <a:spLocks noGrp="1"/>
          </p:cNvSpPr>
          <p:nvPr/>
        </p:nvSpPr>
        <p:spPr>
          <a:xfrm>
            <a:off x="5166360" y="3520440"/>
            <a:ext cx="3063240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B8BDC4"/>
            </a:solidFill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6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其他声明</a:t>
            </a:r>
          </a:p>
          <a:p>
            <a:pPr algn="ctr">
              <a:buNone/>
            </a:pPr>
            <a:r>
              <a:rPr sz="16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y#3 : Bool</a:t>
            </a:r>
          </a:p>
        </p:txBody>
      </p:sp>
      <p:sp>
        <p:nvSpPr>
          <p:cNvPr id="24" name="Lookup result">
            <a:extLst>
              <a:ext uri="{FF2B5EF4-FFF2-40B4-BE49-F238E27FC236}">
                <a16:creationId xmlns:a16="http://schemas.microsoft.com/office/drawing/2014/main" id="{75D9E356-9874-4A05-8A5D-6ACDEA8BF2D4}"/>
              </a:ext>
            </a:extLst>
          </p:cNvPr>
          <p:cNvSpPr>
            <a:spLocks noGrp="1"/>
          </p:cNvSpPr>
          <p:nvPr/>
        </p:nvSpPr>
        <p:spPr>
          <a:xfrm>
            <a:off x="5166360" y="4370832"/>
            <a:ext cx="3063240" cy="585216"/>
          </a:xfrm>
          <a:prstGeom prst="rect">
            <a:avLst/>
          </a:prstGeom>
          <a:solidFill>
            <a:srgbClr val="F9E9EB"/>
          </a:solidFill>
          <a:ln w="12700">
            <a:solidFill>
              <a:srgbClr val="E3A8B0"/>
            </a:solidFill>
          </a:ln>
        </p:spPr>
        <p:txBody>
          <a:bodyPr wrap="square" lIns="27432" tIns="27432" rIns="27432" bIns="27432" anchor="ctr"/>
          <a:lstStyle/>
          <a:p>
            <a:pPr algn="ctr">
              <a:buNone/>
            </a:pPr>
            <a:r>
              <a:rPr sz="15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typeOf(x#4) = String</a:t>
            </a:r>
          </a:p>
          <a:p>
            <a:pPr algn="ctr">
              <a:buNone/>
            </a:pPr>
            <a:r>
              <a:rPr sz="15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与文本名字 x 无关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979F83-3EB1-12D2-3398-60BBACBC9DD6}"/>
              </a:ext>
            </a:extLst>
          </p:cNvPr>
          <p:cNvSpPr>
            <a:spLocks noGrp="1"/>
          </p:cNvSpPr>
          <p:nvPr/>
        </p:nvSpPr>
        <p:spPr>
          <a:xfrm>
            <a:off x="1216642" y="5197642"/>
            <a:ext cx="70837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C00000"/>
                </a:solidFill>
              </a:rPr>
              <a:t>类型检查器复用 Resolver 的 binding，只处理 Symbol 对应的类型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回到问题：规则如何变代码？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FEBBBCE-9E16-527A-0EE3-E5839422D847}" type="slidenum">
              <a:t>30</a:t>
            </a:fld>
            <a:endParaRPr/>
          </a:p>
        </p:txBody>
      </p:sp>
      <p:sp>
        <p:nvSpPr>
          <p:cNvPr id="10" name="Slide thesis">
            <a:extLst>
              <a:ext uri="{FF2B5EF4-FFF2-40B4-BE49-F238E27FC236}">
                <a16:creationId xmlns:a16="http://schemas.microsoft.com/office/drawing/2014/main" id="{85177055-DF1E-499F-84A1-0F1DD7035DCD}"/>
              </a:ext>
            </a:extLst>
          </p:cNvPr>
          <p:cNvSpPr>
            <a:spLocks noGrp="1"/>
          </p:cNvSpPr>
          <p:nvPr/>
        </p:nvSpPr>
        <p:spPr>
          <a:xfrm>
            <a:off x="658368" y="1280160"/>
            <a:ext cx="8001000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20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一条类型规则，对应一个 AST 节点处理函数</a:t>
            </a:r>
          </a:p>
        </p:txBody>
      </p:sp>
      <p:sp>
        <p:nvSpPr>
          <p:cNvPr id="11" name="IF rule heading">
            <a:extLst>
              <a:ext uri="{FF2B5EF4-FFF2-40B4-BE49-F238E27FC236}">
                <a16:creationId xmlns:a16="http://schemas.microsoft.com/office/drawing/2014/main" id="{661C0B76-A0EC-4DF2-B98D-3EC631B5FDD6}"/>
              </a:ext>
            </a:extLst>
          </p:cNvPr>
          <p:cNvSpPr>
            <a:spLocks noGrp="1"/>
          </p:cNvSpPr>
          <p:nvPr/>
        </p:nvSpPr>
        <p:spPr>
          <a:xfrm>
            <a:off x="594360" y="1737360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8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[IF] 类型规则</a:t>
            </a:r>
          </a:p>
        </p:txBody>
      </p:sp>
      <p:sp>
        <p:nvSpPr>
          <p:cNvPr id="12" name="IF premise condition">
            <a:extLst>
              <a:ext uri="{FF2B5EF4-FFF2-40B4-BE49-F238E27FC236}">
                <a16:creationId xmlns:a16="http://schemas.microsoft.com/office/drawing/2014/main" id="{D11D52C9-4466-412C-AAFD-1EA255B54E12}"/>
              </a:ext>
            </a:extLst>
          </p:cNvPr>
          <p:cNvSpPr>
            <a:spLocks noGrp="1"/>
          </p:cNvSpPr>
          <p:nvPr/>
        </p:nvSpPr>
        <p:spPr>
          <a:xfrm>
            <a:off x="1097280" y="214884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8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Γ ⊢ c : Bool</a:t>
            </a:r>
          </a:p>
        </p:txBody>
      </p:sp>
      <p:sp>
        <p:nvSpPr>
          <p:cNvPr id="13" name="IF premise branches">
            <a:extLst>
              <a:ext uri="{FF2B5EF4-FFF2-40B4-BE49-F238E27FC236}">
                <a16:creationId xmlns:a16="http://schemas.microsoft.com/office/drawing/2014/main" id="{153F56C1-2999-45E9-8D2D-43F0CB9502C6}"/>
              </a:ext>
            </a:extLst>
          </p:cNvPr>
          <p:cNvSpPr>
            <a:spLocks noGrp="1"/>
          </p:cNvSpPr>
          <p:nvPr/>
        </p:nvSpPr>
        <p:spPr>
          <a:xfrm>
            <a:off x="694944" y="2523744"/>
            <a:ext cx="3584448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7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Γ ⊢ e₁ : T        Γ ⊢ e₂ : T</a:t>
            </a:r>
          </a:p>
        </p:txBody>
      </p:sp>
      <p:sp>
        <p:nvSpPr>
          <p:cNvPr id="14" name="IF inference line">
            <a:extLst>
              <a:ext uri="{FF2B5EF4-FFF2-40B4-BE49-F238E27FC236}">
                <a16:creationId xmlns:a16="http://schemas.microsoft.com/office/drawing/2014/main" id="{E4432472-84C5-4CC6-A892-C3A1BA289744}"/>
              </a:ext>
            </a:extLst>
          </p:cNvPr>
          <p:cNvSpPr>
            <a:spLocks noGrp="1"/>
          </p:cNvSpPr>
          <p:nvPr/>
        </p:nvSpPr>
        <p:spPr>
          <a:xfrm>
            <a:off x="749808" y="2926080"/>
            <a:ext cx="3474720" cy="0"/>
          </a:xfrm>
          <a:prstGeom prst="line">
            <a:avLst/>
          </a:prstGeom>
          <a:ln w="19050">
            <a:solidFill>
              <a:srgbClr val="606060"/>
            </a:solidFill>
          </a:ln>
        </p:spPr>
      </p:sp>
      <p:sp>
        <p:nvSpPr>
          <p:cNvPr id="15" name="IF conclusion">
            <a:extLst>
              <a:ext uri="{FF2B5EF4-FFF2-40B4-BE49-F238E27FC236}">
                <a16:creationId xmlns:a16="http://schemas.microsoft.com/office/drawing/2014/main" id="{FFD11855-46F1-4ED8-A1A4-15802586F53C}"/>
              </a:ext>
            </a:extLst>
          </p:cNvPr>
          <p:cNvSpPr>
            <a:spLocks noGrp="1"/>
          </p:cNvSpPr>
          <p:nvPr/>
        </p:nvSpPr>
        <p:spPr>
          <a:xfrm>
            <a:off x="658368" y="2971800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7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Γ ⊢ if c then e₁ else e₂ : T</a:t>
            </a:r>
          </a:p>
        </p:txBody>
      </p:sp>
      <p:sp>
        <p:nvSpPr>
          <p:cNvPr id="17" name="Rule reading">
            <a:extLst>
              <a:ext uri="{FF2B5EF4-FFF2-40B4-BE49-F238E27FC236}">
                <a16:creationId xmlns:a16="http://schemas.microsoft.com/office/drawing/2014/main" id="{391A4755-080A-4924-8DC9-6B154332C560}"/>
              </a:ext>
            </a:extLst>
          </p:cNvPr>
          <p:cNvSpPr>
            <a:spLocks noGrp="1"/>
          </p:cNvSpPr>
          <p:nvPr/>
        </p:nvSpPr>
        <p:spPr>
          <a:xfrm>
            <a:off x="713232" y="3584448"/>
            <a:ext cx="3566160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l">
              <a:buNone/>
            </a:pPr>
            <a:r>
              <a:rPr sz="15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前提：递归检查 condition、then、else</a:t>
            </a:r>
            <a:br/>
            <a:r>
              <a:rPr sz="15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约束：condition 是 Bool，两个分支同型</a:t>
            </a:r>
            <a:br/>
            <a:r>
              <a:rPr sz="1500" b="0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结论：整个 if 的类型就是共同类型 T</a:t>
            </a:r>
          </a:p>
        </p:txBody>
      </p:sp>
      <p:sp>
        <p:nvSpPr>
          <p:cNvPr id="18" name="Handler heading">
            <a:extLst>
              <a:ext uri="{FF2B5EF4-FFF2-40B4-BE49-F238E27FC236}">
                <a16:creationId xmlns:a16="http://schemas.microsoft.com/office/drawing/2014/main" id="{AC50C55B-7BF9-403C-8C69-F5122FB5C5CE}"/>
              </a:ext>
            </a:extLst>
          </p:cNvPr>
          <p:cNvSpPr>
            <a:spLocks noGrp="1"/>
          </p:cNvSpPr>
          <p:nvPr/>
        </p:nvSpPr>
        <p:spPr>
          <a:xfrm>
            <a:off x="4617720" y="1737360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9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对应的 AST 节点处理函数</a:t>
            </a:r>
          </a:p>
        </p:txBody>
      </p:sp>
      <p:sp>
        <p:nvSpPr>
          <p:cNvPr id="19" name="handleIF pseudocode">
            <a:extLst>
              <a:ext uri="{FF2B5EF4-FFF2-40B4-BE49-F238E27FC236}">
                <a16:creationId xmlns:a16="http://schemas.microsoft.com/office/drawing/2014/main" id="{E36F2846-5CF9-49BC-9C8C-F4308FA993E5}"/>
              </a:ext>
            </a:extLst>
          </p:cNvPr>
          <p:cNvSpPr>
            <a:spLocks noGrp="1"/>
          </p:cNvSpPr>
          <p:nvPr/>
        </p:nvSpPr>
        <p:spPr>
          <a:xfrm>
            <a:off x="4572000" y="2139696"/>
            <a:ext cx="3977640" cy="2359152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109728" tIns="109728" rIns="109728" bIns="109728" anchor="t"/>
          <a:lstStyle/>
          <a:p>
            <a:pPr algn="l">
              <a:buNone/>
            </a:pPr>
            <a:r>
              <a:rPr sz="13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Type handleIF(If e, Env Γ) {</a:t>
            </a:r>
            <a:br/>
            <a:r>
              <a:rPr sz="13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  require(check(e.c, Γ) == Bool);</a:t>
            </a:r>
            <a:br/>
            <a:r>
              <a:rPr sz="13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  Type t1 = check(e.e1, Γ);</a:t>
            </a:r>
            <a:br/>
            <a:r>
              <a:rPr sz="13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  Type t2 = check(e.e2, Γ);</a:t>
            </a:r>
            <a:br/>
            <a:r>
              <a:rPr sz="13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  Type t = requireSame(t1, t2);</a:t>
            </a:r>
            <a:br/>
            <a:r>
              <a:rPr sz="13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  return t;</a:t>
            </a:r>
            <a:br/>
            <a:r>
              <a:rPr sz="13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}</a:t>
            </a:r>
            <a:br/>
            <a:endParaRPr/>
          </a:p>
        </p:txBody>
      </p:sp>
      <p:sp>
        <p:nvSpPr>
          <p:cNvPr id="20" name="Return type summary">
            <a:extLst>
              <a:ext uri="{FF2B5EF4-FFF2-40B4-BE49-F238E27FC236}">
                <a16:creationId xmlns:a16="http://schemas.microsoft.com/office/drawing/2014/main" id="{91F7710F-6629-425B-ADAB-82B493577E49}"/>
              </a:ext>
            </a:extLst>
          </p:cNvPr>
          <p:cNvSpPr>
            <a:spLocks noGrp="1"/>
          </p:cNvSpPr>
          <p:nvPr/>
        </p:nvSpPr>
        <p:spPr>
          <a:xfrm>
            <a:off x="658368" y="4681728"/>
            <a:ext cx="8001000" cy="438912"/>
          </a:xfrm>
          <a:prstGeom prst="rect">
            <a:avLst/>
          </a:prstGeom>
          <a:solidFill>
            <a:srgbClr val="F9E9EB"/>
          </a:solidFill>
          <a:ln w="12700">
            <a:solidFill>
              <a:srgbClr val="E3A8B0"/>
            </a:solidFill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7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规则的结论决定函数返回值：handleIF 返回两个分支的共同类型</a:t>
            </a:r>
          </a:p>
        </p:txBody>
      </p:sp>
      <p:sp>
        <p:nvSpPr>
          <p:cNvPr id="21" name="Error transition">
            <a:extLst>
              <a:ext uri="{FF2B5EF4-FFF2-40B4-BE49-F238E27FC236}">
                <a16:creationId xmlns:a16="http://schemas.microsoft.com/office/drawing/2014/main" id="{14895C6D-CB29-40F7-87B1-1E2CCD5EBD61}"/>
              </a:ext>
            </a:extLst>
          </p:cNvPr>
          <p:cNvSpPr>
            <a:spLocks noGrp="1"/>
          </p:cNvSpPr>
          <p:nvPr/>
        </p:nvSpPr>
        <p:spPr>
          <a:xfrm>
            <a:off x="658368" y="5220497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但是：某个</a:t>
            </a:r>
            <a:r>
              <a:rPr sz="16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检查</a:t>
            </a: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失败时（如requireSame）怎么办？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错误与恢复：避免在第一个错误就终止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172A7C5-A0CC-7B36-F236-345181E6AD72}" type="slidenum">
              <a:t>31</a:t>
            </a:fld>
            <a:endParaRPr/>
          </a:p>
        </p:txBody>
      </p:sp>
      <p:sp>
        <p:nvSpPr>
          <p:cNvPr id="10" name="Diagnostic thesis">
            <a:extLst>
              <a:ext uri="{FF2B5EF4-FFF2-40B4-BE49-F238E27FC236}">
                <a16:creationId xmlns:a16="http://schemas.microsoft.com/office/drawing/2014/main" id="{0D06613C-5154-4D59-AFDD-67F7C2EE4FEB}"/>
              </a:ext>
            </a:extLst>
          </p:cNvPr>
          <p:cNvSpPr>
            <a:spLocks noGrp="1"/>
          </p:cNvSpPr>
          <p:nvPr/>
        </p:nvSpPr>
        <p:spPr>
          <a:xfrm>
            <a:off x="658368" y="1298448"/>
            <a:ext cx="800100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8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完整程序包含两个彼此独立的错误；检查器应当把它们都找出来（C++例子）</a:t>
            </a:r>
          </a:p>
        </p:txBody>
      </p:sp>
      <p:sp>
        <p:nvSpPr>
          <p:cNvPr id="11" name="Source title">
            <a:extLst>
              <a:ext uri="{FF2B5EF4-FFF2-40B4-BE49-F238E27FC236}">
                <a16:creationId xmlns:a16="http://schemas.microsoft.com/office/drawing/2014/main" id="{9F7701C6-C4E2-47DF-BACF-D870BBD1A32E}"/>
              </a:ext>
            </a:extLst>
          </p:cNvPr>
          <p:cNvSpPr>
            <a:spLocks noGrp="1"/>
          </p:cNvSpPr>
          <p:nvPr/>
        </p:nvSpPr>
        <p:spPr>
          <a:xfrm>
            <a:off x="566928" y="1737360"/>
            <a:ext cx="3840480" cy="310896"/>
          </a:xfrm>
          <a:prstGeom prst="rect">
            <a:avLst/>
          </a:prstGeom>
          <a:solidFill>
            <a:srgbClr val="34383D"/>
          </a:solidFill>
          <a:ln w="12700">
            <a:solidFill>
              <a:srgbClr val="34383D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sz="1300" b="0" i="0">
                <a:solidFill>
                  <a:srgbClr val="E8EAED"/>
                </a:solidFill>
                <a:latin typeface="Menlo"/>
                <a:ea typeface="Menlo"/>
                <a:cs typeface="Menlo"/>
              </a:rPr>
              <a:t>demo.cc</a:t>
            </a:r>
          </a:p>
        </p:txBody>
      </p:sp>
      <p:sp>
        <p:nvSpPr>
          <p:cNvPr id="12" name="C++ source">
            <a:extLst>
              <a:ext uri="{FF2B5EF4-FFF2-40B4-BE49-F238E27FC236}">
                <a16:creationId xmlns:a16="http://schemas.microsoft.com/office/drawing/2014/main" id="{A2A50B91-2EFE-48E6-BA6A-79EEF4898E6E}"/>
              </a:ext>
            </a:extLst>
          </p:cNvPr>
          <p:cNvSpPr>
            <a:spLocks noGrp="1"/>
          </p:cNvSpPr>
          <p:nvPr/>
        </p:nvSpPr>
        <p:spPr>
          <a:xfrm>
            <a:off x="566928" y="2048256"/>
            <a:ext cx="3840480" cy="1993392"/>
          </a:xfrm>
          <a:prstGeom prst="rect">
            <a:avLst/>
          </a:prstGeom>
          <a:solidFill>
            <a:srgbClr val="24272B"/>
          </a:solidFill>
          <a:ln w="12700">
            <a:solidFill>
              <a:srgbClr val="34383D"/>
            </a:solidFill>
          </a:ln>
        </p:spPr>
        <p:txBody>
          <a:bodyPr wrap="square" lIns="128016" tIns="128016" rIns="128016" bIns="128016" anchor="t"/>
          <a:lstStyle/>
          <a:p>
            <a:pPr algn="l">
              <a:buNone/>
            </a:pPr>
            <a:r>
              <a:rPr sz="14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1  int f() {</a:t>
            </a:r>
            <a:br/>
            <a:r>
              <a:rPr sz="14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2    int y = unknown_value + 1;</a:t>
            </a:r>
            <a:br/>
            <a:r>
              <a:rPr sz="14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3    return "oops";</a:t>
            </a:r>
            <a:br/>
            <a:r>
              <a:rPr sz="14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4  }</a:t>
            </a:r>
          </a:p>
        </p:txBody>
      </p:sp>
      <p:sp>
        <p:nvSpPr>
          <p:cNvPr id="13" name="Diagnostic title">
            <a:extLst>
              <a:ext uri="{FF2B5EF4-FFF2-40B4-BE49-F238E27FC236}">
                <a16:creationId xmlns:a16="http://schemas.microsoft.com/office/drawing/2014/main" id="{3BD07A55-41D4-462C-93FD-86A837CD4451}"/>
              </a:ext>
            </a:extLst>
          </p:cNvPr>
          <p:cNvSpPr>
            <a:spLocks noGrp="1"/>
          </p:cNvSpPr>
          <p:nvPr/>
        </p:nvSpPr>
        <p:spPr>
          <a:xfrm>
            <a:off x="4736592" y="1737360"/>
            <a:ext cx="3840480" cy="310896"/>
          </a:xfrm>
          <a:prstGeom prst="rect">
            <a:avLst/>
          </a:prstGeom>
          <a:solidFill>
            <a:srgbClr val="34383D"/>
          </a:solidFill>
          <a:ln w="12700">
            <a:solidFill>
              <a:srgbClr val="34383D"/>
            </a:solidFill>
          </a:ln>
        </p:spPr>
        <p:txBody>
          <a:bodyPr wrap="square" lIns="73152" tIns="73152" rIns="73152" bIns="73152" anchor="ctr"/>
          <a:lstStyle/>
          <a:p>
            <a:pPr algn="l">
              <a:buNone/>
            </a:pPr>
            <a:r>
              <a:rPr sz="1200" b="0" i="0">
                <a:solidFill>
                  <a:srgbClr val="E8EAED"/>
                </a:solidFill>
                <a:latin typeface="Menlo"/>
                <a:ea typeface="Menlo"/>
                <a:cs typeface="Menlo"/>
              </a:rPr>
              <a:t>clang++ -fsyntax-only demo.cc</a:t>
            </a:r>
          </a:p>
        </p:txBody>
      </p:sp>
      <p:sp>
        <p:nvSpPr>
          <p:cNvPr id="14" name="Clang diagnostics">
            <a:extLst>
              <a:ext uri="{FF2B5EF4-FFF2-40B4-BE49-F238E27FC236}">
                <a16:creationId xmlns:a16="http://schemas.microsoft.com/office/drawing/2014/main" id="{EDA0C9C3-A2DC-48C7-9EF2-E845D10749F8}"/>
              </a:ext>
            </a:extLst>
          </p:cNvPr>
          <p:cNvSpPr>
            <a:spLocks noGrp="1"/>
          </p:cNvSpPr>
          <p:nvPr/>
        </p:nvSpPr>
        <p:spPr>
          <a:xfrm>
            <a:off x="4736592" y="2048256"/>
            <a:ext cx="3840480" cy="1993392"/>
          </a:xfrm>
          <a:prstGeom prst="rect">
            <a:avLst/>
          </a:prstGeom>
          <a:solidFill>
            <a:srgbClr val="24272B"/>
          </a:solidFill>
          <a:ln w="12700">
            <a:solidFill>
              <a:srgbClr val="34383D"/>
            </a:solidFill>
          </a:ln>
        </p:spPr>
        <p:txBody>
          <a:bodyPr wrap="square" lIns="109728" tIns="109728" rIns="109728" bIns="109728" anchor="t"/>
          <a:lstStyle/>
          <a:p>
            <a:pPr algn="l">
              <a:buNone/>
            </a:pPr>
            <a:r>
              <a:rPr sz="11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demo.cc:2:13: error:</a:t>
            </a:r>
            <a:br/>
            <a:r>
              <a:rPr sz="11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use of undeclared identifier</a:t>
            </a:r>
            <a:br/>
            <a:r>
              <a:rPr sz="11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'unknown_value'</a:t>
            </a:r>
            <a:br/>
            <a:br/>
            <a:r>
              <a:rPr sz="11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demo.cc:3:12: error:</a:t>
            </a:r>
            <a:br/>
            <a:r>
              <a:rPr sz="11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cannot initialize return object</a:t>
            </a:r>
            <a:br/>
            <a:r>
              <a:rPr sz="11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of type 'int' with 'const char [5]'</a:t>
            </a:r>
            <a:br/>
            <a:br/>
            <a:r>
              <a:rPr sz="1100" b="0" i="0">
                <a:solidFill>
                  <a:srgbClr val="F1F3F4"/>
                </a:solidFill>
                <a:latin typeface="Menlo"/>
                <a:ea typeface="Menlo"/>
                <a:cs typeface="Menlo"/>
              </a:rPr>
              <a:t>2 errors generated.</a:t>
            </a:r>
          </a:p>
        </p:txBody>
      </p:sp>
      <p:sp>
        <p:nvSpPr>
          <p:cNvPr id="15" name="Diagnostic explanation">
            <a:extLst>
              <a:ext uri="{FF2B5EF4-FFF2-40B4-BE49-F238E27FC236}">
                <a16:creationId xmlns:a16="http://schemas.microsoft.com/office/drawing/2014/main" id="{AD529929-3494-49F1-B44D-235E4EEC0FFC}"/>
              </a:ext>
            </a:extLst>
          </p:cNvPr>
          <p:cNvSpPr>
            <a:spLocks noGrp="1"/>
          </p:cNvSpPr>
          <p:nvPr/>
        </p:nvSpPr>
        <p:spPr>
          <a:xfrm>
            <a:off x="658368" y="4224528"/>
            <a:ext cx="8001000" cy="676656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第 2 行：标识符 unknown_value 未声明</a:t>
            </a:r>
          </a:p>
          <a:p>
            <a:pPr algn="ctr">
              <a:buNone/>
            </a:pPr>
            <a:r>
              <a:rPr sz="15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第 3 行：返回值类型 const char[5] 与函数返回类型 int 不匹配</a:t>
            </a:r>
          </a:p>
        </p:txBody>
      </p:sp>
      <p:sp>
        <p:nvSpPr>
          <p:cNvPr id="16" name="Continue checking conclusion">
            <a:extLst>
              <a:ext uri="{FF2B5EF4-FFF2-40B4-BE49-F238E27FC236}">
                <a16:creationId xmlns:a16="http://schemas.microsoft.com/office/drawing/2014/main" id="{343A8D30-BACA-4EC9-9E71-F4877B70916A}"/>
              </a:ext>
            </a:extLst>
          </p:cNvPr>
          <p:cNvSpPr>
            <a:spLocks noGrp="1"/>
          </p:cNvSpPr>
          <p:nvPr/>
        </p:nvSpPr>
        <p:spPr>
          <a:xfrm>
            <a:off x="658368" y="4919472"/>
            <a:ext cx="8001000" cy="31089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5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两个独立错误都被报告：前一个错误不应阻止后续语句继续检查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622"/>
          </a:bodyPr>
          <a:lstStyle/>
          <a:p>
            <a:r>
              <a:rPr>
                <a:latin typeface="Arial"/>
                <a:ea typeface="Arial"/>
                <a:cs typeface="Arial"/>
              </a:rPr>
              <a:t>ErrorType：让失败的子树仍可参与推导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6C3428B-053E-6B4E-39FF-75B44F3F33F6}" type="slidenum">
              <a:t>32</a:t>
            </a:fld>
            <a:endParaRPr/>
          </a:p>
        </p:txBody>
      </p:sp>
      <p:sp>
        <p:nvSpPr>
          <p:cNvPr id="10" name="ErrorType thesis">
            <a:extLst>
              <a:ext uri="{FF2B5EF4-FFF2-40B4-BE49-F238E27FC236}">
                <a16:creationId xmlns:a16="http://schemas.microsoft.com/office/drawing/2014/main" id="{0F854D2D-3802-4A50-A95D-CAC800BDCF9F}"/>
              </a:ext>
            </a:extLst>
          </p:cNvPr>
          <p:cNvSpPr>
            <a:spLocks noGrp="1"/>
          </p:cNvSpPr>
          <p:nvPr/>
        </p:nvSpPr>
        <p:spPr>
          <a:xfrm>
            <a:off x="658368" y="1298448"/>
            <a:ext cx="800100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800" b="1" i="0">
                <a:solidFill>
                  <a:srgbClr val="404040"/>
                </a:solidFill>
                <a:latin typeface="Arial"/>
                <a:ea typeface="Arial"/>
                <a:cs typeface="Arial"/>
              </a:rPr>
              <a:t>引入特殊的“错误类型”，让类型检查算法保持可继续执行</a:t>
            </a:r>
          </a:p>
        </p:txBody>
      </p:sp>
      <p:sp>
        <p:nvSpPr>
          <p:cNvPr id="11" name="Environment heading">
            <a:extLst>
              <a:ext uri="{FF2B5EF4-FFF2-40B4-BE49-F238E27FC236}">
                <a16:creationId xmlns:a16="http://schemas.microsoft.com/office/drawing/2014/main" id="{817D252C-FBF5-44A5-A959-2254B97EDD03}"/>
              </a:ext>
            </a:extLst>
          </p:cNvPr>
          <p:cNvSpPr>
            <a:spLocks noGrp="1"/>
          </p:cNvSpPr>
          <p:nvPr/>
        </p:nvSpPr>
        <p:spPr>
          <a:xfrm>
            <a:off x="594360" y="1719072"/>
            <a:ext cx="3886200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8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未声明变量：在环境中记住失败</a:t>
            </a:r>
          </a:p>
        </p:txBody>
      </p:sp>
      <p:sp>
        <p:nvSpPr>
          <p:cNvPr id="12" name="Rule heading">
            <a:extLst>
              <a:ext uri="{FF2B5EF4-FFF2-40B4-BE49-F238E27FC236}">
                <a16:creationId xmlns:a16="http://schemas.microsoft.com/office/drawing/2014/main" id="{ED03DB2E-4F3E-464C-AE3D-898868084566}"/>
              </a:ext>
            </a:extLst>
          </p:cNvPr>
          <p:cNvSpPr>
            <a:spLocks noGrp="1"/>
          </p:cNvSpPr>
          <p:nvPr/>
        </p:nvSpPr>
        <p:spPr>
          <a:xfrm>
            <a:off x="4480560" y="1719072"/>
            <a:ext cx="4041648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8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表达式规则：传播 Error，不重复报错</a:t>
            </a:r>
          </a:p>
        </p:txBody>
      </p:sp>
      <p:sp>
        <p:nvSpPr>
          <p:cNvPr id="13" name="checkVar pseudocode">
            <a:extLst>
              <a:ext uri="{FF2B5EF4-FFF2-40B4-BE49-F238E27FC236}">
                <a16:creationId xmlns:a16="http://schemas.microsoft.com/office/drawing/2014/main" id="{CB59B21E-E658-4EB7-B274-2E7C7770F796}"/>
              </a:ext>
            </a:extLst>
          </p:cNvPr>
          <p:cNvSpPr>
            <a:spLocks noGrp="1"/>
          </p:cNvSpPr>
          <p:nvPr/>
        </p:nvSpPr>
        <p:spPr>
          <a:xfrm>
            <a:off x="621792" y="2121408"/>
            <a:ext cx="3822192" cy="2267712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109728" tIns="109728" rIns="109728" bIns="109728" anchor="t"/>
          <a:lstStyle/>
          <a:p>
            <a:pPr algn="l">
              <a:buNone/>
            </a:pPr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Type checkVar(Name x, Env Γ) {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if (!Γ.contains(x)) {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  report("undeclared", x);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  Γ.insert(x, Error);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}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return Γ.lookup(x);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checkAdd pseudocode">
            <a:extLst>
              <a:ext uri="{FF2B5EF4-FFF2-40B4-BE49-F238E27FC236}">
                <a16:creationId xmlns:a16="http://schemas.microsoft.com/office/drawing/2014/main" id="{52B56E9B-39D2-4B3C-BB5B-ADFD415CBB05}"/>
              </a:ext>
            </a:extLst>
          </p:cNvPr>
          <p:cNvSpPr>
            <a:spLocks noGrp="1"/>
          </p:cNvSpPr>
          <p:nvPr/>
        </p:nvSpPr>
        <p:spPr>
          <a:xfrm>
            <a:off x="4645152" y="2121408"/>
            <a:ext cx="3822192" cy="2267712"/>
          </a:xfrm>
          <a:prstGeom prst="rect">
            <a:avLst/>
          </a:prstGeom>
          <a:solidFill>
            <a:srgbClr val="F3F4F5"/>
          </a:solidFill>
          <a:ln w="12700">
            <a:solidFill>
              <a:srgbClr val="B8BDC4"/>
            </a:solidFill>
          </a:ln>
        </p:spPr>
        <p:txBody>
          <a:bodyPr wrap="square" lIns="109728" tIns="109728" rIns="109728" bIns="109728" anchor="t"/>
          <a:lstStyle/>
          <a:p>
            <a:pPr algn="l">
              <a:buNone/>
            </a:pPr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Type checkAdd(Add e, Env Γ) {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Type a = check(e.e1, Γ);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Type b = check(e.e2, Γ);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if (a == Error || b == Error)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  return Error;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require(a == Int &amp;&amp; b == Int);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  return Int;</a:t>
            </a:r>
            <a:br/>
            <a:r>
              <a:rPr sz="1200" b="0" i="0">
                <a:solidFill>
                  <a:srgbClr val="303030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Environment effect">
            <a:extLst>
              <a:ext uri="{FF2B5EF4-FFF2-40B4-BE49-F238E27FC236}">
                <a16:creationId xmlns:a16="http://schemas.microsoft.com/office/drawing/2014/main" id="{A3B4F285-646B-42BC-A3C0-E57905C22B10}"/>
              </a:ext>
            </a:extLst>
          </p:cNvPr>
          <p:cNvSpPr>
            <a:spLocks noGrp="1"/>
          </p:cNvSpPr>
          <p:nvPr/>
        </p:nvSpPr>
        <p:spPr>
          <a:xfrm>
            <a:off x="658368" y="4407408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300" b="1" i="0">
                <a:solidFill>
                  <a:srgbClr val="606060"/>
                </a:solidFill>
                <a:latin typeface="Arial"/>
                <a:ea typeface="Arial"/>
                <a:cs typeface="Arial"/>
              </a:rPr>
              <a:t>再次使用同名变量：lookup 得到 Error，不再重复报告“未声明”</a:t>
            </a:r>
          </a:p>
        </p:txBody>
      </p:sp>
      <p:sp>
        <p:nvSpPr>
          <p:cNvPr id="16" name="Rule effect">
            <a:extLst>
              <a:ext uri="{FF2B5EF4-FFF2-40B4-BE49-F238E27FC236}">
                <a16:creationId xmlns:a16="http://schemas.microsoft.com/office/drawing/2014/main" id="{21450B99-1A30-4F06-AF01-E178F311907A}"/>
              </a:ext>
            </a:extLst>
          </p:cNvPr>
          <p:cNvSpPr>
            <a:spLocks noGrp="1"/>
          </p:cNvSpPr>
          <p:nvPr/>
        </p:nvSpPr>
        <p:spPr>
          <a:xfrm>
            <a:off x="4681728" y="4407408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/>
          <a:lstStyle/>
          <a:p>
            <a:pPr algn="ctr">
              <a:buNone/>
            </a:pPr>
            <a:r>
              <a:rPr sz="1300" b="1" i="0">
                <a:solidFill>
                  <a:srgbClr val="606060"/>
                </a:solidFill>
                <a:latin typeface="Arial"/>
                <a:ea typeface="Arial"/>
                <a:cs typeface="Arial"/>
              </a:rPr>
              <a:t>Error + Int → Error；父节点仍取得返回值，AST 遍历可以继续</a:t>
            </a:r>
          </a:p>
        </p:txBody>
      </p:sp>
      <p:sp>
        <p:nvSpPr>
          <p:cNvPr id="17" name="Recovery boundary">
            <a:extLst>
              <a:ext uri="{FF2B5EF4-FFF2-40B4-BE49-F238E27FC236}">
                <a16:creationId xmlns:a16="http://schemas.microsoft.com/office/drawing/2014/main" id="{8961DF89-56F6-4A7F-8F2D-F05C12CB0384}"/>
              </a:ext>
            </a:extLst>
          </p:cNvPr>
          <p:cNvSpPr>
            <a:spLocks noGrp="1"/>
          </p:cNvSpPr>
          <p:nvPr/>
        </p:nvSpPr>
        <p:spPr>
          <a:xfrm>
            <a:off x="621792" y="4876157"/>
            <a:ext cx="7900416" cy="493776"/>
          </a:xfrm>
          <a:prstGeom prst="rect">
            <a:avLst/>
          </a:prstGeom>
          <a:solidFill>
            <a:srgbClr val="F9E9EB"/>
          </a:solidFill>
          <a:ln w="12700">
            <a:solidFill>
              <a:srgbClr val="E3A8B0"/>
            </a:solidFill>
          </a:ln>
        </p:spPr>
        <p:txBody>
          <a:bodyPr wrap="square" lIns="27432" tIns="27432" rIns="27432" bIns="27432" anchor="ctr"/>
          <a:lstStyle/>
          <a:p>
            <a:pPr algn="ctr">
              <a:buNone/>
            </a:pPr>
            <a:r>
              <a:rPr sz="1300" b="1" i="0">
                <a:solidFill>
                  <a:srgbClr val="C8384E"/>
                </a:solidFill>
                <a:latin typeface="Arial"/>
                <a:ea typeface="Arial"/>
                <a:cs typeface="Arial"/>
              </a:rPr>
              <a:t>  对父节点而言，只要有任一子树返回Error Type，那它的类型也为Error；不过它可以不干预子树的递归检查，因而可以发现更多错误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FA0E9-31C5-23AB-FBCB-D25C7DCD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22481-E197-348D-480D-522C5CFE7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名字解析与作用域</a:t>
            </a:r>
          </a:p>
          <a:p>
            <a:pPr>
              <a:buFont typeface="Arial"/>
              <a:buChar char="•"/>
            </a:pPr>
            <a:r>
              <a:rPr sz="2000" b="0"/>
              <a:t>名字解析：将变量名解析为具体符号，供后续步骤使用</a:t>
            </a:r>
          </a:p>
          <a:p>
            <a:pPr>
              <a:buFont typeface="Arial"/>
              <a:buChar char="•"/>
            </a:pPr>
            <a:r>
              <a:rPr sz="2000" b="0"/>
              <a:t>作用域：存在嵌套结构，可用栈实现</a:t>
            </a:r>
          </a:p>
          <a:p>
            <a:pPr>
              <a:buFont typeface="Arial"/>
              <a:buChar char="•"/>
            </a:pPr>
            <a:r>
              <a:rPr sz="2000" b="0"/>
              <a:t>解析结构：symbol table</a:t>
            </a:r>
            <a:endParaRPr b="0"/>
          </a:p>
          <a:p>
            <a:pPr marL="0" indent="0">
              <a:buNone/>
            </a:pPr>
            <a:r>
              <a:t>类型检查</a:t>
            </a:r>
          </a:p>
          <a:p>
            <a:pPr>
              <a:buFont typeface="Arial"/>
              <a:buChar char="•"/>
            </a:pPr>
            <a:r>
              <a:rPr sz="2000" b="0"/>
              <a:t>基本理论：类型推导（ Γ ⊢ e : T）</a:t>
            </a:r>
          </a:p>
          <a:p>
            <a:pPr>
              <a:buFont typeface="Arial"/>
              <a:buChar char="•"/>
            </a:pPr>
            <a:r>
              <a:rPr sz="2000" b="0"/>
              <a:t>推导规则与转换为代码</a:t>
            </a:r>
          </a:p>
          <a:p>
            <a:pPr>
              <a:buFont typeface="Arial"/>
              <a:buChar char="•"/>
            </a:pPr>
            <a:endParaRPr b="0"/>
          </a:p>
          <a:p>
            <a:pPr>
              <a:buFont typeface="Arial"/>
              <a:buChar char="•"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5C06E8-C539-7B6F-0AB7-A44E2F1FC3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F15020-66A7-620A-7B7A-C05C4312DEAE}" type="slidenum">
              <a:t>33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8F38AF-F323-2E5A-4FAB-C45AAE050F1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32987268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A555-7FCB-3D31-18A9-30AEF76D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类型系统与类型检查设计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10D97-8949-4511-D1E2-EDAEB38AB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更复杂的类型系统，需要更复杂的类型检查吗？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751420-7FEB-9B08-B193-B81DC9B904B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9F9B2FD-F323-2D0A-D581-D6E61055F9A8}" type="slidenum"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3534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79BA4-B947-2136-5AA3-FEEA05AE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自定义类型：同样需要维护“环境”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6D84B-DF6F-CF5D-C9A3-E5C55D31A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类比</a:t>
            </a:r>
            <a:r>
              <a:rPr>
                <a:solidFill>
                  <a:srgbClr val="404040"/>
                </a:solidFill>
              </a:rPr>
              <a:t>Γ（变量环境）维护变量-&gt;类型映射</a:t>
            </a:r>
          </a:p>
          <a:p>
            <a:pPr>
              <a:buFont typeface="Arial"/>
              <a:buChar char="•"/>
            </a:pPr>
            <a:r>
              <a:rPr sz="2000"/>
              <a:t>同样维护类型环境： 记为Δ</a:t>
            </a:r>
          </a:p>
          <a:p>
            <a:pPr>
              <a:buFont typeface="Arial"/>
              <a:buChar char="•"/>
            </a:pPr>
            <a:r>
              <a:rPr sz="2000"/>
              <a:t>维护类型名称到具体类型信息的映射</a:t>
            </a:r>
          </a:p>
          <a:p>
            <a:pPr>
              <a:buFont typeface="Arial"/>
              <a:buChar char="•"/>
            </a:pPr>
            <a:r>
              <a:rPr sz="1600"/>
              <a:t>常见记录信息包括：内置字段及类型、元素数（长度）、与其他类型的关系（继承）等</a:t>
            </a:r>
          </a:p>
          <a:p>
            <a:pPr>
              <a:buFont typeface="Arial"/>
              <a:buChar char="•"/>
            </a:pPr>
            <a:r>
              <a:rPr sz="2000"/>
              <a:t>同样在类型检查过程使用</a:t>
            </a:r>
          </a:p>
          <a:p>
            <a:pPr>
              <a:buFont typeface="Arial"/>
              <a:buChar char="•"/>
            </a:pPr>
            <a:r>
              <a:rPr sz="1600"/>
              <a:t>x ∉ dom(Γ) → 未定义变量</a:t>
            </a:r>
          </a:p>
          <a:p>
            <a:pPr>
              <a:buFont typeface="Arial"/>
              <a:buChar char="•"/>
            </a:pPr>
            <a:r>
              <a:rPr sz="1600"/>
              <a:t>T ∉ dom(Δ) → 未定义类型</a:t>
            </a:r>
          </a:p>
          <a:p>
            <a:pPr>
              <a:buFont typeface="Arial"/>
              <a:buChar char="•"/>
            </a:pPr>
            <a:r>
              <a:rPr sz="1600"/>
              <a:t>也可以按栈式作用域实现（某些类型定义作用域受限）</a:t>
            </a:r>
          </a:p>
          <a:p>
            <a:pPr>
              <a:buFont typeface="Arial"/>
              <a:buChar char="•"/>
            </a:pPr>
            <a:endParaRPr sz="160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0E108-06D3-205F-3403-D2D2909346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C2EC43-E3B9-C9B0-67FF-5447EB7F3925}" type="slidenum">
              <a:t>35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89D100-59E2-6614-E58B-9289EE9E70F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8396187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9F9A9-E140-D390-D2A5-D0E80690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案例1: 递归类型定义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CAEEC6-5054-CF0C-9A01-7850B72FE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类型定义存在互相依赖的情况</a:t>
            </a:r>
          </a:p>
          <a:p>
            <a:pPr>
              <a:buFont typeface="Arial"/>
              <a:buChar char="•"/>
            </a:pPr>
            <a:r>
              <a:rPr sz="2000"/>
              <a:t>案例：进程与线程</a:t>
            </a:r>
          </a:p>
          <a:p>
            <a:pPr>
              <a:buFont typeface="Arial"/>
              <a:buChar char="•"/>
            </a:pPr>
            <a:r>
              <a:rPr sz="2000"/>
              <a:t>无论谁写前面，类型检查总会遇到还未见过的类型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FC8030-B98D-F9D5-B7BB-5941654E72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A4FA566-8B12-6DD2-DDB5-FA6393938FB6}" type="slidenum">
              <a:t>36</a:t>
            </a:fld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072827-D4C6-3936-DAA7-9E5CB2A14774}"/>
              </a:ext>
            </a:extLst>
          </p:cNvPr>
          <p:cNvSpPr>
            <a:spLocks noGrp="1"/>
          </p:cNvSpPr>
          <p:nvPr/>
        </p:nvSpPr>
        <p:spPr>
          <a:xfrm>
            <a:off x="2689669" y="3015910"/>
            <a:ext cx="2390398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 anchor="t">
            <a:spAutoFit/>
          </a:bodyPr>
          <a:lstStyle/>
          <a:p>
            <a:pPr algn="l">
              <a:buNone/>
              <a:defRPr sz="180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800">
                <a:solidFill>
                  <a:srgbClr val="414141"/>
                </a:solidFill>
                <a:latin typeface="Menlo"/>
                <a:ea typeface="Menlo"/>
                <a:cs typeface="Menlo"/>
              </a:rPr>
              <a:t>type process = {</a:t>
            </a:r>
          </a:p>
          <a:p>
            <a:pPr algn="l">
              <a:buNone/>
              <a:defRPr sz="180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800">
                <a:solidFill>
                  <a:srgbClr val="414141"/>
                </a:solidFill>
                <a:latin typeface="Menlo"/>
                <a:ea typeface="Menlo"/>
                <a:cs typeface="Menlo"/>
              </a:rPr>
              <a:t>  pid: int,</a:t>
            </a:r>
          </a:p>
          <a:p>
            <a:pPr algn="l">
              <a:buNone/>
              <a:defRPr sz="180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800">
                <a:solidFill>
                  <a:srgbClr val="414141"/>
                </a:solidFill>
                <a:latin typeface="Menlo"/>
                <a:ea typeface="Menlo"/>
                <a:cs typeface="Menlo"/>
              </a:rPr>
              <a:t>  main: thread</a:t>
            </a:r>
          </a:p>
          <a:p>
            <a:pPr algn="l">
              <a:buNone/>
              <a:defRPr sz="180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800">
                <a:solidFill>
                  <a:srgbClr val="414141"/>
                </a:solidFill>
                <a:latin typeface="Menlo"/>
                <a:ea typeface="Menlo"/>
                <a:cs typeface="Menlo"/>
              </a:rPr>
              <a:t>}</a:t>
            </a:r>
          </a:p>
          <a:p>
            <a:endParaRPr sz="180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80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800">
                <a:solidFill>
                  <a:srgbClr val="414141"/>
                </a:solidFill>
                <a:latin typeface="Menlo"/>
                <a:ea typeface="Menlo"/>
                <a:cs typeface="Menlo"/>
              </a:rPr>
              <a:t>type thread = {</a:t>
            </a:r>
          </a:p>
          <a:p>
            <a:pPr algn="l">
              <a:buNone/>
              <a:defRPr sz="180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800">
                <a:solidFill>
                  <a:srgbClr val="414141"/>
                </a:solidFill>
                <a:latin typeface="Menlo"/>
                <a:ea typeface="Menlo"/>
                <a:cs typeface="Menlo"/>
              </a:rPr>
              <a:t>  tid: int,</a:t>
            </a:r>
          </a:p>
          <a:p>
            <a:pPr algn="l">
              <a:buNone/>
              <a:defRPr sz="180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800">
                <a:solidFill>
                  <a:srgbClr val="414141"/>
                </a:solidFill>
                <a:latin typeface="Menlo"/>
                <a:ea typeface="Menlo"/>
                <a:cs typeface="Menlo"/>
              </a:rPr>
              <a:t>  owner: process</a:t>
            </a:r>
          </a:p>
          <a:p>
            <a:pPr algn="l">
              <a:buNone/>
              <a:defRPr sz="180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800">
                <a:solidFill>
                  <a:srgbClr val="414141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836B8C-9757-3447-7712-94135B8E7CAE}"/>
              </a:ext>
            </a:extLst>
          </p:cNvPr>
          <p:cNvSpPr>
            <a:spLocks noGrp="1"/>
          </p:cNvSpPr>
          <p:nvPr/>
        </p:nvSpPr>
        <p:spPr>
          <a:xfrm>
            <a:off x="3807953" y="3595431"/>
            <a:ext cx="981777" cy="2887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D16BFF-499C-D8AB-DEDB-A4DB454A0A11}"/>
              </a:ext>
            </a:extLst>
          </p:cNvPr>
          <p:cNvSpPr>
            <a:spLocks noGrp="1"/>
          </p:cNvSpPr>
          <p:nvPr/>
        </p:nvSpPr>
        <p:spPr>
          <a:xfrm>
            <a:off x="5366802" y="3680855"/>
            <a:ext cx="1663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C00000"/>
                </a:solidFill>
              </a:rPr>
              <a:t>未定义类型？</a:t>
            </a:r>
          </a:p>
        </p:txBody>
      </p:sp>
      <p:cxnSp>
        <p:nvCxnSpPr>
          <p:cNvPr id="196" name="曲线连接符 11"/>
          <p:cNvCxnSpPr>
            <a:stCxn id="8" idx="3"/>
            <a:endCxn id="10" idx="1"/>
          </p:cNvCxnSpPr>
          <p:nvPr/>
        </p:nvCxnSpPr>
        <p:spPr>
          <a:xfrm>
            <a:off x="4789730" y="3739810"/>
            <a:ext cx="577072" cy="1257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116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8229600" cy="581025"/>
          </a:xfrm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270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解决方案：允许“不完整类型”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857375"/>
            <a:ext cx="3524250" cy="1238250"/>
          </a:xfr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x       ↦  INT</a:t>
            </a:r>
          </a:p>
          <a:p>
            <a:pPr algn="l">
              <a:lnSpc>
                <a:spcPct val="117000"/>
              </a:lnSpc>
              <a:buNone/>
              <a:defRPr sz="1275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endParaRPr sz="1275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5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查找失败  →  未定义变量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39A338D-B192-3127-EB9A-53A2665A0BB7}" type="slidenum">
              <a:t>37</a:t>
            </a:fld>
            <a:endParaRPr/>
          </a:p>
        </p:txBody>
      </p:sp>
      <p:sp>
        <p:nvSpPr>
          <p:cNvPr id="6" name="s33-venv-heading">
            <a:extLst>
              <a:ext uri="{FF2B5EF4-FFF2-40B4-BE49-F238E27FC236}">
                <a16:creationId xmlns:a16="http://schemas.microsoft.com/office/drawing/2014/main" id="{4B97E075-0FA4-4576-9C93-EBF0216D9320}"/>
              </a:ext>
            </a:extLst>
          </p:cNvPr>
          <p:cNvSpPr>
            <a:spLocks noGrp="1"/>
          </p:cNvSpPr>
          <p:nvPr/>
        </p:nvSpPr>
        <p:spPr>
          <a:xfrm>
            <a:off x="552450" y="1487304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Γ / </a:t>
            </a: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变量</a:t>
            </a: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环境（VEnv）</a:t>
            </a:r>
          </a:p>
        </p:txBody>
      </p:sp>
      <p:sp>
        <p:nvSpPr>
          <p:cNvPr id="7" name="s33-column-divider">
            <a:extLst>
              <a:ext uri="{FF2B5EF4-FFF2-40B4-BE49-F238E27FC236}">
                <a16:creationId xmlns:a16="http://schemas.microsoft.com/office/drawing/2014/main" id="{EF1440C6-0337-4F6E-B057-2AE2FC6F1015}"/>
              </a:ext>
            </a:extLst>
          </p:cNvPr>
          <p:cNvSpPr>
            <a:spLocks noGrp="1"/>
          </p:cNvSpPr>
          <p:nvPr/>
        </p:nvSpPr>
        <p:spPr>
          <a:xfrm>
            <a:off x="4543425" y="1439679"/>
            <a:ext cx="0" cy="17145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s33-tenv-heading">
            <a:extLst>
              <a:ext uri="{FF2B5EF4-FFF2-40B4-BE49-F238E27FC236}">
                <a16:creationId xmlns:a16="http://schemas.microsoft.com/office/drawing/2014/main" id="{59DF926C-C55B-4C35-811F-36D8882327FD}"/>
              </a:ext>
            </a:extLst>
          </p:cNvPr>
          <p:cNvSpPr>
            <a:spLocks noGrp="1"/>
          </p:cNvSpPr>
          <p:nvPr/>
        </p:nvSpPr>
        <p:spPr>
          <a:xfrm>
            <a:off x="4972050" y="1487304"/>
            <a:ext cx="3638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Δ / 类型环境（TEnv）</a:t>
            </a:r>
          </a:p>
        </p:txBody>
      </p:sp>
      <p:sp>
        <p:nvSpPr>
          <p:cNvPr id="9" name="s33-tenv-body">
            <a:extLst>
              <a:ext uri="{FF2B5EF4-FFF2-40B4-BE49-F238E27FC236}">
                <a16:creationId xmlns:a16="http://schemas.microsoft.com/office/drawing/2014/main" id="{F7DBA2B5-7832-44A4-A7D1-11366118CCAD}"/>
              </a:ext>
            </a:extLst>
          </p:cNvPr>
          <p:cNvSpPr>
            <a:spLocks noGrp="1"/>
          </p:cNvSpPr>
          <p:nvPr/>
        </p:nvSpPr>
        <p:spPr>
          <a:xfrm>
            <a:off x="4981575" y="1857375"/>
            <a:ext cx="3629025" cy="132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int        ↦  INT</a:t>
            </a: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process  ↦  P = NAME(process, target=null)</a:t>
            </a: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thread    ↦  T = NAME(thread,  target=null)</a:t>
            </a:r>
          </a:p>
          <a:p>
            <a:endParaRPr sz="1050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endParaRPr sz="1050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8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查找失败  →  未定义类型</a:t>
            </a:r>
          </a:p>
        </p:txBody>
      </p:sp>
      <p:sp>
        <p:nvSpPr>
          <p:cNvPr id="10" name="s33-type-structure-band">
            <a:extLst>
              <a:ext uri="{FF2B5EF4-FFF2-40B4-BE49-F238E27FC236}">
                <a16:creationId xmlns:a16="http://schemas.microsoft.com/office/drawing/2014/main" id="{C1069C57-CCA9-4EB8-A534-94C17BF3668B}"/>
              </a:ext>
            </a:extLst>
          </p:cNvPr>
          <p:cNvSpPr>
            <a:spLocks noGrp="1"/>
          </p:cNvSpPr>
          <p:nvPr/>
        </p:nvSpPr>
        <p:spPr>
          <a:xfrm>
            <a:off x="457200" y="3505542"/>
            <a:ext cx="8229600" cy="779646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</p:sp>
      <p:sp>
        <p:nvSpPr>
          <p:cNvPr id="11" name="s33-type-structure-heading">
            <a:extLst>
              <a:ext uri="{FF2B5EF4-FFF2-40B4-BE49-F238E27FC236}">
                <a16:creationId xmlns:a16="http://schemas.microsoft.com/office/drawing/2014/main" id="{50C39A47-5EEE-41CF-B998-37F22C7FF655}"/>
              </a:ext>
            </a:extLst>
          </p:cNvPr>
          <p:cNvSpPr>
            <a:spLocks noGrp="1"/>
          </p:cNvSpPr>
          <p:nvPr/>
        </p:nvSpPr>
        <p:spPr>
          <a:xfrm>
            <a:off x="590550" y="3610317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 i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14141"/>
                </a:solidFill>
                <a:latin typeface="Arial"/>
                <a:ea typeface="Arial"/>
                <a:cs typeface="Arial"/>
              </a:rPr>
              <a:t>Tiger 的 Type 对象（C++ 实现）</a:t>
            </a:r>
          </a:p>
        </p:txBody>
      </p:sp>
      <p:sp>
        <p:nvSpPr>
          <p:cNvPr id="12" name="s33-type-structure-code">
            <a:extLst>
              <a:ext uri="{FF2B5EF4-FFF2-40B4-BE49-F238E27FC236}">
                <a16:creationId xmlns:a16="http://schemas.microsoft.com/office/drawing/2014/main" id="{55FCEB5D-2D8C-4531-A835-4C6EC2836610}"/>
              </a:ext>
            </a:extLst>
          </p:cNvPr>
          <p:cNvSpPr>
            <a:spLocks noGrp="1"/>
          </p:cNvSpPr>
          <p:nvPr/>
        </p:nvSpPr>
        <p:spPr>
          <a:xfrm>
            <a:off x="590550" y="3962742"/>
            <a:ext cx="7962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2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12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INT | STRING | NIL | VOID | NAME(symbol, target) | RECORD(fields) | ARRAY(elem)</a:t>
            </a:r>
          </a:p>
        </p:txBody>
      </p:sp>
      <p:sp>
        <p:nvSpPr>
          <p:cNvPr id="13" name="s33-conclusion-band">
            <a:extLst>
              <a:ext uri="{FF2B5EF4-FFF2-40B4-BE49-F238E27FC236}">
                <a16:creationId xmlns:a16="http://schemas.microsoft.com/office/drawing/2014/main" id="{02AC1571-DF05-465D-BF34-7897A01D37F3}"/>
              </a:ext>
            </a:extLst>
          </p:cNvPr>
          <p:cNvSpPr>
            <a:spLocks noGrp="1"/>
          </p:cNvSpPr>
          <p:nvPr/>
        </p:nvSpPr>
        <p:spPr>
          <a:xfrm>
            <a:off x="457200" y="4543425"/>
            <a:ext cx="8229600" cy="495300"/>
          </a:xfrm>
          <a:prstGeom prst="rect">
            <a:avLst/>
          </a:prstGeom>
          <a:solidFill>
            <a:srgbClr val="FCECEF"/>
          </a:solidFill>
          <a:ln w="0">
            <a:noFill/>
            <a:prstDash val="solid"/>
          </a:ln>
        </p:spPr>
      </p:sp>
      <p:sp>
        <p:nvSpPr>
          <p:cNvPr id="14" name="s33-conclusion">
            <a:extLst>
              <a:ext uri="{FF2B5EF4-FFF2-40B4-BE49-F238E27FC236}">
                <a16:creationId xmlns:a16="http://schemas.microsoft.com/office/drawing/2014/main" id="{1E30C023-1AF9-48D1-9E94-8C66C4AF974D}"/>
              </a:ext>
            </a:extLst>
          </p:cNvPr>
          <p:cNvSpPr>
            <a:spLocks noGrp="1"/>
          </p:cNvSpPr>
          <p:nvPr/>
        </p:nvSpPr>
        <p:spPr>
          <a:xfrm>
            <a:off x="600075" y="4638675"/>
            <a:ext cx="794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target = null ≠ 类型未定义：类型名已进入 Δ，只是具体定义尚未填入。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E31DD693-9FE5-8C44-D981-E9A536EA0B77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822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lIns="0" tIns="0" rIns="0" bIns="0" anchor="ctr">
            <a:normAutofit/>
          </a:bodyPr>
          <a:lstStyle>
            <a:lvl1pPr marL="342900" indent="-342900" algn="l" defTabSz="914400">
              <a:lnSpc>
                <a:spcPct val="120000"/>
              </a:lnSpc>
              <a:spcBef>
                <a:spcPts val="1200"/>
              </a:spcBef>
              <a:buFont typeface="Arial"/>
              <a:buNone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08000"/>
              </a:lnSpc>
              <a:buNone/>
              <a:defRPr sz="1950" b="1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chemeClr val="tx1"/>
                </a:solidFill>
                <a:latin typeface="Arial"/>
                <a:ea typeface="Arial"/>
                <a:cs typeface="Arial"/>
              </a:rPr>
              <a:t>Tiger 的方法：引入可回填的 NAME 类型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8229600" cy="581025"/>
          </a:xfrm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270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Tiger：两遍处理，补全同一批类型对象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D334276-4C85-190E-BA41-5CA1CBB04E4E}" type="slidenum">
              <a:t>38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D31B2-CD1C-8DA6-61BB-2BA7E91085F8}"/>
              </a:ext>
            </a:extLst>
          </p:cNvPr>
          <p:cNvSpPr>
            <a:spLocks noGrp="1"/>
          </p:cNvSpPr>
          <p:nvPr/>
        </p:nvSpPr>
        <p:spPr>
          <a:xfrm>
            <a:off x="533400" y="1724025"/>
            <a:ext cx="3524250" cy="1685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P = NameTy(process, target=null)</a:t>
            </a:r>
          </a:p>
          <a:p>
            <a:pPr algn="l">
              <a:lnSpc>
                <a:spcPct val="112000"/>
              </a:lnSpc>
              <a:buNone/>
              <a:defRPr sz="12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T = NameTy(thread,  target=null)</a:t>
            </a:r>
          </a:p>
          <a:p>
            <a:pPr algn="l">
              <a:lnSpc>
                <a:spcPct val="108000"/>
              </a:lnSpc>
              <a:buNone/>
              <a:defRPr sz="1275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endParaRPr sz="1200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2000"/>
              </a:lnSpc>
              <a:buNone/>
              <a:defRPr sz="12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Δ₁ = Δ₀ + { process ↦ P, thread ↦ T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1C453-2FF9-87F0-4A9F-23636AB2DDAD}"/>
              </a:ext>
            </a:extLst>
          </p:cNvPr>
          <p:cNvSpPr>
            <a:spLocks noGrp="1"/>
          </p:cNvSpPr>
          <p:nvPr/>
        </p:nvSpPr>
        <p:spPr>
          <a:xfrm>
            <a:off x="5086350" y="1724025"/>
            <a:ext cx="3524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P.target = RecordTy {</a:t>
            </a:r>
          </a:p>
          <a:p>
            <a:pPr algn="l">
              <a:lnSpc>
                <a:spcPct val="10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pid:  INT,</a:t>
            </a:r>
          </a:p>
          <a:p>
            <a:pPr algn="l">
              <a:lnSpc>
                <a:spcPct val="10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main: T</a:t>
            </a:r>
          </a:p>
          <a:p>
            <a:pPr algn="l">
              <a:lnSpc>
                <a:spcPct val="10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</a:t>
            </a:r>
          </a:p>
          <a:p>
            <a:endParaRPr sz="1275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T.target = RecordTy {</a:t>
            </a:r>
          </a:p>
          <a:p>
            <a:pPr algn="l">
              <a:lnSpc>
                <a:spcPct val="10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tid:   INT,</a:t>
            </a:r>
          </a:p>
          <a:p>
            <a:pPr algn="l">
              <a:lnSpc>
                <a:spcPct val="10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owner: P</a:t>
            </a:r>
          </a:p>
          <a:p>
            <a:pPr algn="l">
              <a:lnSpc>
                <a:spcPct val="10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s34-pass1-heading">
            <a:extLst>
              <a:ext uri="{FF2B5EF4-FFF2-40B4-BE49-F238E27FC236}">
                <a16:creationId xmlns:a16="http://schemas.microsoft.com/office/drawing/2014/main" id="{E96AFBAD-5152-471B-8C03-5E728CC8464C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3524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Pass 1  建立稳定身份</a:t>
            </a:r>
          </a:p>
        </p:txBody>
      </p:sp>
      <p:sp>
        <p:nvSpPr>
          <p:cNvPr id="9" name="s34-pass1-note">
            <a:extLst>
              <a:ext uri="{FF2B5EF4-FFF2-40B4-BE49-F238E27FC236}">
                <a16:creationId xmlns:a16="http://schemas.microsoft.com/office/drawing/2014/main" id="{CE99A63C-6A6C-4195-A9D4-94100FF02F7B}"/>
              </a:ext>
            </a:extLst>
          </p:cNvPr>
          <p:cNvSpPr>
            <a:spLocks noGrp="1"/>
          </p:cNvSpPr>
          <p:nvPr/>
        </p:nvSpPr>
        <p:spPr>
          <a:xfrm>
            <a:off x="533400" y="3763277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14141"/>
                </a:solidFill>
                <a:latin typeface="Arial"/>
                <a:ea typeface="Arial"/>
                <a:cs typeface="Arial"/>
              </a:rPr>
              <a:t>检查 main: thread 时，lookup Δ 已能返回 T</a:t>
            </a:r>
          </a:p>
        </p:txBody>
      </p:sp>
      <p:sp>
        <p:nvSpPr>
          <p:cNvPr id="10" name="s34-pass-arrow">
            <a:extLst>
              <a:ext uri="{FF2B5EF4-FFF2-40B4-BE49-F238E27FC236}">
                <a16:creationId xmlns:a16="http://schemas.microsoft.com/office/drawing/2014/main" id="{57364CD0-2388-4AE6-8F59-71EF780087E8}"/>
              </a:ext>
            </a:extLst>
          </p:cNvPr>
          <p:cNvSpPr>
            <a:spLocks noGrp="1"/>
          </p:cNvSpPr>
          <p:nvPr/>
        </p:nvSpPr>
        <p:spPr>
          <a:xfrm>
            <a:off x="4276725" y="2505075"/>
            <a:ext cx="523875" cy="295275"/>
          </a:xfrm>
          <a:prstGeom prst="rightArrow">
            <a:avLst/>
          </a:prstGeom>
          <a:solidFill>
            <a:srgbClr val="E6AEB7"/>
          </a:solidFill>
          <a:ln w="0">
            <a:noFill/>
            <a:prstDash val="solid"/>
          </a:ln>
        </p:spPr>
      </p:sp>
      <p:sp>
        <p:nvSpPr>
          <p:cNvPr id="11" name="s34-pass2-heading">
            <a:extLst>
              <a:ext uri="{FF2B5EF4-FFF2-40B4-BE49-F238E27FC236}">
                <a16:creationId xmlns:a16="http://schemas.microsoft.com/office/drawing/2014/main" id="{7E4A2617-3A93-4FFD-A2F9-67B596337181}"/>
              </a:ext>
            </a:extLst>
          </p:cNvPr>
          <p:cNvSpPr>
            <a:spLocks noGrp="1"/>
          </p:cNvSpPr>
          <p:nvPr/>
        </p:nvSpPr>
        <p:spPr>
          <a:xfrm>
            <a:off x="5086350" y="1304925"/>
            <a:ext cx="3524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Pass 2  翻译 RHS，再填 target</a:t>
            </a:r>
          </a:p>
        </p:txBody>
      </p:sp>
      <p:sp>
        <p:nvSpPr>
          <p:cNvPr id="12" name="s34-pass2-note">
            <a:extLst>
              <a:ext uri="{FF2B5EF4-FFF2-40B4-BE49-F238E27FC236}">
                <a16:creationId xmlns:a16="http://schemas.microsoft.com/office/drawing/2014/main" id="{1DB144A4-A7FB-40DF-A610-31D5110062D6}"/>
              </a:ext>
            </a:extLst>
          </p:cNvPr>
          <p:cNvSpPr>
            <a:spLocks noGrp="1"/>
          </p:cNvSpPr>
          <p:nvPr/>
        </p:nvSpPr>
        <p:spPr>
          <a:xfrm>
            <a:off x="4800600" y="3763277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80" b="1" i="0">
                <a:solidFill>
                  <a:srgbClr val="414141"/>
                </a:solidFill>
                <a:latin typeface="Arial"/>
                <a:ea typeface="Arial"/>
                <a:cs typeface="Arial"/>
              </a:rPr>
              <a:t>分析RHS，自然解析出Record</a:t>
            </a:r>
            <a:r>
              <a:rPr sz="128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信息，类型就完整了</a:t>
            </a:r>
          </a:p>
        </p:txBody>
      </p:sp>
      <p:sp>
        <p:nvSpPr>
          <p:cNvPr id="13" name="s34-boundary-band">
            <a:extLst>
              <a:ext uri="{FF2B5EF4-FFF2-40B4-BE49-F238E27FC236}">
                <a16:creationId xmlns:a16="http://schemas.microsoft.com/office/drawing/2014/main" id="{6639B2DC-5A26-4EC1-B6E7-F87D6A053856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8229600" cy="533400"/>
          </a:xfrm>
          <a:prstGeom prst="rect">
            <a:avLst/>
          </a:prstGeom>
          <a:solidFill>
            <a:srgbClr val="FCECEF"/>
          </a:solidFill>
          <a:ln w="0">
            <a:noFill/>
            <a:prstDash val="solid"/>
          </a:ln>
        </p:spPr>
      </p:sp>
      <p:sp>
        <p:nvSpPr>
          <p:cNvPr id="14" name="s34-boundary">
            <a:extLst>
              <a:ext uri="{FF2B5EF4-FFF2-40B4-BE49-F238E27FC236}">
                <a16:creationId xmlns:a16="http://schemas.microsoft.com/office/drawing/2014/main" id="{3CB94FAA-108A-4EEC-A843-6BED71702565}"/>
              </a:ext>
            </a:extLst>
          </p:cNvPr>
          <p:cNvSpPr>
            <a:spLocks noGrp="1"/>
          </p:cNvSpPr>
          <p:nvPr/>
        </p:nvSpPr>
        <p:spPr>
          <a:xfrm>
            <a:off x="600075" y="4676775"/>
            <a:ext cx="794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为何保留 NAME：若只替换 Δ(thread)，process.main 已保存的旧对象 T 仍不会被补全。</a:t>
            </a:r>
          </a:p>
        </p:txBody>
      </p:sp>
      <p:sp>
        <p:nvSpPr>
          <p:cNvPr id="5" name="s35-subtitle">
            <a:extLst>
              <a:ext uri="{FF2B5EF4-FFF2-40B4-BE49-F238E27FC236}">
                <a16:creationId xmlns:a16="http://schemas.microsoft.com/office/drawing/2014/main" id="{C9547D0D-8AD1-AA44-A9D9-0313532B76DF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807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707070"/>
                </a:solidFill>
                <a:latin typeface="Menlo"/>
                <a:ea typeface="Menlo"/>
                <a:cs typeface="Menlo"/>
              </a:defRPr>
            </a:pPr>
            <a:r>
              <a:rPr sz="1425">
                <a:latin typeface="Menlo"/>
                <a:ea typeface="Menlo"/>
                <a:cs typeface="Menlo"/>
              </a:rPr>
              <a:t>仍是之前的例子</a:t>
            </a:r>
            <a:r>
              <a:rPr sz="1425" b="0" i="0">
                <a:latin typeface="Menlo"/>
                <a:ea typeface="Menlo"/>
                <a:cs typeface="Menlo"/>
              </a:rPr>
              <a:t>：type p</a:t>
            </a:r>
            <a:r>
              <a:rPr sz="1425">
                <a:latin typeface="Menlo"/>
                <a:ea typeface="Menlo"/>
                <a:cs typeface="Menlo"/>
              </a:rPr>
              <a:t>rocess = {…thread}</a:t>
            </a:r>
            <a:r>
              <a:rPr sz="1425" b="0" i="0">
                <a:latin typeface="Menlo"/>
                <a:ea typeface="Menlo"/>
                <a:cs typeface="Menlo"/>
              </a:rPr>
              <a:t>;  type </a:t>
            </a:r>
            <a:r>
              <a:rPr sz="1425">
                <a:latin typeface="Menlo"/>
                <a:ea typeface="Menlo"/>
                <a:cs typeface="Menlo"/>
              </a:rPr>
              <a:t>thread = {…process}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18E0886E-DC5C-4155-8A7E-C9C8683D7AF1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270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问题</a:t>
            </a:r>
            <a:r>
              <a:rPr sz="270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：纯别名环也能通过前两遍</a:t>
            </a:r>
          </a:p>
        </p:txBody>
      </p:sp>
      <p:sp>
        <p:nvSpPr>
          <p:cNvPr id="2" name="s35-subtitle">
            <a:extLst>
              <a:ext uri="{FF2B5EF4-FFF2-40B4-BE49-F238E27FC236}">
                <a16:creationId xmlns:a16="http://schemas.microsoft.com/office/drawing/2014/main" id="{CEA52E6B-A268-4F42-A676-8A3FD0DA13F2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807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777777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777777"/>
                </a:solidFill>
                <a:latin typeface="Menlo"/>
                <a:ea typeface="Menlo"/>
                <a:cs typeface="Menlo"/>
              </a:rPr>
              <a:t>反</a:t>
            </a:r>
            <a:r>
              <a:rPr sz="1500" b="0" i="0">
                <a:solidFill>
                  <a:srgbClr val="777777"/>
                </a:solidFill>
                <a:latin typeface="Menlo"/>
                <a:ea typeface="Menlo"/>
                <a:cs typeface="Menlo"/>
              </a:rPr>
              <a:t>例：type A = B;  type B = A</a:t>
            </a:r>
          </a:p>
        </p:txBody>
      </p:sp>
      <p:sp>
        <p:nvSpPr>
          <p:cNvPr id="3" name="s35-arrow-1">
            <a:extLst>
              <a:ext uri="{FF2B5EF4-FFF2-40B4-BE49-F238E27FC236}">
                <a16:creationId xmlns:a16="http://schemas.microsoft.com/office/drawing/2014/main" id="{75846C5F-82FB-4FED-87E7-505FD17D6E96}"/>
              </a:ext>
            </a:extLst>
          </p:cNvPr>
          <p:cNvSpPr>
            <a:spLocks noGrp="1"/>
          </p:cNvSpPr>
          <p:nvPr/>
        </p:nvSpPr>
        <p:spPr>
          <a:xfrm>
            <a:off x="4276725" y="2505075"/>
            <a:ext cx="523875" cy="295275"/>
          </a:xfrm>
          <a:prstGeom prst="rightArrow">
            <a:avLst/>
          </a:prstGeom>
          <a:solidFill>
            <a:srgbClr val="E6AEB7"/>
          </a:solidFill>
          <a:ln w="0">
            <a:noFill/>
            <a:prstDash val="solid"/>
          </a:ln>
        </p:spPr>
      </p:sp>
      <p:sp>
        <p:nvSpPr>
          <p:cNvPr id="4" name="s35-arrow-2">
            <a:extLst>
              <a:ext uri="{FF2B5EF4-FFF2-40B4-BE49-F238E27FC236}">
                <a16:creationId xmlns:a16="http://schemas.microsoft.com/office/drawing/2014/main" id="{D409BBD8-1935-4F5B-A1B9-1A90404F77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35-source-heading">
            <a:extLst>
              <a:ext uri="{FF2B5EF4-FFF2-40B4-BE49-F238E27FC236}">
                <a16:creationId xmlns:a16="http://schemas.microsoft.com/office/drawing/2014/main" id="{09C855B1-AD19-4E64-A344-782AFD497D07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3524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Pass 1  建立稳定身份</a:t>
            </a:r>
          </a:p>
        </p:txBody>
      </p:sp>
      <p:sp>
        <p:nvSpPr>
          <p:cNvPr id="6" name="s35-source-code">
            <a:extLst>
              <a:ext uri="{FF2B5EF4-FFF2-40B4-BE49-F238E27FC236}">
                <a16:creationId xmlns:a16="http://schemas.microsoft.com/office/drawing/2014/main" id="{D564E784-7666-42E6-A20A-31C5DE30BF68}"/>
              </a:ext>
            </a:extLst>
          </p:cNvPr>
          <p:cNvSpPr>
            <a:spLocks noGrp="1"/>
          </p:cNvSpPr>
          <p:nvPr/>
        </p:nvSpPr>
        <p:spPr>
          <a:xfrm>
            <a:off x="533400" y="1724025"/>
            <a:ext cx="3524250" cy="1685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63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r>
              <a:rPr sz="1463" b="0" i="0">
                <a:solidFill>
                  <a:srgbClr val="3F3F3F"/>
                </a:solidFill>
                <a:latin typeface="Menlo"/>
                <a:ea typeface="Menlo"/>
                <a:cs typeface="Menlo"/>
              </a:rPr>
              <a:t>NA = NameTy(A, target=null)</a:t>
            </a:r>
          </a:p>
          <a:p>
            <a:pPr algn="l">
              <a:lnSpc>
                <a:spcPct val="112000"/>
              </a:lnSpc>
              <a:buNone/>
              <a:defRPr sz="1463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r>
              <a:rPr sz="1463" b="0" i="0">
                <a:solidFill>
                  <a:srgbClr val="3F3F3F"/>
                </a:solidFill>
                <a:latin typeface="Menlo"/>
                <a:ea typeface="Menlo"/>
                <a:cs typeface="Menlo"/>
              </a:rPr>
              <a:t>NB = NameTy(B, target=null)</a:t>
            </a:r>
          </a:p>
          <a:p>
            <a:pPr algn="l">
              <a:lnSpc>
                <a:spcPct val="115000"/>
              </a:lnSpc>
              <a:buNone/>
              <a:defRPr sz="15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endParaRPr sz="1463" b="0" i="0">
              <a:solidFill>
                <a:srgbClr val="3F3F3F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2000"/>
              </a:lnSpc>
              <a:buNone/>
              <a:defRPr sz="1463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r>
              <a:rPr sz="1463" b="0" i="0">
                <a:solidFill>
                  <a:srgbClr val="3F3F3F"/>
                </a:solidFill>
                <a:latin typeface="Menlo"/>
                <a:ea typeface="Menlo"/>
                <a:cs typeface="Menlo"/>
              </a:rPr>
              <a:t>Δ₁ = Δ₀ + { A ↦ NA, B ↦ NB }</a:t>
            </a:r>
          </a:p>
        </p:txBody>
      </p:sp>
      <p:sp>
        <p:nvSpPr>
          <p:cNvPr id="7" name="s35-pass1-heading">
            <a:extLst>
              <a:ext uri="{FF2B5EF4-FFF2-40B4-BE49-F238E27FC236}">
                <a16:creationId xmlns:a16="http://schemas.microsoft.com/office/drawing/2014/main" id="{CBEE9672-1A76-47A4-B725-BEA9D8C49B61}"/>
              </a:ext>
            </a:extLst>
          </p:cNvPr>
          <p:cNvSpPr>
            <a:spLocks noGrp="1"/>
          </p:cNvSpPr>
          <p:nvPr/>
        </p:nvSpPr>
        <p:spPr>
          <a:xfrm>
            <a:off x="533400" y="367665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 i="0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F3F3F"/>
                </a:solidFill>
                <a:latin typeface="Arial"/>
                <a:ea typeface="Arial"/>
                <a:cs typeface="Arial"/>
              </a:rPr>
              <a:t>检查 A 的 RHS B、B 的 RHS A 时，lookup Δ 都能成功。</a:t>
            </a:r>
          </a:p>
        </p:txBody>
      </p:sp>
      <p:sp>
        <p:nvSpPr>
          <p:cNvPr id="8" name="s35-pass1-code">
            <a:extLst>
              <a:ext uri="{FF2B5EF4-FFF2-40B4-BE49-F238E27FC236}">
                <a16:creationId xmlns:a16="http://schemas.microsoft.com/office/drawing/2014/main" id="{283713BB-BE86-4990-9629-2F8F4C6A37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15000"/>
              </a:lnSpc>
              <a:buNone/>
              <a:defRPr sz="112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endParaRPr/>
          </a:p>
        </p:txBody>
      </p:sp>
      <p:sp>
        <p:nvSpPr>
          <p:cNvPr id="9" name="s35-pass2-heading">
            <a:extLst>
              <a:ext uri="{FF2B5EF4-FFF2-40B4-BE49-F238E27FC236}">
                <a16:creationId xmlns:a16="http://schemas.microsoft.com/office/drawing/2014/main" id="{2EB99271-8D1C-46C8-9EC1-0E4F7AA0A0C9}"/>
              </a:ext>
            </a:extLst>
          </p:cNvPr>
          <p:cNvSpPr>
            <a:spLocks noGrp="1"/>
          </p:cNvSpPr>
          <p:nvPr/>
        </p:nvSpPr>
        <p:spPr>
          <a:xfrm>
            <a:off x="5086350" y="1304925"/>
            <a:ext cx="3524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Pass 2  翻译 RHS，再填 target</a:t>
            </a:r>
          </a:p>
        </p:txBody>
      </p:sp>
      <p:sp>
        <p:nvSpPr>
          <p:cNvPr id="10" name="s35-pass2-code">
            <a:extLst>
              <a:ext uri="{FF2B5EF4-FFF2-40B4-BE49-F238E27FC236}">
                <a16:creationId xmlns:a16="http://schemas.microsoft.com/office/drawing/2014/main" id="{6EAE4562-656E-4F3A-9A7C-33B1FC1A8E5C}"/>
              </a:ext>
            </a:extLst>
          </p:cNvPr>
          <p:cNvSpPr>
            <a:spLocks noGrp="1"/>
          </p:cNvSpPr>
          <p:nvPr/>
        </p:nvSpPr>
        <p:spPr>
          <a:xfrm>
            <a:off x="5086350" y="1724025"/>
            <a:ext cx="35242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1000"/>
              </a:lnSpc>
              <a:buNone/>
              <a:defRPr sz="1388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r>
              <a:rPr sz="1388" b="0" i="0">
                <a:solidFill>
                  <a:srgbClr val="3F3F3F"/>
                </a:solidFill>
                <a:latin typeface="Menlo"/>
                <a:ea typeface="Menlo"/>
                <a:cs typeface="Menlo"/>
              </a:rPr>
              <a:t>NA.target =</a:t>
            </a:r>
          </a:p>
          <a:p>
            <a:pPr algn="l">
              <a:lnSpc>
                <a:spcPct val="101000"/>
              </a:lnSpc>
              <a:buNone/>
              <a:defRPr sz="1388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r>
              <a:rPr sz="1388" b="0" i="0">
                <a:solidFill>
                  <a:srgbClr val="3F3F3F"/>
                </a:solidFill>
                <a:latin typeface="Menlo"/>
                <a:ea typeface="Menlo"/>
                <a:cs typeface="Menlo"/>
              </a:rPr>
              <a:t>  resolveTypeExpr(B, Δ)</a:t>
            </a:r>
          </a:p>
          <a:p>
            <a:pPr algn="l">
              <a:lnSpc>
                <a:spcPct val="101000"/>
              </a:lnSpc>
              <a:buNone/>
              <a:defRPr sz="1388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r>
              <a:rPr sz="1388" b="0" i="0">
                <a:solidFill>
                  <a:srgbClr val="3F3F3F"/>
                </a:solidFill>
                <a:latin typeface="Menlo"/>
                <a:ea typeface="Menlo"/>
                <a:cs typeface="Menlo"/>
              </a:rPr>
              <a:t>  = lookup Δ(B) = NB</a:t>
            </a:r>
          </a:p>
          <a:p>
            <a:pPr algn="l">
              <a:lnSpc>
                <a:spcPct val="108000"/>
              </a:lnSpc>
              <a:buNone/>
              <a:defRPr sz="12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endParaRPr sz="1388" b="0" i="0">
              <a:solidFill>
                <a:srgbClr val="3F3F3F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1000"/>
              </a:lnSpc>
              <a:buNone/>
              <a:defRPr sz="1388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r>
              <a:rPr sz="1388" b="0" i="0">
                <a:solidFill>
                  <a:srgbClr val="3F3F3F"/>
                </a:solidFill>
                <a:latin typeface="Menlo"/>
                <a:ea typeface="Menlo"/>
                <a:cs typeface="Menlo"/>
              </a:rPr>
              <a:t>NB.target =</a:t>
            </a:r>
          </a:p>
          <a:p>
            <a:pPr algn="l">
              <a:lnSpc>
                <a:spcPct val="101000"/>
              </a:lnSpc>
              <a:buNone/>
              <a:defRPr sz="1388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r>
              <a:rPr sz="1388" b="0" i="0">
                <a:solidFill>
                  <a:srgbClr val="3F3F3F"/>
                </a:solidFill>
                <a:latin typeface="Menlo"/>
                <a:ea typeface="Menlo"/>
                <a:cs typeface="Menlo"/>
              </a:rPr>
              <a:t>  resolveTypeExpr(A, Δ)</a:t>
            </a:r>
          </a:p>
          <a:p>
            <a:pPr algn="l">
              <a:lnSpc>
                <a:spcPct val="101000"/>
              </a:lnSpc>
              <a:buNone/>
              <a:defRPr sz="1388" b="0" i="0">
                <a:solidFill>
                  <a:srgbClr val="3F3F3F"/>
                </a:solidFill>
                <a:latin typeface="Menlo"/>
                <a:ea typeface="Menlo"/>
                <a:cs typeface="Menlo"/>
              </a:defRPr>
            </a:pPr>
            <a:r>
              <a:rPr sz="1388" b="0" i="0">
                <a:solidFill>
                  <a:srgbClr val="3F3F3F"/>
                </a:solidFill>
                <a:latin typeface="Menlo"/>
                <a:ea typeface="Menlo"/>
                <a:cs typeface="Menlo"/>
              </a:rPr>
              <a:t>  = lookup Δ(A) = NA</a:t>
            </a:r>
          </a:p>
        </p:txBody>
      </p:sp>
      <p:sp>
        <p:nvSpPr>
          <p:cNvPr id="11" name="s35-pass2-note">
            <a:extLst>
              <a:ext uri="{FF2B5EF4-FFF2-40B4-BE49-F238E27FC236}">
                <a16:creationId xmlns:a16="http://schemas.microsoft.com/office/drawing/2014/main" id="{781C0BFD-FCDC-4908-9F6C-9E2F8CB6B291}"/>
              </a:ext>
            </a:extLst>
          </p:cNvPr>
          <p:cNvSpPr>
            <a:spLocks noGrp="1"/>
          </p:cNvSpPr>
          <p:nvPr/>
        </p:nvSpPr>
        <p:spPr>
          <a:xfrm>
            <a:off x="5086350" y="3676650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F3F3F"/>
                </a:solidFill>
                <a:latin typeface="Arial"/>
                <a:ea typeface="Arial"/>
                <a:cs typeface="Arial"/>
              </a:rPr>
              <a:t>当RHS 是类型名时，结果可以是另一个 NameTy</a:t>
            </a:r>
          </a:p>
        </p:txBody>
      </p:sp>
      <p:sp>
        <p:nvSpPr>
          <p:cNvPr id="12" name="s35-check-heading">
            <a:extLst>
              <a:ext uri="{FF2B5EF4-FFF2-40B4-BE49-F238E27FC236}">
                <a16:creationId xmlns:a16="http://schemas.microsoft.com/office/drawing/2014/main" id="{C9130701-F09C-4360-B76B-02B0E39979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3" name="s35-check-code">
            <a:extLst>
              <a:ext uri="{FF2B5EF4-FFF2-40B4-BE49-F238E27FC236}">
                <a16:creationId xmlns:a16="http://schemas.microsoft.com/office/drawing/2014/main" id="{1024662B-91B0-4A9E-AF16-08D99F1AC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1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endParaRPr/>
          </a:p>
        </p:txBody>
      </p:sp>
      <p:sp>
        <p:nvSpPr>
          <p:cNvPr id="14" name="s35-check-note">
            <a:extLst>
              <a:ext uri="{FF2B5EF4-FFF2-40B4-BE49-F238E27FC236}">
                <a16:creationId xmlns:a16="http://schemas.microsoft.com/office/drawing/2014/main" id="{462F04E5-ADE3-474B-970B-2E5746205F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pPr algn="l">
              <a:lnSpc>
                <a:spcPct val="112000"/>
              </a:lnSpc>
              <a:buNone/>
              <a:defRPr sz="1275" b="1" i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5" name="s35-conclusion-band">
            <a:extLst>
              <a:ext uri="{FF2B5EF4-FFF2-40B4-BE49-F238E27FC236}">
                <a16:creationId xmlns:a16="http://schemas.microsoft.com/office/drawing/2014/main" id="{509EF202-320E-4A68-BBF2-3535C336B405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8229600" cy="533400"/>
          </a:xfrm>
          <a:prstGeom prst="rect">
            <a:avLst/>
          </a:prstGeom>
          <a:solidFill>
            <a:srgbClr val="FCECEF"/>
          </a:solidFill>
          <a:ln w="0">
            <a:noFill/>
            <a:prstDash val="solid"/>
          </a:ln>
        </p:spPr>
      </p:sp>
      <p:sp>
        <p:nvSpPr>
          <p:cNvPr id="16" name="s35-conclusion">
            <a:extLst>
              <a:ext uri="{FF2B5EF4-FFF2-40B4-BE49-F238E27FC236}">
                <a16:creationId xmlns:a16="http://schemas.microsoft.com/office/drawing/2014/main" id="{A906B4FB-3EA1-47DE-842D-A29D60E5BA89}"/>
              </a:ext>
            </a:extLst>
          </p:cNvPr>
          <p:cNvSpPr>
            <a:spLocks noGrp="1"/>
          </p:cNvSpPr>
          <p:nvPr/>
        </p:nvSpPr>
        <p:spPr>
          <a:xfrm>
            <a:off x="600075" y="4638675"/>
            <a:ext cx="80105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主要原因：Pass 2 只检查 RHS 是否为合法类型表达式，不要求立即得到 RecordTy；A → B → INT 因而可以通过。</a:t>
            </a:r>
          </a:p>
        </p:txBody>
      </p:sp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55A7F00-3259-A23D-D734-A322A9F9DD63}" type="slidenum"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2670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3CD9556-A5F0-4B1A-9C9C-EAD967FD2DDD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27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解决方法：沿 NAME 链检查，重复即拒绝</a:t>
            </a:r>
          </a:p>
        </p:txBody>
      </p:sp>
      <p:sp>
        <p:nvSpPr>
          <p:cNvPr id="2" name="s36-subtitle">
            <a:extLst>
              <a:ext uri="{FF2B5EF4-FFF2-40B4-BE49-F238E27FC236}">
                <a16:creationId xmlns:a16="http://schemas.microsoft.com/office/drawing/2014/main" id="{E42B4A1C-EF01-406D-9D64-BA22C6D5E97A}"/>
              </a:ext>
            </a:extLst>
          </p:cNvPr>
          <p:cNvSpPr>
            <a:spLocks noGrp="1"/>
          </p:cNvSpPr>
          <p:nvPr/>
        </p:nvSpPr>
        <p:spPr>
          <a:xfrm>
            <a:off x="533400" y="895350"/>
            <a:ext cx="807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两遍完成后统一验证 NAME.target 链；遇到非 NAME 构造器就停止</a:t>
            </a:r>
          </a:p>
        </p:txBody>
      </p:sp>
      <p:sp>
        <p:nvSpPr>
          <p:cNvPr id="3" name="s36-algo-heading">
            <a:extLst>
              <a:ext uri="{FF2B5EF4-FFF2-40B4-BE49-F238E27FC236}">
                <a16:creationId xmlns:a16="http://schemas.microsoft.com/office/drawing/2014/main" id="{5E20B5FE-DDF9-47C8-9987-3CFDE2F84C0F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373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环检查算法</a:t>
            </a:r>
          </a:p>
        </p:txBody>
      </p:sp>
      <p:sp>
        <p:nvSpPr>
          <p:cNvPr id="4" name="s36-algo-code">
            <a:extLst>
              <a:ext uri="{FF2B5EF4-FFF2-40B4-BE49-F238E27FC236}">
                <a16:creationId xmlns:a16="http://schemas.microsoft.com/office/drawing/2014/main" id="{C9DB9492-9E0A-4ECA-9B6F-67D8E1CFB4FA}"/>
              </a:ext>
            </a:extLst>
          </p:cNvPr>
          <p:cNvSpPr>
            <a:spLocks noGrp="1"/>
          </p:cNvSpPr>
          <p:nvPr/>
        </p:nvSpPr>
        <p:spPr>
          <a:xfrm>
            <a:off x="552450" y="1828800"/>
            <a:ext cx="3714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checkAliasCycle(start):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seen = {}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t = start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while t is NameTy: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  if t in seen: reject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  seen.add(t)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  t = t.target</a:t>
            </a:r>
          </a:p>
          <a:p>
            <a:pPr algn="l">
              <a:lnSpc>
                <a:spcPct val="104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accept</a:t>
            </a:r>
          </a:p>
        </p:txBody>
      </p:sp>
      <p:sp>
        <p:nvSpPr>
          <p:cNvPr id="5" name="s36-local-code-note">
            <a:extLst>
              <a:ext uri="{FF2B5EF4-FFF2-40B4-BE49-F238E27FC236}">
                <a16:creationId xmlns:a16="http://schemas.microsoft.com/office/drawing/2014/main" id="{C887C368-2AA4-437C-82C1-8408005564CA}"/>
              </a:ext>
            </a:extLst>
          </p:cNvPr>
          <p:cNvSpPr>
            <a:spLocks noGrp="1"/>
          </p:cNvSpPr>
          <p:nvPr/>
        </p:nvSpPr>
        <p:spPr>
          <a:xfrm>
            <a:off x="552450" y="40576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357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检查放在所有 target 填充完成之后，因此结果不依赖类型声明的先后顺序</a:t>
            </a:r>
          </a:p>
        </p:txBody>
      </p:sp>
      <p:sp>
        <p:nvSpPr>
          <p:cNvPr id="6" name="s36-divider">
            <a:extLst>
              <a:ext uri="{FF2B5EF4-FFF2-40B4-BE49-F238E27FC236}">
                <a16:creationId xmlns:a16="http://schemas.microsoft.com/office/drawing/2014/main" id="{427F707F-A244-4B53-ACF7-DDC1AB91F157}"/>
              </a:ext>
            </a:extLst>
          </p:cNvPr>
          <p:cNvSpPr>
            <a:spLocks noGrp="1"/>
          </p:cNvSpPr>
          <p:nvPr/>
        </p:nvSpPr>
        <p:spPr>
          <a:xfrm>
            <a:off x="4667250" y="1362075"/>
            <a:ext cx="0" cy="2828925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s36-trace-heading">
            <a:extLst>
              <a:ext uri="{FF2B5EF4-FFF2-40B4-BE49-F238E27FC236}">
                <a16:creationId xmlns:a16="http://schemas.microsoft.com/office/drawing/2014/main" id="{045CB7C8-A85B-41E0-88FD-0BCDAC7C9472}"/>
              </a:ext>
            </a:extLst>
          </p:cNvPr>
          <p:cNvSpPr>
            <a:spLocks noGrp="1"/>
          </p:cNvSpPr>
          <p:nvPr/>
        </p:nvSpPr>
        <p:spPr>
          <a:xfrm>
            <a:off x="5010150" y="1409700"/>
            <a:ext cx="360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对 A 的逐步执行</a:t>
            </a:r>
          </a:p>
        </p:txBody>
      </p:sp>
      <p:sp>
        <p:nvSpPr>
          <p:cNvPr id="8" name="s36-trace-code">
            <a:extLst>
              <a:ext uri="{FF2B5EF4-FFF2-40B4-BE49-F238E27FC236}">
                <a16:creationId xmlns:a16="http://schemas.microsoft.com/office/drawing/2014/main" id="{5D66D69A-B8AA-4391-9DEF-547959DE8AB7}"/>
              </a:ext>
            </a:extLst>
          </p:cNvPr>
          <p:cNvSpPr>
            <a:spLocks noGrp="1"/>
          </p:cNvSpPr>
          <p:nvPr/>
        </p:nvSpPr>
        <p:spPr>
          <a:xfrm>
            <a:off x="5029200" y="1828800"/>
            <a:ext cx="35814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start = NA</a:t>
            </a:r>
          </a:p>
          <a:p>
            <a:endParaRPr sz="1200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8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0  seen = {}          t = NA</a:t>
            </a:r>
          </a:p>
          <a:p>
            <a:pPr algn="l">
              <a:lnSpc>
                <a:spcPct val="108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1  seen = {NA}        t = NB</a:t>
            </a:r>
          </a:p>
          <a:p>
            <a:pPr algn="l">
              <a:lnSpc>
                <a:spcPct val="108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2  seen = {NA, NB}    t = NA</a:t>
            </a:r>
          </a:p>
          <a:p>
            <a:endParaRPr sz="1200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8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NA ∈ seen  →  reject</a:t>
            </a:r>
          </a:p>
        </p:txBody>
      </p:sp>
      <p:sp>
        <p:nvSpPr>
          <p:cNvPr id="9" name="s36-trace-note">
            <a:extLst>
              <a:ext uri="{FF2B5EF4-FFF2-40B4-BE49-F238E27FC236}">
                <a16:creationId xmlns:a16="http://schemas.microsoft.com/office/drawing/2014/main" id="{117B103B-9E04-4653-8A1C-06C73F405729}"/>
              </a:ext>
            </a:extLst>
          </p:cNvPr>
          <p:cNvSpPr>
            <a:spLocks noGrp="1"/>
          </p:cNvSpPr>
          <p:nvPr/>
        </p:nvSpPr>
        <p:spPr>
          <a:xfrm>
            <a:off x="5029200" y="3943350"/>
            <a:ext cx="3581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第三步再次遇到同一个 NAME 对象 NA，因此确认存在环</a:t>
            </a:r>
          </a:p>
        </p:txBody>
      </p:sp>
      <p:sp>
        <p:nvSpPr>
          <p:cNvPr id="10" name="s36-legal-band">
            <a:extLst>
              <a:ext uri="{FF2B5EF4-FFF2-40B4-BE49-F238E27FC236}">
                <a16:creationId xmlns:a16="http://schemas.microsoft.com/office/drawing/2014/main" id="{1BB439A3-35CA-4B96-90D4-E9CD8D668390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8229600" cy="590550"/>
          </a:xfrm>
          <a:prstGeom prst="rect">
            <a:avLst/>
          </a:prstGeom>
          <a:solidFill>
            <a:srgbClr val="FCECEF"/>
          </a:solidFill>
          <a:ln w="0">
            <a:noFill/>
            <a:prstDash val="solid"/>
          </a:ln>
        </p:spPr>
      </p:sp>
      <p:sp>
        <p:nvSpPr>
          <p:cNvPr id="11" name="s36-legal">
            <a:extLst>
              <a:ext uri="{FF2B5EF4-FFF2-40B4-BE49-F238E27FC236}">
                <a16:creationId xmlns:a16="http://schemas.microsoft.com/office/drawing/2014/main" id="{B9AE6FD8-8D4F-4541-80D1-9556954E2E98}"/>
              </a:ext>
            </a:extLst>
          </p:cNvPr>
          <p:cNvSpPr>
            <a:spLocks noGrp="1"/>
          </p:cNvSpPr>
          <p:nvPr/>
        </p:nvSpPr>
        <p:spPr>
          <a:xfrm>
            <a:off x="600075" y="4638675"/>
            <a:ext cx="79438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合法别名：NA → NB → INT，在 INT 停止    |    合法递归：NA → RECORD(... NB ...)，在 RECORD 停止</a:t>
            </a:r>
          </a:p>
          <a:p>
            <a:pPr algn="ctr">
              <a:lnSpc>
                <a:spcPct val="104000"/>
              </a:lnSpc>
              <a:buNone/>
              <a:defRPr sz="12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非法别名环：NA → NB → NA，再次遇到 NAME 对象 NA，因此 reject</a:t>
            </a: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66C477-A387-35CF-F492-F54B4FA4FEC9}" type="slidenum"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3394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8229600" cy="581025"/>
          </a:xfrm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270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C++：前向声明先建立类型身份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0C89EF0-BE71-8D92-BDDF-FF7D05F0AC04}" type="slidenum">
              <a:t>41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D31B2-CD1C-8DA6-61BB-2BA7E91085F8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37338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Process;</a:t>
            </a:r>
          </a:p>
          <a:p>
            <a:pPr algn="l">
              <a:lnSpc>
                <a:spcPct val="11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Thread;</a:t>
            </a:r>
          </a:p>
          <a:p>
            <a:endParaRPr sz="1275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1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Δ(Process) = incomplete class P</a:t>
            </a:r>
          </a:p>
          <a:p>
            <a:pPr algn="l">
              <a:lnSpc>
                <a:spcPct val="112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Δ(Thread)  = incomplete class 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1C453-2FF9-87F0-4A9F-23636AB2DDAD}"/>
              </a:ext>
            </a:extLst>
          </p:cNvPr>
          <p:cNvSpPr>
            <a:spLocks noGrp="1"/>
          </p:cNvSpPr>
          <p:nvPr/>
        </p:nvSpPr>
        <p:spPr>
          <a:xfrm>
            <a:off x="5010150" y="1752600"/>
            <a:ext cx="360045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Thread {</a:t>
            </a:r>
          </a:p>
          <a:p>
            <a:pPr algn="l">
              <a:lnSpc>
                <a:spcPct val="103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int tid;</a:t>
            </a:r>
          </a:p>
          <a:p>
            <a:pPr algn="l">
              <a:lnSpc>
                <a:spcPct val="103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Process* owner;</a:t>
            </a:r>
          </a:p>
          <a:p>
            <a:pPr algn="l">
              <a:lnSpc>
                <a:spcPct val="103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};</a:t>
            </a:r>
          </a:p>
          <a:p>
            <a:pPr algn="l">
              <a:lnSpc>
                <a:spcPct val="109000"/>
              </a:lnSpc>
              <a:buNone/>
              <a:defRPr sz="1275" b="0" i="0">
                <a:solidFill>
                  <a:srgbClr val="3F3F3F"/>
                </a:solidFill>
                <a:latin typeface="Arial"/>
                <a:ea typeface="Arial"/>
                <a:cs typeface="Arial"/>
              </a:defRPr>
            </a:pPr>
            <a:endParaRPr sz="1275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3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Process {</a:t>
            </a:r>
          </a:p>
          <a:p>
            <a:pPr algn="l">
              <a:lnSpc>
                <a:spcPct val="103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int pid;</a:t>
            </a:r>
          </a:p>
          <a:p>
            <a:pPr algn="l">
              <a:lnSpc>
                <a:spcPct val="103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Thread* main;</a:t>
            </a:r>
          </a:p>
          <a:p>
            <a:pPr algn="l">
              <a:lnSpc>
                <a:spcPct val="103000"/>
              </a:lnSpc>
              <a:buNone/>
              <a:defRPr sz="1275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};</a:t>
            </a:r>
          </a:p>
        </p:txBody>
      </p:sp>
      <p:sp>
        <p:nvSpPr>
          <p:cNvPr id="8" name="s35-code-heading">
            <a:extLst>
              <a:ext uri="{FF2B5EF4-FFF2-40B4-BE49-F238E27FC236}">
                <a16:creationId xmlns:a16="http://schemas.microsoft.com/office/drawing/2014/main" id="{6D994810-9D3E-448F-972A-8F8770FC0196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3733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先声明：身份存在，布局未知</a:t>
            </a:r>
          </a:p>
        </p:txBody>
      </p:sp>
      <p:sp>
        <p:nvSpPr>
          <p:cNvPr id="9" name="s35-bad-value">
            <a:extLst>
              <a:ext uri="{FF2B5EF4-FFF2-40B4-BE49-F238E27FC236}">
                <a16:creationId xmlns:a16="http://schemas.microsoft.com/office/drawing/2014/main" id="{13B6F1FD-C508-4296-AAE5-429FC0FB3003}"/>
              </a:ext>
            </a:extLst>
          </p:cNvPr>
          <p:cNvSpPr>
            <a:spLocks noGrp="1"/>
          </p:cNvSpPr>
          <p:nvPr/>
        </p:nvSpPr>
        <p:spPr>
          <a:xfrm>
            <a:off x="533400" y="3429000"/>
            <a:ext cx="37338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14141"/>
                </a:solidFill>
                <a:latin typeface="Arial"/>
                <a:ea typeface="Arial"/>
                <a:cs typeface="Arial"/>
              </a:rPr>
              <a:t>后续查找 Process/Thread 时，编译器已经知道它们是类型名</a:t>
            </a:r>
          </a:p>
        </p:txBody>
      </p:sp>
      <p:sp>
        <p:nvSpPr>
          <p:cNvPr id="10" name="s35-column-divider">
            <a:extLst>
              <a:ext uri="{FF2B5EF4-FFF2-40B4-BE49-F238E27FC236}">
                <a16:creationId xmlns:a16="http://schemas.microsoft.com/office/drawing/2014/main" id="{53338AD0-4E91-47B1-A301-677004A02C12}"/>
              </a:ext>
            </a:extLst>
          </p:cNvPr>
          <p:cNvSpPr>
            <a:spLocks noGrp="1"/>
          </p:cNvSpPr>
          <p:nvPr/>
        </p:nvSpPr>
        <p:spPr>
          <a:xfrm>
            <a:off x="4667250" y="1323975"/>
            <a:ext cx="0" cy="30480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s35-reason-heading">
            <a:extLst>
              <a:ext uri="{FF2B5EF4-FFF2-40B4-BE49-F238E27FC236}">
                <a16:creationId xmlns:a16="http://schemas.microsoft.com/office/drawing/2014/main" id="{9F659FEA-00BC-4322-923A-63FB448C839E}"/>
              </a:ext>
            </a:extLst>
          </p:cNvPr>
          <p:cNvSpPr>
            <a:spLocks noGrp="1"/>
          </p:cNvSpPr>
          <p:nvPr/>
        </p:nvSpPr>
        <p:spPr>
          <a:xfrm>
            <a:off x="5010150" y="1352550"/>
            <a:ext cx="3600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再定义：补全同一类型身份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8229600" cy="581025"/>
          </a:xfrm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270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不完整类型只能用于“不需要布局”的位置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866775"/>
            <a:ext cx="8077200" cy="295275"/>
          </a:xfr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07070"/>
                </a:solidFill>
                <a:latin typeface="Arial"/>
                <a:ea typeface="Arial"/>
                <a:cs typeface="Arial"/>
              </a:rPr>
              <a:t>名字已知不代表所有使用都合法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CAEC632-A9E6-82AB-6034-3014BC3905A0}" type="slidenum">
              <a:t>42</a:t>
            </a:fld>
            <a:endParaRPr/>
          </a:p>
        </p:txBody>
      </p:sp>
      <p:sp>
        <p:nvSpPr>
          <p:cNvPr id="5" name="s37-ok-heading">
            <a:extLst>
              <a:ext uri="{FF2B5EF4-FFF2-40B4-BE49-F238E27FC236}">
                <a16:creationId xmlns:a16="http://schemas.microsoft.com/office/drawing/2014/main" id="{1790EBBC-B8C7-4854-AA22-7936FA90D8E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只需要类型身份：允许</a:t>
            </a:r>
          </a:p>
        </p:txBody>
      </p:sp>
      <p:sp>
        <p:nvSpPr>
          <p:cNvPr id="6" name="s37-ok-code">
            <a:extLst>
              <a:ext uri="{FF2B5EF4-FFF2-40B4-BE49-F238E27FC236}">
                <a16:creationId xmlns:a16="http://schemas.microsoft.com/office/drawing/2014/main" id="{6A2CC8ED-0CDC-4A25-9458-AA7F1D5E0BA6}"/>
              </a:ext>
            </a:extLst>
          </p:cNvPr>
          <p:cNvSpPr>
            <a:spLocks noGrp="1"/>
          </p:cNvSpPr>
          <p:nvPr/>
        </p:nvSpPr>
        <p:spPr>
          <a:xfrm>
            <a:off x="552450" y="1838325"/>
            <a:ext cx="3714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3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Process;</a:t>
            </a:r>
          </a:p>
          <a:p>
            <a:endParaRPr sz="1350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7000"/>
              </a:lnSpc>
              <a:buNone/>
              <a:defRPr sz="13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Thread {</a:t>
            </a:r>
          </a:p>
          <a:p>
            <a:pPr algn="l">
              <a:lnSpc>
                <a:spcPct val="107000"/>
              </a:lnSpc>
              <a:buNone/>
              <a:defRPr sz="13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Process* owner;   // OK</a:t>
            </a:r>
          </a:p>
          <a:p>
            <a:pPr algn="l">
              <a:lnSpc>
                <a:spcPct val="107000"/>
              </a:lnSpc>
              <a:buNone/>
              <a:defRPr sz="13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};</a:t>
            </a:r>
          </a:p>
        </p:txBody>
      </p:sp>
      <p:sp>
        <p:nvSpPr>
          <p:cNvPr id="7" name="s37-ok-reason">
            <a:extLst>
              <a:ext uri="{FF2B5EF4-FFF2-40B4-BE49-F238E27FC236}">
                <a16:creationId xmlns:a16="http://schemas.microsoft.com/office/drawing/2014/main" id="{78A00A66-B43E-4C85-9E98-2BC0A1CB9F6F}"/>
              </a:ext>
            </a:extLst>
          </p:cNvPr>
          <p:cNvSpPr>
            <a:spLocks noGrp="1"/>
          </p:cNvSpPr>
          <p:nvPr/>
        </p:nvSpPr>
        <p:spPr>
          <a:xfrm>
            <a:off x="552450" y="3486150"/>
            <a:ext cx="3714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14141"/>
                </a:solidFill>
                <a:latin typeface="Arial"/>
                <a:ea typeface="Arial"/>
                <a:cs typeface="Arial"/>
              </a:rPr>
              <a:t>指针大小固定；编译器无需知道 Process 的字段和 sizeof(Process)</a:t>
            </a:r>
          </a:p>
        </p:txBody>
      </p:sp>
      <p:sp>
        <p:nvSpPr>
          <p:cNvPr id="8" name="s37-divider">
            <a:extLst>
              <a:ext uri="{FF2B5EF4-FFF2-40B4-BE49-F238E27FC236}">
                <a16:creationId xmlns:a16="http://schemas.microsoft.com/office/drawing/2014/main" id="{09FCE4EE-66FF-43EF-A820-59A91F2189F4}"/>
              </a:ext>
            </a:extLst>
          </p:cNvPr>
          <p:cNvSpPr>
            <a:spLocks noGrp="1"/>
          </p:cNvSpPr>
          <p:nvPr/>
        </p:nvSpPr>
        <p:spPr>
          <a:xfrm>
            <a:off x="4667250" y="1362075"/>
            <a:ext cx="0" cy="28194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s37-error-heading">
            <a:extLst>
              <a:ext uri="{FF2B5EF4-FFF2-40B4-BE49-F238E27FC236}">
                <a16:creationId xmlns:a16="http://schemas.microsoft.com/office/drawing/2014/main" id="{F357953F-85B7-4666-983D-834AFF999840}"/>
              </a:ext>
            </a:extLst>
          </p:cNvPr>
          <p:cNvSpPr>
            <a:spLocks noGrp="1"/>
          </p:cNvSpPr>
          <p:nvPr/>
        </p:nvSpPr>
        <p:spPr>
          <a:xfrm>
            <a:off x="5010150" y="1400175"/>
            <a:ext cx="360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需要对象布局：拒绝</a:t>
            </a:r>
          </a:p>
        </p:txBody>
      </p:sp>
      <p:sp>
        <p:nvSpPr>
          <p:cNvPr id="10" name="s37-error-code">
            <a:extLst>
              <a:ext uri="{FF2B5EF4-FFF2-40B4-BE49-F238E27FC236}">
                <a16:creationId xmlns:a16="http://schemas.microsoft.com/office/drawing/2014/main" id="{2F1062FC-EC15-4488-8DC2-408B981B7375}"/>
              </a:ext>
            </a:extLst>
          </p:cNvPr>
          <p:cNvSpPr>
            <a:spLocks noGrp="1"/>
          </p:cNvSpPr>
          <p:nvPr/>
        </p:nvSpPr>
        <p:spPr>
          <a:xfrm>
            <a:off x="5029200" y="1838325"/>
            <a:ext cx="35814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3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Process;</a:t>
            </a:r>
          </a:p>
          <a:p>
            <a:endParaRPr sz="1350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7000"/>
              </a:lnSpc>
              <a:buNone/>
              <a:defRPr sz="13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Thread {</a:t>
            </a:r>
          </a:p>
          <a:p>
            <a:pPr algn="l">
              <a:lnSpc>
                <a:spcPct val="107000"/>
              </a:lnSpc>
              <a:buNone/>
              <a:defRPr sz="13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Process owner;    // error</a:t>
            </a:r>
          </a:p>
          <a:p>
            <a:pPr algn="l">
              <a:lnSpc>
                <a:spcPct val="107000"/>
              </a:lnSpc>
              <a:buNone/>
              <a:defRPr sz="135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};</a:t>
            </a:r>
          </a:p>
        </p:txBody>
      </p:sp>
      <p:sp>
        <p:nvSpPr>
          <p:cNvPr id="11" name="s37-error-reason">
            <a:extLst>
              <a:ext uri="{FF2B5EF4-FFF2-40B4-BE49-F238E27FC236}">
                <a16:creationId xmlns:a16="http://schemas.microsoft.com/office/drawing/2014/main" id="{2B473579-6230-4A39-9BDC-4F7E17923FB3}"/>
              </a:ext>
            </a:extLst>
          </p:cNvPr>
          <p:cNvSpPr>
            <a:spLocks noGrp="1"/>
          </p:cNvSpPr>
          <p:nvPr/>
        </p:nvSpPr>
        <p:spPr>
          <a:xfrm>
            <a:off x="5029200" y="3486150"/>
            <a:ext cx="3581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14141"/>
                </a:solidFill>
                <a:latin typeface="Arial"/>
                <a:ea typeface="Arial"/>
                <a:cs typeface="Arial"/>
              </a:rPr>
              <a:t>要完成 Thread 的布局，必须知道 Process 的大小、对齐和字段偏移（否则Thread类型不完整）</a:t>
            </a:r>
          </a:p>
        </p:txBody>
      </p:sp>
      <p:sp>
        <p:nvSpPr>
          <p:cNvPr id="12" name="s37-boundary-band">
            <a:extLst>
              <a:ext uri="{FF2B5EF4-FFF2-40B4-BE49-F238E27FC236}">
                <a16:creationId xmlns:a16="http://schemas.microsoft.com/office/drawing/2014/main" id="{6957E29A-5E0C-4827-99EE-322156243341}"/>
              </a:ext>
            </a:extLst>
          </p:cNvPr>
          <p:cNvSpPr>
            <a:spLocks noGrp="1"/>
          </p:cNvSpPr>
          <p:nvPr/>
        </p:nvSpPr>
        <p:spPr>
          <a:xfrm>
            <a:off x="457200" y="4438650"/>
            <a:ext cx="8229600" cy="666750"/>
          </a:xfrm>
          <a:prstGeom prst="rect">
            <a:avLst/>
          </a:prstGeom>
          <a:solidFill>
            <a:srgbClr val="FCECEF"/>
          </a:solidFill>
          <a:ln w="0">
            <a:noFill/>
            <a:prstDash val="solid"/>
          </a:ln>
        </p:spPr>
      </p:sp>
      <p:sp>
        <p:nvSpPr>
          <p:cNvPr id="13" name="s37-boundary">
            <a:extLst>
              <a:ext uri="{FF2B5EF4-FFF2-40B4-BE49-F238E27FC236}">
                <a16:creationId xmlns:a16="http://schemas.microsoft.com/office/drawing/2014/main" id="{4399427F-8395-4E74-BE08-942ADBADABCC}"/>
              </a:ext>
            </a:extLst>
          </p:cNvPr>
          <p:cNvSpPr>
            <a:spLocks noGrp="1"/>
          </p:cNvSpPr>
          <p:nvPr/>
        </p:nvSpPr>
        <p:spPr>
          <a:xfrm>
            <a:off x="600075" y="4581525"/>
            <a:ext cx="794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只需身份：T*、T&amp;、指针参数声明    |    需要完整类型：按值字段、sizeof、成员访问、继承、new 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B61E66-37B6-4549-A4FE-9AC60E6A26B2}"/>
              </a:ext>
            </a:extLst>
          </p:cNvPr>
          <p:cNvSpPr>
            <a:spLocks noGrp="1"/>
          </p:cNvSpPr>
          <p:nvPr/>
        </p:nvSpPr>
        <p:spPr>
          <a:xfrm>
            <a:off x="5909912" y="5216993"/>
            <a:ext cx="19800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0000"/>
                </a:solidFill>
              </a:rPr>
              <a:t>为什么要这么设计呢？</a:t>
            </a:r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ayout-rationale-title">
            <a:extLst>
              <a:ext uri="{FF2B5EF4-FFF2-40B4-BE49-F238E27FC236}">
                <a16:creationId xmlns:a16="http://schemas.microsoft.com/office/drawing/2014/main" id="{BB0CA53B-4E86-4A7D-B8CD-C76F2A23D4B7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3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为什么 C++ 要在布局未知时立即报错？</a:t>
            </a:r>
          </a:p>
        </p:txBody>
      </p:sp>
      <p:sp>
        <p:nvSpPr>
          <p:cNvPr id="2" name="layout-rationale-subtitle">
            <a:extLst>
              <a:ext uri="{FF2B5EF4-FFF2-40B4-BE49-F238E27FC236}">
                <a16:creationId xmlns:a16="http://schemas.microsoft.com/office/drawing/2014/main" id="{0319C9FF-843E-4231-B0DB-AD11640625E3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8077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按值对象 + 独立编译 + 固定 ABI：布局必须在当前编译单元确定</a:t>
            </a:r>
          </a:p>
        </p:txBody>
      </p:sp>
      <p:sp>
        <p:nvSpPr>
          <p:cNvPr id="3" name="layout-rationale-left-heading">
            <a:extLst>
              <a:ext uri="{FF2B5EF4-FFF2-40B4-BE49-F238E27FC236}">
                <a16:creationId xmlns:a16="http://schemas.microsoft.com/office/drawing/2014/main" id="{585D058D-283D-4DF8-87C9-06580FF4C27B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3810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按值成员留下一个无法填写的布局缺口</a:t>
            </a:r>
          </a:p>
        </p:txBody>
      </p:sp>
      <p:sp>
        <p:nvSpPr>
          <p:cNvPr id="4" name="layout-rationale-code">
            <a:extLst>
              <a:ext uri="{FF2B5EF4-FFF2-40B4-BE49-F238E27FC236}">
                <a16:creationId xmlns:a16="http://schemas.microsoft.com/office/drawing/2014/main" id="{84405B6B-468A-4834-8F98-0FD9CC250F3C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3714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65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Process;</a:t>
            </a:r>
          </a:p>
          <a:p>
            <a:endParaRPr sz="1650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2000"/>
              </a:lnSpc>
              <a:buNone/>
              <a:defRPr sz="165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Thread {</a:t>
            </a:r>
          </a:p>
          <a:p>
            <a:pPr algn="l">
              <a:lnSpc>
                <a:spcPct val="102000"/>
              </a:lnSpc>
              <a:buNone/>
              <a:defRPr sz="165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int tid;</a:t>
            </a:r>
          </a:p>
          <a:p>
            <a:pPr algn="l">
              <a:lnSpc>
                <a:spcPct val="102000"/>
              </a:lnSpc>
              <a:buNone/>
              <a:defRPr sz="165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Process owner;  // size ?</a:t>
            </a:r>
          </a:p>
          <a:p>
            <a:pPr algn="l">
              <a:lnSpc>
                <a:spcPct val="102000"/>
              </a:lnSpc>
              <a:buNone/>
              <a:defRPr sz="165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};</a:t>
            </a:r>
          </a:p>
        </p:txBody>
      </p:sp>
      <p:sp>
        <p:nvSpPr>
          <p:cNvPr id="5" name="layout-rationale-layout-question">
            <a:extLst>
              <a:ext uri="{FF2B5EF4-FFF2-40B4-BE49-F238E27FC236}">
                <a16:creationId xmlns:a16="http://schemas.microsoft.com/office/drawing/2014/main" id="{7B03FFFF-3C6F-4D01-A0DB-87C634E0F00A}"/>
              </a:ext>
            </a:extLst>
          </p:cNvPr>
          <p:cNvSpPr>
            <a:spLocks noGrp="1"/>
          </p:cNvSpPr>
          <p:nvPr/>
        </p:nvSpPr>
        <p:spPr>
          <a:xfrm>
            <a:off x="552450" y="3533775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布局：[ tid ][ padding ][ owner ]</a:t>
            </a:r>
          </a:p>
          <a:p>
            <a:pPr algn="l">
              <a:lnSpc>
                <a:spcPct val="102000"/>
              </a:lnSpc>
              <a:buNone/>
              <a:defRPr sz="120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owner 大小未知 -&gt; offset / sizeof 无法确定</a:t>
            </a:r>
          </a:p>
        </p:txBody>
      </p:sp>
      <p:sp>
        <p:nvSpPr>
          <p:cNvPr id="6" name="layout-rationale-divider">
            <a:extLst>
              <a:ext uri="{FF2B5EF4-FFF2-40B4-BE49-F238E27FC236}">
                <a16:creationId xmlns:a16="http://schemas.microsoft.com/office/drawing/2014/main" id="{3DEDEC26-7960-4C2C-A789-7419C09F61D4}"/>
              </a:ext>
            </a:extLst>
          </p:cNvPr>
          <p:cNvSpPr>
            <a:spLocks noGrp="1"/>
          </p:cNvSpPr>
          <p:nvPr/>
        </p:nvSpPr>
        <p:spPr>
          <a:xfrm>
            <a:off x="4667250" y="1362075"/>
            <a:ext cx="0" cy="28575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7" name="layout-rationale-right-heading">
            <a:extLst>
              <a:ext uri="{FF2B5EF4-FFF2-40B4-BE49-F238E27FC236}">
                <a16:creationId xmlns:a16="http://schemas.microsoft.com/office/drawing/2014/main" id="{A5AEF033-5C05-40A6-AD95-098F3E2F428A}"/>
              </a:ext>
            </a:extLst>
          </p:cNvPr>
          <p:cNvSpPr>
            <a:spLocks noGrp="1"/>
          </p:cNvSpPr>
          <p:nvPr/>
        </p:nvSpPr>
        <p:spPr>
          <a:xfrm>
            <a:off x="5010150" y="1381125"/>
            <a:ext cx="3600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当前编译单元必须确定</a:t>
            </a:r>
          </a:p>
        </p:txBody>
      </p:sp>
      <p:sp>
        <p:nvSpPr>
          <p:cNvPr id="8" name="layout-rationale-required-values">
            <a:extLst>
              <a:ext uri="{FF2B5EF4-FFF2-40B4-BE49-F238E27FC236}">
                <a16:creationId xmlns:a16="http://schemas.microsoft.com/office/drawing/2014/main" id="{26FBAF6A-62AB-4525-8DBB-8F8BB41D1537}"/>
              </a:ext>
            </a:extLst>
          </p:cNvPr>
          <p:cNvSpPr>
            <a:spLocks noGrp="1"/>
          </p:cNvSpPr>
          <p:nvPr/>
        </p:nvSpPr>
        <p:spPr>
          <a:xfrm>
            <a:off x="5029200" y="1838325"/>
            <a:ext cx="35814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sizeof(Process), alignof(Process)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offset(Thread::owner), sizeof(Thread)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Thread[N] 的数组步长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栈帧 / new / 字段访问的地址计算</a:t>
            </a:r>
          </a:p>
        </p:txBody>
      </p:sp>
      <p:sp>
        <p:nvSpPr>
          <p:cNvPr id="9" name="layout-rationale-codegen">
            <a:extLst>
              <a:ext uri="{FF2B5EF4-FFF2-40B4-BE49-F238E27FC236}">
                <a16:creationId xmlns:a16="http://schemas.microsoft.com/office/drawing/2014/main" id="{013C71E6-7AE5-4C10-9BDD-F4A5AA3286EE}"/>
              </a:ext>
            </a:extLst>
          </p:cNvPr>
          <p:cNvSpPr>
            <a:spLocks noGrp="1"/>
          </p:cNvSpPr>
          <p:nvPr/>
        </p:nvSpPr>
        <p:spPr>
          <a:xfrm>
            <a:off x="5029200" y="3381375"/>
            <a:ext cx="3581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这些量会直接编码进 load/store、</a:t>
            </a:r>
          </a:p>
          <a:p>
            <a:pPr algn="l">
              <a:lnSpc>
                <a:spcPct val="105000"/>
              </a:lnSpc>
              <a:buNone/>
              <a:defRPr sz="150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栈空间分配和地址计算指令。</a:t>
            </a:r>
          </a:p>
        </p:txBody>
      </p:sp>
      <p:sp>
        <p:nvSpPr>
          <p:cNvPr id="10" name="layout-rationale-linker-band">
            <a:extLst>
              <a:ext uri="{FF2B5EF4-FFF2-40B4-BE49-F238E27FC236}">
                <a16:creationId xmlns:a16="http://schemas.microsoft.com/office/drawing/2014/main" id="{29B60CD8-969F-420A-A414-B44ADAF89107}"/>
              </a:ext>
            </a:extLst>
          </p:cNvPr>
          <p:cNvSpPr>
            <a:spLocks noGrp="1"/>
          </p:cNvSpPr>
          <p:nvPr/>
        </p:nvSpPr>
        <p:spPr>
          <a:xfrm>
            <a:off x="457200" y="4657725"/>
            <a:ext cx="8229600" cy="733425"/>
          </a:xfrm>
          <a:prstGeom prst="rect">
            <a:avLst/>
          </a:prstGeom>
          <a:solidFill>
            <a:srgbClr val="FBECEF"/>
          </a:solidFill>
          <a:ln w="0">
            <a:noFill/>
            <a:prstDash val="solid"/>
          </a:ln>
        </p:spPr>
      </p:sp>
      <p:sp>
        <p:nvSpPr>
          <p:cNvPr id="11" name="layout-rationale-linker">
            <a:extLst>
              <a:ext uri="{FF2B5EF4-FFF2-40B4-BE49-F238E27FC236}">
                <a16:creationId xmlns:a16="http://schemas.microsoft.com/office/drawing/2014/main" id="{9DFED121-5F98-4943-A4C9-BF5AAE5801FA}"/>
              </a:ext>
            </a:extLst>
          </p:cNvPr>
          <p:cNvSpPr>
            <a:spLocks noGrp="1"/>
          </p:cNvSpPr>
          <p:nvPr/>
        </p:nvSpPr>
        <p:spPr>
          <a:xfrm>
            <a:off x="638175" y="4791075"/>
            <a:ext cx="7867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链接器能补：符号地址与重定位    |    链接器不能补：C++ 类型语义、对象布局，以及所有依赖布局的指令</a:t>
            </a:r>
          </a:p>
        </p:txBody>
      </p:sp>
      <p:sp>
        <p:nvSpPr>
          <p:cNvPr id="12" name="layout-rationale-takeaway">
            <a:extLst>
              <a:ext uri="{FF2B5EF4-FFF2-40B4-BE49-F238E27FC236}">
                <a16:creationId xmlns:a16="http://schemas.microsoft.com/office/drawing/2014/main" id="{8AA4F2C7-C8DA-4556-8A6E-7A9B50905BF8}"/>
              </a:ext>
            </a:extLst>
          </p:cNvPr>
          <p:cNvSpPr>
            <a:spLocks noGrp="1"/>
          </p:cNvSpPr>
          <p:nvPr/>
        </p:nvSpPr>
        <p:spPr>
          <a:xfrm>
            <a:off x="781050" y="4333875"/>
            <a:ext cx="7581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边界：未解析的类型身份可以跨模块；未确定的对象布局不能跨过代码生成。</a:t>
            </a: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5CE1F1-F8E2-E359-8FD1-A9FA98B3A676}" type="slidenum"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4331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8229600" cy="581025"/>
          </a:xfrm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270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BE384B"/>
                </a:solidFill>
                <a:latin typeface="Arial"/>
                <a:ea typeface="Arial"/>
                <a:cs typeface="Arial"/>
              </a:rPr>
              <a:t>C++</a:t>
            </a:r>
            <a:r>
              <a:rPr sz="320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：不完整类型也可以不报错吗？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28750"/>
            <a:ext cx="3905250" cy="2876550"/>
          </a:xfrm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// thread.h</a:t>
            </a:r>
            <a:endParaRPr sz="1425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#pragma once</a:t>
            </a:r>
          </a:p>
          <a:p>
            <a:pPr algn="l">
              <a:lnSpc>
                <a:spcPct val="100000"/>
              </a:lnSpc>
              <a:buNone/>
              <a:defRPr sz="13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Process;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Thread {</a:t>
            </a:r>
            <a:endParaRPr sz="1425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int tid;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Process* owner;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};</a:t>
            </a:r>
          </a:p>
          <a:p>
            <a:pPr algn="l">
              <a:lnSpc>
                <a:spcPct val="100000"/>
              </a:lnSpc>
              <a:buNone/>
              <a:defRPr sz="13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// check.cpp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#include "thread.h"</a:t>
            </a:r>
            <a:endParaRPr sz="1425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Thread t{1, nullptr};  // OK</a:t>
            </a:r>
            <a:endParaRPr sz="1425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70EE3B2-1325-F8E9-D276-8EA80C32ED19}" type="slidenum">
              <a:t>44</a:t>
            </a:fld>
            <a:endParaRPr/>
          </a:p>
        </p:txBody>
      </p:sp>
      <p:sp>
        <p:nvSpPr>
          <p:cNvPr id="5" name="s38-header-heading">
            <a:extLst>
              <a:ext uri="{FF2B5EF4-FFF2-40B4-BE49-F238E27FC236}">
                <a16:creationId xmlns:a16="http://schemas.microsoft.com/office/drawing/2014/main" id="{89F61FC2-18E5-4692-931C-332ED2D32404}"/>
              </a:ext>
            </a:extLst>
          </p:cNvPr>
          <p:cNvSpPr>
            <a:spLocks noGrp="1"/>
          </p:cNvSpPr>
          <p:nvPr/>
        </p:nvSpPr>
        <p:spPr>
          <a:xfrm>
            <a:off x="533400" y="1019175"/>
            <a:ext cx="3905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6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只有指针成员：Thread 已经是完整类型</a:t>
            </a:r>
          </a:p>
        </p:txBody>
      </p:sp>
      <p:sp>
        <p:nvSpPr>
          <p:cNvPr id="6" name="s38-divider">
            <a:extLst>
              <a:ext uri="{FF2B5EF4-FFF2-40B4-BE49-F238E27FC236}">
                <a16:creationId xmlns:a16="http://schemas.microsoft.com/office/drawing/2014/main" id="{3D0CD205-F278-442C-991D-4DEE44ED593E}"/>
              </a:ext>
            </a:extLst>
          </p:cNvPr>
          <p:cNvSpPr>
            <a:spLocks noGrp="1"/>
          </p:cNvSpPr>
          <p:nvPr/>
        </p:nvSpPr>
        <p:spPr>
          <a:xfrm>
            <a:off x="4667250" y="1000125"/>
            <a:ext cx="0" cy="3286125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s38-impl-heading">
            <a:extLst>
              <a:ext uri="{FF2B5EF4-FFF2-40B4-BE49-F238E27FC236}">
                <a16:creationId xmlns:a16="http://schemas.microsoft.com/office/drawing/2014/main" id="{F2181B03-035F-4E8C-B68D-02175FB017F5}"/>
              </a:ext>
            </a:extLst>
          </p:cNvPr>
          <p:cNvSpPr>
            <a:spLocks noGrp="1"/>
          </p:cNvSpPr>
          <p:nvPr/>
        </p:nvSpPr>
        <p:spPr>
          <a:xfrm>
            <a:off x="5010150" y="1019175"/>
            <a:ext cx="3600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202"/>
          </a:bodyPr>
          <a:lstStyle/>
          <a:p>
            <a:pPr algn="l">
              <a:lnSpc>
                <a:spcPct val="103000"/>
              </a:lnSpc>
              <a:buNone/>
              <a:defRPr sz="1650" b="1" i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E384B"/>
                </a:solidFill>
                <a:latin typeface="Arial"/>
                <a:ea typeface="Arial"/>
                <a:cs typeface="Arial"/>
              </a:rPr>
              <a:t>需要 Process 布局时，再 include 完整定义</a:t>
            </a:r>
          </a:p>
        </p:txBody>
      </p:sp>
      <p:sp>
        <p:nvSpPr>
          <p:cNvPr id="8" name="s38-impl-code">
            <a:extLst>
              <a:ext uri="{FF2B5EF4-FFF2-40B4-BE49-F238E27FC236}">
                <a16:creationId xmlns:a16="http://schemas.microsoft.com/office/drawing/2014/main" id="{CEBF772D-190E-43DC-A4AD-0E7E75C275F4}"/>
              </a:ext>
            </a:extLst>
          </p:cNvPr>
          <p:cNvSpPr>
            <a:spLocks noGrp="1"/>
          </p:cNvSpPr>
          <p:nvPr/>
        </p:nvSpPr>
        <p:spPr>
          <a:xfrm>
            <a:off x="5010150" y="1428750"/>
            <a:ext cx="360045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// process.h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#pragma once</a:t>
            </a:r>
          </a:p>
          <a:p>
            <a:pPr algn="l">
              <a:lnSpc>
                <a:spcPct val="100000"/>
              </a:lnSpc>
              <a:buNone/>
              <a:defRPr sz="13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Thread;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Process {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int pid;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Thread* main;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};</a:t>
            </a:r>
          </a:p>
          <a:p>
            <a:pPr algn="l">
              <a:lnSpc>
                <a:spcPct val="100000"/>
              </a:lnSpc>
              <a:buNone/>
              <a:defRPr sz="130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>
                <a:solidFill>
                  <a:srgbClr val="414141"/>
                </a:solidFill>
                <a:latin typeface="Menlo"/>
                <a:ea typeface="Menlo"/>
                <a:cs typeface="Menlo"/>
              </a:rPr>
              <a:t>// main.cpp</a:t>
            </a:r>
            <a:endParaRPr sz="1350" b="0" i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#include "thread.h"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#include "process.h"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int main() {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Process p{42, nullptr};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Thread t{1, &amp;p};</a:t>
            </a:r>
          </a:p>
          <a:p>
            <a:pPr algn="l">
              <a:lnSpc>
                <a:spcPct val="100000"/>
              </a:lnSpc>
              <a:buNone/>
              <a:defRPr sz="1300" b="0" i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00" b="0" i="0">
                <a:solidFill>
                  <a:srgbClr val="414141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incomplete-type-cross-file-takeaway">
            <a:extLst>
              <a:ext uri="{FF2B5EF4-FFF2-40B4-BE49-F238E27FC236}">
                <a16:creationId xmlns:a16="http://schemas.microsoft.com/office/drawing/2014/main" id="{965A5FA9-3A39-42B7-A6C5-39974EA2F217}"/>
              </a:ext>
            </a:extLst>
          </p:cNvPr>
          <p:cNvSpPr>
            <a:spLocks noGrp="1"/>
          </p:cNvSpPr>
          <p:nvPr/>
        </p:nvSpPr>
        <p:spPr>
          <a:xfrm>
            <a:off x="457200" y="4895617"/>
            <a:ext cx="8229600" cy="419100"/>
          </a:xfrm>
          <a:prstGeom prst="rect">
            <a:avLst/>
          </a:prstGeom>
          <a:solidFill>
            <a:srgbClr val="FCECEF"/>
          </a:solidFill>
          <a:ln w="0">
            <a:noFill/>
          </a:ln>
        </p:spPr>
        <p:txBody>
          <a:bodyPr lIns="142875" tIns="0" rIns="142875" bIns="0" anchor="ctr">
            <a:normAutofit/>
          </a:bodyPr>
          <a:lstStyle/>
          <a:p>
            <a:pPr algn="ctr">
              <a:buNone/>
              <a:defRPr sz="127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跨文件组织中，前向声明保留类型身份，#include 按需引入完整定义：无需布局时可合法使用不完整类型。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quivalence-title">
            <a:extLst>
              <a:ext uri="{FF2B5EF4-FFF2-40B4-BE49-F238E27FC236}">
                <a16:creationId xmlns:a16="http://schemas.microsoft.com/office/drawing/2014/main" id="{E167C5C3-18C1-4FFE-9BA6-6A3C165EDC4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3000"/>
              </a:lnSpc>
              <a:buNone/>
              <a:defRPr sz="337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t>案例2: 类型等价性</a:t>
            </a:r>
          </a:p>
        </p:txBody>
      </p:sp>
      <p:sp>
        <p:nvSpPr>
          <p:cNvPr id="2" name="equivalence-subtitle">
            <a:extLst>
              <a:ext uri="{FF2B5EF4-FFF2-40B4-BE49-F238E27FC236}">
                <a16:creationId xmlns:a16="http://schemas.microsoft.com/office/drawing/2014/main" id="{F6502A81-439D-4113-B2C0-9F6700DACF0F}"/>
              </a:ext>
            </a:extLst>
          </p:cNvPr>
          <p:cNvSpPr>
            <a:spLocks noGrp="1"/>
          </p:cNvSpPr>
          <p:nvPr/>
        </p:nvSpPr>
        <p:spPr>
          <a:xfrm>
            <a:off x="533400" y="894302"/>
            <a:ext cx="8077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57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相同布局就一定是同一类型吗？</a:t>
            </a:r>
          </a:p>
        </p:txBody>
      </p:sp>
      <p:sp>
        <p:nvSpPr>
          <p:cNvPr id="3" name="equivalence-example-heading">
            <a:extLst>
              <a:ext uri="{FF2B5EF4-FFF2-40B4-BE49-F238E27FC236}">
                <a16:creationId xmlns:a16="http://schemas.microsoft.com/office/drawing/2014/main" id="{EA2759B6-FE68-4B1B-A502-39FD27BD8977}"/>
              </a:ext>
            </a:extLst>
          </p:cNvPr>
          <p:cNvSpPr>
            <a:spLocks noGrp="1"/>
          </p:cNvSpPr>
          <p:nvPr/>
        </p:nvSpPr>
        <p:spPr>
          <a:xfrm>
            <a:off x="533400" y="1734598"/>
            <a:ext cx="3848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同样只有一个 int 字段，含义却不同</a:t>
            </a:r>
          </a:p>
        </p:txBody>
      </p:sp>
      <p:sp>
        <p:nvSpPr>
          <p:cNvPr id="4" name="equivalence-example-code">
            <a:extLst>
              <a:ext uri="{FF2B5EF4-FFF2-40B4-BE49-F238E27FC236}">
                <a16:creationId xmlns:a16="http://schemas.microsoft.com/office/drawing/2014/main" id="{7FE112C8-645C-457E-9CBE-9A49BF4B0A49}"/>
              </a:ext>
            </a:extLst>
          </p:cNvPr>
          <p:cNvSpPr>
            <a:spLocks noGrp="1"/>
          </p:cNvSpPr>
          <p:nvPr/>
        </p:nvSpPr>
        <p:spPr>
          <a:xfrm>
            <a:off x="552450" y="2191798"/>
            <a:ext cx="3810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type User  = { id: Int }</a:t>
            </a:r>
          </a:p>
          <a:p>
            <a:endParaRPr sz="1575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type Order = { id: Int }</a:t>
            </a:r>
          </a:p>
          <a:p>
            <a:endParaRPr sz="1575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fun cancel(x: Order) = ...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let u: User = ...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cancel(u)</a:t>
            </a:r>
          </a:p>
        </p:txBody>
      </p:sp>
      <p:sp>
        <p:nvSpPr>
          <p:cNvPr id="5" name="equivalence-question">
            <a:extLst>
              <a:ext uri="{FF2B5EF4-FFF2-40B4-BE49-F238E27FC236}">
                <a16:creationId xmlns:a16="http://schemas.microsoft.com/office/drawing/2014/main" id="{69EF5951-DD7B-40A5-B37D-E95A0381795C}"/>
              </a:ext>
            </a:extLst>
          </p:cNvPr>
          <p:cNvSpPr>
            <a:spLocks noGrp="1"/>
          </p:cNvSpPr>
          <p:nvPr/>
        </p:nvSpPr>
        <p:spPr>
          <a:xfrm>
            <a:off x="552450" y="4201573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3000"/>
              </a:lnSpc>
              <a:buNone/>
              <a:defRPr sz="18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布局完全相同：</a:t>
            </a:r>
            <a:r>
              <a:rPr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编译器该如何判断？</a:t>
            </a:r>
          </a:p>
        </p:txBody>
      </p:sp>
      <p:sp>
        <p:nvSpPr>
          <p:cNvPr id="6" name="equivalence-divider">
            <a:extLst>
              <a:ext uri="{FF2B5EF4-FFF2-40B4-BE49-F238E27FC236}">
                <a16:creationId xmlns:a16="http://schemas.microsoft.com/office/drawing/2014/main" id="{78ECA538-1096-4D2E-9F65-7AA65AA54E8C}"/>
              </a:ext>
            </a:extLst>
          </p:cNvPr>
          <p:cNvSpPr>
            <a:spLocks noGrp="1"/>
          </p:cNvSpPr>
          <p:nvPr/>
        </p:nvSpPr>
        <p:spPr>
          <a:xfrm>
            <a:off x="4667250" y="1715548"/>
            <a:ext cx="0" cy="28575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7" name="equivalence-sites-heading">
            <a:extLst>
              <a:ext uri="{FF2B5EF4-FFF2-40B4-BE49-F238E27FC236}">
                <a16:creationId xmlns:a16="http://schemas.microsoft.com/office/drawing/2014/main" id="{2F9C94AE-8689-4E6E-BE34-98AF44871E03}"/>
              </a:ext>
            </a:extLst>
          </p:cNvPr>
          <p:cNvSpPr>
            <a:spLocks noGrp="1"/>
          </p:cNvSpPr>
          <p:nvPr/>
        </p:nvSpPr>
        <p:spPr>
          <a:xfrm>
            <a:off x="5010150" y="1734598"/>
            <a:ext cx="3600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同一程序，两种语言语义</a:t>
            </a:r>
          </a:p>
        </p:txBody>
      </p:sp>
      <p:sp>
        <p:nvSpPr>
          <p:cNvPr id="8" name="equivalence-sites">
            <a:extLst>
              <a:ext uri="{FF2B5EF4-FFF2-40B4-BE49-F238E27FC236}">
                <a16:creationId xmlns:a16="http://schemas.microsoft.com/office/drawing/2014/main" id="{FE2A9400-4D52-4FAF-923F-29D2AC65F08A}"/>
              </a:ext>
            </a:extLst>
          </p:cNvPr>
          <p:cNvSpPr>
            <a:spLocks noGrp="1"/>
          </p:cNvSpPr>
          <p:nvPr/>
        </p:nvSpPr>
        <p:spPr>
          <a:xfrm>
            <a:off x="5029200" y="2191798"/>
            <a:ext cx="35814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结构等价（如TypeScript、Go等）</a:t>
            </a:r>
          </a:p>
          <a:p>
            <a:pPr algn="l">
              <a:lnSpc>
                <a:spcPct val="105000"/>
              </a:lnSpc>
              <a:buNone/>
              <a:defRPr sz="14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字段递归一致 -&gt; User = Order</a:t>
            </a:r>
          </a:p>
          <a:p>
            <a:pPr algn="l">
              <a:lnSpc>
                <a:spcPct val="105000"/>
              </a:lnSpc>
              <a:buNone/>
              <a:defRPr sz="14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cancel(u) 通过</a:t>
            </a:r>
          </a:p>
          <a:p>
            <a:endParaRPr sz="1425" b="1">
              <a:solidFill>
                <a:srgbClr val="414141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4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名义等价（如Tiger、Rust等）</a:t>
            </a:r>
          </a:p>
          <a:p>
            <a:pPr algn="l">
              <a:lnSpc>
                <a:spcPct val="105000"/>
              </a:lnSpc>
              <a:buNone/>
              <a:defRPr sz="14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两个 record 表达式 -&gt; 两个身份</a:t>
            </a:r>
          </a:p>
          <a:p>
            <a:pPr algn="l">
              <a:lnSpc>
                <a:spcPct val="105000"/>
              </a:lnSpc>
              <a:buNone/>
              <a:defRPr sz="14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cancel(u) 拒绝</a:t>
            </a:r>
          </a:p>
        </p:txBody>
      </p:sp>
      <p:sp>
        <p:nvSpPr>
          <p:cNvPr id="9" name="equivalence-choice-heading">
            <a:extLst>
              <a:ext uri="{FF2B5EF4-FFF2-40B4-BE49-F238E27FC236}">
                <a16:creationId xmlns:a16="http://schemas.microsoft.com/office/drawing/2014/main" id="{512FA9F7-6F7D-4D3C-8855-FA5BBD6207C8}"/>
              </a:ext>
            </a:extLst>
          </p:cNvPr>
          <p:cNvSpPr>
            <a:spLocks noGrp="1"/>
          </p:cNvSpPr>
          <p:nvPr/>
        </p:nvSpPr>
        <p:spPr>
          <a:xfrm>
            <a:off x="5010150" y="3925348"/>
            <a:ext cx="3600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57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别名：特殊情况，不创建新身份</a:t>
            </a:r>
          </a:p>
        </p:txBody>
      </p:sp>
      <p:sp>
        <p:nvSpPr>
          <p:cNvPr id="10" name="equivalence-choice">
            <a:extLst>
              <a:ext uri="{FF2B5EF4-FFF2-40B4-BE49-F238E27FC236}">
                <a16:creationId xmlns:a16="http://schemas.microsoft.com/office/drawing/2014/main" id="{1B8E7938-96E7-4E52-BCF5-FBC855A9AC67}"/>
              </a:ext>
            </a:extLst>
          </p:cNvPr>
          <p:cNvSpPr>
            <a:spLocks noGrp="1"/>
          </p:cNvSpPr>
          <p:nvPr/>
        </p:nvSpPr>
        <p:spPr>
          <a:xfrm>
            <a:off x="5029200" y="4201573"/>
            <a:ext cx="3581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type Purchase = Order</a:t>
            </a:r>
          </a:p>
          <a:p>
            <a:pPr algn="l">
              <a:lnSpc>
                <a:spcPct val="106000"/>
              </a:lnSpc>
              <a:buNone/>
              <a:defRPr sz="150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Purchase 与 Order 相等</a:t>
            </a:r>
          </a:p>
        </p:txBody>
      </p:sp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110800D-D5E6-B48B-B335-F070B0EAA3B9}" type="slidenum"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7687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1E286-A2A3-AB81-01F3-207726F3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125"/>
            <a:ext cx="8229600" cy="581025"/>
          </a:xfrm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4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为什么会有两种类型等价规则？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CEA3ED-7224-6EDA-CB4F-15394086E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866775"/>
            <a:ext cx="8077200" cy="295275"/>
          </a:xfr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A8A8A"/>
                </a:solidFill>
                <a:latin typeface="Arial"/>
                <a:ea typeface="Arial"/>
                <a:cs typeface="Arial"/>
              </a:rPr>
              <a:t>因为它们分别优化“开放组合”与“领域边界”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4DF440-C043-7C0D-B67D-A02BC5C9D6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E060EEA-E29B-CF3D-E7B7-BE01DFE3A2D2}" type="slidenum">
              <a:t>46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463F91-6ABA-A069-F0E8-72756D932569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  <p:sp>
        <p:nvSpPr>
          <p:cNvPr id="6" name="tradeoff-divider">
            <a:extLst>
              <a:ext uri="{FF2B5EF4-FFF2-40B4-BE49-F238E27FC236}">
                <a16:creationId xmlns:a16="http://schemas.microsoft.com/office/drawing/2014/main" id="{3BC151CC-781D-49A6-8EDB-6E2C556E25AA}"/>
              </a:ext>
            </a:extLst>
          </p:cNvPr>
          <p:cNvSpPr>
            <a:spLocks noGrp="1"/>
          </p:cNvSpPr>
          <p:nvPr/>
        </p:nvSpPr>
        <p:spPr>
          <a:xfrm>
            <a:off x="4667250" y="1362075"/>
            <a:ext cx="0" cy="2886075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7" name="structural-heading">
            <a:extLst>
              <a:ext uri="{FF2B5EF4-FFF2-40B4-BE49-F238E27FC236}">
                <a16:creationId xmlns:a16="http://schemas.microsoft.com/office/drawing/2014/main" id="{AC5FACC9-5E32-45EC-B4C0-D00E7F6A3E56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3848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结构化兼容：无需共享同一声明</a:t>
            </a:r>
          </a:p>
        </p:txBody>
      </p:sp>
      <p:sp>
        <p:nvSpPr>
          <p:cNvPr id="8" name="structural-language">
            <a:extLst>
              <a:ext uri="{FF2B5EF4-FFF2-40B4-BE49-F238E27FC236}">
                <a16:creationId xmlns:a16="http://schemas.microsoft.com/office/drawing/2014/main" id="{81ADD658-F63E-44C2-805A-85DE22B3C18F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A8A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9" name="structural-code">
            <a:extLst>
              <a:ext uri="{FF2B5EF4-FFF2-40B4-BE49-F238E27FC236}">
                <a16:creationId xmlns:a16="http://schemas.microsoft.com/office/drawing/2014/main" id="{C66A97AF-76A0-45CF-A6FD-F43BF757F902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38576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type Point = {x: number, y: number};</a:t>
            </a:r>
          </a:p>
          <a:p>
            <a:pPr algn="l">
              <a:lnSpc>
                <a:spcPct val="103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function draw(p: Point) {}</a:t>
            </a:r>
          </a:p>
          <a:p>
            <a:pPr algn="l">
              <a:lnSpc>
                <a:spcPct val="103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const mouse = {x: 10, y: 20, button: 1};</a:t>
            </a:r>
          </a:p>
          <a:p>
            <a:endParaRPr sz="1200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3000"/>
              </a:lnSpc>
              <a:buNone/>
              <a:defRPr sz="120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draw(mouse);  // OK</a:t>
            </a:r>
          </a:p>
        </p:txBody>
      </p:sp>
      <p:sp>
        <p:nvSpPr>
          <p:cNvPr id="10" name="structural-benefit-title">
            <a:extLst>
              <a:ext uri="{FF2B5EF4-FFF2-40B4-BE49-F238E27FC236}">
                <a16:creationId xmlns:a16="http://schemas.microsoft.com/office/drawing/2014/main" id="{787956F3-C318-42C5-8CEF-7B8A09885486}"/>
              </a:ext>
            </a:extLst>
          </p:cNvPr>
          <p:cNvSpPr>
            <a:spLocks noGrp="1"/>
          </p:cNvSpPr>
          <p:nvPr/>
        </p:nvSpPr>
        <p:spPr>
          <a:xfrm>
            <a:off x="552450" y="3219450"/>
            <a:ext cx="3857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只要具有所需字段，就可以参与组合（易用性++）</a:t>
            </a:r>
          </a:p>
        </p:txBody>
      </p:sp>
      <p:sp>
        <p:nvSpPr>
          <p:cNvPr id="11" name="structural-benefits">
            <a:extLst>
              <a:ext uri="{FF2B5EF4-FFF2-40B4-BE49-F238E27FC236}">
                <a16:creationId xmlns:a16="http://schemas.microsoft.com/office/drawing/2014/main" id="{1DF55F78-2D2E-45FB-AA46-CE0652B8D379}"/>
              </a:ext>
            </a:extLst>
          </p:cNvPr>
          <p:cNvSpPr>
            <a:spLocks noGrp="1"/>
          </p:cNvSpPr>
          <p:nvPr/>
        </p:nvSpPr>
        <p:spPr>
          <a:xfrm>
            <a:off x="552450" y="3562350"/>
            <a:ext cx="38576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匿名对象可以直接流入 API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第三方数据无需包装或适配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接口只依赖真正使用的字段</a:t>
            </a:r>
          </a:p>
        </p:txBody>
      </p:sp>
      <p:sp>
        <p:nvSpPr>
          <p:cNvPr id="12" name="nominal-heading">
            <a:extLst>
              <a:ext uri="{FF2B5EF4-FFF2-40B4-BE49-F238E27FC236}">
                <a16:creationId xmlns:a16="http://schemas.microsoft.com/office/drawing/2014/main" id="{2CACDF53-6A2C-4688-82AC-8ACFC9755FB7}"/>
              </a:ext>
            </a:extLst>
          </p:cNvPr>
          <p:cNvSpPr>
            <a:spLocks noGrp="1"/>
          </p:cNvSpPr>
          <p:nvPr/>
        </p:nvSpPr>
        <p:spPr>
          <a:xfrm>
            <a:off x="5010150" y="1381125"/>
            <a:ext cx="3600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名义身份：定义本身就是契约</a:t>
            </a:r>
          </a:p>
        </p:txBody>
      </p:sp>
      <p:sp>
        <p:nvSpPr>
          <p:cNvPr id="13" name="nominal-language">
            <a:extLst>
              <a:ext uri="{FF2B5EF4-FFF2-40B4-BE49-F238E27FC236}">
                <a16:creationId xmlns:a16="http://schemas.microsoft.com/office/drawing/2014/main" id="{98C0F97D-B906-4154-B842-3DAB98367B07}"/>
              </a:ext>
            </a:extLst>
          </p:cNvPr>
          <p:cNvSpPr>
            <a:spLocks noGrp="1"/>
          </p:cNvSpPr>
          <p:nvPr/>
        </p:nvSpPr>
        <p:spPr>
          <a:xfrm>
            <a:off x="5029200" y="1724025"/>
            <a:ext cx="3581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>
                <a:solidFill>
                  <a:srgbClr val="8A8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A8A"/>
                </a:solidFill>
                <a:latin typeface="Arial"/>
                <a:ea typeface="Arial"/>
                <a:cs typeface="Arial"/>
              </a:rPr>
              <a:t>Rust</a:t>
            </a:r>
          </a:p>
        </p:txBody>
      </p:sp>
      <p:sp>
        <p:nvSpPr>
          <p:cNvPr id="14" name="nominal-code">
            <a:extLst>
              <a:ext uri="{FF2B5EF4-FFF2-40B4-BE49-F238E27FC236}">
                <a16:creationId xmlns:a16="http://schemas.microsoft.com/office/drawing/2014/main" id="{E81B3EB0-4BFA-4D24-AA54-A9082012BEDE}"/>
              </a:ext>
            </a:extLst>
          </p:cNvPr>
          <p:cNvSpPr>
            <a:spLocks noGrp="1"/>
          </p:cNvSpPr>
          <p:nvPr/>
        </p:nvSpPr>
        <p:spPr>
          <a:xfrm>
            <a:off x="5029200" y="2019300"/>
            <a:ext cx="35814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7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UserId(u64);</a:t>
            </a: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struct OrderId(u64);</a:t>
            </a:r>
          </a:p>
          <a:p>
            <a:endParaRPr sz="1275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fn cancel(id: OrderId) {}</a:t>
            </a:r>
          </a:p>
          <a:p>
            <a:pPr algn="l">
              <a:lnSpc>
                <a:spcPct val="102000"/>
              </a:lnSpc>
              <a:buNone/>
              <a:defRPr sz="127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cancel(UserId(7));  // error</a:t>
            </a:r>
          </a:p>
        </p:txBody>
      </p:sp>
      <p:sp>
        <p:nvSpPr>
          <p:cNvPr id="15" name="nominal-benefit-title">
            <a:extLst>
              <a:ext uri="{FF2B5EF4-FFF2-40B4-BE49-F238E27FC236}">
                <a16:creationId xmlns:a16="http://schemas.microsoft.com/office/drawing/2014/main" id="{DBD6EE6D-C34A-4B52-9D22-2B4828403A7A}"/>
              </a:ext>
            </a:extLst>
          </p:cNvPr>
          <p:cNvSpPr>
            <a:spLocks noGrp="1"/>
          </p:cNvSpPr>
          <p:nvPr/>
        </p:nvSpPr>
        <p:spPr>
          <a:xfrm>
            <a:off x="5029200" y="3223160"/>
            <a:ext cx="3581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即使布局相同，也保留不同身份（安全性++）</a:t>
            </a:r>
          </a:p>
        </p:txBody>
      </p:sp>
      <p:sp>
        <p:nvSpPr>
          <p:cNvPr id="16" name="nominal-benefits">
            <a:extLst>
              <a:ext uri="{FF2B5EF4-FFF2-40B4-BE49-F238E27FC236}">
                <a16:creationId xmlns:a16="http://schemas.microsoft.com/office/drawing/2014/main" id="{75547D92-CED1-440C-B895-1D7C1E363853}"/>
              </a:ext>
            </a:extLst>
          </p:cNvPr>
          <p:cNvSpPr>
            <a:spLocks noGrp="1"/>
          </p:cNvSpPr>
          <p:nvPr/>
        </p:nvSpPr>
        <p:spPr>
          <a:xfrm>
            <a:off x="5029200" y="3566060"/>
            <a:ext cx="358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编译器阻止对象混用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模块可以隐藏具体表示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转换必须显式表达设计意图</a:t>
            </a:r>
          </a:p>
        </p:txBody>
      </p:sp>
      <p:sp>
        <p:nvSpPr>
          <p:cNvPr id="17" name="tradeoff-takeaway-band">
            <a:extLst>
              <a:ext uri="{FF2B5EF4-FFF2-40B4-BE49-F238E27FC236}">
                <a16:creationId xmlns:a16="http://schemas.microsoft.com/office/drawing/2014/main" id="{C813AA16-58F4-4B97-9C43-4D4DA637178F}"/>
              </a:ext>
            </a:extLst>
          </p:cNvPr>
          <p:cNvSpPr>
            <a:spLocks noGrp="1"/>
          </p:cNvSpPr>
          <p:nvPr/>
        </p:nvSpPr>
        <p:spPr>
          <a:xfrm>
            <a:off x="457200" y="4495800"/>
            <a:ext cx="8229600" cy="609600"/>
          </a:xfrm>
          <a:prstGeom prst="rect">
            <a:avLst/>
          </a:prstGeom>
          <a:solidFill>
            <a:srgbClr val="FBECEF"/>
          </a:solidFill>
          <a:ln w="0">
            <a:noFill/>
            <a:prstDash val="solid"/>
          </a:ln>
        </p:spPr>
      </p:sp>
      <p:sp>
        <p:nvSpPr>
          <p:cNvPr id="18" name="tradeoff-takeaway">
            <a:extLst>
              <a:ext uri="{FF2B5EF4-FFF2-40B4-BE49-F238E27FC236}">
                <a16:creationId xmlns:a16="http://schemas.microsoft.com/office/drawing/2014/main" id="{1E0FABF5-257B-4F0A-8A23-9162EE97A870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结构规则降低组合成本；名义规则降低误用风险。多数语言会针对不同类型构造器混合两者。</a:t>
            </a:r>
          </a:p>
        </p:txBody>
      </p:sp>
    </p:spTree>
    <p:extLst>
      <p:ext uri="{BB962C8B-B14F-4D97-AF65-F5344CB8AC3E}">
        <p14:creationId xmlns:p14="http://schemas.microsoft.com/office/powerpoint/2010/main" val="13063826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43">
            <a:extLst>
              <a:ext uri="{FF2B5EF4-FFF2-40B4-BE49-F238E27FC236}">
                <a16:creationId xmlns:a16="http://schemas.microsoft.com/office/drawing/2014/main" id="{B7BE3C12-AD71-4DF2-91E9-9F1A4CDEAB97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7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如果类型不等价，还能一起使用吗？</a:t>
            </a:r>
          </a:p>
        </p:txBody>
      </p:sp>
      <p:sp>
        <p:nvSpPr>
          <p:cNvPr id="2" name="subtitle-43">
            <a:extLst>
              <a:ext uri="{FF2B5EF4-FFF2-40B4-BE49-F238E27FC236}">
                <a16:creationId xmlns:a16="http://schemas.microsoft.com/office/drawing/2014/main" id="{5DDC88D1-A497-429F-B133-5FC9EE31C7C6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807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7E7E7E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7E7E7E"/>
                </a:solidFill>
                <a:latin typeface="Arial"/>
                <a:ea typeface="Arial"/>
                <a:cs typeface="Arial"/>
              </a:rPr>
              <a:t>大家都知道的概念：“类型转换”</a:t>
            </a:r>
          </a:p>
        </p:txBody>
      </p:sp>
      <p:sp>
        <p:nvSpPr>
          <p:cNvPr id="4" name="explicit-evolution-divider">
            <a:extLst>
              <a:ext uri="{FF2B5EF4-FFF2-40B4-BE49-F238E27FC236}">
                <a16:creationId xmlns:a16="http://schemas.microsoft.com/office/drawing/2014/main" id="{7620EA05-76A0-4AE8-9B27-03BE03928A17}"/>
              </a:ext>
            </a:extLst>
          </p:cNvPr>
          <p:cNvSpPr>
            <a:spLocks noGrp="1"/>
          </p:cNvSpPr>
          <p:nvPr/>
        </p:nvSpPr>
        <p:spPr>
          <a:xfrm>
            <a:off x="4667250" y="1576918"/>
            <a:ext cx="0" cy="28194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5" name="function-heading">
            <a:extLst>
              <a:ext uri="{FF2B5EF4-FFF2-40B4-BE49-F238E27FC236}">
                <a16:creationId xmlns:a16="http://schemas.microsoft.com/office/drawing/2014/main" id="{77DFE79E-DDEA-443C-BB57-129A84CDFE46}"/>
              </a:ext>
            </a:extLst>
          </p:cNvPr>
          <p:cNvSpPr>
            <a:spLocks noGrp="1"/>
          </p:cNvSpPr>
          <p:nvPr/>
        </p:nvSpPr>
        <p:spPr>
          <a:xfrm>
            <a:off x="533400" y="1576918"/>
            <a:ext cx="3848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语言不提供支持：程序员手写转换函数</a:t>
            </a:r>
          </a:p>
        </p:txBody>
      </p:sp>
      <p:sp>
        <p:nvSpPr>
          <p:cNvPr id="6" name="function-code">
            <a:extLst>
              <a:ext uri="{FF2B5EF4-FFF2-40B4-BE49-F238E27FC236}">
                <a16:creationId xmlns:a16="http://schemas.microsoft.com/office/drawing/2014/main" id="{204C4A0D-5F33-4C81-BCBE-D7D122095241}"/>
              </a:ext>
            </a:extLst>
          </p:cNvPr>
          <p:cNvSpPr>
            <a:spLocks noGrp="1"/>
          </p:cNvSpPr>
          <p:nvPr/>
        </p:nvSpPr>
        <p:spPr>
          <a:xfrm>
            <a:off x="552450" y="2138893"/>
            <a:ext cx="3857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fun intToFloat(x: Int): Float = ...</a:t>
            </a:r>
          </a:p>
          <a:p>
            <a:pPr algn="l">
              <a:lnSpc>
                <a:spcPct val="108000"/>
              </a:lnSpc>
              <a:buNone/>
              <a:defRPr sz="14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let rate: Float = intToFloat(3)</a:t>
            </a:r>
          </a:p>
        </p:txBody>
      </p:sp>
      <p:sp>
        <p:nvSpPr>
          <p:cNvPr id="7" name="function-body">
            <a:extLst>
              <a:ext uri="{FF2B5EF4-FFF2-40B4-BE49-F238E27FC236}">
                <a16:creationId xmlns:a16="http://schemas.microsoft.com/office/drawing/2014/main" id="{12FC6D74-2533-4010-8760-18E9844323F6}"/>
              </a:ext>
            </a:extLst>
          </p:cNvPr>
          <p:cNvSpPr>
            <a:spLocks noGrp="1"/>
          </p:cNvSpPr>
          <p:nvPr/>
        </p:nvSpPr>
        <p:spPr>
          <a:xfrm>
            <a:off x="552450" y="3110443"/>
            <a:ext cx="3857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类型检查器只看到普通的 Int -&gt; Float 函数调用。</a:t>
            </a:r>
          </a:p>
          <a:p>
            <a:endParaRPr sz="1350" b="0">
              <a:solidFill>
                <a:srgbClr val="414141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实现、命名、失败方式和边界情况都由程序员或库约定；每处转换都要显式调用。</a:t>
            </a:r>
          </a:p>
        </p:txBody>
      </p:sp>
      <p:sp>
        <p:nvSpPr>
          <p:cNvPr id="8" name="cast-heading">
            <a:extLst>
              <a:ext uri="{FF2B5EF4-FFF2-40B4-BE49-F238E27FC236}">
                <a16:creationId xmlns:a16="http://schemas.microsoft.com/office/drawing/2014/main" id="{45DA88E9-DF66-4001-9BED-550664EBD0F8}"/>
              </a:ext>
            </a:extLst>
          </p:cNvPr>
          <p:cNvSpPr>
            <a:spLocks noGrp="1"/>
          </p:cNvSpPr>
          <p:nvPr/>
        </p:nvSpPr>
        <p:spPr>
          <a:xfrm>
            <a:off x="5010150" y="1576918"/>
            <a:ext cx="3600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语言提供显式转换支持</a:t>
            </a:r>
          </a:p>
        </p:txBody>
      </p:sp>
      <p:sp>
        <p:nvSpPr>
          <p:cNvPr id="9" name="cast-code">
            <a:extLst>
              <a:ext uri="{FF2B5EF4-FFF2-40B4-BE49-F238E27FC236}">
                <a16:creationId xmlns:a16="http://schemas.microsoft.com/office/drawing/2014/main" id="{E2B84623-A340-4D65-AF06-849A8DD16F6D}"/>
              </a:ext>
            </a:extLst>
          </p:cNvPr>
          <p:cNvSpPr>
            <a:spLocks noGrp="1"/>
          </p:cNvSpPr>
          <p:nvPr/>
        </p:nvSpPr>
        <p:spPr>
          <a:xfrm>
            <a:off x="5029200" y="2138893"/>
            <a:ext cx="358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00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let rate: Float = 3 as Float</a:t>
            </a:r>
          </a:p>
        </p:txBody>
      </p:sp>
      <p:sp>
        <p:nvSpPr>
          <p:cNvPr id="10" name="cast-body">
            <a:extLst>
              <a:ext uri="{FF2B5EF4-FFF2-40B4-BE49-F238E27FC236}">
                <a16:creationId xmlns:a16="http://schemas.microsoft.com/office/drawing/2014/main" id="{06D0EAC2-662A-4282-811B-21FBF116409C}"/>
              </a:ext>
            </a:extLst>
          </p:cNvPr>
          <p:cNvSpPr>
            <a:spLocks noGrp="1"/>
          </p:cNvSpPr>
          <p:nvPr/>
        </p:nvSpPr>
        <p:spPr>
          <a:xfrm>
            <a:off x="5029199" y="2900893"/>
            <a:ext cx="379715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编译器识别 CastExpr；语言必须规定：</a:t>
            </a:r>
          </a:p>
          <a:p>
            <a:endParaRPr sz="1350" b="0">
              <a:solidFill>
                <a:srgbClr val="414141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哪些</a:t>
            </a:r>
            <a:r>
              <a:rPr sz="1350">
                <a:solidFill>
                  <a:srgbClr val="414141"/>
                </a:solidFill>
                <a:latin typeface="Arial"/>
                <a:ea typeface="Arial"/>
                <a:cs typeface="Arial"/>
              </a:rPr>
              <a:t>类型转换</a:t>
            </a: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合法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溢出、截断或失败时发生什么</a:t>
            </a:r>
          </a:p>
          <a:p>
            <a:pPr algn="l">
              <a:lnSpc>
                <a:spcPct val="108000"/>
              </a:lnSpc>
              <a:buNone/>
              <a:defRPr sz="135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最终 lowering 成哪种操作（例如LLVM里的sitofp节点）</a:t>
            </a:r>
          </a:p>
        </p:txBody>
      </p:sp>
      <p:sp>
        <p:nvSpPr>
          <p:cNvPr id="11" name="explicit-evolution-takeaway-band">
            <a:extLst>
              <a:ext uri="{FF2B5EF4-FFF2-40B4-BE49-F238E27FC236}">
                <a16:creationId xmlns:a16="http://schemas.microsoft.com/office/drawing/2014/main" id="{5CAD4A4C-1E75-4848-82D5-95263A9D791C}"/>
              </a:ext>
            </a:extLst>
          </p:cNvPr>
          <p:cNvSpPr>
            <a:spLocks noGrp="1"/>
          </p:cNvSpPr>
          <p:nvPr/>
        </p:nvSpPr>
        <p:spPr>
          <a:xfrm>
            <a:off x="457200" y="4696887"/>
            <a:ext cx="8229600" cy="495300"/>
          </a:xfrm>
          <a:prstGeom prst="rect">
            <a:avLst/>
          </a:prstGeom>
          <a:solidFill>
            <a:srgbClr val="FBECEF"/>
          </a:solidFill>
          <a:ln w="0">
            <a:noFill/>
            <a:prstDash val="solid"/>
          </a:ln>
        </p:spPr>
      </p:sp>
      <p:sp>
        <p:nvSpPr>
          <p:cNvPr id="12" name="explicit-evolution-takeaway">
            <a:extLst>
              <a:ext uri="{FF2B5EF4-FFF2-40B4-BE49-F238E27FC236}">
                <a16:creationId xmlns:a16="http://schemas.microsoft.com/office/drawing/2014/main" id="{5B2EA77B-9510-4F6A-9AEA-6F58FAB16DD5}"/>
              </a:ext>
            </a:extLst>
          </p:cNvPr>
          <p:cNvSpPr>
            <a:spLocks noGrp="1"/>
          </p:cNvSpPr>
          <p:nvPr/>
        </p:nvSpPr>
        <p:spPr>
          <a:xfrm>
            <a:off x="647700" y="4773087"/>
            <a:ext cx="784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Int 与 Float 并非等价，但它们在给定规则下可以转换，并且转换可以进入语言原生的支持中。</a:t>
            </a: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72DB7CE-501A-BBF4-0CAD-B084CE0A592C}" type="slidenum"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44">
            <a:extLst>
              <a:ext uri="{FF2B5EF4-FFF2-40B4-BE49-F238E27FC236}">
                <a16:creationId xmlns:a16="http://schemas.microsoft.com/office/drawing/2014/main" id="{0E29173F-A27B-44FE-A7BF-BEFA18ACEF29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1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显式转换进入语法后，也进入类型规则</a:t>
            </a:r>
          </a:p>
        </p:txBody>
      </p:sp>
      <p:sp>
        <p:nvSpPr>
          <p:cNvPr id="2" name="subtitle-44">
            <a:extLst>
              <a:ext uri="{FF2B5EF4-FFF2-40B4-BE49-F238E27FC236}">
                <a16:creationId xmlns:a16="http://schemas.microsoft.com/office/drawing/2014/main" id="{9AA14399-7F38-4A00-9CE1-B9810092EA96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807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7E7E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E7E7E"/>
                </a:solidFill>
                <a:latin typeface="Arial"/>
                <a:ea typeface="Arial"/>
                <a:cs typeface="Arial"/>
              </a:rPr>
              <a:t>类型检查器不再只问 sameType(S, T)，还要判断语言是否允许显式</a:t>
            </a:r>
            <a:r>
              <a:rPr sz="1500">
                <a:solidFill>
                  <a:srgbClr val="7E7E7E"/>
                </a:solidFill>
                <a:latin typeface="Arial"/>
                <a:ea typeface="Arial"/>
                <a:cs typeface="Arial"/>
              </a:rPr>
              <a:t>请求</a:t>
            </a:r>
            <a:r>
              <a:rPr sz="1500" b="0">
                <a:solidFill>
                  <a:srgbClr val="7E7E7E"/>
                </a:solidFill>
                <a:latin typeface="Arial"/>
                <a:ea typeface="Arial"/>
                <a:cs typeface="Arial"/>
              </a:rPr>
              <a:t>S -&gt; T的转换</a:t>
            </a:r>
          </a:p>
        </p:txBody>
      </p:sp>
      <p:sp>
        <p:nvSpPr>
          <p:cNvPr id="4" name="explicit-rule-divider">
            <a:extLst>
              <a:ext uri="{FF2B5EF4-FFF2-40B4-BE49-F238E27FC236}">
                <a16:creationId xmlns:a16="http://schemas.microsoft.com/office/drawing/2014/main" id="{E7ED3306-1AB4-487F-B13C-A59FF7235F16}"/>
              </a:ext>
            </a:extLst>
          </p:cNvPr>
          <p:cNvSpPr>
            <a:spLocks noGrp="1"/>
          </p:cNvSpPr>
          <p:nvPr/>
        </p:nvSpPr>
        <p:spPr>
          <a:xfrm>
            <a:off x="4667250" y="1619250"/>
            <a:ext cx="0" cy="28194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5" name="queries-heading">
            <a:extLst>
              <a:ext uri="{FF2B5EF4-FFF2-40B4-BE49-F238E27FC236}">
                <a16:creationId xmlns:a16="http://schemas.microsoft.com/office/drawing/2014/main" id="{634F93A7-B1E9-489B-A022-CD6714E86D66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3848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两个问题，两个判断</a:t>
            </a:r>
          </a:p>
        </p:txBody>
      </p:sp>
      <p:sp>
        <p:nvSpPr>
          <p:cNvPr id="6" name="queries-code">
            <a:extLst>
              <a:ext uri="{FF2B5EF4-FFF2-40B4-BE49-F238E27FC236}">
                <a16:creationId xmlns:a16="http://schemas.microsoft.com/office/drawing/2014/main" id="{FB559906-112E-4108-B360-FAC6299D0A56}"/>
              </a:ext>
            </a:extLst>
          </p:cNvPr>
          <p:cNvSpPr>
            <a:spLocks noGrp="1"/>
          </p:cNvSpPr>
          <p:nvPr/>
        </p:nvSpPr>
        <p:spPr>
          <a:xfrm>
            <a:off x="552450" y="2228850"/>
            <a:ext cx="3857625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sameType(Int, Float)</a:t>
            </a:r>
          </a:p>
          <a:p>
            <a:pPr algn="l">
              <a:lnSpc>
                <a:spcPct val="108000"/>
              </a:lnSpc>
              <a:buNone/>
              <a:defRPr sz="14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  = false</a:t>
            </a:r>
          </a:p>
          <a:p>
            <a:endParaRPr sz="1425" b="1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8000"/>
              </a:lnSpc>
              <a:buNone/>
              <a:defRPr sz="14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canConvert(Int, Float, Explicit)</a:t>
            </a:r>
          </a:p>
          <a:p>
            <a:pPr algn="l">
              <a:lnSpc>
                <a:spcPct val="108000"/>
              </a:lnSpc>
              <a:buNone/>
              <a:defRPr sz="14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  = true</a:t>
            </a:r>
          </a:p>
        </p:txBody>
      </p:sp>
      <p:sp>
        <p:nvSpPr>
          <p:cNvPr id="7" name="queries-note">
            <a:extLst>
              <a:ext uri="{FF2B5EF4-FFF2-40B4-BE49-F238E27FC236}">
                <a16:creationId xmlns:a16="http://schemas.microsoft.com/office/drawing/2014/main" id="{1CF02920-B447-438B-8523-0BE0876FF742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3857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等价判断保持严格；转换判断承认一条</a:t>
            </a: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有方向、带语义</a:t>
            </a: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的边。</a:t>
            </a:r>
          </a:p>
        </p:txBody>
      </p:sp>
      <p:sp>
        <p:nvSpPr>
          <p:cNvPr id="8" name="gamma-heading">
            <a:extLst>
              <a:ext uri="{FF2B5EF4-FFF2-40B4-BE49-F238E27FC236}">
                <a16:creationId xmlns:a16="http://schemas.microsoft.com/office/drawing/2014/main" id="{76040B3E-83C1-43BC-A62E-118E57061475}"/>
              </a:ext>
            </a:extLst>
          </p:cNvPr>
          <p:cNvSpPr>
            <a:spLocks noGrp="1"/>
          </p:cNvSpPr>
          <p:nvPr/>
        </p:nvSpPr>
        <p:spPr>
          <a:xfrm>
            <a:off x="5010150" y="1638300"/>
            <a:ext cx="3600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回到熟悉的 Γ 推理</a:t>
            </a:r>
          </a:p>
        </p:txBody>
      </p:sp>
      <p:sp>
        <p:nvSpPr>
          <p:cNvPr id="10" name="gamma-note">
            <a:extLst>
              <a:ext uri="{FF2B5EF4-FFF2-40B4-BE49-F238E27FC236}">
                <a16:creationId xmlns:a16="http://schemas.microsoft.com/office/drawing/2014/main" id="{2123A28E-1109-47A0-9C08-17A421ED11CB}"/>
              </a:ext>
            </a:extLst>
          </p:cNvPr>
          <p:cNvSpPr>
            <a:spLocks noGrp="1"/>
          </p:cNvSpPr>
          <p:nvPr/>
        </p:nvSpPr>
        <p:spPr>
          <a:xfrm>
            <a:off x="5029200" y="3848100"/>
            <a:ext cx="3581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先递归检查 e 得到源类型 S；再检查 S -&gt; T；成功后整个 cast 表达式返回 T。</a:t>
            </a:r>
          </a:p>
        </p:txBody>
      </p:sp>
      <p:sp>
        <p:nvSpPr>
          <p:cNvPr id="11" name="explicit-rule-takeaway-band">
            <a:extLst>
              <a:ext uri="{FF2B5EF4-FFF2-40B4-BE49-F238E27FC236}">
                <a16:creationId xmlns:a16="http://schemas.microsoft.com/office/drawing/2014/main" id="{3F15F775-CC30-4104-9B78-5F53150667AE}"/>
              </a:ext>
            </a:extLst>
          </p:cNvPr>
          <p:cNvSpPr>
            <a:spLocks noGrp="1"/>
          </p:cNvSpPr>
          <p:nvPr/>
        </p:nvSpPr>
        <p:spPr>
          <a:xfrm>
            <a:off x="457200" y="4600575"/>
            <a:ext cx="8229600" cy="495300"/>
          </a:xfrm>
          <a:prstGeom prst="rect">
            <a:avLst/>
          </a:prstGeom>
          <a:solidFill>
            <a:srgbClr val="FBEC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plicit-rule-takeaway">
            <a:extLst>
              <a:ext uri="{FF2B5EF4-FFF2-40B4-BE49-F238E27FC236}">
                <a16:creationId xmlns:a16="http://schemas.microsoft.com/office/drawing/2014/main" id="{2F75B796-30A5-4BB4-92C5-D0B39A67A0A9}"/>
              </a:ext>
            </a:extLst>
          </p:cNvPr>
          <p:cNvSpPr>
            <a:spLocks noGrp="1"/>
          </p:cNvSpPr>
          <p:nvPr/>
        </p:nvSpPr>
        <p:spPr>
          <a:xfrm>
            <a:off x="647700" y="4676775"/>
            <a:ext cx="784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当显式转换是语言语义时，语法节点、静态规则和运行时行为必须相互一致。</a:t>
            </a:r>
          </a:p>
        </p:txBody>
      </p:sp>
      <p:sp>
        <p:nvSpPr>
          <p:cNvPr id="14" name="gamma-rule-bar">
            <a:extLst>
              <a:ext uri="{FF2B5EF4-FFF2-40B4-BE49-F238E27FC236}">
                <a16:creationId xmlns:a16="http://schemas.microsoft.com/office/drawing/2014/main" id="{145D63B4-C490-4D05-B6CD-CA36A1A1B6F2}"/>
              </a:ext>
            </a:extLst>
          </p:cNvPr>
          <p:cNvSpPr>
            <a:spLocks noGrp="1"/>
          </p:cNvSpPr>
          <p:nvPr/>
        </p:nvSpPr>
        <p:spPr>
          <a:xfrm>
            <a:off x="5238750" y="3171825"/>
            <a:ext cx="3162300" cy="0"/>
          </a:xfrm>
          <a:prstGeom prst="line">
            <a:avLst/>
          </a:prstGeom>
          <a:noFill/>
          <a:ln w="14288">
            <a:solidFill>
              <a:srgbClr val="414141"/>
            </a:solidFill>
            <a:prstDash val="solid"/>
          </a:ln>
        </p:spPr>
      </p:sp>
      <p:sp>
        <p:nvSpPr>
          <p:cNvPr id="15" name="gamma-rule-premises">
            <a:extLst>
              <a:ext uri="{FF2B5EF4-FFF2-40B4-BE49-F238E27FC236}">
                <a16:creationId xmlns:a16="http://schemas.microsoft.com/office/drawing/2014/main" id="{F7E1C80E-C766-42A0-B71E-98CA88E53708}"/>
              </a:ext>
            </a:extLst>
          </p:cNvPr>
          <p:cNvSpPr>
            <a:spLocks noGrp="1"/>
          </p:cNvSpPr>
          <p:nvPr/>
        </p:nvSpPr>
        <p:spPr>
          <a:xfrm>
            <a:off x="5029200" y="2295525"/>
            <a:ext cx="3581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Γ ⊢ e : S</a:t>
            </a:r>
          </a:p>
          <a:p>
            <a:pPr algn="ctr">
              <a:lnSpc>
                <a:spcPct val="108000"/>
              </a:lnSpc>
              <a:buNone/>
              <a:defRPr sz="157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canConvert(S, T, Explicit)</a:t>
            </a:r>
          </a:p>
        </p:txBody>
      </p:sp>
      <p:sp>
        <p:nvSpPr>
          <p:cNvPr id="16" name="gamma-rule-conclusion">
            <a:extLst>
              <a:ext uri="{FF2B5EF4-FFF2-40B4-BE49-F238E27FC236}">
                <a16:creationId xmlns:a16="http://schemas.microsoft.com/office/drawing/2014/main" id="{49707F64-0AAF-43E4-B360-642D21202D9A}"/>
              </a:ext>
            </a:extLst>
          </p:cNvPr>
          <p:cNvSpPr>
            <a:spLocks noGrp="1"/>
          </p:cNvSpPr>
          <p:nvPr/>
        </p:nvSpPr>
        <p:spPr>
          <a:xfrm>
            <a:off x="5029200" y="3276600"/>
            <a:ext cx="3581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Γ ⊢ e as T : T</a:t>
            </a:r>
          </a:p>
        </p:txBody>
      </p:sp>
      <p:sp>
        <p:nvSpPr>
          <p:cNvPr id="17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766E625-45F0-7FC0-7206-B9D4780D3461}" type="slidenum"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6130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45">
            <a:extLst>
              <a:ext uri="{FF2B5EF4-FFF2-40B4-BE49-F238E27FC236}">
                <a16:creationId xmlns:a16="http://schemas.microsoft.com/office/drawing/2014/main" id="{6C230E10-E0E8-4088-AAF6-22455FD52D4D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canConvert 背后是一组规则，而不只是一个 true</a:t>
            </a:r>
          </a:p>
        </p:txBody>
      </p:sp>
      <p:sp>
        <p:nvSpPr>
          <p:cNvPr id="2" name="subtitle-45">
            <a:extLst>
              <a:ext uri="{FF2B5EF4-FFF2-40B4-BE49-F238E27FC236}">
                <a16:creationId xmlns:a16="http://schemas.microsoft.com/office/drawing/2014/main" id="{80EADC63-ABFB-4AA1-ADDB-1AE6B4A968E0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807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7E7E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E7E7E"/>
                </a:solidFill>
                <a:latin typeface="Arial"/>
                <a:ea typeface="Arial"/>
                <a:cs typeface="Arial"/>
              </a:rPr>
              <a:t>检查器既要判断“能不能转”，也要告诉后续阶段“具体怎样转”</a:t>
            </a:r>
          </a:p>
        </p:txBody>
      </p:sp>
      <p:sp>
        <p:nvSpPr>
          <p:cNvPr id="4" name="explicit-cases-divider">
            <a:extLst>
              <a:ext uri="{FF2B5EF4-FFF2-40B4-BE49-F238E27FC236}">
                <a16:creationId xmlns:a16="http://schemas.microsoft.com/office/drawing/2014/main" id="{D649F057-60A4-433A-8101-9F30DAE24DBF}"/>
              </a:ext>
            </a:extLst>
          </p:cNvPr>
          <p:cNvSpPr>
            <a:spLocks noGrp="1"/>
          </p:cNvSpPr>
          <p:nvPr/>
        </p:nvSpPr>
        <p:spPr>
          <a:xfrm>
            <a:off x="6076950" y="1551875"/>
            <a:ext cx="0" cy="28194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2" name="explicit-plan-takeaway-band">
            <a:extLst>
              <a:ext uri="{FF2B5EF4-FFF2-40B4-BE49-F238E27FC236}">
                <a16:creationId xmlns:a16="http://schemas.microsoft.com/office/drawing/2014/main" id="{6ECDCB16-188C-480A-B334-D61981808B0D}"/>
              </a:ext>
            </a:extLst>
          </p:cNvPr>
          <p:cNvSpPr>
            <a:spLocks noGrp="1"/>
          </p:cNvSpPr>
          <p:nvPr/>
        </p:nvSpPr>
        <p:spPr>
          <a:xfrm>
            <a:off x="457200" y="4676075"/>
            <a:ext cx="8229600" cy="495300"/>
          </a:xfrm>
          <a:prstGeom prst="rect">
            <a:avLst/>
          </a:prstGeom>
          <a:solidFill>
            <a:srgbClr val="FBECEF"/>
          </a:solidFill>
          <a:ln w="0">
            <a:noFill/>
            <a:prstDash val="solid"/>
          </a:ln>
        </p:spPr>
      </p:sp>
      <p:sp>
        <p:nvSpPr>
          <p:cNvPr id="13" name="explicit-plan-takeaway">
            <a:extLst>
              <a:ext uri="{FF2B5EF4-FFF2-40B4-BE49-F238E27FC236}">
                <a16:creationId xmlns:a16="http://schemas.microsoft.com/office/drawing/2014/main" id="{FCF54491-BE21-4B7C-B30B-C352F3EE3526}"/>
              </a:ext>
            </a:extLst>
          </p:cNvPr>
          <p:cNvSpPr>
            <a:spLocks noGrp="1"/>
          </p:cNvSpPr>
          <p:nvPr/>
        </p:nvSpPr>
        <p:spPr>
          <a:xfrm>
            <a:off x="647700" y="4752275"/>
            <a:ext cx="784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canConvert 的规则不只证明“允许”；每条规则还规定命中后如何改写程序。</a:t>
            </a:r>
          </a:p>
        </p:txBody>
      </p:sp>
      <p:sp>
        <p:nvSpPr>
          <p:cNvPr id="15" name="rules-table-heading">
            <a:extLst>
              <a:ext uri="{FF2B5EF4-FFF2-40B4-BE49-F238E27FC236}">
                <a16:creationId xmlns:a16="http://schemas.microsoft.com/office/drawing/2014/main" id="{12FE3B74-E38A-46B8-B32A-302CA1DE13AB}"/>
              </a:ext>
            </a:extLst>
          </p:cNvPr>
          <p:cNvSpPr>
            <a:spLocks noGrp="1"/>
          </p:cNvSpPr>
          <p:nvPr/>
        </p:nvSpPr>
        <p:spPr>
          <a:xfrm>
            <a:off x="533400" y="1542350"/>
            <a:ext cx="5429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常见规则：</a:t>
            </a:r>
          </a:p>
        </p:txBody>
      </p:sp>
      <p:graphicFrame>
        <p:nvGraphicFramePr>
          <p:cNvPr id="32" name="conversion-rules-table"/>
          <p:cNvGraphicFramePr/>
          <p:nvPr/>
        </p:nvGraphicFramePr>
        <p:xfrm>
          <a:off x="457984" y="1913825"/>
          <a:ext cx="5543550" cy="2457450"/>
        </p:xfrm>
        <a:graphic>
          <a:graphicData uri="http://schemas.openxmlformats.org/drawingml/2006/table">
            <a:tbl>
              <a:tblPr/>
              <a:tblGrid>
                <a:gridCol w="102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BE384B"/>
                          </a:solidFill>
                          <a:latin typeface="Arial"/>
                          <a:ea typeface="Arial"/>
                          <a:cs typeface="Arial"/>
                        </a:rPr>
                        <a:t>名称</a:t>
                      </a:r>
                    </a:p>
                  </a:txBody>
                  <a:tcPr>
                    <a:solidFill>
                      <a:srgbClr val="FBE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BE384B"/>
                          </a:solidFill>
                          <a:latin typeface="Arial"/>
                          <a:ea typeface="Arial"/>
                          <a:cs typeface="Arial"/>
                        </a:rPr>
                        <a:t>判断 / 查找</a:t>
                      </a:r>
                    </a:p>
                  </a:txBody>
                  <a:tcPr>
                    <a:solidFill>
                      <a:srgbClr val="FBEC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BE384B"/>
                          </a:solidFill>
                          <a:latin typeface="Arial"/>
                          <a:ea typeface="Arial"/>
                          <a:cs typeface="Arial"/>
                        </a:rPr>
                        <a:t>命中后做什么</a:t>
                      </a:r>
                    </a:p>
                  </a:txBody>
                  <a:tcPr>
                    <a:solidFill>
                      <a:srgbClr val="FB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等价性规则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38" b="0">
                          <a:solidFill>
                            <a:srgbClr val="414141"/>
                          </a:solidFill>
                          <a:latin typeface="Menlo"/>
                          <a:ea typeface="Menlo"/>
                          <a:cs typeface="Menlo"/>
                        </a:rPr>
                        <a:t>sameType(S, 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类型已经相同：直接使用 e，</a:t>
                      </a:r>
                    </a:p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不生成转换代码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内建数值规则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38" b="0">
                          <a:solidFill>
                            <a:srgbClr val="414141"/>
                          </a:solidFill>
                          <a:latin typeface="Menlo"/>
                          <a:ea typeface="Menlo"/>
                          <a:cs typeface="Menlo"/>
                        </a:rPr>
                        <a:t>numericCastAllowed</a:t>
                      </a:r>
                    </a:p>
                    <a:p>
                      <a:pPr algn="l">
                        <a:buNone/>
                      </a:pPr>
                      <a:r>
                        <a:rPr sz="938" b="0">
                          <a:solidFill>
                            <a:srgbClr val="414141"/>
                          </a:solidFill>
                          <a:latin typeface="Menlo"/>
                          <a:ea typeface="Menlo"/>
                          <a:cs typeface="Menlo"/>
                        </a:rPr>
                        <a:t>(S, T, mode)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插入数值转换；例如 Int -&gt; Float</a:t>
                      </a:r>
                    </a:p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后续生成转换相关IR节点（如LLVM sitofp）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用户定义转换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38" b="0">
                          <a:solidFill>
                            <a:srgbClr val="414141"/>
                          </a:solidFill>
                          <a:latin typeface="Menlo"/>
                          <a:ea typeface="Menlo"/>
                          <a:cs typeface="Menlo"/>
                        </a:rPr>
                        <a:t>lookupConversion</a:t>
                      </a:r>
                    </a:p>
                    <a:p>
                      <a:pPr algn="l">
                        <a:buNone/>
                      </a:pPr>
                      <a:r>
                        <a:rPr sz="938" b="0">
                          <a:solidFill>
                            <a:srgbClr val="414141"/>
                          </a:solidFill>
                          <a:latin typeface="Menlo"/>
                          <a:ea typeface="Menlo"/>
                          <a:cs typeface="Menlo"/>
                        </a:rPr>
                        <a:t>(S, T, mode) -&gt;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把 e as T 改写为开发者提供的 f(e)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受检引用转换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38" b="0">
                          <a:solidFill>
                            <a:srgbClr val="414141"/>
                          </a:solidFill>
                          <a:latin typeface="Menlo"/>
                          <a:ea typeface="Menlo"/>
                          <a:cs typeface="Menlo"/>
                        </a:rPr>
                        <a:t>checkedCastAllowed</a:t>
                      </a:r>
                    </a:p>
                    <a:p>
                      <a:pPr algn="l">
                        <a:buNone/>
                      </a:pPr>
                      <a:r>
                        <a:rPr sz="938" b="0">
                          <a:solidFill>
                            <a:srgbClr val="414141"/>
                          </a:solidFill>
                          <a:latin typeface="Menlo"/>
                          <a:ea typeface="Menlo"/>
                          <a:cs typeface="Menlo"/>
                        </a:rPr>
                        <a:t>(S, T, mode)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插入运行时类型检查；</a:t>
                      </a:r>
                    </a:p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失败行为由语言规定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无适用规则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38" b="0">
                          <a:solidFill>
                            <a:srgbClr val="414141"/>
                          </a:solidFill>
                          <a:latin typeface="Menlo"/>
                          <a:ea typeface="Menlo"/>
                          <a:cs typeface="Menlo"/>
                        </a:rPr>
                        <a:t>以上判断均失败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0">
                          <a:solidFill>
                            <a:srgbClr val="414141"/>
                          </a:solidFill>
                          <a:latin typeface="Arial"/>
                          <a:ea typeface="Arial"/>
                          <a:cs typeface="Arial"/>
                        </a:rPr>
                        <a:t>拒绝转换，报告类型错误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worked-rule-heading">
            <a:extLst>
              <a:ext uri="{FF2B5EF4-FFF2-40B4-BE49-F238E27FC236}">
                <a16:creationId xmlns:a16="http://schemas.microsoft.com/office/drawing/2014/main" id="{1EF799C7-4D38-4B13-8DBE-D36E22007041}"/>
              </a:ext>
            </a:extLst>
          </p:cNvPr>
          <p:cNvSpPr>
            <a:spLocks noGrp="1"/>
          </p:cNvSpPr>
          <p:nvPr/>
        </p:nvSpPr>
        <p:spPr>
          <a:xfrm>
            <a:off x="6305550" y="1551875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一条规则怎样落地？</a:t>
            </a:r>
          </a:p>
        </p:txBody>
      </p:sp>
      <p:sp>
        <p:nvSpPr>
          <p:cNvPr id="18" name="worked-rule-source">
            <a:extLst>
              <a:ext uri="{FF2B5EF4-FFF2-40B4-BE49-F238E27FC236}">
                <a16:creationId xmlns:a16="http://schemas.microsoft.com/office/drawing/2014/main" id="{76AAFB9F-F95A-4958-8D8F-B5B2FFD41161}"/>
              </a:ext>
            </a:extLst>
          </p:cNvPr>
          <p:cNvSpPr>
            <a:spLocks noGrp="1"/>
          </p:cNvSpPr>
          <p:nvPr/>
        </p:nvSpPr>
        <p:spPr>
          <a:xfrm>
            <a:off x="6305550" y="20567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3 as Float</a:t>
            </a:r>
          </a:p>
        </p:txBody>
      </p:sp>
      <p:sp>
        <p:nvSpPr>
          <p:cNvPr id="19" name="worked-rule-match">
            <a:extLst>
              <a:ext uri="{FF2B5EF4-FFF2-40B4-BE49-F238E27FC236}">
                <a16:creationId xmlns:a16="http://schemas.microsoft.com/office/drawing/2014/main" id="{0EDF82AA-2FFC-435C-8123-193D75FBACF4}"/>
              </a:ext>
            </a:extLst>
          </p:cNvPr>
          <p:cNvSpPr>
            <a:spLocks noGrp="1"/>
          </p:cNvSpPr>
          <p:nvPr/>
        </p:nvSpPr>
        <p:spPr>
          <a:xfrm>
            <a:off x="6305550" y="24948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↓  命中内建数值规则</a:t>
            </a:r>
          </a:p>
        </p:txBody>
      </p:sp>
      <p:sp>
        <p:nvSpPr>
          <p:cNvPr id="20" name="worked-rule-ast">
            <a:extLst>
              <a:ext uri="{FF2B5EF4-FFF2-40B4-BE49-F238E27FC236}">
                <a16:creationId xmlns:a16="http://schemas.microsoft.com/office/drawing/2014/main" id="{476D8305-93D9-49DD-AA0C-EA121583150D}"/>
              </a:ext>
            </a:extLst>
          </p:cNvPr>
          <p:cNvSpPr>
            <a:spLocks noGrp="1"/>
          </p:cNvSpPr>
          <p:nvPr/>
        </p:nvSpPr>
        <p:spPr>
          <a:xfrm>
            <a:off x="6191250" y="2913950"/>
            <a:ext cx="2609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NumericCast(3, Float)</a:t>
            </a:r>
          </a:p>
        </p:txBody>
      </p:sp>
      <p:sp>
        <p:nvSpPr>
          <p:cNvPr id="21" name="worked-rule-lowering">
            <a:extLst>
              <a:ext uri="{FF2B5EF4-FFF2-40B4-BE49-F238E27FC236}">
                <a16:creationId xmlns:a16="http://schemas.microsoft.com/office/drawing/2014/main" id="{60DBD940-2851-4656-9C64-DFC80EEA498A}"/>
              </a:ext>
            </a:extLst>
          </p:cNvPr>
          <p:cNvSpPr>
            <a:spLocks noGrp="1"/>
          </p:cNvSpPr>
          <p:nvPr/>
        </p:nvSpPr>
        <p:spPr>
          <a:xfrm>
            <a:off x="6305550" y="33425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↓  lowering</a:t>
            </a:r>
          </a:p>
        </p:txBody>
      </p:sp>
      <p:sp>
        <p:nvSpPr>
          <p:cNvPr id="22" name="worked-rule-ir">
            <a:extLst>
              <a:ext uri="{FF2B5EF4-FFF2-40B4-BE49-F238E27FC236}">
                <a16:creationId xmlns:a16="http://schemas.microsoft.com/office/drawing/2014/main" id="{8CC8C959-4D30-4639-9188-87D318861FA7}"/>
              </a:ext>
            </a:extLst>
          </p:cNvPr>
          <p:cNvSpPr>
            <a:spLocks noGrp="1"/>
          </p:cNvSpPr>
          <p:nvPr/>
        </p:nvSpPr>
        <p:spPr>
          <a:xfrm>
            <a:off x="6172200" y="3771200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%v = sitofp i32 3 to double</a:t>
            </a:r>
          </a:p>
        </p:txBody>
      </p:sp>
      <p:sp>
        <p:nvSpPr>
          <p:cNvPr id="24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9CF87E8-8F71-04A5-6F3A-BEE8F630D5E2}" type="slidenum">
              <a:rPr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35144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46">
            <a:extLst>
              <a:ext uri="{FF2B5EF4-FFF2-40B4-BE49-F238E27FC236}">
                <a16:creationId xmlns:a16="http://schemas.microsoft.com/office/drawing/2014/main" id="{A0FDB0AA-A9D9-4422-81EE-AE0D4AECCC3C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47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C++案例：static_cast怎样变成LLVM IR？</a:t>
            </a: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491E0C6-B3E9-2F0E-6F4F-4638278C4AE4}" type="slidenum">
              <a:rPr/>
              <a:t>50</a:t>
            </a:fld>
            <a:endParaRPr/>
          </a:p>
        </p:txBody>
      </p:sp>
      <p:sp>
        <p:nvSpPr>
          <p:cNvPr id="16" name="intro">
            <a:extLst>
              <a:ext uri="{FF2B5EF4-FFF2-40B4-BE49-F238E27FC236}">
                <a16:creationId xmlns:a16="http://schemas.microsoft.com/office/drawing/2014/main" id="{8CD55525-CA8D-4670-9404-9D3088B3008C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90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90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static_cast指定显式转换；源类型和目标类型决定命中哪条规则，以及生成哪种转换操作。</a:t>
            </a:r>
          </a:p>
        </p:txBody>
      </p:sp>
      <p:sp>
        <p:nvSpPr>
          <p:cNvPr id="17" name="source-panel">
            <a:extLst>
              <a:ext uri="{FF2B5EF4-FFF2-40B4-BE49-F238E27FC236}">
                <a16:creationId xmlns:a16="http://schemas.microsoft.com/office/drawing/2014/main" id="{F6AB2ABF-4407-494F-A86D-9389DD59F9DE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2333625" cy="2047875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</p:sp>
      <p:sp>
        <p:nvSpPr>
          <p:cNvPr id="18" name="source-label">
            <a:extLst>
              <a:ext uri="{FF2B5EF4-FFF2-40B4-BE49-F238E27FC236}">
                <a16:creationId xmlns:a16="http://schemas.microsoft.com/office/drawing/2014/main" id="{8DFBC35A-7255-4D69-BBFE-CEA7467FED82}"/>
              </a:ext>
            </a:extLst>
          </p:cNvPr>
          <p:cNvSpPr>
            <a:spLocks noGrp="1"/>
          </p:cNvSpPr>
          <p:nvPr/>
        </p:nvSpPr>
        <p:spPr>
          <a:xfrm>
            <a:off x="781050" y="1781175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C++源码</a:t>
            </a:r>
          </a:p>
        </p:txBody>
      </p:sp>
      <p:sp>
        <p:nvSpPr>
          <p:cNvPr id="19" name="source-code">
            <a:extLst>
              <a:ext uri="{FF2B5EF4-FFF2-40B4-BE49-F238E27FC236}">
                <a16:creationId xmlns:a16="http://schemas.microsoft.com/office/drawing/2014/main" id="{7F437330-BEBB-452C-8A2F-5C4CF49F544D}"/>
              </a:ext>
            </a:extLst>
          </p:cNvPr>
          <p:cNvSpPr>
            <a:spLocks noGrp="1"/>
          </p:cNvSpPr>
          <p:nvPr/>
        </p:nvSpPr>
        <p:spPr>
          <a:xfrm>
            <a:off x="771525" y="2238375"/>
            <a:ext cx="19716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txBody>
          <a:bodyPr lIns="76200" tIns="76200" rIns="76200" bIns="76200" anchor="ctr">
            <a:normAutofit/>
          </a:bodyPr>
          <a:lstStyle/>
          <a:p>
            <a:pPr algn="l">
              <a:defRPr sz="84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int x = input();</a:t>
            </a:r>
          </a:p>
          <a:p>
            <a:pPr algn="l">
              <a:defRPr sz="84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double y =</a:t>
            </a:r>
          </a:p>
          <a:p>
            <a:pPr algn="l">
              <a:defRPr sz="84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  static_cast&lt;double&gt;(x);</a:t>
            </a:r>
          </a:p>
        </p:txBody>
      </p:sp>
      <p:sp>
        <p:nvSpPr>
          <p:cNvPr id="20" name="source-note">
            <a:extLst>
              <a:ext uri="{FF2B5EF4-FFF2-40B4-BE49-F238E27FC236}">
                <a16:creationId xmlns:a16="http://schemas.microsoft.com/office/drawing/2014/main" id="{C24F37B8-7694-4386-9115-B588468CE43D}"/>
              </a:ext>
            </a:extLst>
          </p:cNvPr>
          <p:cNvSpPr>
            <a:spLocks noGrp="1"/>
          </p:cNvSpPr>
          <p:nvPr/>
        </p:nvSpPr>
        <p:spPr>
          <a:xfrm>
            <a:off x="781050" y="3248025"/>
            <a:ext cx="19526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3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显式选择static_cast模式</a:t>
            </a:r>
          </a:p>
        </p:txBody>
      </p:sp>
      <p:sp>
        <p:nvSpPr>
          <p:cNvPr id="21" name="arrow-1">
            <a:extLst>
              <a:ext uri="{FF2B5EF4-FFF2-40B4-BE49-F238E27FC236}">
                <a16:creationId xmlns:a16="http://schemas.microsoft.com/office/drawing/2014/main" id="{C44ABC87-1205-4FAC-9CC1-FED818683BE1}"/>
              </a:ext>
            </a:extLst>
          </p:cNvPr>
          <p:cNvSpPr>
            <a:spLocks noGrp="1"/>
          </p:cNvSpPr>
          <p:nvPr/>
        </p:nvSpPr>
        <p:spPr>
          <a:xfrm>
            <a:off x="2962275" y="24574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rule-panel">
            <a:extLst>
              <a:ext uri="{FF2B5EF4-FFF2-40B4-BE49-F238E27FC236}">
                <a16:creationId xmlns:a16="http://schemas.microsoft.com/office/drawing/2014/main" id="{C35AB5E3-F5B0-4A6D-8EEF-93E5AE01F724}"/>
              </a:ext>
            </a:extLst>
          </p:cNvPr>
          <p:cNvSpPr>
            <a:spLocks noGrp="1"/>
          </p:cNvSpPr>
          <p:nvPr/>
        </p:nvSpPr>
        <p:spPr>
          <a:xfrm>
            <a:off x="3305175" y="1619250"/>
            <a:ext cx="1571625" cy="2047875"/>
          </a:xfrm>
          <a:prstGeom prst="rect">
            <a:avLst/>
          </a:prstGeom>
          <a:solidFill>
            <a:srgbClr val="FCECEF"/>
          </a:solidFill>
          <a:ln w="9525">
            <a:solidFill>
              <a:srgbClr val="EAB8C0"/>
            </a:solidFill>
          </a:ln>
        </p:spPr>
      </p:sp>
      <p:sp>
        <p:nvSpPr>
          <p:cNvPr id="23" name="rule-label">
            <a:extLst>
              <a:ext uri="{FF2B5EF4-FFF2-40B4-BE49-F238E27FC236}">
                <a16:creationId xmlns:a16="http://schemas.microsoft.com/office/drawing/2014/main" id="{1FC96756-D546-4E2F-800B-BD0C7FE64BA7}"/>
              </a:ext>
            </a:extLst>
          </p:cNvPr>
          <p:cNvSpPr>
            <a:spLocks noGrp="1"/>
          </p:cNvSpPr>
          <p:nvPr/>
        </p:nvSpPr>
        <p:spPr>
          <a:xfrm>
            <a:off x="3448050" y="1781175"/>
            <a:ext cx="12858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语义规则</a:t>
            </a:r>
          </a:p>
        </p:txBody>
      </p:sp>
      <p:sp>
        <p:nvSpPr>
          <p:cNvPr id="24" name="rule-main">
            <a:extLst>
              <a:ext uri="{FF2B5EF4-FFF2-40B4-BE49-F238E27FC236}">
                <a16:creationId xmlns:a16="http://schemas.microsoft.com/office/drawing/2014/main" id="{3BA1839D-5E20-4850-9F37-75024697F7B8}"/>
              </a:ext>
            </a:extLst>
          </p:cNvPr>
          <p:cNvSpPr>
            <a:spLocks noGrp="1"/>
          </p:cNvSpPr>
          <p:nvPr/>
        </p:nvSpPr>
        <p:spPr>
          <a:xfrm>
            <a:off x="3467100" y="2238375"/>
            <a:ext cx="124777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63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int  →  double</a:t>
            </a:r>
          </a:p>
          <a:p>
            <a:endParaRPr sz="1163" b="0">
              <a:solidFill>
                <a:srgbClr val="414141"/>
              </a:solidFill>
              <a:latin typeface="Arial"/>
              <a:ea typeface="Arial"/>
              <a:cs typeface="Arial"/>
            </a:endParaRPr>
          </a:p>
          <a:p>
            <a:pPr algn="ctr">
              <a:defRPr sz="1163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允许显式数值转换</a:t>
            </a:r>
          </a:p>
        </p:txBody>
      </p:sp>
      <p:sp>
        <p:nvSpPr>
          <p:cNvPr id="25" name="rule-note">
            <a:extLst>
              <a:ext uri="{FF2B5EF4-FFF2-40B4-BE49-F238E27FC236}">
                <a16:creationId xmlns:a16="http://schemas.microsoft.com/office/drawing/2014/main" id="{0DA5B1CC-35C3-4700-8FD2-7D5B1AFBA052}"/>
              </a:ext>
            </a:extLst>
          </p:cNvPr>
          <p:cNvSpPr>
            <a:spLocks noGrp="1"/>
          </p:cNvSpPr>
          <p:nvPr/>
        </p:nvSpPr>
        <p:spPr>
          <a:xfrm>
            <a:off x="3419475" y="324802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13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命中内建数值规则</a:t>
            </a:r>
          </a:p>
        </p:txBody>
      </p:sp>
      <p:sp>
        <p:nvSpPr>
          <p:cNvPr id="26" name="arrow-2">
            <a:extLst>
              <a:ext uri="{FF2B5EF4-FFF2-40B4-BE49-F238E27FC236}">
                <a16:creationId xmlns:a16="http://schemas.microsoft.com/office/drawing/2014/main" id="{54864988-3F99-48D8-9D9D-34604A1D719B}"/>
              </a:ext>
            </a:extLst>
          </p:cNvPr>
          <p:cNvSpPr>
            <a:spLocks noGrp="1"/>
          </p:cNvSpPr>
          <p:nvPr/>
        </p:nvSpPr>
        <p:spPr>
          <a:xfrm>
            <a:off x="4905375" y="24574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ast-panel">
            <a:extLst>
              <a:ext uri="{FF2B5EF4-FFF2-40B4-BE49-F238E27FC236}">
                <a16:creationId xmlns:a16="http://schemas.microsoft.com/office/drawing/2014/main" id="{C49D7F26-5122-4BC1-A3D9-05D5CCE50A75}"/>
              </a:ext>
            </a:extLst>
          </p:cNvPr>
          <p:cNvSpPr>
            <a:spLocks noGrp="1"/>
          </p:cNvSpPr>
          <p:nvPr/>
        </p:nvSpPr>
        <p:spPr>
          <a:xfrm>
            <a:off x="5257800" y="1619250"/>
            <a:ext cx="1857375" cy="2047875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</p:sp>
      <p:sp>
        <p:nvSpPr>
          <p:cNvPr id="28" name="ast-label">
            <a:extLst>
              <a:ext uri="{FF2B5EF4-FFF2-40B4-BE49-F238E27FC236}">
                <a16:creationId xmlns:a16="http://schemas.microsoft.com/office/drawing/2014/main" id="{A12C964F-9F5C-40F0-AD7A-8E4C862C69AE}"/>
              </a:ext>
            </a:extLst>
          </p:cNvPr>
          <p:cNvSpPr>
            <a:spLocks noGrp="1"/>
          </p:cNvSpPr>
          <p:nvPr/>
        </p:nvSpPr>
        <p:spPr>
          <a:xfrm>
            <a:off x="5448300" y="1781175"/>
            <a:ext cx="14763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Clang AST</a:t>
            </a:r>
          </a:p>
        </p:txBody>
      </p:sp>
      <p:sp>
        <p:nvSpPr>
          <p:cNvPr id="29" name="ast-main">
            <a:extLst>
              <a:ext uri="{FF2B5EF4-FFF2-40B4-BE49-F238E27FC236}">
                <a16:creationId xmlns:a16="http://schemas.microsoft.com/office/drawing/2014/main" id="{44597B49-BDE3-4FD5-9871-E56F67C81A3E}"/>
              </a:ext>
            </a:extLst>
          </p:cNvPr>
          <p:cNvSpPr>
            <a:spLocks noGrp="1"/>
          </p:cNvSpPr>
          <p:nvPr/>
        </p:nvSpPr>
        <p:spPr>
          <a:xfrm>
            <a:off x="5381625" y="2238375"/>
            <a:ext cx="16097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81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81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CXXStaticCastExpr</a:t>
            </a:r>
          </a:p>
          <a:p>
            <a:endParaRPr sz="810" b="0">
              <a:solidFill>
                <a:srgbClr val="414141"/>
              </a:solidFill>
              <a:latin typeface="Menlo"/>
              <a:ea typeface="Menlo"/>
              <a:cs typeface="Menlo"/>
            </a:endParaRPr>
          </a:p>
          <a:p>
            <a:pPr algn="ctr">
              <a:defRPr sz="810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810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CK_IntegralToFloating</a:t>
            </a:r>
          </a:p>
        </p:txBody>
      </p:sp>
      <p:sp>
        <p:nvSpPr>
          <p:cNvPr id="30" name="ast-note">
            <a:extLst>
              <a:ext uri="{FF2B5EF4-FFF2-40B4-BE49-F238E27FC236}">
                <a16:creationId xmlns:a16="http://schemas.microsoft.com/office/drawing/2014/main" id="{DD792E2B-FCA6-403C-853C-F91030B399AF}"/>
              </a:ext>
            </a:extLst>
          </p:cNvPr>
          <p:cNvSpPr>
            <a:spLocks noGrp="1"/>
          </p:cNvSpPr>
          <p:nvPr/>
        </p:nvSpPr>
        <p:spPr>
          <a:xfrm>
            <a:off x="5448300" y="3248025"/>
            <a:ext cx="1476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3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记录转换种类</a:t>
            </a:r>
          </a:p>
        </p:txBody>
      </p:sp>
      <p:sp>
        <p:nvSpPr>
          <p:cNvPr id="31" name="arrow-3">
            <a:extLst>
              <a:ext uri="{FF2B5EF4-FFF2-40B4-BE49-F238E27FC236}">
                <a16:creationId xmlns:a16="http://schemas.microsoft.com/office/drawing/2014/main" id="{D365DDCB-E0A5-4E3E-89B7-FAFC2F398764}"/>
              </a:ext>
            </a:extLst>
          </p:cNvPr>
          <p:cNvSpPr>
            <a:spLocks noGrp="1"/>
          </p:cNvSpPr>
          <p:nvPr/>
        </p:nvSpPr>
        <p:spPr>
          <a:xfrm>
            <a:off x="7134225" y="24574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ir-panel">
            <a:extLst>
              <a:ext uri="{FF2B5EF4-FFF2-40B4-BE49-F238E27FC236}">
                <a16:creationId xmlns:a16="http://schemas.microsoft.com/office/drawing/2014/main" id="{031709D9-BE27-41D1-BFF9-06A0186B4EB1}"/>
              </a:ext>
            </a:extLst>
          </p:cNvPr>
          <p:cNvSpPr>
            <a:spLocks noGrp="1"/>
          </p:cNvSpPr>
          <p:nvPr/>
        </p:nvSpPr>
        <p:spPr>
          <a:xfrm>
            <a:off x="7477125" y="1619250"/>
            <a:ext cx="1257300" cy="2047875"/>
          </a:xfrm>
          <a:prstGeom prst="rect">
            <a:avLst/>
          </a:prstGeom>
          <a:solidFill>
            <a:srgbClr val="FCECEF"/>
          </a:solidFill>
          <a:ln w="9525">
            <a:solidFill>
              <a:srgbClr val="EAB8C0"/>
            </a:solidFill>
          </a:ln>
        </p:spPr>
      </p:sp>
      <p:sp>
        <p:nvSpPr>
          <p:cNvPr id="33" name="ir-label">
            <a:extLst>
              <a:ext uri="{FF2B5EF4-FFF2-40B4-BE49-F238E27FC236}">
                <a16:creationId xmlns:a16="http://schemas.microsoft.com/office/drawing/2014/main" id="{6D4B96D0-24FF-4D8B-9948-258925F26157}"/>
              </a:ext>
            </a:extLst>
          </p:cNvPr>
          <p:cNvSpPr>
            <a:spLocks noGrp="1"/>
          </p:cNvSpPr>
          <p:nvPr/>
        </p:nvSpPr>
        <p:spPr>
          <a:xfrm>
            <a:off x="7534275" y="17811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LLVM IR</a:t>
            </a:r>
          </a:p>
        </p:txBody>
      </p:sp>
      <p:sp>
        <p:nvSpPr>
          <p:cNvPr id="34" name="ir-main">
            <a:extLst>
              <a:ext uri="{FF2B5EF4-FFF2-40B4-BE49-F238E27FC236}">
                <a16:creationId xmlns:a16="http://schemas.microsoft.com/office/drawing/2014/main" id="{62FD8122-39A9-4671-89E4-7948507764DC}"/>
              </a:ext>
            </a:extLst>
          </p:cNvPr>
          <p:cNvSpPr>
            <a:spLocks noGrp="1"/>
          </p:cNvSpPr>
          <p:nvPr/>
        </p:nvSpPr>
        <p:spPr>
          <a:xfrm>
            <a:off x="7572375" y="2238375"/>
            <a:ext cx="1066800" cy="828675"/>
          </a:xfrm>
          <a:prstGeom prst="rect">
            <a:avLst/>
          </a:prstGeom>
          <a:solidFill>
            <a:srgbClr val="FFFFFF"/>
          </a:solidFill>
          <a:ln w="9525">
            <a:solidFill>
              <a:srgbClr val="EAB8C0"/>
            </a:solidFill>
          </a:ln>
        </p:spPr>
        <p:txBody>
          <a:bodyPr lIns="47625" tIns="66675" rIns="47625" bIns="66675" anchor="ctr">
            <a:normAutofit/>
          </a:bodyPr>
          <a:lstStyle/>
          <a:p>
            <a:pPr algn="ctr">
              <a:defRPr sz="91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%v = sitofp</a:t>
            </a:r>
          </a:p>
          <a:p>
            <a:pPr algn="ctr">
              <a:defRPr sz="91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i32 %x</a:t>
            </a:r>
          </a:p>
          <a:p>
            <a:pPr algn="ctr">
              <a:defRPr sz="915" b="0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414141"/>
                </a:solidFill>
                <a:latin typeface="Menlo"/>
                <a:ea typeface="Menlo"/>
                <a:cs typeface="Menlo"/>
              </a:rPr>
              <a:t>to double</a:t>
            </a:r>
          </a:p>
        </p:txBody>
      </p:sp>
      <p:sp>
        <p:nvSpPr>
          <p:cNvPr id="35" name="ir-note">
            <a:extLst>
              <a:ext uri="{FF2B5EF4-FFF2-40B4-BE49-F238E27FC236}">
                <a16:creationId xmlns:a16="http://schemas.microsoft.com/office/drawing/2014/main" id="{3078479A-9408-4B0F-A4A4-3E5DBA25DF4C}"/>
              </a:ext>
            </a:extLst>
          </p:cNvPr>
          <p:cNvSpPr>
            <a:spLocks noGrp="1"/>
          </p:cNvSpPr>
          <p:nvPr/>
        </p:nvSpPr>
        <p:spPr>
          <a:xfrm>
            <a:off x="7534275" y="3248025"/>
            <a:ext cx="1143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13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生成具体IR节点</a:t>
            </a:r>
          </a:p>
        </p:txBody>
      </p:sp>
      <p:sp>
        <p:nvSpPr>
          <p:cNvPr id="36" name="other-title">
            <a:extLst>
              <a:ext uri="{FF2B5EF4-FFF2-40B4-BE49-F238E27FC236}">
                <a16:creationId xmlns:a16="http://schemas.microsoft.com/office/drawing/2014/main" id="{510108A9-C27C-463F-A37F-80841F90FD8F}"/>
              </a:ext>
            </a:extLst>
          </p:cNvPr>
          <p:cNvSpPr>
            <a:spLocks noGrp="1"/>
          </p:cNvSpPr>
          <p:nvPr/>
        </p:nvSpPr>
        <p:spPr>
          <a:xfrm>
            <a:off x="1095375" y="3933825"/>
            <a:ext cx="695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63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其他语言也会把类型规则落实为具体转换操作</a:t>
            </a:r>
          </a:p>
        </p:txBody>
      </p:sp>
      <p:sp>
        <p:nvSpPr>
          <p:cNvPr id="37" name="java">
            <a:extLst>
              <a:ext uri="{FF2B5EF4-FFF2-40B4-BE49-F238E27FC236}">
                <a16:creationId xmlns:a16="http://schemas.microsoft.com/office/drawing/2014/main" id="{1440429E-AF4B-491D-ACAE-3E84A479E757}"/>
              </a:ext>
            </a:extLst>
          </p:cNvPr>
          <p:cNvSpPr>
            <a:spLocks noGrp="1"/>
          </p:cNvSpPr>
          <p:nvPr/>
        </p:nvSpPr>
        <p:spPr>
          <a:xfrm>
            <a:off x="1428750" y="4219575"/>
            <a:ext cx="29527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  <p:txBody>
          <a:bodyPr lIns="0" tIns="0" rIns="0" bIns="0" anchor="ctr">
            <a:normAutofit/>
          </a:bodyPr>
          <a:lstStyle/>
          <a:p>
            <a:pPr algn="ctr">
              <a:defRPr sz="108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Java    (double) x    →    JVM字节码 i2d</a:t>
            </a:r>
          </a:p>
        </p:txBody>
      </p:sp>
      <p:sp>
        <p:nvSpPr>
          <p:cNvPr id="38" name="csharp">
            <a:extLst>
              <a:ext uri="{FF2B5EF4-FFF2-40B4-BE49-F238E27FC236}">
                <a16:creationId xmlns:a16="http://schemas.microsoft.com/office/drawing/2014/main" id="{8B4A1124-F67F-4855-8AAA-166FC9FC9133}"/>
              </a:ext>
            </a:extLst>
          </p:cNvPr>
          <p:cNvSpPr>
            <a:spLocks noGrp="1"/>
          </p:cNvSpPr>
          <p:nvPr/>
        </p:nvSpPr>
        <p:spPr>
          <a:xfrm>
            <a:off x="4762500" y="4219575"/>
            <a:ext cx="29527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  <p:txBody>
          <a:bodyPr lIns="0" tIns="0" rIns="0" bIns="0" anchor="ctr">
            <a:normAutofit/>
          </a:bodyPr>
          <a:lstStyle/>
          <a:p>
            <a:pPr algn="ctr">
              <a:defRPr sz="1088" b="0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414141"/>
                </a:solidFill>
                <a:latin typeface="Arial"/>
                <a:ea typeface="Arial"/>
                <a:cs typeface="Arial"/>
              </a:rPr>
              <a:t>C#    (double) x    →    .NET IL conv.r8</a:t>
            </a:r>
          </a:p>
        </p:txBody>
      </p:sp>
      <p:sp>
        <p:nvSpPr>
          <p:cNvPr id="39" name="footer">
            <a:extLst>
              <a:ext uri="{FF2B5EF4-FFF2-40B4-BE49-F238E27FC236}">
                <a16:creationId xmlns:a16="http://schemas.microsoft.com/office/drawing/2014/main" id="{CD84F508-EB76-4567-953D-DFBD19976263}"/>
              </a:ext>
            </a:extLst>
          </p:cNvPr>
          <p:cNvSpPr>
            <a:spLocks noGrp="1"/>
          </p:cNvSpPr>
          <p:nvPr/>
        </p:nvSpPr>
        <p:spPr>
          <a:xfrm>
            <a:off x="476250" y="4810125"/>
            <a:ext cx="8191500" cy="381000"/>
          </a:xfrm>
          <a:prstGeom prst="rect">
            <a:avLst/>
          </a:prstGeom>
          <a:solidFill>
            <a:srgbClr val="FCECEF"/>
          </a:solidFill>
          <a:ln w="0">
            <a:solidFill>
              <a:srgbClr val="FCECEF"/>
            </a:solidFill>
          </a:ln>
        </p:spPr>
        <p:txBody>
          <a:bodyPr lIns="114300" tIns="0" rIns="114300" bIns="0" anchor="ctr">
            <a:normAutofit/>
          </a:bodyPr>
          <a:lstStyle/>
          <a:p>
            <a:pPr algn="ctr">
              <a:defRPr sz="126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26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canConvert不仅回答“允许吗”，还为后续阶段确定转换种类。</a:t>
            </a:r>
          </a:p>
        </p:txBody>
      </p:sp>
    </p:spTree>
    <p:extLst>
      <p:ext uri="{BB962C8B-B14F-4D97-AF65-F5344CB8AC3E}">
        <p14:creationId xmlns:p14="http://schemas.microsoft.com/office/powerpoint/2010/main" val="3939831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46">
            <a:extLst>
              <a:ext uri="{FF2B5EF4-FFF2-40B4-BE49-F238E27FC236}">
                <a16:creationId xmlns:a16="http://schemas.microsoft.com/office/drawing/2014/main" id="{A0FDB0AA-A9D9-4422-81EE-AE0D4AECCC3C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2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隐式转换：省略语法，但不能省略规则</a:t>
            </a:r>
          </a:p>
        </p:txBody>
      </p:sp>
      <p:sp>
        <p:nvSpPr>
          <p:cNvPr id="2" name="subtitle-46">
            <a:extLst>
              <a:ext uri="{FF2B5EF4-FFF2-40B4-BE49-F238E27FC236}">
                <a16:creationId xmlns:a16="http://schemas.microsoft.com/office/drawing/2014/main" id="{CA27783F-7BBA-4139-B728-5CA115EDBEEA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807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7E7E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E7E7E"/>
                </a:solidFill>
                <a:latin typeface="Arial"/>
                <a:ea typeface="Arial"/>
                <a:cs typeface="Arial"/>
              </a:rPr>
              <a:t>程序员不再写 cast（易用性++）；类型检查器根据上下文自动插入同一种转换节点</a:t>
            </a:r>
          </a:p>
        </p:txBody>
      </p:sp>
      <p:sp>
        <p:nvSpPr>
          <p:cNvPr id="4" name="implicit-divider">
            <a:extLst>
              <a:ext uri="{FF2B5EF4-FFF2-40B4-BE49-F238E27FC236}">
                <a16:creationId xmlns:a16="http://schemas.microsoft.com/office/drawing/2014/main" id="{838A67DF-02A8-4E07-B667-2B769940F6A3}"/>
              </a:ext>
            </a:extLst>
          </p:cNvPr>
          <p:cNvSpPr>
            <a:spLocks noGrp="1"/>
          </p:cNvSpPr>
          <p:nvPr/>
        </p:nvSpPr>
        <p:spPr>
          <a:xfrm>
            <a:off x="4667250" y="1619250"/>
            <a:ext cx="0" cy="28194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5" name="implicit-examples-heading">
            <a:extLst>
              <a:ext uri="{FF2B5EF4-FFF2-40B4-BE49-F238E27FC236}">
                <a16:creationId xmlns:a16="http://schemas.microsoft.com/office/drawing/2014/main" id="{2A917A59-4467-422B-8CB4-093A65AD5613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3848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目标类型来自上下文</a:t>
            </a:r>
          </a:p>
        </p:txBody>
      </p:sp>
      <p:sp>
        <p:nvSpPr>
          <p:cNvPr id="6" name="implicit-examples">
            <a:extLst>
              <a:ext uri="{FF2B5EF4-FFF2-40B4-BE49-F238E27FC236}">
                <a16:creationId xmlns:a16="http://schemas.microsoft.com/office/drawing/2014/main" id="{C4609304-9E87-4430-902F-ACEA683B17E9}"/>
              </a:ext>
            </a:extLst>
          </p:cNvPr>
          <p:cNvSpPr>
            <a:spLocks noGrp="1"/>
          </p:cNvSpPr>
          <p:nvPr/>
        </p:nvSpPr>
        <p:spPr>
          <a:xfrm>
            <a:off x="552450" y="2200275"/>
            <a:ext cx="3857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let rate: Float = 3   // 赋值</a:t>
            </a:r>
          </a:p>
          <a:p>
            <a:pPr algn="l">
              <a:lnSpc>
                <a:spcPct val="112000"/>
              </a:lnSpc>
              <a:buNone/>
              <a:defRPr sz="14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area(2)              // 传参</a:t>
            </a:r>
          </a:p>
          <a:p>
            <a:pPr algn="l">
              <a:lnSpc>
                <a:spcPct val="112000"/>
              </a:lnSpc>
              <a:buNone/>
              <a:defRPr sz="14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1 + 2.0              // 运算规则</a:t>
            </a:r>
          </a:p>
        </p:txBody>
      </p:sp>
      <p:sp>
        <p:nvSpPr>
          <p:cNvPr id="7" name="implicit-steps">
            <a:extLst>
              <a:ext uri="{FF2B5EF4-FFF2-40B4-BE49-F238E27FC236}">
                <a16:creationId xmlns:a16="http://schemas.microsoft.com/office/drawing/2014/main" id="{F1EC1C62-51EE-4549-B5E5-E2CEE319527A}"/>
              </a:ext>
            </a:extLst>
          </p:cNvPr>
          <p:cNvSpPr>
            <a:spLocks noGrp="1"/>
          </p:cNvSpPr>
          <p:nvPr/>
        </p:nvSpPr>
        <p:spPr>
          <a:xfrm>
            <a:off x="552450" y="3438525"/>
            <a:ext cx="38576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1. 递归分析得到实际类型 S</a:t>
            </a:r>
          </a:p>
          <a:p>
            <a:pPr algn="l">
              <a:lnSpc>
                <a:spcPct val="110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2. 上下文给出期望类型 T</a:t>
            </a:r>
          </a:p>
          <a:p>
            <a:pPr algn="l">
              <a:lnSpc>
                <a:spcPct val="110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3. findConversion(S, T, Implicit)</a:t>
            </a:r>
          </a:p>
          <a:p>
            <a:pPr algn="l">
              <a:lnSpc>
                <a:spcPct val="110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4. 自动插入 ConversionPlan</a:t>
            </a:r>
          </a:p>
        </p:txBody>
      </p:sp>
      <p:sp>
        <p:nvSpPr>
          <p:cNvPr id="8" name="implicit-policy-heading">
            <a:extLst>
              <a:ext uri="{FF2B5EF4-FFF2-40B4-BE49-F238E27FC236}">
                <a16:creationId xmlns:a16="http://schemas.microsoft.com/office/drawing/2014/main" id="{7575616E-85A6-4D25-B5FD-04266ECD01B2}"/>
              </a:ext>
            </a:extLst>
          </p:cNvPr>
          <p:cNvSpPr>
            <a:spLocks noGrp="1"/>
          </p:cNvSpPr>
          <p:nvPr/>
        </p:nvSpPr>
        <p:spPr>
          <a:xfrm>
            <a:off x="5010150" y="1619250"/>
            <a:ext cx="3600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Implicit 必须是更严格的模式</a:t>
            </a:r>
          </a:p>
        </p:txBody>
      </p:sp>
      <p:sp>
        <p:nvSpPr>
          <p:cNvPr id="9" name="subset-box">
            <a:extLst>
              <a:ext uri="{FF2B5EF4-FFF2-40B4-BE49-F238E27FC236}">
                <a16:creationId xmlns:a16="http://schemas.microsoft.com/office/drawing/2014/main" id="{2573E709-9AD5-4AF0-8984-DCB89027D9B3}"/>
              </a:ext>
            </a:extLst>
          </p:cNvPr>
          <p:cNvSpPr>
            <a:spLocks noGrp="1"/>
          </p:cNvSpPr>
          <p:nvPr/>
        </p:nvSpPr>
        <p:spPr>
          <a:xfrm>
            <a:off x="5238750" y="2209800"/>
            <a:ext cx="3143250" cy="571500"/>
          </a:xfrm>
          <a:prstGeom prst="rect">
            <a:avLst/>
          </a:prstGeom>
          <a:solidFill>
            <a:srgbClr val="EAF4EF"/>
          </a:solidFill>
          <a:ln w="9525">
            <a:solidFill>
              <a:srgbClr val="39765A"/>
            </a:solidFill>
            <a:prstDash val="solid"/>
          </a:ln>
        </p:spPr>
      </p:sp>
      <p:sp>
        <p:nvSpPr>
          <p:cNvPr id="10" name="subset-formula">
            <a:extLst>
              <a:ext uri="{FF2B5EF4-FFF2-40B4-BE49-F238E27FC236}">
                <a16:creationId xmlns:a16="http://schemas.microsoft.com/office/drawing/2014/main" id="{E340B420-CEE4-4C55-A06F-BE9E20F5D950}"/>
              </a:ext>
            </a:extLst>
          </p:cNvPr>
          <p:cNvSpPr>
            <a:spLocks noGrp="1"/>
          </p:cNvSpPr>
          <p:nvPr/>
        </p:nvSpPr>
        <p:spPr>
          <a:xfrm>
            <a:off x="5334000" y="237172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12"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39765A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39765A"/>
                </a:solidFill>
                <a:latin typeface="Menlo"/>
                <a:ea typeface="Menlo"/>
                <a:cs typeface="Menlo"/>
              </a:rPr>
              <a:t>ImplicitEdges ⊆ ExplicitEdges</a:t>
            </a:r>
          </a:p>
        </p:txBody>
      </p:sp>
      <p:sp>
        <p:nvSpPr>
          <p:cNvPr id="11" name="implicit-checklist">
            <a:extLst>
              <a:ext uri="{FF2B5EF4-FFF2-40B4-BE49-F238E27FC236}">
                <a16:creationId xmlns:a16="http://schemas.microsoft.com/office/drawing/2014/main" id="{6FA8069C-E3E7-472F-A682-C3399019D380}"/>
              </a:ext>
            </a:extLst>
          </p:cNvPr>
          <p:cNvSpPr>
            <a:spLocks noGrp="1"/>
          </p:cNvSpPr>
          <p:nvPr/>
        </p:nvSpPr>
        <p:spPr>
          <a:xfrm>
            <a:off x="5238750" y="3067050"/>
            <a:ext cx="3371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826"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通常只自动选择：</a:t>
            </a:r>
          </a:p>
          <a:p>
            <a:endParaRPr sz="1350" b="1">
              <a:solidFill>
                <a:srgbClr val="414141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8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不丢失信息</a:t>
            </a:r>
          </a:p>
          <a:p>
            <a:pPr algn="l">
              <a:lnSpc>
                <a:spcPct val="108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不会意外失败</a:t>
            </a:r>
          </a:p>
          <a:p>
            <a:pPr algn="l">
              <a:lnSpc>
                <a:spcPct val="108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不产生令人惊讶的语义变化</a:t>
            </a:r>
          </a:p>
          <a:p>
            <a:pPr algn="l">
              <a:lnSpc>
                <a:spcPct val="108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• 不引入显著或意外的运行时开销</a:t>
            </a:r>
          </a:p>
        </p:txBody>
      </p:sp>
      <p:sp>
        <p:nvSpPr>
          <p:cNvPr id="12" name="implicit-takeaway-band">
            <a:extLst>
              <a:ext uri="{FF2B5EF4-FFF2-40B4-BE49-F238E27FC236}">
                <a16:creationId xmlns:a16="http://schemas.microsoft.com/office/drawing/2014/main" id="{2BCF09F8-6D57-449A-B486-AF40C74BC6EA}"/>
              </a:ext>
            </a:extLst>
          </p:cNvPr>
          <p:cNvSpPr>
            <a:spLocks noGrp="1"/>
          </p:cNvSpPr>
          <p:nvPr/>
        </p:nvSpPr>
        <p:spPr>
          <a:xfrm>
            <a:off x="457200" y="4724400"/>
            <a:ext cx="8229600" cy="495300"/>
          </a:xfrm>
          <a:prstGeom prst="rect">
            <a:avLst/>
          </a:prstGeom>
          <a:solidFill>
            <a:srgbClr val="FBECEF"/>
          </a:solidFill>
          <a:ln w="0">
            <a:noFill/>
            <a:prstDash val="solid"/>
          </a:ln>
        </p:spPr>
      </p:sp>
      <p:sp>
        <p:nvSpPr>
          <p:cNvPr id="13" name="implicit-takeaway">
            <a:extLst>
              <a:ext uri="{FF2B5EF4-FFF2-40B4-BE49-F238E27FC236}">
                <a16:creationId xmlns:a16="http://schemas.microsoft.com/office/drawing/2014/main" id="{66F78A2B-E294-4689-B482-414D866078FD}"/>
              </a:ext>
            </a:extLst>
          </p:cNvPr>
          <p:cNvSpPr>
            <a:spLocks noGrp="1"/>
          </p:cNvSpPr>
          <p:nvPr/>
        </p:nvSpPr>
        <p:spPr>
          <a:xfrm>
            <a:off x="647700" y="4800600"/>
            <a:ext cx="784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显式转换由程序员选择“桥梁”；隐式转换由语言替程序员选择，因此规则必须更保守。</a:t>
            </a:r>
          </a:p>
        </p:txBody>
      </p:sp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43A58D-60CA-DFB2-80EC-B65AE4CB9481}" type="slidenum">
              <a:rPr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9831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-47">
            <a:extLst>
              <a:ext uri="{FF2B5EF4-FFF2-40B4-BE49-F238E27FC236}">
                <a16:creationId xmlns:a16="http://schemas.microsoft.com/office/drawing/2014/main" id="{125D2A75-1DE5-49A6-B787-0D61E91FC3F7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问题：同一个隐式转换可能有多条可用路径</a:t>
            </a:r>
          </a:p>
        </p:txBody>
      </p:sp>
      <p:sp>
        <p:nvSpPr>
          <p:cNvPr id="2" name="subtitle-47">
            <a:extLst>
              <a:ext uri="{FF2B5EF4-FFF2-40B4-BE49-F238E27FC236}">
                <a16:creationId xmlns:a16="http://schemas.microsoft.com/office/drawing/2014/main" id="{BBB578C1-C68B-4AE6-AB99-D371C51A6072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807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7C7C7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7C7C7C"/>
                </a:solidFill>
                <a:latin typeface="Arial"/>
                <a:ea typeface="Arial"/>
                <a:cs typeface="Arial"/>
              </a:rPr>
              <a:t>以Byte转向Float为例</a:t>
            </a:r>
          </a:p>
        </p:txBody>
      </p:sp>
      <p:sp>
        <p:nvSpPr>
          <p:cNvPr id="4" name="path-example-code">
            <a:extLst>
              <a:ext uri="{FF2B5EF4-FFF2-40B4-BE49-F238E27FC236}">
                <a16:creationId xmlns:a16="http://schemas.microsoft.com/office/drawing/2014/main" id="{8988C573-FB0D-4D8F-895A-ED71DEED6687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342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let b: Byte = 200</a:t>
            </a:r>
          </a:p>
          <a:p>
            <a:pPr algn="l">
              <a:lnSpc>
                <a:spcPct val="108000"/>
              </a:lnSpc>
              <a:buNone/>
              <a:defRPr sz="157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let x: Float = b</a:t>
            </a:r>
          </a:p>
        </p:txBody>
      </p:sp>
      <p:sp>
        <p:nvSpPr>
          <p:cNvPr id="5" name="path-example-context">
            <a:extLst>
              <a:ext uri="{FF2B5EF4-FFF2-40B4-BE49-F238E27FC236}">
                <a16:creationId xmlns:a16="http://schemas.microsoft.com/office/drawing/2014/main" id="{1B3662BC-AD1A-4553-8C1F-44F0F070FDB2}"/>
              </a:ext>
            </a:extLst>
          </p:cNvPr>
          <p:cNvSpPr>
            <a:spLocks noGrp="1"/>
          </p:cNvSpPr>
          <p:nvPr/>
        </p:nvSpPr>
        <p:spPr>
          <a:xfrm>
            <a:off x="4667250" y="1390650"/>
            <a:ext cx="3943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目标类型 Float 来自赋值上下文；</a:t>
            </a:r>
          </a:p>
          <a:p>
            <a:pPr algn="l">
              <a:lnSpc>
                <a:spcPct val="106000"/>
              </a:lnSpc>
              <a:buNone/>
              <a:defRPr sz="1350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类型检查器需要自动插入隐式转换。</a:t>
            </a:r>
          </a:p>
        </p:txBody>
      </p:sp>
      <p:sp>
        <p:nvSpPr>
          <p:cNvPr id="6" name="path-example-divider">
            <a:extLst>
              <a:ext uri="{FF2B5EF4-FFF2-40B4-BE49-F238E27FC236}">
                <a16:creationId xmlns:a16="http://schemas.microsoft.com/office/drawing/2014/main" id="{34F7D08B-88A6-4844-B96C-DF3DACF95596}"/>
              </a:ext>
            </a:extLst>
          </p:cNvPr>
          <p:cNvSpPr>
            <a:spLocks noGrp="1"/>
          </p:cNvSpPr>
          <p:nvPr/>
        </p:nvSpPr>
        <p:spPr>
          <a:xfrm>
            <a:off x="4572000" y="2315637"/>
            <a:ext cx="0" cy="184785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7" name="direct-heading">
            <a:extLst>
              <a:ext uri="{FF2B5EF4-FFF2-40B4-BE49-F238E27FC236}">
                <a16:creationId xmlns:a16="http://schemas.microsoft.com/office/drawing/2014/main" id="{6B4D506C-9E7C-433A-BF3C-CD2C787E0736}"/>
              </a:ext>
            </a:extLst>
          </p:cNvPr>
          <p:cNvSpPr>
            <a:spLocks noGrp="1"/>
          </p:cNvSpPr>
          <p:nvPr/>
        </p:nvSpPr>
        <p:spPr>
          <a:xfrm>
            <a:off x="628650" y="2334687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路径 A：直接转换</a:t>
            </a:r>
          </a:p>
        </p:txBody>
      </p:sp>
      <p:sp>
        <p:nvSpPr>
          <p:cNvPr id="8" name="direct-types">
            <a:extLst>
              <a:ext uri="{FF2B5EF4-FFF2-40B4-BE49-F238E27FC236}">
                <a16:creationId xmlns:a16="http://schemas.microsoft.com/office/drawing/2014/main" id="{AA1D4B2F-C519-469A-ACAC-06D5DBFC9645}"/>
              </a:ext>
            </a:extLst>
          </p:cNvPr>
          <p:cNvSpPr>
            <a:spLocks noGrp="1"/>
          </p:cNvSpPr>
          <p:nvPr/>
        </p:nvSpPr>
        <p:spPr>
          <a:xfrm>
            <a:off x="628650" y="2810937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Byte  -&gt;  Float</a:t>
            </a:r>
          </a:p>
        </p:txBody>
      </p:sp>
      <p:sp>
        <p:nvSpPr>
          <p:cNvPr id="9" name="direct-ir">
            <a:extLst>
              <a:ext uri="{FF2B5EF4-FFF2-40B4-BE49-F238E27FC236}">
                <a16:creationId xmlns:a16="http://schemas.microsoft.com/office/drawing/2014/main" id="{D30170F5-9263-4F94-9711-D98A3020F6FA}"/>
              </a:ext>
            </a:extLst>
          </p:cNvPr>
          <p:cNvSpPr>
            <a:spLocks noGrp="1"/>
          </p:cNvSpPr>
          <p:nvPr/>
        </p:nvSpPr>
        <p:spPr>
          <a:xfrm>
            <a:off x="628650" y="3325287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%x = uitofp i8 %b to double</a:t>
            </a:r>
          </a:p>
        </p:txBody>
      </p:sp>
      <p:sp>
        <p:nvSpPr>
          <p:cNvPr id="10" name="direct-note">
            <a:extLst>
              <a:ext uri="{FF2B5EF4-FFF2-40B4-BE49-F238E27FC236}">
                <a16:creationId xmlns:a16="http://schemas.microsoft.com/office/drawing/2014/main" id="{E6EFD8DB-CC40-4B1B-8FD7-EC442CD365B3}"/>
              </a:ext>
            </a:extLst>
          </p:cNvPr>
          <p:cNvSpPr>
            <a:spLocks noGrp="1"/>
          </p:cNvSpPr>
          <p:nvPr/>
        </p:nvSpPr>
        <p:spPr>
          <a:xfrm>
            <a:off x="628650" y="3820587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397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65A"/>
                </a:solidFill>
                <a:latin typeface="Arial"/>
                <a:ea typeface="Arial"/>
                <a:cs typeface="Arial"/>
              </a:rPr>
              <a:t>一条转换规则，一条 IR 指令</a:t>
            </a:r>
          </a:p>
        </p:txBody>
      </p:sp>
      <p:sp>
        <p:nvSpPr>
          <p:cNvPr id="11" name="chain-heading">
            <a:extLst>
              <a:ext uri="{FF2B5EF4-FFF2-40B4-BE49-F238E27FC236}">
                <a16:creationId xmlns:a16="http://schemas.microsoft.com/office/drawing/2014/main" id="{8665E036-5551-4647-81C0-1423CE98DA4A}"/>
              </a:ext>
            </a:extLst>
          </p:cNvPr>
          <p:cNvSpPr>
            <a:spLocks noGrp="1"/>
          </p:cNvSpPr>
          <p:nvPr/>
        </p:nvSpPr>
        <p:spPr>
          <a:xfrm>
            <a:off x="4895850" y="2334687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路径 B：经过 Int</a:t>
            </a:r>
          </a:p>
        </p:txBody>
      </p:sp>
      <p:sp>
        <p:nvSpPr>
          <p:cNvPr id="12" name="chain-types">
            <a:extLst>
              <a:ext uri="{FF2B5EF4-FFF2-40B4-BE49-F238E27FC236}">
                <a16:creationId xmlns:a16="http://schemas.microsoft.com/office/drawing/2014/main" id="{C86F75AC-C551-4838-88C1-4CA6B57D8405}"/>
              </a:ext>
            </a:extLst>
          </p:cNvPr>
          <p:cNvSpPr>
            <a:spLocks noGrp="1"/>
          </p:cNvSpPr>
          <p:nvPr/>
        </p:nvSpPr>
        <p:spPr>
          <a:xfrm>
            <a:off x="4895850" y="2810937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Byte  -&gt;  Int  -&gt;  Float</a:t>
            </a:r>
          </a:p>
        </p:txBody>
      </p:sp>
      <p:sp>
        <p:nvSpPr>
          <p:cNvPr id="13" name="chain-ir">
            <a:extLst>
              <a:ext uri="{FF2B5EF4-FFF2-40B4-BE49-F238E27FC236}">
                <a16:creationId xmlns:a16="http://schemas.microsoft.com/office/drawing/2014/main" id="{DE5A3454-5097-4396-85B8-21422BB16793}"/>
              </a:ext>
            </a:extLst>
          </p:cNvPr>
          <p:cNvSpPr>
            <a:spLocks noGrp="1"/>
          </p:cNvSpPr>
          <p:nvPr/>
        </p:nvSpPr>
        <p:spPr>
          <a:xfrm>
            <a:off x="4895850" y="3268137"/>
            <a:ext cx="3714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%w = zext i8 %b to i32</a:t>
            </a:r>
          </a:p>
          <a:p>
            <a:pPr algn="ctr">
              <a:lnSpc>
                <a:spcPct val="108000"/>
              </a:lnSpc>
              <a:buNone/>
              <a:defRPr sz="1200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%x = sitofp i32 %w to double</a:t>
            </a:r>
          </a:p>
        </p:txBody>
      </p:sp>
      <p:sp>
        <p:nvSpPr>
          <p:cNvPr id="14" name="chain-note">
            <a:extLst>
              <a:ext uri="{FF2B5EF4-FFF2-40B4-BE49-F238E27FC236}">
                <a16:creationId xmlns:a16="http://schemas.microsoft.com/office/drawing/2014/main" id="{864CDB20-40B1-4937-8C46-DC9A42B02DD5}"/>
              </a:ext>
            </a:extLst>
          </p:cNvPr>
          <p:cNvSpPr>
            <a:spLocks noGrp="1"/>
          </p:cNvSpPr>
          <p:nvPr/>
        </p:nvSpPr>
        <p:spPr>
          <a:xfrm>
            <a:off x="4895850" y="3915837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3976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65A"/>
                </a:solidFill>
                <a:latin typeface="Arial"/>
                <a:ea typeface="Arial"/>
                <a:cs typeface="Arial"/>
              </a:rPr>
              <a:t>两条转换规则，两条 IR 指令</a:t>
            </a:r>
          </a:p>
        </p:txBody>
      </p:sp>
      <p:sp>
        <p:nvSpPr>
          <p:cNvPr id="15" name="path-question-band">
            <a:extLst>
              <a:ext uri="{FF2B5EF4-FFF2-40B4-BE49-F238E27FC236}">
                <a16:creationId xmlns:a16="http://schemas.microsoft.com/office/drawing/2014/main" id="{567A98A1-2280-47E5-9A21-C6A104E0212B}"/>
              </a:ext>
            </a:extLst>
          </p:cNvPr>
          <p:cNvSpPr>
            <a:spLocks noGrp="1"/>
          </p:cNvSpPr>
          <p:nvPr/>
        </p:nvSpPr>
        <p:spPr>
          <a:xfrm>
            <a:off x="457200" y="4525437"/>
            <a:ext cx="8229600" cy="495300"/>
          </a:xfrm>
          <a:prstGeom prst="rect">
            <a:avLst/>
          </a:prstGeom>
          <a:solidFill>
            <a:srgbClr val="FBECEF"/>
          </a:solidFill>
          <a:ln w="0">
            <a:noFill/>
            <a:prstDash val="solid"/>
          </a:ln>
        </p:spPr>
      </p:sp>
      <p:sp>
        <p:nvSpPr>
          <p:cNvPr id="16" name="path-question">
            <a:extLst>
              <a:ext uri="{FF2B5EF4-FFF2-40B4-BE49-F238E27FC236}">
                <a16:creationId xmlns:a16="http://schemas.microsoft.com/office/drawing/2014/main" id="{F39C8EB9-835C-40BF-BCE9-6FC5A4B9E44A}"/>
              </a:ext>
            </a:extLst>
          </p:cNvPr>
          <p:cNvSpPr>
            <a:spLocks noGrp="1"/>
          </p:cNvSpPr>
          <p:nvPr/>
        </p:nvSpPr>
        <p:spPr>
          <a:xfrm>
            <a:off x="647700" y="4601637"/>
            <a:ext cx="784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两条路径都合法：编译器应该选哪条？这个答案必须由语言规则决定。</a:t>
            </a: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633A456-5465-3671-5B0B-A8DFBB753E5A}" type="slidenum">
              <a:rPr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45246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-48">
            <a:extLst>
              <a:ext uri="{FF2B5EF4-FFF2-40B4-BE49-F238E27FC236}">
                <a16:creationId xmlns:a16="http://schemas.microsoft.com/office/drawing/2014/main" id="{09087D11-73DD-4AEC-A798-61D17F1C5891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8229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把转换建模为图：路径就是转换步骤</a:t>
            </a:r>
          </a:p>
        </p:txBody>
      </p:sp>
      <p:sp>
        <p:nvSpPr>
          <p:cNvPr id="2" name="subtitle-48">
            <a:extLst>
              <a:ext uri="{FF2B5EF4-FFF2-40B4-BE49-F238E27FC236}">
                <a16:creationId xmlns:a16="http://schemas.microsoft.com/office/drawing/2014/main" id="{98DBACC7-1507-4FCF-BA15-FB2628FEDED5}"/>
              </a:ext>
            </a:extLst>
          </p:cNvPr>
          <p:cNvSpPr>
            <a:spLocks noGrp="1"/>
          </p:cNvSpPr>
          <p:nvPr/>
        </p:nvSpPr>
        <p:spPr>
          <a:xfrm>
            <a:off x="533400" y="866775"/>
            <a:ext cx="807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7C7C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C7C7C"/>
                </a:solidFill>
                <a:latin typeface="Arial"/>
                <a:ea typeface="Arial"/>
                <a:cs typeface="Arial"/>
              </a:rPr>
              <a:t>类型是节点；转换规则是带有适用模式、实现动作和优先级的有向边</a:t>
            </a:r>
          </a:p>
        </p:txBody>
      </p:sp>
      <p:sp>
        <p:nvSpPr>
          <p:cNvPr id="4" name="model-divider">
            <a:extLst>
              <a:ext uri="{FF2B5EF4-FFF2-40B4-BE49-F238E27FC236}">
                <a16:creationId xmlns:a16="http://schemas.microsoft.com/office/drawing/2014/main" id="{75C215BF-15F6-45FD-BD0F-2D533139143E}"/>
              </a:ext>
            </a:extLst>
          </p:cNvPr>
          <p:cNvSpPr>
            <a:spLocks noGrp="1"/>
          </p:cNvSpPr>
          <p:nvPr/>
        </p:nvSpPr>
        <p:spPr>
          <a:xfrm>
            <a:off x="4762500" y="1362075"/>
            <a:ext cx="0" cy="28194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5" name="graph-heading">
            <a:extLst>
              <a:ext uri="{FF2B5EF4-FFF2-40B4-BE49-F238E27FC236}">
                <a16:creationId xmlns:a16="http://schemas.microsoft.com/office/drawing/2014/main" id="{11C31C05-FA3F-495B-8649-AE9DFDDB036A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刚才的例子变成一张图</a:t>
            </a:r>
          </a:p>
        </p:txBody>
      </p:sp>
      <p:sp>
        <p:nvSpPr>
          <p:cNvPr id="6" name="edge-direct-up">
            <a:extLst>
              <a:ext uri="{FF2B5EF4-FFF2-40B4-BE49-F238E27FC236}">
                <a16:creationId xmlns:a16="http://schemas.microsoft.com/office/drawing/2014/main" id="{49DE8A90-FCC5-4FC7-8C65-0300E5A6401E}"/>
              </a:ext>
            </a:extLst>
          </p:cNvPr>
          <p:cNvSpPr>
            <a:spLocks noGrp="1"/>
          </p:cNvSpPr>
          <p:nvPr/>
        </p:nvSpPr>
        <p:spPr>
          <a:xfrm>
            <a:off x="1085850" y="2180635"/>
            <a:ext cx="0" cy="533400"/>
          </a:xfrm>
          <a:prstGeom prst="line">
            <a:avLst/>
          </a:prstGeom>
          <a:noFill/>
          <a:ln w="19050">
            <a:solidFill>
              <a:srgbClr val="BE384B"/>
            </a:solidFill>
            <a:prstDash val="solid"/>
          </a:ln>
        </p:spPr>
      </p:sp>
      <p:sp>
        <p:nvSpPr>
          <p:cNvPr id="7" name="edge-direct-across">
            <a:extLst>
              <a:ext uri="{FF2B5EF4-FFF2-40B4-BE49-F238E27FC236}">
                <a16:creationId xmlns:a16="http://schemas.microsoft.com/office/drawing/2014/main" id="{44D5048D-7CD4-4703-A54E-3537FB02AE73}"/>
              </a:ext>
            </a:extLst>
          </p:cNvPr>
          <p:cNvSpPr>
            <a:spLocks noGrp="1"/>
          </p:cNvSpPr>
          <p:nvPr/>
        </p:nvSpPr>
        <p:spPr>
          <a:xfrm>
            <a:off x="1085850" y="2180635"/>
            <a:ext cx="3124200" cy="0"/>
          </a:xfrm>
          <a:prstGeom prst="line">
            <a:avLst/>
          </a:prstGeom>
          <a:noFill/>
          <a:ln w="19050">
            <a:solidFill>
              <a:srgbClr val="BE384B"/>
            </a:solidFill>
            <a:prstDash val="solid"/>
          </a:ln>
        </p:spPr>
      </p:sp>
      <p:sp>
        <p:nvSpPr>
          <p:cNvPr id="8" name="edge-direct-down">
            <a:extLst>
              <a:ext uri="{FF2B5EF4-FFF2-40B4-BE49-F238E27FC236}">
                <a16:creationId xmlns:a16="http://schemas.microsoft.com/office/drawing/2014/main" id="{409DE842-6CA0-4BB5-9A76-98960B33590C}"/>
              </a:ext>
            </a:extLst>
          </p:cNvPr>
          <p:cNvSpPr>
            <a:spLocks noGrp="1"/>
          </p:cNvSpPr>
          <p:nvPr/>
        </p:nvSpPr>
        <p:spPr>
          <a:xfrm>
            <a:off x="4210050" y="2180635"/>
            <a:ext cx="0" cy="533400"/>
          </a:xfrm>
          <a:prstGeom prst="line">
            <a:avLst/>
          </a:prstGeom>
          <a:noFill/>
          <a:ln w="19050">
            <a:solidFill>
              <a:srgbClr val="BE384B"/>
            </a:solidFill>
            <a:prstDash val="solid"/>
          </a:ln>
        </p:spPr>
      </p:sp>
      <p:sp>
        <p:nvSpPr>
          <p:cNvPr id="9" name="edge-byte-int">
            <a:extLst>
              <a:ext uri="{FF2B5EF4-FFF2-40B4-BE49-F238E27FC236}">
                <a16:creationId xmlns:a16="http://schemas.microsoft.com/office/drawing/2014/main" id="{3E555B04-A951-44AD-8105-F53D97359145}"/>
              </a:ext>
            </a:extLst>
          </p:cNvPr>
          <p:cNvSpPr>
            <a:spLocks noGrp="1"/>
          </p:cNvSpPr>
          <p:nvPr/>
        </p:nvSpPr>
        <p:spPr>
          <a:xfrm>
            <a:off x="1485900" y="2923585"/>
            <a:ext cx="895350" cy="0"/>
          </a:xfrm>
          <a:prstGeom prst="line">
            <a:avLst/>
          </a:prstGeom>
          <a:noFill/>
          <a:ln w="16193">
            <a:solidFill>
              <a:srgbClr val="414141"/>
            </a:solidFill>
            <a:prstDash val="solid"/>
          </a:ln>
        </p:spPr>
      </p:sp>
      <p:sp>
        <p:nvSpPr>
          <p:cNvPr id="10" name="edge-int-float">
            <a:extLst>
              <a:ext uri="{FF2B5EF4-FFF2-40B4-BE49-F238E27FC236}">
                <a16:creationId xmlns:a16="http://schemas.microsoft.com/office/drawing/2014/main" id="{8F8D9255-FBEB-4841-9E50-DA8215A128A4}"/>
              </a:ext>
            </a:extLst>
          </p:cNvPr>
          <p:cNvSpPr>
            <a:spLocks noGrp="1"/>
          </p:cNvSpPr>
          <p:nvPr/>
        </p:nvSpPr>
        <p:spPr>
          <a:xfrm>
            <a:off x="3181350" y="2923585"/>
            <a:ext cx="628650" cy="0"/>
          </a:xfrm>
          <a:prstGeom prst="line">
            <a:avLst/>
          </a:prstGeom>
          <a:noFill/>
          <a:ln w="16193">
            <a:solidFill>
              <a:srgbClr val="414141"/>
            </a:solidFill>
            <a:prstDash val="solid"/>
          </a:ln>
        </p:spPr>
      </p:sp>
      <p:sp>
        <p:nvSpPr>
          <p:cNvPr id="11" name="node-byte">
            <a:extLst>
              <a:ext uri="{FF2B5EF4-FFF2-40B4-BE49-F238E27FC236}">
                <a16:creationId xmlns:a16="http://schemas.microsoft.com/office/drawing/2014/main" id="{3D17B27F-CE58-4085-A8A2-F9F142A04CD4}"/>
              </a:ext>
            </a:extLst>
          </p:cNvPr>
          <p:cNvSpPr>
            <a:spLocks noGrp="1"/>
          </p:cNvSpPr>
          <p:nvPr/>
        </p:nvSpPr>
        <p:spPr>
          <a:xfrm>
            <a:off x="685800" y="2714035"/>
            <a:ext cx="800100" cy="419100"/>
          </a:xfrm>
          <a:prstGeom prst="rect">
            <a:avLst/>
          </a:prstGeom>
          <a:solidFill>
            <a:srgbClr val="EAF4EF"/>
          </a:solidFill>
          <a:ln w="9525">
            <a:solidFill>
              <a:srgbClr val="39765A"/>
            </a:solidFill>
            <a:prstDash val="solid"/>
          </a:ln>
        </p:spPr>
      </p:sp>
      <p:sp>
        <p:nvSpPr>
          <p:cNvPr id="12" name="node-byte-label">
            <a:extLst>
              <a:ext uri="{FF2B5EF4-FFF2-40B4-BE49-F238E27FC236}">
                <a16:creationId xmlns:a16="http://schemas.microsoft.com/office/drawing/2014/main" id="{C3A5C21E-BF22-4AC9-BB5E-77393DEDD192}"/>
              </a:ext>
            </a:extLst>
          </p:cNvPr>
          <p:cNvSpPr>
            <a:spLocks noGrp="1"/>
          </p:cNvSpPr>
          <p:nvPr/>
        </p:nvSpPr>
        <p:spPr>
          <a:xfrm>
            <a:off x="685800" y="279976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Byte</a:t>
            </a:r>
          </a:p>
        </p:txBody>
      </p:sp>
      <p:sp>
        <p:nvSpPr>
          <p:cNvPr id="13" name="node-int">
            <a:extLst>
              <a:ext uri="{FF2B5EF4-FFF2-40B4-BE49-F238E27FC236}">
                <a16:creationId xmlns:a16="http://schemas.microsoft.com/office/drawing/2014/main" id="{0AEAE90E-B620-40DB-A485-6AD1EFE96496}"/>
              </a:ext>
            </a:extLst>
          </p:cNvPr>
          <p:cNvSpPr>
            <a:spLocks noGrp="1"/>
          </p:cNvSpPr>
          <p:nvPr/>
        </p:nvSpPr>
        <p:spPr>
          <a:xfrm>
            <a:off x="2381250" y="2714035"/>
            <a:ext cx="800100" cy="4191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node-int-label">
            <a:extLst>
              <a:ext uri="{FF2B5EF4-FFF2-40B4-BE49-F238E27FC236}">
                <a16:creationId xmlns:a16="http://schemas.microsoft.com/office/drawing/2014/main" id="{B2BA5744-122A-41C8-B675-E92D1595AA21}"/>
              </a:ext>
            </a:extLst>
          </p:cNvPr>
          <p:cNvSpPr>
            <a:spLocks noGrp="1"/>
          </p:cNvSpPr>
          <p:nvPr/>
        </p:nvSpPr>
        <p:spPr>
          <a:xfrm>
            <a:off x="2381250" y="279976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15" name="node-float">
            <a:extLst>
              <a:ext uri="{FF2B5EF4-FFF2-40B4-BE49-F238E27FC236}">
                <a16:creationId xmlns:a16="http://schemas.microsoft.com/office/drawing/2014/main" id="{3BA87EF3-A4B7-4CE9-9D81-9D3B456A15C0}"/>
              </a:ext>
            </a:extLst>
          </p:cNvPr>
          <p:cNvSpPr>
            <a:spLocks noGrp="1"/>
          </p:cNvSpPr>
          <p:nvPr/>
        </p:nvSpPr>
        <p:spPr>
          <a:xfrm>
            <a:off x="3810000" y="2714035"/>
            <a:ext cx="800100" cy="419100"/>
          </a:xfrm>
          <a:prstGeom prst="rect">
            <a:avLst/>
          </a:prstGeom>
          <a:solidFill>
            <a:srgbClr val="FBECEF"/>
          </a:solidFill>
          <a:ln w="9525">
            <a:solidFill>
              <a:srgbClr val="BE384B"/>
            </a:solidFill>
            <a:prstDash val="solid"/>
          </a:ln>
        </p:spPr>
      </p:sp>
      <p:sp>
        <p:nvSpPr>
          <p:cNvPr id="16" name="node-float-label">
            <a:extLst>
              <a:ext uri="{FF2B5EF4-FFF2-40B4-BE49-F238E27FC236}">
                <a16:creationId xmlns:a16="http://schemas.microsoft.com/office/drawing/2014/main" id="{9C5F099A-868F-4E05-B6D7-B60CFCEE82EB}"/>
              </a:ext>
            </a:extLst>
          </p:cNvPr>
          <p:cNvSpPr>
            <a:spLocks noGrp="1"/>
          </p:cNvSpPr>
          <p:nvPr/>
        </p:nvSpPr>
        <p:spPr>
          <a:xfrm>
            <a:off x="3810000" y="279976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Float</a:t>
            </a:r>
          </a:p>
        </p:txBody>
      </p:sp>
      <p:sp>
        <p:nvSpPr>
          <p:cNvPr id="17" name="edge-direct-label">
            <a:extLst>
              <a:ext uri="{FF2B5EF4-FFF2-40B4-BE49-F238E27FC236}">
                <a16:creationId xmlns:a16="http://schemas.microsoft.com/office/drawing/2014/main" id="{27B02CC6-F2F2-493A-99C3-C28DC1AB3D04}"/>
              </a:ext>
            </a:extLst>
          </p:cNvPr>
          <p:cNvSpPr>
            <a:spLocks noGrp="1"/>
          </p:cNvSpPr>
          <p:nvPr/>
        </p:nvSpPr>
        <p:spPr>
          <a:xfrm>
            <a:off x="1809750" y="176153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implicit / uitofp</a:t>
            </a:r>
          </a:p>
          <a:p>
            <a:pPr algn="ctr">
              <a:lnSpc>
                <a:spcPct val="105000"/>
              </a:lnSpc>
              <a:buNone/>
              <a:defRPr sz="11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直达路径优先</a:t>
            </a:r>
          </a:p>
        </p:txBody>
      </p:sp>
      <p:sp>
        <p:nvSpPr>
          <p:cNvPr id="18" name="edge-zext-label">
            <a:extLst>
              <a:ext uri="{FF2B5EF4-FFF2-40B4-BE49-F238E27FC236}">
                <a16:creationId xmlns:a16="http://schemas.microsoft.com/office/drawing/2014/main" id="{097C0D35-321B-48EF-86EE-C362F1FF8679}"/>
              </a:ext>
            </a:extLst>
          </p:cNvPr>
          <p:cNvSpPr>
            <a:spLocks noGrp="1"/>
          </p:cNvSpPr>
          <p:nvPr/>
        </p:nvSpPr>
        <p:spPr>
          <a:xfrm>
            <a:off x="1352550" y="320933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7C7C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7C7C"/>
                </a:solidFill>
                <a:latin typeface="Arial"/>
                <a:ea typeface="Arial"/>
                <a:cs typeface="Arial"/>
              </a:rPr>
              <a:t>implicit / zext</a:t>
            </a:r>
          </a:p>
        </p:txBody>
      </p:sp>
      <p:sp>
        <p:nvSpPr>
          <p:cNvPr id="19" name="edge-sitofp-label">
            <a:extLst>
              <a:ext uri="{FF2B5EF4-FFF2-40B4-BE49-F238E27FC236}">
                <a16:creationId xmlns:a16="http://schemas.microsoft.com/office/drawing/2014/main" id="{0BAA13EB-31C7-4B48-AF56-B900DEFA49D6}"/>
              </a:ext>
            </a:extLst>
          </p:cNvPr>
          <p:cNvSpPr>
            <a:spLocks noGrp="1"/>
          </p:cNvSpPr>
          <p:nvPr/>
        </p:nvSpPr>
        <p:spPr>
          <a:xfrm>
            <a:off x="3105150" y="320933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7C7C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7C7C"/>
                </a:solidFill>
                <a:latin typeface="Arial"/>
                <a:ea typeface="Arial"/>
                <a:cs typeface="Arial"/>
              </a:rPr>
              <a:t>implicit / sitofp</a:t>
            </a:r>
          </a:p>
        </p:txBody>
      </p:sp>
      <p:sp>
        <p:nvSpPr>
          <p:cNvPr id="20" name="graph-meaning">
            <a:extLst>
              <a:ext uri="{FF2B5EF4-FFF2-40B4-BE49-F238E27FC236}">
                <a16:creationId xmlns:a16="http://schemas.microsoft.com/office/drawing/2014/main" id="{B393F312-7C0F-449B-AABA-C75E91B1BCBD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397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65A"/>
                </a:solidFill>
                <a:latin typeface="Arial"/>
                <a:ea typeface="Arial"/>
                <a:cs typeface="Arial"/>
              </a:rPr>
              <a:t>一条路径 = 一组按顺序执行的转换规则</a:t>
            </a:r>
          </a:p>
        </p:txBody>
      </p:sp>
      <p:sp>
        <p:nvSpPr>
          <p:cNvPr id="21" name="selection-heading">
            <a:extLst>
              <a:ext uri="{FF2B5EF4-FFF2-40B4-BE49-F238E27FC236}">
                <a16:creationId xmlns:a16="http://schemas.microsoft.com/office/drawing/2014/main" id="{4B6A5242-75EB-4F9E-B5A2-7B36640EEC21}"/>
              </a:ext>
            </a:extLst>
          </p:cNvPr>
          <p:cNvSpPr>
            <a:spLocks noGrp="1"/>
          </p:cNvSpPr>
          <p:nvPr/>
        </p:nvSpPr>
        <p:spPr>
          <a:xfrm>
            <a:off x="5048250" y="1362075"/>
            <a:ext cx="35623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findConversion 怎样工作？</a:t>
            </a:r>
          </a:p>
        </p:txBody>
      </p:sp>
      <p:sp>
        <p:nvSpPr>
          <p:cNvPr id="22" name="selection-steps">
            <a:extLst>
              <a:ext uri="{FF2B5EF4-FFF2-40B4-BE49-F238E27FC236}">
                <a16:creationId xmlns:a16="http://schemas.microsoft.com/office/drawing/2014/main" id="{5977C11F-15F6-4F14-9004-91A3FA99B671}"/>
              </a:ext>
            </a:extLst>
          </p:cNvPr>
          <p:cNvSpPr>
            <a:spLocks noGrp="1"/>
          </p:cNvSpPr>
          <p:nvPr/>
        </p:nvSpPr>
        <p:spPr>
          <a:xfrm>
            <a:off x="5067300" y="1914525"/>
            <a:ext cx="35433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1. 只保留当前 mode 允许的边</a:t>
            </a:r>
          </a:p>
          <a:p>
            <a:endParaRPr sz="1275" b="1">
              <a:solidFill>
                <a:srgbClr val="414141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2. 按语言规定比较候选路径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   例如：直达路径优先于多步链</a:t>
            </a:r>
          </a:p>
          <a:p>
            <a:endParaRPr sz="1275" b="1">
              <a:solidFill>
                <a:srgbClr val="414141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3. 唯一最优路径：选择并返回</a:t>
            </a:r>
          </a:p>
          <a:p>
            <a:pPr algn="l">
              <a:lnSpc>
                <a:spcPct val="106000"/>
              </a:lnSpc>
              <a:buNone/>
              <a:defRPr sz="1275" b="1">
                <a:solidFill>
                  <a:srgbClr val="41414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14141"/>
                </a:solidFill>
                <a:latin typeface="Arial"/>
                <a:ea typeface="Arial"/>
                <a:cs typeface="Arial"/>
              </a:rPr>
              <a:t>   无路径或并列：报告类型错误</a:t>
            </a:r>
          </a:p>
        </p:txBody>
      </p:sp>
      <p:sp>
        <p:nvSpPr>
          <p:cNvPr id="23" name="materialize-heading">
            <a:extLst>
              <a:ext uri="{FF2B5EF4-FFF2-40B4-BE49-F238E27FC236}">
                <a16:creationId xmlns:a16="http://schemas.microsoft.com/office/drawing/2014/main" id="{CF49C62B-CE71-47CD-BFB2-B742D789860A}"/>
              </a:ext>
            </a:extLst>
          </p:cNvPr>
          <p:cNvSpPr>
            <a:spLocks noGrp="1"/>
          </p:cNvSpPr>
          <p:nvPr/>
        </p:nvSpPr>
        <p:spPr>
          <a:xfrm>
            <a:off x="5048250" y="3676650"/>
            <a:ext cx="3562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选中的路径如何变成代码？</a:t>
            </a:r>
          </a:p>
        </p:txBody>
      </p:sp>
      <p:sp>
        <p:nvSpPr>
          <p:cNvPr id="24" name="materialize-code">
            <a:extLst>
              <a:ext uri="{FF2B5EF4-FFF2-40B4-BE49-F238E27FC236}">
                <a16:creationId xmlns:a16="http://schemas.microsoft.com/office/drawing/2014/main" id="{F1E1DDC9-3A41-4BCA-BDF6-2F0208CD78A4}"/>
              </a:ext>
            </a:extLst>
          </p:cNvPr>
          <p:cNvSpPr>
            <a:spLocks noGrp="1"/>
          </p:cNvSpPr>
          <p:nvPr/>
        </p:nvSpPr>
        <p:spPr>
          <a:xfrm>
            <a:off x="5067300" y="4000500"/>
            <a:ext cx="3543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414141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14141"/>
                </a:solidFill>
                <a:latin typeface="Menlo"/>
                <a:ea typeface="Menlo"/>
                <a:cs typeface="Menlo"/>
              </a:rPr>
              <a:t>b  -&gt;  NumericCast(b, Float)  -&gt;  uitofp</a:t>
            </a:r>
          </a:p>
        </p:txBody>
      </p:sp>
      <p:sp>
        <p:nvSpPr>
          <p:cNvPr id="25" name="model-takeaway-band">
            <a:extLst>
              <a:ext uri="{FF2B5EF4-FFF2-40B4-BE49-F238E27FC236}">
                <a16:creationId xmlns:a16="http://schemas.microsoft.com/office/drawing/2014/main" id="{29A3726F-794C-4B2A-B313-14B0FED34B4C}"/>
              </a:ext>
            </a:extLst>
          </p:cNvPr>
          <p:cNvSpPr>
            <a:spLocks noGrp="1"/>
          </p:cNvSpPr>
          <p:nvPr/>
        </p:nvSpPr>
        <p:spPr>
          <a:xfrm>
            <a:off x="457200" y="4687362"/>
            <a:ext cx="8229600" cy="495300"/>
          </a:xfrm>
          <a:prstGeom prst="rect">
            <a:avLst/>
          </a:prstGeom>
          <a:solidFill>
            <a:srgbClr val="FBECEF"/>
          </a:solidFill>
          <a:ln w="0">
            <a:noFill/>
            <a:prstDash val="solid"/>
          </a:ln>
        </p:spPr>
      </p:sp>
      <p:sp>
        <p:nvSpPr>
          <p:cNvPr id="26" name="model-takeaway">
            <a:extLst>
              <a:ext uri="{FF2B5EF4-FFF2-40B4-BE49-F238E27FC236}">
                <a16:creationId xmlns:a16="http://schemas.microsoft.com/office/drawing/2014/main" id="{87DB65C1-A029-46C7-AE80-05A40CFD3741}"/>
              </a:ext>
            </a:extLst>
          </p:cNvPr>
          <p:cNvSpPr>
            <a:spLocks noGrp="1"/>
          </p:cNvSpPr>
          <p:nvPr/>
        </p:nvSpPr>
        <p:spPr>
          <a:xfrm>
            <a:off x="647700" y="4763562"/>
            <a:ext cx="784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图负责找到唯一可解释的路径；路径上的每条边依次变成 AST 转换节点。</a:t>
            </a:r>
          </a:p>
        </p:txBody>
      </p:sp>
      <p:sp>
        <p:nvSpPr>
          <p:cNvPr id="28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477B42F-3A06-F812-16D6-7080D8A12563}" type="slidenum"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9492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总结：类型系统是一份“语义契约”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9F5-17E8-47CB-A808-6C129B22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88" y="1417340"/>
            <a:ext cx="8101351" cy="4068794"/>
          </a:xfrm>
        </p:spPr>
        <p:txBody>
          <a:bodyPr>
            <a:normAutofit fontScale="92500"/>
          </a:bodyPr>
          <a:lstStyle/>
          <a:p>
            <a:r>
              <a:t>• 局部规则：每个 AST 节点的规则是什么，返回什么类型？</a:t>
            </a:r>
          </a:p>
          <a:p>
            <a:pPr>
              <a:buNone/>
            </a:pPr>
            <a:r>
              <a:t>• 环境：名字何时进入、遮蔽和退出作用域？</a:t>
            </a:r>
          </a:p>
          <a:p>
            <a:pPr>
              <a:buNone/>
            </a:pPr>
            <a:r>
              <a:t>• Pass：哪些信息必须先登记，哪些检查依赖它？</a:t>
            </a:r>
          </a:p>
          <a:p>
            <a:r>
              <a:t>• 递归：函数签名和类型占位符如何建立稳定身份？</a:t>
            </a:r>
          </a:p>
          <a:p>
            <a:pPr>
              <a:buNone/>
            </a:pPr>
            <a:r>
              <a:t>• 等价：别名是否透明？采用名义还是结构比较？</a:t>
            </a:r>
          </a:p>
          <a:p>
            <a:pPr>
              <a:buNone/>
            </a:pPr>
            <a:r>
              <a:t>• 兼容：允许哪些转换？重载如何排序和判歧义？</a:t>
            </a:r>
          </a:p>
          <a:p>
            <a:pPr>
              <a:buNone/>
            </a:pPr>
            <a:r>
              <a:t>• 恢复：Error 如何传播而不制造级联错误？</a:t>
            </a:r>
          </a:p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FFCF489-DFD6-64BD-BCB3-4D97AF36B1FB}" type="slidenum"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4080</Words>
  <Application>Microsoft Macintosh PowerPoint</Application>
  <DocSecurity>0</DocSecurity>
  <PresentationFormat>全屏显示(16:10)</PresentationFormat>
  <Paragraphs>789</Paragraphs>
  <Slides>54</Slides>
  <Notes>54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0" baseType="lpstr">
      <vt:lpstr>DengXian</vt:lpstr>
      <vt:lpstr>微软雅黑</vt:lpstr>
      <vt:lpstr>Arial</vt:lpstr>
      <vt:lpstr>Courier New</vt:lpstr>
      <vt:lpstr>Menlo</vt:lpstr>
      <vt:lpstr>Office 主题​​</vt:lpstr>
      <vt:lpstr>类型系统（一）</vt:lpstr>
      <vt:lpstr>这三个程序也许能解析，但它们真的有意义吗？</vt:lpstr>
      <vt:lpstr>大纲：从错误程序到类型检查器</vt:lpstr>
      <vt:lpstr>为什么需要类型？</vt:lpstr>
      <vt:lpstr>错误发生在不同阶段，修复位置也不同</vt:lpstr>
      <vt:lpstr>静态类型与动态类型</vt:lpstr>
      <vt:lpstr>案例：静态检查与运行时检查并存</vt:lpstr>
      <vt:lpstr>本讲的目标：把类型规则变成一个可执行检查器</vt:lpstr>
      <vt:lpstr>RT（OSDI '26）：Shell 也可以加类型？</vt:lpstr>
      <vt:lpstr>RT：把字节流的形状写成类型</vt:lpstr>
      <vt:lpstr>把语义写成规则</vt:lpstr>
      <vt:lpstr>从一个简单语言开始：SimpleType</vt:lpstr>
      <vt:lpstr>形式化的推理方式：Γ ⊢ e : T</vt:lpstr>
      <vt:lpstr>常量规则没有前提，因此是类型推导的叶子</vt:lpstr>
      <vt:lpstr>变量的类型来自环境，而不是变量节点本身</vt:lpstr>
      <vt:lpstr>运算符同时约束输入类型和结果类型</vt:lpstr>
      <vt:lpstr>if 的两个分支必须给出同一种结果</vt:lpstr>
      <vt:lpstr>let 先检查定义，再扩展环境检查使用位置</vt:lpstr>
      <vt:lpstr>检查函数体时，参数进入局部类型环境</vt:lpstr>
      <vt:lpstr>函数调用要求实参类型匹配形参类型</vt:lpstr>
      <vt:lpstr>课堂推导：这个表达式的类型是什么？</vt:lpstr>
      <vt:lpstr>规则失败的位置，就是错误诊断的依据</vt:lpstr>
      <vt:lpstr>小结：对语义“祛魅”</vt:lpstr>
      <vt:lpstr>规则如何变成代码？</vt:lpstr>
      <vt:lpstr>类型检查器的形状与推导树相同</vt:lpstr>
      <vt:lpstr>题外话：AST与pass</vt:lpstr>
      <vt:lpstr>为什么不在类型检查时顺便解析名字？</vt:lpstr>
      <vt:lpstr>LET 中的类型环境如何变化？</vt:lpstr>
      <vt:lpstr>类型检查复用名字解析结果</vt:lpstr>
      <vt:lpstr>回到问题：规则如何变代码？</vt:lpstr>
      <vt:lpstr>错误与恢复：避免在第一个错误就终止</vt:lpstr>
      <vt:lpstr>ErrorType：让失败的子树仍可参与推导</vt:lpstr>
      <vt:lpstr>上一讲回顾</vt:lpstr>
      <vt:lpstr>类型系统与类型检查设计</vt:lpstr>
      <vt:lpstr>自定义类型：同样需要维护“环境”</vt:lpstr>
      <vt:lpstr>案例1: 递归类型定义</vt:lpstr>
      <vt:lpstr>解决方案：允许“不完整类型”</vt:lpstr>
      <vt:lpstr>Tiger：两遍处理，补全同一批类型对象</vt:lpstr>
      <vt:lpstr>PowerPoint 演示文稿</vt:lpstr>
      <vt:lpstr>PowerPoint 演示文稿</vt:lpstr>
      <vt:lpstr>C++：前向声明先建立类型身份</vt:lpstr>
      <vt:lpstr>不完整类型只能用于“不需要布局”的位置</vt:lpstr>
      <vt:lpstr>PowerPoint 演示文稿</vt:lpstr>
      <vt:lpstr>C++：不完整类型也可以不报错吗？</vt:lpstr>
      <vt:lpstr>PowerPoint 演示文稿</vt:lpstr>
      <vt:lpstr>为什么会有两种类型等价规则？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总结：类型系统是一份“语义契约”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mingyu</cp:lastModifiedBy>
  <cp:revision>1</cp:revision>
  <dcterms:created xsi:type="dcterms:W3CDTF">2026-10-20T02:36:09Z</dcterms:created>
  <dcterms:modified xsi:type="dcterms:W3CDTF">2026-10-20T02:48:04Z</dcterms:modified>
</cp:coreProperties>
</file>